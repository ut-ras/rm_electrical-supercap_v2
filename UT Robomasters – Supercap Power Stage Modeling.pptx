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86" r:id="rId4"/>
    <p:sldId id="271" r:id="rId5"/>
    <p:sldId id="257" r:id="rId6"/>
    <p:sldId id="259" r:id="rId7"/>
    <p:sldId id="258" r:id="rId8"/>
    <p:sldId id="260" r:id="rId9"/>
    <p:sldId id="261" r:id="rId10"/>
    <p:sldId id="262" r:id="rId11"/>
    <p:sldId id="263" r:id="rId12"/>
    <p:sldId id="264" r:id="rId13"/>
    <p:sldId id="265" r:id="rId14"/>
    <p:sldId id="267" r:id="rId15"/>
    <p:sldId id="268" r:id="rId16"/>
    <p:sldId id="273" r:id="rId17"/>
    <p:sldId id="270" r:id="rId18"/>
    <p:sldId id="279" r:id="rId19"/>
    <p:sldId id="278" r:id="rId20"/>
    <p:sldId id="280" r:id="rId21"/>
    <p:sldId id="281" r:id="rId22"/>
    <p:sldId id="282" r:id="rId23"/>
    <p:sldId id="274" r:id="rId24"/>
    <p:sldId id="272" r:id="rId25"/>
    <p:sldId id="283" r:id="rId26"/>
    <p:sldId id="284" r:id="rId27"/>
    <p:sldId id="277" r:id="rId28"/>
    <p:sldId id="285"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varScale="1">
        <p:scale>
          <a:sx n="142" d="100"/>
          <a:sy n="142" d="100"/>
        </p:scale>
        <p:origin x="84" y="3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3/28/2026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3/28/2026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3/28/2026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3/28/2026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5" Type="http://schemas.openxmlformats.org/officeDocument/2006/relationships/image" Target="../media/image150.png"/><Relationship Id="rId4" Type="http://schemas.openxmlformats.org/officeDocument/2006/relationships/image" Target="../media/image140.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slideLayout" Target="../slideLayouts/slideLayout6.xml"/><Relationship Id="rId1" Type="http://schemas.openxmlformats.org/officeDocument/2006/relationships/video" Target="https://www.youtube.com/embed/ITo-WbpANi0?feature=oembed"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image" Target="../media/image41.png"/><Relationship Id="rId3" Type="http://schemas.openxmlformats.org/officeDocument/2006/relationships/image" Target="../media/image31.png"/><Relationship Id="rId7" Type="http://schemas.openxmlformats.org/officeDocument/2006/relationships/image" Target="../media/image35.png"/><Relationship Id="rId12" Type="http://schemas.openxmlformats.org/officeDocument/2006/relationships/image" Target="../media/image40.png"/><Relationship Id="rId17" Type="http://schemas.openxmlformats.org/officeDocument/2006/relationships/image" Target="../media/image45.png"/><Relationship Id="rId2" Type="http://schemas.openxmlformats.org/officeDocument/2006/relationships/image" Target="../media/image30.png"/><Relationship Id="rId16" Type="http://schemas.openxmlformats.org/officeDocument/2006/relationships/image" Target="../media/image44.png"/><Relationship Id="rId1" Type="http://schemas.openxmlformats.org/officeDocument/2006/relationships/slideLayout" Target="../slideLayouts/slideLayout8.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5" Type="http://schemas.openxmlformats.org/officeDocument/2006/relationships/image" Target="../media/image43.png"/><Relationship Id="rId10" Type="http://schemas.openxmlformats.org/officeDocument/2006/relationships/image" Target="../media/image38.png"/><Relationship Id="rId4" Type="http://schemas.openxmlformats.org/officeDocument/2006/relationships/image" Target="../media/image32.png"/><Relationship Id="rId9" Type="http://schemas.openxmlformats.org/officeDocument/2006/relationships/image" Target="../media/image37.png"/><Relationship Id="rId14" Type="http://schemas.openxmlformats.org/officeDocument/2006/relationships/image" Target="../media/image42.png"/></Relationships>
</file>

<file path=ppt/slides/_rels/slide26.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image" Target="../media/image46.png"/><Relationship Id="rId1" Type="http://schemas.openxmlformats.org/officeDocument/2006/relationships/slideLayout" Target="../slideLayouts/slideLayout6.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 Id="rId14" Type="http://schemas.openxmlformats.org/officeDocument/2006/relationships/image" Target="../media/image58.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a:t>
            </a:r>
          </a:p>
        </p:txBody>
      </p:sp>
      <p:sp>
        <p:nvSpPr>
          <p:cNvPr id="4" name="Rectangle 3">
            <a:extLst>
              <a:ext uri="{FF2B5EF4-FFF2-40B4-BE49-F238E27FC236}">
                <a16:creationId xmlns:a16="http://schemas.microsoft.com/office/drawing/2014/main" id="{A0949B7C-CD71-55A4-B144-0777F760504B}"/>
              </a:ext>
            </a:extLst>
          </p:cNvPr>
          <p:cNvSpPr/>
          <p:nvPr/>
        </p:nvSpPr>
        <p:spPr>
          <a:xfrm>
            <a:off x="6442744" y="5134061"/>
            <a:ext cx="4362275" cy="11115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Freshmen: If you can see this, get your butt to work on disturbance rejection and robustness modeling so I can put your name on here</a:t>
            </a:r>
          </a:p>
        </p:txBody>
      </p:sp>
      <p:cxnSp>
        <p:nvCxnSpPr>
          <p:cNvPr id="6" name="Straight Arrow Connector 5">
            <a:extLst>
              <a:ext uri="{FF2B5EF4-FFF2-40B4-BE49-F238E27FC236}">
                <a16:creationId xmlns:a16="http://schemas.microsoft.com/office/drawing/2014/main" id="{B7341F1D-D4CF-FC90-4073-E1ADC43AFF15}"/>
              </a:ext>
            </a:extLst>
          </p:cNvPr>
          <p:cNvCxnSpPr>
            <a:cxnSpLocks/>
            <a:stCxn id="4" idx="0"/>
          </p:cNvCxnSpPr>
          <p:nvPr/>
        </p:nvCxnSpPr>
        <p:spPr>
          <a:xfrm flipH="1" flipV="1">
            <a:off x="7650760" y="4286774"/>
            <a:ext cx="973122" cy="847287"/>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75C05-D53A-EB7B-0259-F9E892597A12}"/>
              </a:ext>
            </a:extLst>
          </p:cNvPr>
          <p:cNvSpPr>
            <a:spLocks noGrp="1"/>
          </p:cNvSpPr>
          <p:nvPr>
            <p:ph type="title"/>
          </p:nvPr>
        </p:nvSpPr>
        <p:spPr/>
        <p:txBody>
          <a:bodyPr/>
          <a:lstStyle/>
          <a:p>
            <a:r>
              <a:rPr lang="en-US" dirty="0"/>
              <a:t>List of Topics Relevant to This Presentation</a:t>
            </a:r>
          </a:p>
        </p:txBody>
      </p:sp>
      <p:sp>
        <p:nvSpPr>
          <p:cNvPr id="3" name="Content Placeholder 2">
            <a:extLst>
              <a:ext uri="{FF2B5EF4-FFF2-40B4-BE49-F238E27FC236}">
                <a16:creationId xmlns:a16="http://schemas.microsoft.com/office/drawing/2014/main" id="{A04F342F-E6CE-DD03-4519-3357C6F9C431}"/>
              </a:ext>
            </a:extLst>
          </p:cNvPr>
          <p:cNvSpPr>
            <a:spLocks noGrp="1"/>
          </p:cNvSpPr>
          <p:nvPr>
            <p:ph idx="1"/>
          </p:nvPr>
        </p:nvSpPr>
        <p:spPr/>
        <p:txBody>
          <a:bodyPr>
            <a:normAutofit fontScale="92500" lnSpcReduction="10000"/>
          </a:bodyPr>
          <a:lstStyle/>
          <a:p>
            <a:pPr marL="0" indent="0">
              <a:buNone/>
            </a:pPr>
            <a:r>
              <a:rPr lang="en-US" dirty="0"/>
              <a:t>Make sure you have at least basic knowledge of these concepts so that you can understand the content in this presentation:</a:t>
            </a:r>
          </a:p>
          <a:p>
            <a:r>
              <a:rPr lang="en-US" dirty="0"/>
              <a:t>SRA calculations</a:t>
            </a:r>
          </a:p>
          <a:p>
            <a:r>
              <a:rPr lang="en-US" dirty="0"/>
              <a:t>Ideal transformer modeling</a:t>
            </a:r>
          </a:p>
          <a:p>
            <a:r>
              <a:rPr lang="en-US" dirty="0"/>
              <a:t>Laplace transforms</a:t>
            </a:r>
          </a:p>
          <a:p>
            <a:r>
              <a:rPr lang="en-US" dirty="0"/>
              <a:t>Transfer functions and closed-loop systems</a:t>
            </a:r>
          </a:p>
          <a:p>
            <a:pPr marL="0" indent="0">
              <a:buNone/>
            </a:pPr>
            <a:r>
              <a:rPr lang="en-US" dirty="0"/>
              <a:t>Make sure you are </a:t>
            </a:r>
            <a:r>
              <a:rPr lang="en-US" b="1" dirty="0"/>
              <a:t>very familiar </a:t>
            </a:r>
            <a:r>
              <a:rPr lang="en-US" dirty="0"/>
              <a:t>with these concepts:</a:t>
            </a:r>
          </a:p>
          <a:p>
            <a:r>
              <a:rPr lang="en-US" dirty="0"/>
              <a:t>KVL and KCL</a:t>
            </a:r>
          </a:p>
          <a:p>
            <a:r>
              <a:rPr lang="en-US" dirty="0"/>
              <a:t>Algebraic manipulation</a:t>
            </a:r>
          </a:p>
          <a:p>
            <a:r>
              <a:rPr lang="en-US" dirty="0"/>
              <a:t>Differential and integral calculus</a:t>
            </a:r>
          </a:p>
        </p:txBody>
      </p:sp>
    </p:spTree>
    <p:extLst>
      <p:ext uri="{BB962C8B-B14F-4D97-AF65-F5344CB8AC3E}">
        <p14:creationId xmlns:p14="http://schemas.microsoft.com/office/powerpoint/2010/main" val="32592693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Basics of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3850045786"/>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0" name=""/>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mc:Choice xmlns:a14="http://schemas.microsoft.com/office/drawing/2010/main"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we find out that the term is negligible anyway. Consider this an exercise for the reader to prove, if you will. </a:t>
                </a:r>
              </a:p>
            </p:txBody>
          </p:sp>
        </mc:Choice>
        <mc:Fallback>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7390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468963"/>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i="1">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468963"/>
              </a:xfrm>
              <a:prstGeom prst="rect">
                <a:avLst/>
              </a:prstGeom>
              <a:blipFill>
                <a:blip r:embed="rId2"/>
                <a:stretch>
                  <a:fillRect l="-992" t="-1406" b="-210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952413" y="587369"/>
            <a:ext cx="2800317" cy="861774"/>
          </a:xfrm>
          <a:prstGeom prst="rect">
            <a:avLst/>
          </a:prstGeom>
          <a:noFill/>
        </p:spPr>
        <p:txBody>
          <a:bodyPr wrap="none" rtlCol="0">
            <a:spAutoFit/>
          </a:bodyPr>
          <a:lstStyle/>
          <a:p>
            <a:pPr algn="r"/>
            <a:r>
              <a:rPr lang="en-US" sz="1600" dirty="0"/>
              <a:t>Response to 3.75A step input</a:t>
            </a:r>
          </a:p>
          <a:p>
            <a:pPr algn="r"/>
            <a:r>
              <a:rPr lang="en-US" sz="1600" dirty="0"/>
              <a:t>FF+PI performance is in </a:t>
            </a:r>
            <a:r>
              <a:rPr lang="en-US" sz="1600" dirty="0">
                <a:solidFill>
                  <a:srgbClr val="00B050"/>
                </a:solidFill>
              </a:rPr>
              <a:t>green</a:t>
            </a:r>
          </a:p>
          <a:p>
            <a:pPr algn="r"/>
            <a:r>
              <a:rPr lang="en-US" sz="1600" dirty="0"/>
              <a:t>PI</a:t>
            </a:r>
            <a:r>
              <a:rPr lang="en-US" sz="1600" baseline="30000" dirty="0"/>
              <a:t>2</a:t>
            </a:r>
            <a:r>
              <a:rPr lang="en-US" sz="1600" dirty="0"/>
              <a:t> performance is in </a:t>
            </a:r>
            <a:r>
              <a:rPr lang="en-US" sz="1600"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a:xfrm>
            <a:off x="839788" y="403123"/>
            <a:ext cx="3932237" cy="848032"/>
          </a:xfrm>
        </p:spPr>
        <p:txBody>
          <a:bodyPr/>
          <a:lstStyle/>
          <a:p>
            <a:r>
              <a:rPr lang="en-US" dirty="0"/>
              <a:t>Time-Domain Analysis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a:xfrm>
                <a:off x="839788" y="1251155"/>
                <a:ext cx="3932237" cy="4490884"/>
              </a:xfrm>
            </p:spPr>
            <p:txBody>
              <a:bodyPr>
                <a:normAutofit/>
              </a:bodyPr>
              <a:lstStyle/>
              <a:p>
                <a:r>
                  <a:rPr lang="en-US" dirty="0"/>
                  <a:t>Remember that asterisk? What we did was assume that</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Notice that this integral term corresponds precisely to the voltage term that was accounted for with a feed-forward signal! </a:t>
                </a:r>
              </a:p>
              <a:p>
                <a:r>
                  <a:rPr lang="en-US" dirty="0"/>
                  <a:t>Therefore, going forward, our best bet is to stick with FF+PI control. </a:t>
                </a:r>
              </a:p>
              <a:p>
                <a:r>
                  <a:rPr lang="en-US" dirty="0"/>
                  <a:t>Note: If y’all can figure out a way to get a more accurate representation of the system and get a feasible implementation of PI</a:t>
                </a:r>
                <a:r>
                  <a:rPr lang="en-US" baseline="30000" dirty="0"/>
                  <a:t>2</a:t>
                </a:r>
                <a:r>
                  <a:rPr lang="en-US" dirty="0"/>
                  <a:t> control, please let me know</a:t>
                </a:r>
              </a:p>
            </p:txBody>
          </p:sp>
        </mc:Choice>
        <mc:Fallback xmlns="">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xfrm>
                <a:off x="839788" y="1251155"/>
                <a:ext cx="3932237" cy="4490884"/>
              </a:xfrm>
              <a:blipFill>
                <a:blip r:embed="rId2"/>
                <a:stretch>
                  <a:fillRect l="-9302" t="-12347"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55445" y="1251155"/>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8E09-6462-C114-BB7E-1DA5A04BEAB9}"/>
              </a:ext>
            </a:extLst>
          </p:cNvPr>
          <p:cNvSpPr>
            <a:spLocks noGrp="1"/>
          </p:cNvSpPr>
          <p:nvPr>
            <p:ph type="title"/>
          </p:nvPr>
        </p:nvSpPr>
        <p:spPr/>
        <p:txBody>
          <a:bodyPr/>
          <a:lstStyle/>
          <a:p>
            <a:r>
              <a:rPr lang="en-US" dirty="0"/>
              <a:t>Addendum: On Feed-Forward Systems</a:t>
            </a:r>
          </a:p>
        </p:txBody>
      </p:sp>
      <p:sp>
        <p:nvSpPr>
          <p:cNvPr id="3" name="Content Placeholder 2">
            <a:extLst>
              <a:ext uri="{FF2B5EF4-FFF2-40B4-BE49-F238E27FC236}">
                <a16:creationId xmlns:a16="http://schemas.microsoft.com/office/drawing/2014/main" id="{333F89A1-3EA7-E57C-621F-60AFC6CB7643}"/>
              </a:ext>
            </a:extLst>
          </p:cNvPr>
          <p:cNvSpPr>
            <a:spLocks noGrp="1"/>
          </p:cNvSpPr>
          <p:nvPr>
            <p:ph idx="1"/>
          </p:nvPr>
        </p:nvSpPr>
        <p:spPr/>
        <p:txBody>
          <a:bodyPr/>
          <a:lstStyle/>
          <a:p>
            <a:pPr marL="0" indent="0">
              <a:buNone/>
            </a:pPr>
            <a:r>
              <a:rPr lang="en-US" dirty="0"/>
              <a:t>In general, feed-forward systems are a way to perform </a:t>
            </a:r>
            <a:r>
              <a:rPr lang="en-US" i="1" dirty="0"/>
              <a:t>disturbance rejection</a:t>
            </a:r>
            <a:r>
              <a:rPr lang="en-US" dirty="0"/>
              <a:t>, where extraneous signals that result from interactions of the system with itself and surroundings (known as disturbances) have their undesirable effects minimized. This particular approach directly measures the quantity in question (capacitor voltage) and subtracts it – pretty intuitive. </a:t>
            </a:r>
          </a:p>
          <a:p>
            <a:pPr marL="0" indent="0">
              <a:buNone/>
            </a:pPr>
            <a:r>
              <a:rPr lang="en-US" dirty="0"/>
              <a:t>A question I answered and  found pertinent to include: Why not feed-forward the inductor current? The inductor current is the “through” variable for the entire RLC branch, so performing feed-forward cancellation would result in a controlled current of 0.</a:t>
            </a:r>
          </a:p>
        </p:txBody>
      </p:sp>
    </p:spTree>
    <p:extLst>
      <p:ext uri="{BB962C8B-B14F-4D97-AF65-F5344CB8AC3E}">
        <p14:creationId xmlns:p14="http://schemas.microsoft.com/office/powerpoint/2010/main" val="38668669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Reverse Charging and Boost Mode</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PLECs moment</a:t>
            </a:r>
          </a:p>
        </p:txBody>
      </p:sp>
    </p:spTree>
    <p:extLst>
      <p:ext uri="{BB962C8B-B14F-4D97-AF65-F5344CB8AC3E}">
        <p14:creationId xmlns:p14="http://schemas.microsoft.com/office/powerpoint/2010/main" val="26985407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6C4E-A3D7-60EC-EF35-CD3B548B4F37}"/>
              </a:ext>
            </a:extLst>
          </p:cNvPr>
          <p:cNvSpPr>
            <a:spLocks noGrp="1"/>
          </p:cNvSpPr>
          <p:nvPr>
            <p:ph type="title"/>
          </p:nvPr>
        </p:nvSpPr>
        <p:spPr/>
        <p:txBody>
          <a:bodyPr/>
          <a:lstStyle/>
          <a:p>
            <a:r>
              <a:rPr lang="en-US" dirty="0"/>
              <a:t>Overall System Review: Reverse Charging</a:t>
            </a:r>
          </a:p>
        </p:txBody>
      </p:sp>
      <p:sp>
        <p:nvSpPr>
          <p:cNvPr id="4" name="Text Placeholder 3">
            <a:extLst>
              <a:ext uri="{FF2B5EF4-FFF2-40B4-BE49-F238E27FC236}">
                <a16:creationId xmlns:a16="http://schemas.microsoft.com/office/drawing/2014/main" id="{EBCDFBF2-D857-ADB2-C3BB-EDC8E81B86B3}"/>
              </a:ext>
            </a:extLst>
          </p:cNvPr>
          <p:cNvSpPr>
            <a:spLocks noGrp="1"/>
          </p:cNvSpPr>
          <p:nvPr>
            <p:ph type="body" sz="half" idx="2"/>
          </p:nvPr>
        </p:nvSpPr>
        <p:spPr/>
        <p:txBody>
          <a:bodyPr/>
          <a:lstStyle/>
          <a:p>
            <a:r>
              <a:rPr lang="en-US" dirty="0"/>
              <a:t>Whole system works as parallel sources</a:t>
            </a:r>
          </a:p>
          <a:p>
            <a:pPr marL="285750" indent="-285750">
              <a:buFont typeface="Arial" panose="020B0604020202020204" pitchFamily="34" charset="0"/>
              <a:buChar char="•"/>
            </a:pPr>
            <a:r>
              <a:rPr lang="en-US" dirty="0"/>
              <a:t>Nodes between battery, converter, and load use KCL to divide current</a:t>
            </a:r>
          </a:p>
          <a:p>
            <a:pPr marL="285750" indent="-285750">
              <a:buFont typeface="Arial" panose="020B0604020202020204" pitchFamily="34" charset="0"/>
              <a:buChar char="•"/>
            </a:pPr>
            <a:r>
              <a:rPr lang="en-US" dirty="0"/>
              <a:t>No qualitative distinction between forward charging (storing excess energy) and reverse charging (releasing needed energy)</a:t>
            </a:r>
          </a:p>
          <a:p>
            <a:r>
              <a:rPr lang="en-US" dirty="0"/>
              <a:t>System must work seamlessly between both forward and reverse to allow current control behavior</a:t>
            </a:r>
          </a:p>
        </p:txBody>
      </p:sp>
      <p:grpSp>
        <p:nvGrpSpPr>
          <p:cNvPr id="25" name="Group 24">
            <a:extLst>
              <a:ext uri="{FF2B5EF4-FFF2-40B4-BE49-F238E27FC236}">
                <a16:creationId xmlns:a16="http://schemas.microsoft.com/office/drawing/2014/main" id="{55B2F12C-DB34-F536-02EC-9E1B88FF791D}"/>
              </a:ext>
            </a:extLst>
          </p:cNvPr>
          <p:cNvGrpSpPr/>
          <p:nvPr/>
        </p:nvGrpSpPr>
        <p:grpSpPr>
          <a:xfrm>
            <a:off x="5357118" y="1499088"/>
            <a:ext cx="6216163" cy="4157297"/>
            <a:chOff x="5704740" y="2180492"/>
            <a:chExt cx="6216163" cy="4157297"/>
          </a:xfrm>
        </p:grpSpPr>
        <p:sp>
          <p:nvSpPr>
            <p:cNvPr id="5" name="Rectangle 4">
              <a:extLst>
                <a:ext uri="{FF2B5EF4-FFF2-40B4-BE49-F238E27FC236}">
                  <a16:creationId xmlns:a16="http://schemas.microsoft.com/office/drawing/2014/main" id="{4333A17A-F7FF-003C-D65A-87EE3A9A56CE}"/>
                </a:ext>
              </a:extLst>
            </p:cNvPr>
            <p:cNvSpPr/>
            <p:nvPr/>
          </p:nvSpPr>
          <p:spPr>
            <a:xfrm>
              <a:off x="5704740"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Battery</a:t>
              </a:r>
            </a:p>
          </p:txBody>
        </p:sp>
        <p:sp>
          <p:nvSpPr>
            <p:cNvPr id="7" name="Rectangle 6">
              <a:extLst>
                <a:ext uri="{FF2B5EF4-FFF2-40B4-BE49-F238E27FC236}">
                  <a16:creationId xmlns:a16="http://schemas.microsoft.com/office/drawing/2014/main" id="{8BA743D7-F146-C8E8-8E8B-27294E452D15}"/>
                </a:ext>
              </a:extLst>
            </p:cNvPr>
            <p:cNvSpPr/>
            <p:nvPr/>
          </p:nvSpPr>
          <p:spPr>
            <a:xfrm>
              <a:off x="10008576"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Load</a:t>
              </a:r>
            </a:p>
          </p:txBody>
        </p:sp>
        <p:sp>
          <p:nvSpPr>
            <p:cNvPr id="8" name="Rectangle 7">
              <a:extLst>
                <a:ext uri="{FF2B5EF4-FFF2-40B4-BE49-F238E27FC236}">
                  <a16:creationId xmlns:a16="http://schemas.microsoft.com/office/drawing/2014/main" id="{DB6A3E24-0326-F016-C421-9BCF44EF3E29}"/>
                </a:ext>
              </a:extLst>
            </p:cNvPr>
            <p:cNvSpPr/>
            <p:nvPr/>
          </p:nvSpPr>
          <p:spPr>
            <a:xfrm>
              <a:off x="8533666" y="442546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Converter</a:t>
              </a:r>
            </a:p>
          </p:txBody>
        </p:sp>
        <p:cxnSp>
          <p:nvCxnSpPr>
            <p:cNvPr id="10" name="Straight Connector 9">
              <a:extLst>
                <a:ext uri="{FF2B5EF4-FFF2-40B4-BE49-F238E27FC236}">
                  <a16:creationId xmlns:a16="http://schemas.microsoft.com/office/drawing/2014/main" id="{0960E20F-B69F-93E3-8741-69730F35434E}"/>
                </a:ext>
              </a:extLst>
            </p:cNvPr>
            <p:cNvCxnSpPr>
              <a:cxnSpLocks/>
            </p:cNvCxnSpPr>
            <p:nvPr/>
          </p:nvCxnSpPr>
          <p:spPr>
            <a:xfrm>
              <a:off x="7617067" y="2773973"/>
              <a:ext cx="2397371"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42ABB98-1804-4EB7-D248-24B0183B5E07}"/>
                </a:ext>
              </a:extLst>
            </p:cNvPr>
            <p:cNvCxnSpPr>
              <a:cxnSpLocks/>
            </p:cNvCxnSpPr>
            <p:nvPr/>
          </p:nvCxnSpPr>
          <p:spPr>
            <a:xfrm>
              <a:off x="7617067" y="3396762"/>
              <a:ext cx="239150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963A33A-A9E4-1369-E049-82AC9807A44E}"/>
                </a:ext>
              </a:extLst>
            </p:cNvPr>
            <p:cNvCxnSpPr>
              <a:cxnSpLocks/>
            </p:cNvCxnSpPr>
            <p:nvPr/>
          </p:nvCxnSpPr>
          <p:spPr>
            <a:xfrm>
              <a:off x="8313127" y="4974981"/>
              <a:ext cx="22053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9BC010C-4EDF-8CBD-AF4A-FDF81F920A3B}"/>
                </a:ext>
              </a:extLst>
            </p:cNvPr>
            <p:cNvCxnSpPr/>
            <p:nvPr/>
          </p:nvCxnSpPr>
          <p:spPr>
            <a:xfrm flipV="1">
              <a:off x="8313127" y="2773973"/>
              <a:ext cx="0" cy="2201008"/>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F2B6C75-A9ED-10D8-96E3-699E51F43910}"/>
                </a:ext>
              </a:extLst>
            </p:cNvPr>
            <p:cNvCxnSpPr>
              <a:cxnSpLocks/>
            </p:cNvCxnSpPr>
            <p:nvPr/>
          </p:nvCxnSpPr>
          <p:spPr>
            <a:xfrm flipH="1">
              <a:off x="7838342" y="5794131"/>
              <a:ext cx="695324"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0D916A2-FABD-FAA0-FCC3-85126343BA71}"/>
                </a:ext>
              </a:extLst>
            </p:cNvPr>
            <p:cNvCxnSpPr>
              <a:cxnSpLocks/>
              <a:stCxn id="22" idx="3"/>
            </p:cNvCxnSpPr>
            <p:nvPr/>
          </p:nvCxnSpPr>
          <p:spPr>
            <a:xfrm flipV="1">
              <a:off x="7838341" y="3396762"/>
              <a:ext cx="1" cy="2590067"/>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56CCD26D-A8E8-D53E-FE3D-F682956C9A94}"/>
                </a:ext>
              </a:extLst>
            </p:cNvPr>
            <p:cNvSpPr/>
            <p:nvPr/>
          </p:nvSpPr>
          <p:spPr>
            <a:xfrm>
              <a:off x="7806103" y="3364524"/>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CB4F9A0-CD84-9F1B-B2D7-9878254789AD}"/>
                </a:ext>
              </a:extLst>
            </p:cNvPr>
            <p:cNvSpPr/>
            <p:nvPr/>
          </p:nvSpPr>
          <p:spPr>
            <a:xfrm>
              <a:off x="8280889" y="2737340"/>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9CEBB0B1-775F-23FD-F38D-AAB40C8615E8}"/>
                </a:ext>
              </a:extLst>
            </p:cNvPr>
            <p:cNvSpPr/>
            <p:nvPr/>
          </p:nvSpPr>
          <p:spPr>
            <a:xfrm rot="10800000">
              <a:off x="7746549" y="5986829"/>
              <a:ext cx="183584" cy="158262"/>
            </a:xfrm>
            <a:prstGeom prst="triangl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ACEB3883-DD7C-6E95-5F04-3652D4439CE2}"/>
                </a:ext>
              </a:extLst>
            </p:cNvPr>
            <p:cNvSpPr/>
            <p:nvPr/>
          </p:nvSpPr>
          <p:spPr>
            <a:xfrm>
              <a:off x="7806102" y="5761893"/>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Rounded Corners 25">
            <a:extLst>
              <a:ext uri="{FF2B5EF4-FFF2-40B4-BE49-F238E27FC236}">
                <a16:creationId xmlns:a16="http://schemas.microsoft.com/office/drawing/2014/main" id="{13D99816-F563-92A5-B1EF-588931661F86}"/>
              </a:ext>
            </a:extLst>
          </p:cNvPr>
          <p:cNvSpPr/>
          <p:nvPr/>
        </p:nvSpPr>
        <p:spPr>
          <a:xfrm>
            <a:off x="5215466" y="1120350"/>
            <a:ext cx="6484118" cy="470895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92FF557-B237-0864-14C9-50C9590DC8C5}"/>
              </a:ext>
            </a:extLst>
          </p:cNvPr>
          <p:cNvSpPr txBox="1"/>
          <p:nvPr/>
        </p:nvSpPr>
        <p:spPr>
          <a:xfrm>
            <a:off x="9250965" y="1111670"/>
            <a:ext cx="2448619" cy="338554"/>
          </a:xfrm>
          <a:prstGeom prst="rect">
            <a:avLst/>
          </a:prstGeom>
          <a:noFill/>
        </p:spPr>
        <p:txBody>
          <a:bodyPr wrap="none" rtlCol="0">
            <a:spAutoFit/>
          </a:bodyPr>
          <a:lstStyle/>
          <a:p>
            <a:pPr algn="r"/>
            <a:r>
              <a:rPr lang="en-US" sz="1600" b="1" dirty="0"/>
              <a:t>Basic Full System Model</a:t>
            </a:r>
          </a:p>
        </p:txBody>
      </p:sp>
    </p:spTree>
    <p:extLst>
      <p:ext uri="{BB962C8B-B14F-4D97-AF65-F5344CB8AC3E}">
        <p14:creationId xmlns:p14="http://schemas.microsoft.com/office/powerpoint/2010/main" val="1884170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198F8-D73B-29EA-58F4-B7577C77FD19}"/>
              </a:ext>
            </a:extLst>
          </p:cNvPr>
          <p:cNvSpPr>
            <a:spLocks noGrp="1"/>
          </p:cNvSpPr>
          <p:nvPr>
            <p:ph type="title"/>
          </p:nvPr>
        </p:nvSpPr>
        <p:spPr/>
        <p:txBody>
          <a:bodyPr/>
          <a:lstStyle/>
          <a:p>
            <a:r>
              <a:rPr lang="en-US" dirty="0"/>
              <a:t>Reverse Charging: Maximum Reverse Current</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73F8DD2-AE5D-78D7-BF82-7A4B15CB059B}"/>
                  </a:ext>
                </a:extLst>
              </p:cNvPr>
              <p:cNvSpPr>
                <a:spLocks noGrp="1"/>
              </p:cNvSpPr>
              <p:nvPr>
                <p:ph type="body" sz="half" idx="2"/>
              </p:nvPr>
            </p:nvSpPr>
            <p:spPr/>
            <p:txBody>
              <a:bodyPr/>
              <a:lstStyle/>
              <a:p>
                <a:r>
                  <a:rPr lang="en-US" dirty="0"/>
                  <a:t>Formula for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i="1" dirty="0"/>
                  <a:t> </a:t>
                </a:r>
                <a:r>
                  <a:rPr lang="en-US" dirty="0"/>
                  <a:t>has limits:</a:t>
                </a:r>
                <a:endParaRPr lang="en-US" i="1" dirty="0"/>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ea typeface="Cambria Math" panose="02040503050406030204" pitchFamily="18" charset="0"/>
                        </a:rPr>
                        <m:t>±</m:t>
                      </m:r>
                      <m:rad>
                        <m:radPr>
                          <m:degHide m:val="on"/>
                          <m:ctrlPr>
                            <a:rPr lang="en-US" i="1">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𝑇</m:t>
                              </m:r>
                            </m:sub>
                            <m:sup>
                              <m:r>
                                <a:rPr lang="en-US" i="1">
                                  <a:latin typeface="Cambria Math" panose="02040503050406030204" pitchFamily="18" charset="0"/>
                                </a:rPr>
                                <m:t>2</m:t>
                              </m:r>
                            </m:sup>
                          </m:sSubSup>
                        </m:e>
                      </m:ra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oMath>
                </a14:m>
                <a:r>
                  <a:rPr lang="en-US" dirty="0"/>
                  <a:t> results in non-real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endParaRPr lang="en-US" dirty="0"/>
              </a:p>
              <a:p>
                <a:pPr marL="285750" indent="-285750">
                  <a:buFont typeface="Arial" panose="020B0604020202020204" pitchFamily="34" charset="0"/>
                  <a:buChar char="•"/>
                </a:pPr>
                <a:r>
                  <a:rPr lang="en-US" dirty="0"/>
                  <a:t>Sets limit on maximum reverse current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 </m:t>
                    </m:r>
                  </m:oMath>
                </a14:m>
                <a:r>
                  <a:rPr lang="en-US" dirty="0"/>
                  <a:t>math trick</a:t>
                </a:r>
              </a:p>
              <a:p>
                <a:pPr marL="285750" indent="-285750">
                  <a:buFont typeface="Arial" panose="020B0604020202020204" pitchFamily="34" charset="0"/>
                  <a:buChar char="•"/>
                </a:pPr>
                <a:r>
                  <a:rPr lang="en-US" dirty="0"/>
                  <a:t>Minimum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corresponds to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oMath>
                </a14:m>
                <a:r>
                  <a:rPr lang="en-US" dirty="0"/>
                  <a:t>, greater than minimum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 realizable</a:t>
                </a:r>
              </a:p>
              <a:p>
                <a:r>
                  <a:rPr lang="en-US" dirty="0"/>
                  <a:t>Look back on model with RL branch – possible to attain higher reverse current?</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)&lt;0</m:t>
                    </m:r>
                  </m:oMath>
                </a14:m>
                <a:r>
                  <a:rPr lang="en-US" dirty="0"/>
                  <a:t> requires either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m:t>
                    </m:r>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m:t>
                    </m:r>
                  </m:oMath>
                </a14:m>
                <a:endParaRPr lang="en-US" dirty="0"/>
              </a:p>
            </p:txBody>
          </p:sp>
        </mc:Choice>
        <mc:Fallback xmlns="">
          <p:sp>
            <p:nvSpPr>
              <p:cNvPr id="4" name="Text Placeholder 3">
                <a:extLst>
                  <a:ext uri="{FF2B5EF4-FFF2-40B4-BE49-F238E27FC236}">
                    <a16:creationId xmlns:a16="http://schemas.microsoft.com/office/drawing/2014/main" id="{273F8DD2-AE5D-78D7-BF82-7A4B15CB059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6C88532B-1D99-30C9-0C25-F0C77D0C6B0B}"/>
              </a:ext>
            </a:extLst>
          </p:cNvPr>
          <p:cNvPicPr>
            <a:picLocks noChangeAspect="1"/>
          </p:cNvPicPr>
          <p:nvPr/>
        </p:nvPicPr>
        <p:blipFill>
          <a:blip r:embed="rId3"/>
          <a:stretch>
            <a:fillRect/>
          </a:stretch>
        </p:blipFill>
        <p:spPr>
          <a:xfrm>
            <a:off x="5232950" y="1849220"/>
            <a:ext cx="6550895" cy="2220800"/>
          </a:xfrm>
          <a:prstGeom prst="rect">
            <a:avLst/>
          </a:prstGeom>
        </p:spPr>
      </p:pic>
      <p:sp>
        <p:nvSpPr>
          <p:cNvPr id="6" name="Rectangle: Rounded Corners 5">
            <a:extLst>
              <a:ext uri="{FF2B5EF4-FFF2-40B4-BE49-F238E27FC236}">
                <a16:creationId xmlns:a16="http://schemas.microsoft.com/office/drawing/2014/main" id="{CCFA847B-1647-C58F-0939-7066C0E48511}"/>
              </a:ext>
            </a:extLst>
          </p:cNvPr>
          <p:cNvSpPr/>
          <p:nvPr/>
        </p:nvSpPr>
        <p:spPr>
          <a:xfrm>
            <a:off x="5171813" y="1523206"/>
            <a:ext cx="6673171" cy="381158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9AD879A-5540-354A-3EB3-43E870B9B1BF}"/>
              </a:ext>
            </a:extLst>
          </p:cNvPr>
          <p:cNvSpPr txBox="1"/>
          <p:nvPr/>
        </p:nvSpPr>
        <p:spPr>
          <a:xfrm>
            <a:off x="9918238" y="1514526"/>
            <a:ext cx="1926746" cy="338554"/>
          </a:xfrm>
          <a:prstGeom prst="rect">
            <a:avLst/>
          </a:prstGeom>
          <a:noFill/>
        </p:spPr>
        <p:txBody>
          <a:bodyPr wrap="none" rtlCol="0">
            <a:spAutoFit/>
          </a:bodyPr>
          <a:lstStyle/>
          <a:p>
            <a:pPr algn="r"/>
            <a:r>
              <a:rPr lang="en-US" sz="1600" b="1" dirty="0"/>
              <a:t>Isolated RL Branch</a:t>
            </a:r>
          </a:p>
        </p:txBody>
      </p:sp>
      <p:sp>
        <p:nvSpPr>
          <p:cNvPr id="9" name="Rectangle 8">
            <a:extLst>
              <a:ext uri="{FF2B5EF4-FFF2-40B4-BE49-F238E27FC236}">
                <a16:creationId xmlns:a16="http://schemas.microsoft.com/office/drawing/2014/main" id="{58FFA540-3083-5680-2150-6014101AB2A2}"/>
              </a:ext>
            </a:extLst>
          </p:cNvPr>
          <p:cNvSpPr/>
          <p:nvPr/>
        </p:nvSpPr>
        <p:spPr>
          <a:xfrm>
            <a:off x="7344561" y="2754549"/>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DB3F6B86-DB37-5D5B-FE5D-FD9FF7A1B3F4}"/>
              </a:ext>
            </a:extLst>
          </p:cNvPr>
          <p:cNvCxnSpPr/>
          <p:nvPr/>
        </p:nvCxnSpPr>
        <p:spPr>
          <a:xfrm flipV="1">
            <a:off x="8397380" y="2079235"/>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E6A6494-EF7C-A372-CA4E-9613D5EF2080}"/>
              </a:ext>
            </a:extLst>
          </p:cNvPr>
          <p:cNvCxnSpPr>
            <a:cxnSpLocks/>
          </p:cNvCxnSpPr>
          <p:nvPr/>
        </p:nvCxnSpPr>
        <p:spPr>
          <a:xfrm>
            <a:off x="9132815" y="2079235"/>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292BA53-40C3-A32B-9DA5-004052569C61}"/>
              </a:ext>
            </a:extLst>
          </p:cNvPr>
          <p:cNvSpPr txBox="1"/>
          <p:nvPr/>
        </p:nvSpPr>
        <p:spPr>
          <a:xfrm>
            <a:off x="5972165" y="4196373"/>
            <a:ext cx="5072467" cy="923330"/>
          </a:xfrm>
          <a:prstGeom prst="rect">
            <a:avLst/>
          </a:prstGeom>
          <a:noFill/>
        </p:spPr>
        <p:txBody>
          <a:bodyPr wrap="square" rtlCol="0">
            <a:spAutoFit/>
          </a:bodyPr>
          <a:lstStyle/>
          <a:p>
            <a:r>
              <a:rPr lang="en-US" dirty="0"/>
              <a:t>Negative current means current flows into battery</a:t>
            </a:r>
          </a:p>
          <a:p>
            <a:r>
              <a:rPr lang="en-US" dirty="0"/>
              <a:t>Either </a:t>
            </a:r>
            <a:r>
              <a:rPr lang="en-US" dirty="0">
                <a:solidFill>
                  <a:srgbClr val="FF0000"/>
                </a:solidFill>
              </a:rPr>
              <a:t>current flows in reverse from inductor </a:t>
            </a:r>
            <a:r>
              <a:rPr lang="en-US" dirty="0"/>
              <a:t>or </a:t>
            </a:r>
            <a:r>
              <a:rPr lang="en-US" dirty="0">
                <a:solidFill>
                  <a:srgbClr val="00B050"/>
                </a:solidFill>
              </a:rPr>
              <a:t>transformer polarity flips</a:t>
            </a:r>
          </a:p>
        </p:txBody>
      </p:sp>
      <p:cxnSp>
        <p:nvCxnSpPr>
          <p:cNvPr id="15" name="Straight Arrow Connector 14">
            <a:extLst>
              <a:ext uri="{FF2B5EF4-FFF2-40B4-BE49-F238E27FC236}">
                <a16:creationId xmlns:a16="http://schemas.microsoft.com/office/drawing/2014/main" id="{45D0DA3B-37DC-1A58-BF6C-3F578F2B5A7C}"/>
              </a:ext>
            </a:extLst>
          </p:cNvPr>
          <p:cNvCxnSpPr/>
          <p:nvPr/>
        </p:nvCxnSpPr>
        <p:spPr>
          <a:xfrm flipV="1">
            <a:off x="10755347" y="3169959"/>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1EC3668A-6CF4-FAC4-9037-CC988B534156}"/>
              </a:ext>
            </a:extLst>
          </p:cNvPr>
          <p:cNvSpPr/>
          <p:nvPr/>
        </p:nvSpPr>
        <p:spPr>
          <a:xfrm>
            <a:off x="8572500" y="2645492"/>
            <a:ext cx="46567" cy="46567"/>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9611D02-F72F-31ED-520E-024B96DB97B3}"/>
              </a:ext>
            </a:extLst>
          </p:cNvPr>
          <p:cNvSpPr/>
          <p:nvPr/>
        </p:nvSpPr>
        <p:spPr>
          <a:xfrm>
            <a:off x="8909638" y="2645492"/>
            <a:ext cx="46567" cy="46567"/>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875EE43-D497-B2AA-9A1D-2F186285D439}"/>
              </a:ext>
            </a:extLst>
          </p:cNvPr>
          <p:cNvSpPr/>
          <p:nvPr/>
        </p:nvSpPr>
        <p:spPr>
          <a:xfrm>
            <a:off x="8909638" y="3203074"/>
            <a:ext cx="46567" cy="46567"/>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AE567318-9B5B-E98D-1547-4E358714F43C}"/>
              </a:ext>
            </a:extLst>
          </p:cNvPr>
          <p:cNvCxnSpPr>
            <a:cxnSpLocks/>
          </p:cNvCxnSpPr>
          <p:nvPr/>
        </p:nvCxnSpPr>
        <p:spPr>
          <a:xfrm>
            <a:off x="9134330" y="3249641"/>
            <a:ext cx="0" cy="566257"/>
          </a:xfrm>
          <a:prstGeom prst="straightConnector1">
            <a:avLst/>
          </a:prstGeom>
          <a:ln>
            <a:solidFill>
              <a:srgbClr val="00B050"/>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B21932E-A73C-87DE-3431-BCF0E246FCA3}"/>
              </a:ext>
            </a:extLst>
          </p:cNvPr>
          <p:cNvCxnSpPr>
            <a:cxnSpLocks/>
          </p:cNvCxnSpPr>
          <p:nvPr/>
        </p:nvCxnSpPr>
        <p:spPr>
          <a:xfrm>
            <a:off x="10645630" y="3169958"/>
            <a:ext cx="0" cy="566257"/>
          </a:xfrm>
          <a:prstGeom prst="straightConnector1">
            <a:avLst/>
          </a:prstGeom>
          <a:ln>
            <a:solidFill>
              <a:srgbClr val="00B05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72862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3752B4-6DED-AFEA-A9AD-0F446536407A}"/>
              </a:ext>
            </a:extLst>
          </p:cNvPr>
          <p:cNvSpPr>
            <a:spLocks noGrp="1"/>
          </p:cNvSpPr>
          <p:nvPr>
            <p:ph type="title"/>
          </p:nvPr>
        </p:nvSpPr>
        <p:spPr/>
        <p:txBody>
          <a:bodyPr/>
          <a:lstStyle/>
          <a:p>
            <a:r>
              <a:rPr lang="en-US" dirty="0"/>
              <a:t>Maximum Reverse Current, Continued</a:t>
            </a:r>
          </a:p>
        </p:txBody>
      </p:sp>
      <p:cxnSp>
        <p:nvCxnSpPr>
          <p:cNvPr id="6" name="Straight Connector 5">
            <a:extLst>
              <a:ext uri="{FF2B5EF4-FFF2-40B4-BE49-F238E27FC236}">
                <a16:creationId xmlns:a16="http://schemas.microsoft.com/office/drawing/2014/main" id="{E8DE34FB-F915-A7B6-47D1-F4EB7BF31EA1}"/>
              </a:ext>
            </a:extLst>
          </p:cNvPr>
          <p:cNvCxnSpPr>
            <a:stCxn id="2" idx="2"/>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D6B1CDB-962E-F681-7BE8-FFF6F4A33546}"/>
                  </a:ext>
                </a:extLst>
              </p:cNvPr>
              <p:cNvSpPr txBox="1"/>
              <p:nvPr/>
            </p:nvSpPr>
            <p:spPr>
              <a:xfrm>
                <a:off x="2021417" y="1690688"/>
                <a:ext cx="2082800" cy="369332"/>
              </a:xfrm>
              <a:prstGeom prst="rect">
                <a:avLst/>
              </a:prstGeom>
              <a:noFill/>
            </p:spPr>
            <p:txBody>
              <a:bodyPr wrap="square">
                <a:spAutoFit/>
              </a:bodyPr>
              <a:lstStyle/>
              <a:p>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m:t>
                    </m:r>
                  </m:oMath>
                </a14:m>
                <a:r>
                  <a:rPr lang="en-US" dirty="0"/>
                  <a:t> </a:t>
                </a:r>
              </a:p>
            </p:txBody>
          </p:sp>
        </mc:Choice>
        <mc:Fallback xmlns="">
          <p:sp>
            <p:nvSpPr>
              <p:cNvPr id="4" name="TextBox 3">
                <a:extLst>
                  <a:ext uri="{FF2B5EF4-FFF2-40B4-BE49-F238E27FC236}">
                    <a16:creationId xmlns:a16="http://schemas.microsoft.com/office/drawing/2014/main" id="{DD6B1CDB-962E-F681-7BE8-FFF6F4A33546}"/>
                  </a:ext>
                </a:extLst>
              </p:cNvPr>
              <p:cNvSpPr txBox="1">
                <a:spLocks noRot="1" noChangeAspect="1" noMove="1" noResize="1" noEditPoints="1" noAdjustHandles="1" noChangeArrowheads="1" noChangeShapeType="1" noTextEdit="1"/>
              </p:cNvSpPr>
              <p:nvPr/>
            </p:nvSpPr>
            <p:spPr>
              <a:xfrm>
                <a:off x="2021417" y="1690688"/>
                <a:ext cx="20828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4958B64-CDBE-1C0D-893C-5555A7BDD718}"/>
                  </a:ext>
                </a:extLst>
              </p:cNvPr>
              <p:cNvSpPr txBox="1"/>
              <p:nvPr/>
            </p:nvSpPr>
            <p:spPr>
              <a:xfrm>
                <a:off x="8096250" y="1690688"/>
                <a:ext cx="207433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m:t>
                      </m:r>
                    </m:oMath>
                  </m:oMathPara>
                </a14:m>
                <a:endParaRPr lang="en-US" dirty="0"/>
              </a:p>
            </p:txBody>
          </p:sp>
        </mc:Choice>
        <mc:Fallback xmlns="">
          <p:sp>
            <p:nvSpPr>
              <p:cNvPr id="9" name="TextBox 8">
                <a:extLst>
                  <a:ext uri="{FF2B5EF4-FFF2-40B4-BE49-F238E27FC236}">
                    <a16:creationId xmlns:a16="http://schemas.microsoft.com/office/drawing/2014/main" id="{C4958B64-CDBE-1C0D-893C-5555A7BDD718}"/>
                  </a:ext>
                </a:extLst>
              </p:cNvPr>
              <p:cNvSpPr txBox="1">
                <a:spLocks noRot="1" noChangeAspect="1" noMove="1" noResize="1" noEditPoints="1" noAdjustHandles="1" noChangeArrowheads="1" noChangeShapeType="1" noTextEdit="1"/>
              </p:cNvSpPr>
              <p:nvPr/>
            </p:nvSpPr>
            <p:spPr>
              <a:xfrm>
                <a:off x="8096250" y="1690688"/>
                <a:ext cx="2074333"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95E5DDA-15B0-2D4F-409A-4A7F7BCEC3CB}"/>
                  </a:ext>
                </a:extLst>
              </p:cNvPr>
              <p:cNvSpPr txBox="1"/>
              <p:nvPr/>
            </p:nvSpPr>
            <p:spPr>
              <a:xfrm>
                <a:off x="115273" y="5486400"/>
                <a:ext cx="5850467" cy="1002390"/>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r>
                  <a:rPr lang="en-US" sz="1400" dirty="0"/>
                  <a:t> corresponds to a change to </a:t>
                </a:r>
                <a14:m>
                  <m:oMath xmlns:m="http://schemas.openxmlformats.org/officeDocument/2006/math">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oMath>
                </a14:m>
                <a:r>
                  <a:rPr lang="en-US" sz="1400" dirty="0"/>
                  <a:t> regime</a:t>
                </a:r>
              </a:p>
              <a:p>
                <a:r>
                  <a:rPr lang="en-US" sz="1400" dirty="0"/>
                  <a:t>Current flowing out of capacitor results in negative inductor current</a:t>
                </a:r>
              </a:p>
              <a:p>
                <a:r>
                  <a:rPr lang="en-US" sz="1400" dirty="0"/>
                  <a:t>Thus </a:t>
                </a:r>
                <a14:m>
                  <m:oMath xmlns:m="http://schemas.openxmlformats.org/officeDocument/2006/math">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m:rPr>
                            <m:sty m:val="p"/>
                          </m:rPr>
                          <a:rPr lang="en-US" sz="1400" b="0" i="0" dirty="0" smtClean="0">
                            <a:latin typeface="Cambria Math" panose="02040503050406030204" pitchFamily="18" charset="0"/>
                          </a:rPr>
                          <m:t>L</m:t>
                        </m:r>
                      </m:sub>
                    </m:sSub>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&lt;</m:t>
                    </m:r>
                    <m:r>
                      <a:rPr lang="en-US" sz="1400" i="1" dirty="0">
                        <a:latin typeface="Cambria Math" panose="02040503050406030204" pitchFamily="18" charset="0"/>
                      </a:rPr>
                      <m:t>0, 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i="1" dirty="0" smtClean="0">
                        <a:latin typeface="Cambria Math" panose="02040503050406030204" pitchFamily="18" charset="0"/>
                      </a:rPr>
                      <m:t>&lt;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&gt;0</m:t>
                    </m:r>
                  </m:oMath>
                </a14:m>
                <a:endParaRPr lang="en-US" sz="1400" dirty="0"/>
              </a:p>
              <a:p>
                <a:r>
                  <a:rPr lang="en-US" sz="1600" b="1" dirty="0"/>
                  <a:t>Reverse charging not possible!</a:t>
                </a:r>
              </a:p>
            </p:txBody>
          </p:sp>
        </mc:Choice>
        <mc:Fallback xmlns="">
          <p:sp>
            <p:nvSpPr>
              <p:cNvPr id="12" name="TextBox 11">
                <a:extLst>
                  <a:ext uri="{FF2B5EF4-FFF2-40B4-BE49-F238E27FC236}">
                    <a16:creationId xmlns:a16="http://schemas.microsoft.com/office/drawing/2014/main" id="{D95E5DDA-15B0-2D4F-409A-4A7F7BCEC3CB}"/>
                  </a:ext>
                </a:extLst>
              </p:cNvPr>
              <p:cNvSpPr txBox="1">
                <a:spLocks noRot="1" noChangeAspect="1" noMove="1" noResize="1" noEditPoints="1" noAdjustHandles="1" noChangeArrowheads="1" noChangeShapeType="1" noTextEdit="1"/>
              </p:cNvSpPr>
              <p:nvPr/>
            </p:nvSpPr>
            <p:spPr>
              <a:xfrm>
                <a:off x="115273" y="5486400"/>
                <a:ext cx="5850467" cy="1002390"/>
              </a:xfrm>
              <a:prstGeom prst="rect">
                <a:avLst/>
              </a:prstGeom>
              <a:blipFill>
                <a:blip r:embed="rId4"/>
                <a:stretch>
                  <a:fillRect l="-625" t="-610" b="-7317"/>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9BE38B83-4397-6C46-3E8E-B423A3198890}"/>
              </a:ext>
            </a:extLst>
          </p:cNvPr>
          <p:cNvGrpSpPr/>
          <p:nvPr/>
        </p:nvGrpSpPr>
        <p:grpSpPr>
          <a:xfrm>
            <a:off x="577054" y="2422197"/>
            <a:ext cx="4926905" cy="2702023"/>
            <a:chOff x="5934734" y="3531668"/>
            <a:chExt cx="4926905" cy="2702023"/>
          </a:xfrm>
        </p:grpSpPr>
        <p:pic>
          <p:nvPicPr>
            <p:cNvPr id="14" name="Picture 13">
              <a:extLst>
                <a:ext uri="{FF2B5EF4-FFF2-40B4-BE49-F238E27FC236}">
                  <a16:creationId xmlns:a16="http://schemas.microsoft.com/office/drawing/2014/main" id="{7DAC6857-8EE0-6A3F-173B-71FEE6E9B551}"/>
                </a:ext>
              </a:extLst>
            </p:cNvPr>
            <p:cNvPicPr>
              <a:picLocks noChangeAspect="1"/>
            </p:cNvPicPr>
            <p:nvPr/>
          </p:nvPicPr>
          <p:blipFill>
            <a:blip r:embed="rId5"/>
            <a:stretch>
              <a:fillRect/>
            </a:stretch>
          </p:blipFill>
          <p:spPr>
            <a:xfrm>
              <a:off x="5934734" y="3584846"/>
              <a:ext cx="2170222" cy="1277897"/>
            </a:xfrm>
            <a:prstGeom prst="rect">
              <a:avLst/>
            </a:prstGeom>
          </p:spPr>
        </p:pic>
        <p:grpSp>
          <p:nvGrpSpPr>
            <p:cNvPr id="15" name="Group 14">
              <a:extLst>
                <a:ext uri="{FF2B5EF4-FFF2-40B4-BE49-F238E27FC236}">
                  <a16:creationId xmlns:a16="http://schemas.microsoft.com/office/drawing/2014/main" id="{AEB2DAE8-6079-6D05-585B-8EDB70D695CB}"/>
                </a:ext>
              </a:extLst>
            </p:cNvPr>
            <p:cNvGrpSpPr/>
            <p:nvPr/>
          </p:nvGrpSpPr>
          <p:grpSpPr>
            <a:xfrm>
              <a:off x="6519084" y="3736366"/>
              <a:ext cx="142595" cy="490604"/>
              <a:chOff x="6320118" y="3683188"/>
              <a:chExt cx="142595" cy="490604"/>
            </a:xfrm>
          </p:grpSpPr>
          <p:cxnSp>
            <p:nvCxnSpPr>
              <p:cNvPr id="56" name="Straight Connector 55">
                <a:extLst>
                  <a:ext uri="{FF2B5EF4-FFF2-40B4-BE49-F238E27FC236}">
                    <a16:creationId xmlns:a16="http://schemas.microsoft.com/office/drawing/2014/main" id="{99BB1004-6624-7425-FE2E-F816B1D5C3C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E3EA0E-97DC-F00F-563A-B85E7896623F}"/>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6" name="Group 15">
              <a:extLst>
                <a:ext uri="{FF2B5EF4-FFF2-40B4-BE49-F238E27FC236}">
                  <a16:creationId xmlns:a16="http://schemas.microsoft.com/office/drawing/2014/main" id="{6234E214-B071-5E62-5ACB-48923714F1EF}"/>
                </a:ext>
              </a:extLst>
            </p:cNvPr>
            <p:cNvGrpSpPr/>
            <p:nvPr/>
          </p:nvGrpSpPr>
          <p:grpSpPr>
            <a:xfrm rot="10800000">
              <a:off x="7679017" y="4202033"/>
              <a:ext cx="142595" cy="490604"/>
              <a:chOff x="6320118" y="3683188"/>
              <a:chExt cx="142595" cy="490604"/>
            </a:xfrm>
          </p:grpSpPr>
          <p:cxnSp>
            <p:nvCxnSpPr>
              <p:cNvPr id="54" name="Straight Connector 53">
                <a:extLst>
                  <a:ext uri="{FF2B5EF4-FFF2-40B4-BE49-F238E27FC236}">
                    <a16:creationId xmlns:a16="http://schemas.microsoft.com/office/drawing/2014/main" id="{A32BBC77-2288-61DB-0022-A2542C8AC4E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16BC7D9D-8F46-7154-9696-49C7AE0B014B}"/>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17" name="TextBox 16">
              <a:extLst>
                <a:ext uri="{FF2B5EF4-FFF2-40B4-BE49-F238E27FC236}">
                  <a16:creationId xmlns:a16="http://schemas.microsoft.com/office/drawing/2014/main" id="{BB46143A-835B-C336-B624-96584CCE09CC}"/>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18" name="TextBox 17">
              <a:extLst>
                <a:ext uri="{FF2B5EF4-FFF2-40B4-BE49-F238E27FC236}">
                  <a16:creationId xmlns:a16="http://schemas.microsoft.com/office/drawing/2014/main" id="{BA212787-29BE-02D1-3C91-177CC73A2ABA}"/>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19" name="TextBox 18">
              <a:extLst>
                <a:ext uri="{FF2B5EF4-FFF2-40B4-BE49-F238E27FC236}">
                  <a16:creationId xmlns:a16="http://schemas.microsoft.com/office/drawing/2014/main" id="{34CEC704-53CB-B642-E0A3-ACDB7070A033}"/>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0" name="Picture 19">
              <a:extLst>
                <a:ext uri="{FF2B5EF4-FFF2-40B4-BE49-F238E27FC236}">
                  <a16:creationId xmlns:a16="http://schemas.microsoft.com/office/drawing/2014/main" id="{88A8F898-9E81-7B3F-E201-1D2DF3D6B8D8}"/>
                </a:ext>
              </a:extLst>
            </p:cNvPr>
            <p:cNvPicPr>
              <a:picLocks noChangeAspect="1"/>
            </p:cNvPicPr>
            <p:nvPr/>
          </p:nvPicPr>
          <p:blipFill>
            <a:blip r:embed="rId5"/>
            <a:stretch>
              <a:fillRect/>
            </a:stretch>
          </p:blipFill>
          <p:spPr>
            <a:xfrm>
              <a:off x="8689057" y="3588021"/>
              <a:ext cx="2170222" cy="1277897"/>
            </a:xfrm>
            <a:prstGeom prst="rect">
              <a:avLst/>
            </a:prstGeom>
          </p:spPr>
        </p:pic>
        <p:grpSp>
          <p:nvGrpSpPr>
            <p:cNvPr id="21" name="Group 20">
              <a:extLst>
                <a:ext uri="{FF2B5EF4-FFF2-40B4-BE49-F238E27FC236}">
                  <a16:creationId xmlns:a16="http://schemas.microsoft.com/office/drawing/2014/main" id="{86008F26-58B3-BB5B-9CF9-D951D64B9DA0}"/>
                </a:ext>
              </a:extLst>
            </p:cNvPr>
            <p:cNvGrpSpPr/>
            <p:nvPr/>
          </p:nvGrpSpPr>
          <p:grpSpPr>
            <a:xfrm>
              <a:off x="9273407" y="3739541"/>
              <a:ext cx="142595" cy="490604"/>
              <a:chOff x="6320118" y="3683188"/>
              <a:chExt cx="142595" cy="490604"/>
            </a:xfrm>
          </p:grpSpPr>
          <p:cxnSp>
            <p:nvCxnSpPr>
              <p:cNvPr id="52" name="Straight Connector 51">
                <a:extLst>
                  <a:ext uri="{FF2B5EF4-FFF2-40B4-BE49-F238E27FC236}">
                    <a16:creationId xmlns:a16="http://schemas.microsoft.com/office/drawing/2014/main" id="{21D77252-C9A9-FDEC-10C2-5BBA1A71CA0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E48070C0-7313-E8D5-8FBC-F35B2F523734}"/>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44791395-E801-3C05-D922-4EA57491EDC3}"/>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3" name="TextBox 22">
              <a:extLst>
                <a:ext uri="{FF2B5EF4-FFF2-40B4-BE49-F238E27FC236}">
                  <a16:creationId xmlns:a16="http://schemas.microsoft.com/office/drawing/2014/main" id="{DFCEC997-5CA4-CB6F-B8F9-0B6BE998B5D0}"/>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C67F6782-388B-A044-F1F3-FEA0A71B1219}"/>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25" name="Group 24">
              <a:extLst>
                <a:ext uri="{FF2B5EF4-FFF2-40B4-BE49-F238E27FC236}">
                  <a16:creationId xmlns:a16="http://schemas.microsoft.com/office/drawing/2014/main" id="{C6CA83CB-243C-0BB0-7731-37EC154CE6E5}"/>
                </a:ext>
              </a:extLst>
            </p:cNvPr>
            <p:cNvGrpSpPr/>
            <p:nvPr/>
          </p:nvGrpSpPr>
          <p:grpSpPr>
            <a:xfrm flipH="1">
              <a:off x="10432463" y="3736366"/>
              <a:ext cx="142595" cy="490604"/>
              <a:chOff x="6320118" y="3683188"/>
              <a:chExt cx="142595" cy="490604"/>
            </a:xfrm>
          </p:grpSpPr>
          <p:cxnSp>
            <p:nvCxnSpPr>
              <p:cNvPr id="50" name="Straight Connector 49">
                <a:extLst>
                  <a:ext uri="{FF2B5EF4-FFF2-40B4-BE49-F238E27FC236}">
                    <a16:creationId xmlns:a16="http://schemas.microsoft.com/office/drawing/2014/main" id="{DC820D84-6EFC-B01C-7343-79C45C90DB8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66B4776-2DF4-3115-FECA-3AFC9F6B133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26" name="Picture 25">
              <a:extLst>
                <a:ext uri="{FF2B5EF4-FFF2-40B4-BE49-F238E27FC236}">
                  <a16:creationId xmlns:a16="http://schemas.microsoft.com/office/drawing/2014/main" id="{9285D060-E6DB-051E-A789-66BCCD34C5A0}"/>
                </a:ext>
              </a:extLst>
            </p:cNvPr>
            <p:cNvPicPr>
              <a:picLocks noChangeAspect="1"/>
            </p:cNvPicPr>
            <p:nvPr/>
          </p:nvPicPr>
          <p:blipFill>
            <a:blip r:embed="rId5"/>
            <a:stretch>
              <a:fillRect/>
            </a:stretch>
          </p:blipFill>
          <p:spPr>
            <a:xfrm>
              <a:off x="5934734" y="4955406"/>
              <a:ext cx="2170222" cy="1277897"/>
            </a:xfrm>
            <a:prstGeom prst="rect">
              <a:avLst/>
            </a:prstGeom>
          </p:spPr>
        </p:pic>
        <p:grpSp>
          <p:nvGrpSpPr>
            <p:cNvPr id="27" name="Group 26">
              <a:extLst>
                <a:ext uri="{FF2B5EF4-FFF2-40B4-BE49-F238E27FC236}">
                  <a16:creationId xmlns:a16="http://schemas.microsoft.com/office/drawing/2014/main" id="{16C35B37-D263-407C-C21B-B246D37E8F47}"/>
                </a:ext>
              </a:extLst>
            </p:cNvPr>
            <p:cNvGrpSpPr/>
            <p:nvPr/>
          </p:nvGrpSpPr>
          <p:grpSpPr>
            <a:xfrm flipV="1">
              <a:off x="6519084" y="5576664"/>
              <a:ext cx="142595" cy="490604"/>
              <a:chOff x="6320118" y="3683188"/>
              <a:chExt cx="142595" cy="490604"/>
            </a:xfrm>
          </p:grpSpPr>
          <p:cxnSp>
            <p:nvCxnSpPr>
              <p:cNvPr id="48" name="Straight Connector 47">
                <a:extLst>
                  <a:ext uri="{FF2B5EF4-FFF2-40B4-BE49-F238E27FC236}">
                    <a16:creationId xmlns:a16="http://schemas.microsoft.com/office/drawing/2014/main" id="{DA503DB8-D214-6E95-FCE9-545D3D130AC2}"/>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4B1F886-688B-5586-910B-C086B42A41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8" name="TextBox 27">
              <a:extLst>
                <a:ext uri="{FF2B5EF4-FFF2-40B4-BE49-F238E27FC236}">
                  <a16:creationId xmlns:a16="http://schemas.microsoft.com/office/drawing/2014/main" id="{7360FA79-F754-FE91-D06E-07C4E526FD2A}"/>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9" name="TextBox 28">
              <a:extLst>
                <a:ext uri="{FF2B5EF4-FFF2-40B4-BE49-F238E27FC236}">
                  <a16:creationId xmlns:a16="http://schemas.microsoft.com/office/drawing/2014/main" id="{A3A669D9-D8CE-6E54-BCE6-8706D08EE84D}"/>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30" name="TextBox 29">
              <a:extLst>
                <a:ext uri="{FF2B5EF4-FFF2-40B4-BE49-F238E27FC236}">
                  <a16:creationId xmlns:a16="http://schemas.microsoft.com/office/drawing/2014/main" id="{9E4FBB72-2629-F033-0547-E7C43C1E3596}"/>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31" name="Group 30">
              <a:extLst>
                <a:ext uri="{FF2B5EF4-FFF2-40B4-BE49-F238E27FC236}">
                  <a16:creationId xmlns:a16="http://schemas.microsoft.com/office/drawing/2014/main" id="{1C43A9EE-FEFD-3FFB-CE2D-7E5D07D9B41F}"/>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F5131488-FF4D-DB55-2E1B-53F8575EDD8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B4CF05B-A825-7D44-D2CE-FAE5D07E546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2" name="Picture 31">
              <a:extLst>
                <a:ext uri="{FF2B5EF4-FFF2-40B4-BE49-F238E27FC236}">
                  <a16:creationId xmlns:a16="http://schemas.microsoft.com/office/drawing/2014/main" id="{0EE3F80D-13CD-3173-94A1-2E14A444C442}"/>
                </a:ext>
              </a:extLst>
            </p:cNvPr>
            <p:cNvPicPr>
              <a:picLocks noChangeAspect="1"/>
            </p:cNvPicPr>
            <p:nvPr/>
          </p:nvPicPr>
          <p:blipFill>
            <a:blip r:embed="rId5"/>
            <a:stretch>
              <a:fillRect/>
            </a:stretch>
          </p:blipFill>
          <p:spPr>
            <a:xfrm>
              <a:off x="8691417" y="4955794"/>
              <a:ext cx="2170222" cy="1277897"/>
            </a:xfrm>
            <a:prstGeom prst="rect">
              <a:avLst/>
            </a:prstGeom>
          </p:spPr>
        </p:pic>
        <p:sp>
          <p:nvSpPr>
            <p:cNvPr id="33" name="TextBox 32">
              <a:extLst>
                <a:ext uri="{FF2B5EF4-FFF2-40B4-BE49-F238E27FC236}">
                  <a16:creationId xmlns:a16="http://schemas.microsoft.com/office/drawing/2014/main" id="{51CC3F14-8CD6-BE02-22FC-BA429F625502}"/>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34" name="TextBox 33">
              <a:extLst>
                <a:ext uri="{FF2B5EF4-FFF2-40B4-BE49-F238E27FC236}">
                  <a16:creationId xmlns:a16="http://schemas.microsoft.com/office/drawing/2014/main" id="{35B738E0-5E26-0F1D-4B99-B348753E26EC}"/>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35" name="TextBox 34">
              <a:extLst>
                <a:ext uri="{FF2B5EF4-FFF2-40B4-BE49-F238E27FC236}">
                  <a16:creationId xmlns:a16="http://schemas.microsoft.com/office/drawing/2014/main" id="{18478F14-D511-3C02-05AE-336E82A3081A}"/>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36" name="Group 35">
              <a:extLst>
                <a:ext uri="{FF2B5EF4-FFF2-40B4-BE49-F238E27FC236}">
                  <a16:creationId xmlns:a16="http://schemas.microsoft.com/office/drawing/2014/main" id="{2F4DA4DD-B5C7-0452-15A8-55ABCC9430BE}"/>
                </a:ext>
              </a:extLst>
            </p:cNvPr>
            <p:cNvGrpSpPr/>
            <p:nvPr/>
          </p:nvGrpSpPr>
          <p:grpSpPr>
            <a:xfrm flipH="1">
              <a:off x="10434823" y="5104139"/>
              <a:ext cx="142595" cy="490604"/>
              <a:chOff x="6320118" y="3683188"/>
              <a:chExt cx="142595" cy="490604"/>
            </a:xfrm>
          </p:grpSpPr>
          <p:cxnSp>
            <p:nvCxnSpPr>
              <p:cNvPr id="44" name="Straight Connector 43">
                <a:extLst>
                  <a:ext uri="{FF2B5EF4-FFF2-40B4-BE49-F238E27FC236}">
                    <a16:creationId xmlns:a16="http://schemas.microsoft.com/office/drawing/2014/main" id="{C83D50D3-3AAD-5F66-2DEB-FE6007A19C7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CA039790-FC8B-9C9A-E9BD-176E164A82D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E6D43038-808D-2CE5-A201-12618B689245}"/>
                </a:ext>
              </a:extLst>
            </p:cNvPr>
            <p:cNvGrpSpPr/>
            <p:nvPr/>
          </p:nvGrpSpPr>
          <p:grpSpPr>
            <a:xfrm flipV="1">
              <a:off x="9271765" y="5580990"/>
              <a:ext cx="142595" cy="490604"/>
              <a:chOff x="6320118" y="3683188"/>
              <a:chExt cx="142595" cy="490604"/>
            </a:xfrm>
          </p:grpSpPr>
          <p:cxnSp>
            <p:nvCxnSpPr>
              <p:cNvPr id="42" name="Straight Connector 41">
                <a:extLst>
                  <a:ext uri="{FF2B5EF4-FFF2-40B4-BE49-F238E27FC236}">
                    <a16:creationId xmlns:a16="http://schemas.microsoft.com/office/drawing/2014/main" id="{5853DD34-5C7B-ED45-055F-EE8A587B333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2307B5-DD00-954C-043D-7955D9BF489E}"/>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EFA8746D-A522-B374-B5D9-D70F0F9C3D31}"/>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39" name="TextBox 38">
              <a:extLst>
                <a:ext uri="{FF2B5EF4-FFF2-40B4-BE49-F238E27FC236}">
                  <a16:creationId xmlns:a16="http://schemas.microsoft.com/office/drawing/2014/main" id="{CA988F19-EA6B-B300-1FB2-64037578AC67}"/>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40" name="TextBox 39">
              <a:extLst>
                <a:ext uri="{FF2B5EF4-FFF2-40B4-BE49-F238E27FC236}">
                  <a16:creationId xmlns:a16="http://schemas.microsoft.com/office/drawing/2014/main" id="{2AA70CBE-6893-66A4-0FAD-D204149F09B9}"/>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41" name="TextBox 40">
              <a:extLst>
                <a:ext uri="{FF2B5EF4-FFF2-40B4-BE49-F238E27FC236}">
                  <a16:creationId xmlns:a16="http://schemas.microsoft.com/office/drawing/2014/main" id="{2A169840-2091-4305-D3E3-A54EADC59681}"/>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58" name="Rectangle: Rounded Corners 57">
            <a:extLst>
              <a:ext uri="{FF2B5EF4-FFF2-40B4-BE49-F238E27FC236}">
                <a16:creationId xmlns:a16="http://schemas.microsoft.com/office/drawing/2014/main" id="{40EC70B4-DF2D-3D09-ACD4-59BE51EBBCD8}"/>
              </a:ext>
            </a:extLst>
          </p:cNvPr>
          <p:cNvSpPr/>
          <p:nvPr/>
        </p:nvSpPr>
        <p:spPr>
          <a:xfrm>
            <a:off x="115274" y="2158193"/>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49B43E8A-D01A-A017-49D3-C5C732C4D5D7}"/>
              </a:ext>
            </a:extLst>
          </p:cNvPr>
          <p:cNvSpPr txBox="1"/>
          <p:nvPr/>
        </p:nvSpPr>
        <p:spPr>
          <a:xfrm>
            <a:off x="4161680" y="2166374"/>
            <a:ext cx="1826206" cy="338554"/>
          </a:xfrm>
          <a:prstGeom prst="rect">
            <a:avLst/>
          </a:prstGeom>
          <a:noFill/>
        </p:spPr>
        <p:txBody>
          <a:bodyPr wrap="none" rtlCol="0">
            <a:spAutoFit/>
          </a:bodyPr>
          <a:lstStyle/>
          <a:p>
            <a:r>
              <a:rPr lang="en-US" sz="1600" b="1" dirty="0"/>
              <a:t>Possible Voltages</a:t>
            </a:r>
          </a:p>
        </p:txBody>
      </p:sp>
      <p:grpSp>
        <p:nvGrpSpPr>
          <p:cNvPr id="73" name="Group 72">
            <a:extLst>
              <a:ext uri="{FF2B5EF4-FFF2-40B4-BE49-F238E27FC236}">
                <a16:creationId xmlns:a16="http://schemas.microsoft.com/office/drawing/2014/main" id="{3ADEF0BE-E454-2F01-7744-D51332CB7F15}"/>
              </a:ext>
            </a:extLst>
          </p:cNvPr>
          <p:cNvGrpSpPr/>
          <p:nvPr/>
        </p:nvGrpSpPr>
        <p:grpSpPr>
          <a:xfrm>
            <a:off x="6217648" y="2166375"/>
            <a:ext cx="5826315" cy="2297644"/>
            <a:chOff x="6217648" y="2166374"/>
            <a:chExt cx="6673171" cy="2631607"/>
          </a:xfrm>
        </p:grpSpPr>
        <p:pic>
          <p:nvPicPr>
            <p:cNvPr id="60" name="Picture 59">
              <a:extLst>
                <a:ext uri="{FF2B5EF4-FFF2-40B4-BE49-F238E27FC236}">
                  <a16:creationId xmlns:a16="http://schemas.microsoft.com/office/drawing/2014/main" id="{85C3A0A6-7C34-38FB-BA2F-C3B011268147}"/>
                </a:ext>
              </a:extLst>
            </p:cNvPr>
            <p:cNvPicPr>
              <a:picLocks noChangeAspect="1"/>
            </p:cNvPicPr>
            <p:nvPr/>
          </p:nvPicPr>
          <p:blipFill>
            <a:blip r:embed="rId6"/>
            <a:stretch>
              <a:fillRect/>
            </a:stretch>
          </p:blipFill>
          <p:spPr>
            <a:xfrm>
              <a:off x="6278785" y="2501068"/>
              <a:ext cx="6550895" cy="2220800"/>
            </a:xfrm>
            <a:prstGeom prst="rect">
              <a:avLst/>
            </a:prstGeom>
          </p:spPr>
        </p:pic>
        <p:sp>
          <p:nvSpPr>
            <p:cNvPr id="61" name="Rectangle: Rounded Corners 60">
              <a:extLst>
                <a:ext uri="{FF2B5EF4-FFF2-40B4-BE49-F238E27FC236}">
                  <a16:creationId xmlns:a16="http://schemas.microsoft.com/office/drawing/2014/main" id="{77D84C04-2B2B-DD1F-F43B-149EE2042E72}"/>
                </a:ext>
              </a:extLst>
            </p:cNvPr>
            <p:cNvSpPr/>
            <p:nvPr/>
          </p:nvSpPr>
          <p:spPr>
            <a:xfrm>
              <a:off x="6217648" y="2175054"/>
              <a:ext cx="6673171" cy="262292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5D467950-8D9E-E784-7F9E-048B44891E0E}"/>
                </a:ext>
              </a:extLst>
            </p:cNvPr>
            <p:cNvSpPr txBox="1"/>
            <p:nvPr/>
          </p:nvSpPr>
          <p:spPr>
            <a:xfrm>
              <a:off x="10964073" y="2166374"/>
              <a:ext cx="1926746" cy="338554"/>
            </a:xfrm>
            <a:prstGeom prst="rect">
              <a:avLst/>
            </a:prstGeom>
            <a:noFill/>
          </p:spPr>
          <p:txBody>
            <a:bodyPr wrap="none" rtlCol="0">
              <a:spAutoFit/>
            </a:bodyPr>
            <a:lstStyle/>
            <a:p>
              <a:pPr algn="r"/>
              <a:r>
                <a:rPr lang="en-US" sz="1600" b="1" dirty="0"/>
                <a:t>Isolated RL Branch</a:t>
              </a:r>
            </a:p>
          </p:txBody>
        </p:sp>
        <p:sp>
          <p:nvSpPr>
            <p:cNvPr id="63" name="Rectangle 62">
              <a:extLst>
                <a:ext uri="{FF2B5EF4-FFF2-40B4-BE49-F238E27FC236}">
                  <a16:creationId xmlns:a16="http://schemas.microsoft.com/office/drawing/2014/main" id="{720C7405-E07E-3A4A-DBC0-993E654E9D29}"/>
                </a:ext>
              </a:extLst>
            </p:cNvPr>
            <p:cNvSpPr/>
            <p:nvPr/>
          </p:nvSpPr>
          <p:spPr>
            <a:xfrm>
              <a:off x="8390396" y="3406397"/>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1079C165-55E2-B287-792D-FA03B3C8FFF2}"/>
                </a:ext>
              </a:extLst>
            </p:cNvPr>
            <p:cNvCxnSpPr/>
            <p:nvPr/>
          </p:nvCxnSpPr>
          <p:spPr>
            <a:xfrm flipV="1">
              <a:off x="9443215"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CFBB927-7504-820D-74B7-AB8F1AE86A04}"/>
                </a:ext>
              </a:extLst>
            </p:cNvPr>
            <p:cNvCxnSpPr>
              <a:cxnSpLocks/>
            </p:cNvCxnSpPr>
            <p:nvPr/>
          </p:nvCxnSpPr>
          <p:spPr>
            <a:xfrm>
              <a:off x="10178650"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710091E1-C2D9-9419-0568-C66442BE8842}"/>
                </a:ext>
              </a:extLst>
            </p:cNvPr>
            <p:cNvCxnSpPr/>
            <p:nvPr/>
          </p:nvCxnSpPr>
          <p:spPr>
            <a:xfrm flipV="1">
              <a:off x="11801182" y="3821807"/>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3E0BC8E-5C4A-9204-C2EA-48373DAFEAD5}"/>
                  </a:ext>
                </a:extLst>
              </p:cNvPr>
              <p:cNvSpPr txBox="1"/>
              <p:nvPr/>
            </p:nvSpPr>
            <p:spPr>
              <a:xfrm>
                <a:off x="6217648" y="4622637"/>
                <a:ext cx="5850467" cy="1235338"/>
              </a:xfrm>
              <a:prstGeom prst="rect">
                <a:avLst/>
              </a:prstGeom>
              <a:noFill/>
            </p:spPr>
            <p:txBody>
              <a:bodyPr wrap="square" rtlCol="0">
                <a:spAutoFit/>
              </a:bodyPr>
              <a:lstStyle/>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𝐿</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)&lt;0</m:t>
                    </m:r>
                  </m:oMath>
                </a14:m>
                <a:r>
                  <a:rPr lang="en-US" sz="1400" dirty="0"/>
                  <a:t> corresponds to negative inductor current</a:t>
                </a:r>
              </a:p>
              <a:p>
                <a:r>
                  <a:rPr lang="en-US" sz="1400" dirty="0"/>
                  <a:t>Steady-state negative inductor current requires </a:t>
                </a:r>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𝑐</m:t>
                        </m:r>
                      </m:sub>
                    </m:sSub>
                    <m:r>
                      <a:rPr lang="en-US" sz="1400" b="0" i="1" smtClean="0">
                        <a:latin typeface="Cambria Math" panose="02040503050406030204" pitchFamily="18" charset="0"/>
                      </a:rPr>
                      <m:t>&lt;0</m:t>
                    </m:r>
                  </m:oMath>
                </a14:m>
                <a:r>
                  <a:rPr lang="en-US" sz="1400" dirty="0"/>
                  <a:t> due to RL branch impedance</a:t>
                </a:r>
              </a:p>
              <a:p>
                <a:r>
                  <a:rPr lang="en-US" sz="1400" dirty="0"/>
                  <a:t>Thus </a:t>
                </a:r>
                <a14:m>
                  <m:oMath xmlns:m="http://schemas.openxmlformats.org/officeDocument/2006/math">
                    <m:r>
                      <a:rPr lang="en-US" sz="1400" i="1" dirty="0" smtClean="0">
                        <a:latin typeface="Cambria Math" panose="02040503050406030204" pitchFamily="18" charset="0"/>
                      </a:rPr>
                      <m:t>𝑀</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𝑡</m:t>
                        </m:r>
                      </m:e>
                    </m:d>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𝑔</m:t>
                        </m:r>
                      </m:sub>
                    </m:sSub>
                    <m:r>
                      <a:rPr lang="en-US" sz="1400" b="0" i="1" dirty="0" smtClean="0">
                        <a:latin typeface="Cambria Math" panose="02040503050406030204" pitchFamily="18" charset="0"/>
                      </a:rPr>
                      <m:t>&lt;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𝑐</m:t>
                        </m:r>
                      </m:sub>
                    </m:sSub>
                    <m:r>
                      <a:rPr lang="en-US" sz="1400" i="1" dirty="0">
                        <a:latin typeface="Cambria Math" panose="02040503050406030204" pitchFamily="18" charset="0"/>
                      </a:rPr>
                      <m:t>,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&gt;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endParaRPr lang="en-US" sz="1400" dirty="0"/>
              </a:p>
              <a:p>
                <a:r>
                  <a:rPr lang="en-US" sz="1600" b="1" dirty="0"/>
                  <a:t>Reverse charging is possible!</a:t>
                </a:r>
              </a:p>
            </p:txBody>
          </p:sp>
        </mc:Choice>
        <mc:Fallback xmlns="">
          <p:sp>
            <p:nvSpPr>
              <p:cNvPr id="74" name="TextBox 73">
                <a:extLst>
                  <a:ext uri="{FF2B5EF4-FFF2-40B4-BE49-F238E27FC236}">
                    <a16:creationId xmlns:a16="http://schemas.microsoft.com/office/drawing/2014/main" id="{43E0BC8E-5C4A-9204-C2EA-48373DAFEAD5}"/>
                  </a:ext>
                </a:extLst>
              </p:cNvPr>
              <p:cNvSpPr txBox="1">
                <a:spLocks noRot="1" noChangeAspect="1" noMove="1" noResize="1" noEditPoints="1" noAdjustHandles="1" noChangeArrowheads="1" noChangeShapeType="1" noTextEdit="1"/>
              </p:cNvSpPr>
              <p:nvPr/>
            </p:nvSpPr>
            <p:spPr>
              <a:xfrm>
                <a:off x="6217648" y="4622637"/>
                <a:ext cx="5850467" cy="1235338"/>
              </a:xfrm>
              <a:prstGeom prst="rect">
                <a:avLst/>
              </a:prstGeom>
              <a:blipFill>
                <a:blip r:embed="rId7"/>
                <a:stretch>
                  <a:fillRect l="-625" t="-493" b="-4926"/>
                </a:stretch>
              </a:blipFill>
            </p:spPr>
            <p:txBody>
              <a:bodyPr/>
              <a:lstStyle/>
              <a:p>
                <a:r>
                  <a:rPr lang="en-US">
                    <a:noFill/>
                  </a:rPr>
                  <a:t> </a:t>
                </a:r>
              </a:p>
            </p:txBody>
          </p:sp>
        </mc:Fallback>
      </mc:AlternateContent>
    </p:spTree>
    <p:extLst>
      <p:ext uri="{BB962C8B-B14F-4D97-AF65-F5344CB8AC3E}">
        <p14:creationId xmlns:p14="http://schemas.microsoft.com/office/powerpoint/2010/main" val="2913852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5CD14-C47E-C217-17FF-DB5C0B93FE59}"/>
              </a:ext>
            </a:extLst>
          </p:cNvPr>
          <p:cNvSpPr>
            <a:spLocks noGrp="1"/>
          </p:cNvSpPr>
          <p:nvPr>
            <p:ph type="title"/>
          </p:nvPr>
        </p:nvSpPr>
        <p:spPr/>
        <p:txBody>
          <a:bodyPr/>
          <a:lstStyle/>
          <a:p>
            <a:r>
              <a:rPr lang="en-US" dirty="0"/>
              <a:t>Maximum Reverse Current, Continued</a:t>
            </a:r>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35DF6CCB-0898-3758-FBD2-56B547E4F24B}"/>
                  </a:ext>
                </a:extLst>
              </p:cNvPr>
              <p:cNvSpPr>
                <a:spLocks noGrp="1"/>
              </p:cNvSpPr>
              <p:nvPr>
                <p:ph type="body" sz="half" idx="4294967295"/>
              </p:nvPr>
            </p:nvSpPr>
            <p:spPr>
              <a:xfrm>
                <a:off x="881133" y="1582271"/>
                <a:ext cx="4991159" cy="4793362"/>
              </a:xfrm>
            </p:spPr>
            <p:txBody>
              <a:bodyPr>
                <a:noAutofit/>
              </a:bodyPr>
              <a:lstStyle/>
              <a:p>
                <a:pPr marL="0" indent="0">
                  <a:buNone/>
                </a:pPr>
                <a:r>
                  <a:rPr lang="en-US" sz="1800" dirty="0"/>
                  <a:t>To find steady-state maximum reverse current, we approximate the inductor as having 0 impedance. Negative voltage across resistor in RL branch causes negative current which is then reflected across ideal transformer. We can thus derive an expression for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sub>
                      </m:sSub>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𝐺</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sSup>
                            <m:sSupPr>
                              <m:ctrlPr>
                                <a:rPr lang="en-US" sz="1800" b="0" i="1" smtClean="0">
                                  <a:latin typeface="Cambria Math" panose="02040503050406030204" pitchFamily="18" charset="0"/>
                                </a:rPr>
                              </m:ctrlPr>
                            </m:sSupPr>
                            <m:e>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e>
                            <m:sup>
                              <m:r>
                                <a:rPr lang="en-US" sz="1800" b="0" i="1" smtClean="0">
                                  <a:latin typeface="Cambria Math" panose="02040503050406030204" pitchFamily="18" charset="0"/>
                                </a:rPr>
                                <m:t>2</m:t>
                              </m:r>
                            </m:sup>
                          </m:sSup>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num>
                        <m:den>
                          <m:r>
                            <a:rPr lang="en-US" sz="1800" b="0" i="1" smtClean="0">
                              <a:latin typeface="Cambria Math" panose="02040503050406030204" pitchFamily="18" charset="0"/>
                            </a:rPr>
                            <m:t>𝑅</m:t>
                          </m:r>
                        </m:den>
                      </m:f>
                    </m:oMath>
                  </m:oMathPara>
                </a14:m>
                <a:endParaRPr lang="en-US" sz="1800" dirty="0"/>
              </a:p>
              <a:p>
                <a:pPr marL="0" indent="0">
                  <a:buNone/>
                </a:pPr>
                <a:r>
                  <a:rPr lang="en-US" sz="1800" dirty="0"/>
                  <a:t>Apply optimization for maximum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r>
                            <a:rPr lang="en-US" sz="1800" b="0" i="1" smtClean="0">
                              <a:latin typeface="Cambria Math" panose="02040503050406030204" pitchFamily="18" charset="0"/>
                            </a:rPr>
                            <m:t>,</m:t>
                          </m:r>
                          <m:r>
                            <a:rPr lang="en-US" sz="1800" b="0" i="1" smtClean="0">
                              <a:latin typeface="Cambria Math" panose="02040503050406030204" pitchFamily="18" charset="0"/>
                            </a:rPr>
                            <m:t>𝑚𝑎𝑥</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up>
                              <m:r>
                                <a:rPr lang="en-US" sz="1800" b="0" i="1" smtClean="0">
                                  <a:latin typeface="Cambria Math" panose="02040503050406030204" pitchFamily="18" charset="0"/>
                                </a:rPr>
                                <m:t>2</m:t>
                              </m:r>
                            </m:sup>
                          </m:sSubSup>
                        </m:num>
                        <m:den>
                          <m:r>
                            <a:rPr lang="en-US" sz="1800" b="0" i="1" smtClean="0">
                              <a:latin typeface="Cambria Math" panose="02040503050406030204" pitchFamily="18" charset="0"/>
                            </a:rPr>
                            <m:t>4</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r>
                            <a:rPr lang="en-US" sz="1800" b="0" i="1" smtClean="0">
                              <a:latin typeface="Cambria Math" panose="02040503050406030204" pitchFamily="18" charset="0"/>
                            </a:rPr>
                            <m:t>𝑅</m:t>
                          </m:r>
                        </m:den>
                      </m:f>
                      <m:r>
                        <a:rPr lang="en-US" sz="1800" b="0" i="1" smtClean="0">
                          <a:latin typeface="Cambria Math" panose="02040503050406030204" pitchFamily="18" charset="0"/>
                        </a:rPr>
                        <m:t>,</m:t>
                      </m:r>
                      <m:r>
                        <a:rPr lang="en-US" sz="1800" b="0" i="1" smtClean="0">
                          <a:latin typeface="Cambria Math" panose="02040503050406030204" pitchFamily="18" charset="0"/>
                        </a:rPr>
                        <m:t>𝑀</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Sub>
                        </m:num>
                        <m:den>
                          <m:r>
                            <a:rPr lang="en-US" sz="1800" b="0" i="1" smtClean="0">
                              <a:latin typeface="Cambria Math" panose="02040503050406030204" pitchFamily="18" charset="0"/>
                            </a:rPr>
                            <m:t>2</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den>
                      </m:f>
                      <m:r>
                        <a:rPr lang="en-US" sz="1800" b="0" i="1" smtClean="0">
                          <a:latin typeface="Cambria Math" panose="02040503050406030204" pitchFamily="18" charset="0"/>
                        </a:rPr>
                        <m:t>=</m:t>
                      </m:r>
                      <m:r>
                        <a:rPr lang="en-US" sz="1800" b="0" i="1" smtClean="0">
                          <a:latin typeface="Cambria Math" panose="02040503050406030204" pitchFamily="18" charset="0"/>
                        </a:rPr>
                        <m:t>𝐾</m:t>
                      </m:r>
                    </m:oMath>
                  </m:oMathPara>
                </a14:m>
                <a:endParaRPr lang="en-US" sz="1800" dirty="0"/>
              </a:p>
              <a:p>
                <a:pPr marL="0" indent="0">
                  <a:buNone/>
                </a:pPr>
                <a:r>
                  <a:rPr lang="en-US" sz="1800" dirty="0"/>
                  <a:t>A familiar constant appears! Let’s see if a corresponding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𝑀</m:t>
                        </m:r>
                      </m:e>
                      <m:sub>
                        <m:r>
                          <a:rPr lang="en-US" sz="1800" b="0" i="1" smtClean="0">
                            <a:latin typeface="Cambria Math" panose="02040503050406030204" pitchFamily="18" charset="0"/>
                          </a:rPr>
                          <m:t>𝑇</m:t>
                        </m:r>
                      </m:sub>
                    </m:sSub>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oMath>
                </a14:m>
                <a:r>
                  <a:rPr lang="en-US" sz="1800" dirty="0"/>
                  <a:t> appears:</a:t>
                </a:r>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p>
                        <m:sSupPr>
                          <m:ctrlPr>
                            <a:rPr lang="en-US" sz="1800" i="1">
                              <a:latin typeface="Cambria Math" panose="02040503050406030204" pitchFamily="18" charset="0"/>
                            </a:rPr>
                          </m:ctrlPr>
                        </m:sSupPr>
                        <m:e>
                          <m:d>
                            <m:dPr>
                              <m:ctrlPr>
                                <a:rPr lang="en-US" sz="1800" i="1">
                                  <a:latin typeface="Cambria Math" panose="02040503050406030204" pitchFamily="18" charset="0"/>
                                </a:rPr>
                              </m:ctrlPr>
                            </m:dPr>
                            <m:e>
                              <m:r>
                                <a:rPr lang="en-US" sz="1800" i="1">
                                  <a:latin typeface="Cambria Math" panose="02040503050406030204" pitchFamily="18" charset="0"/>
                                </a:rPr>
                                <m:t>𝑀</m:t>
                              </m:r>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𝐾</m:t>
                                  </m:r>
                                </m:e>
                                <m:sub>
                                  <m:r>
                                    <a:rPr lang="en-US" sz="1800" i="1">
                                      <a:latin typeface="Cambria Math" panose="02040503050406030204" pitchFamily="18" charset="0"/>
                                    </a:rPr>
                                    <m:t>𝑇</m:t>
                                  </m:r>
                                </m:sub>
                              </m:sSub>
                            </m:e>
                          </m:d>
                        </m:e>
                        <m:sup>
                          <m:r>
                            <a:rPr lang="en-US" sz="1800" i="1">
                              <a:latin typeface="Cambria Math" panose="02040503050406030204" pitchFamily="18" charset="0"/>
                            </a:rPr>
                            <m:t>2</m:t>
                          </m:r>
                        </m:sup>
                      </m:sSup>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r>
                  <a:rPr lang="en-US" sz="1800" dirty="0"/>
                  <a:t>This is precisely the minimum value we saw earlier!</a:t>
                </a:r>
              </a:p>
            </p:txBody>
          </p:sp>
        </mc:Choice>
        <mc:Fallback xmlns="">
          <p:sp>
            <p:nvSpPr>
              <p:cNvPr id="6" name="Text Placeholder 5">
                <a:extLst>
                  <a:ext uri="{FF2B5EF4-FFF2-40B4-BE49-F238E27FC236}">
                    <a16:creationId xmlns:a16="http://schemas.microsoft.com/office/drawing/2014/main" id="{35DF6CCB-0898-3758-FBD2-56B547E4F24B}"/>
                  </a:ext>
                </a:extLst>
              </p:cNvPr>
              <p:cNvSpPr>
                <a:spLocks noGrp="1" noRot="1" noChangeAspect="1" noMove="1" noResize="1" noEditPoints="1" noAdjustHandles="1" noChangeArrowheads="1" noChangeShapeType="1" noTextEdit="1"/>
              </p:cNvSpPr>
              <p:nvPr>
                <p:ph type="body" sz="half" idx="4294967295"/>
              </p:nvPr>
            </p:nvSpPr>
            <p:spPr>
              <a:xfrm>
                <a:off x="881133" y="1582271"/>
                <a:ext cx="4991159" cy="4793362"/>
              </a:xfrm>
              <a:blipFill>
                <a:blip r:embed="rId2"/>
                <a:stretch>
                  <a:fillRect l="-1100" t="-1272" r="-611" b="-1272"/>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62394A39-FB94-3A45-4A70-1EB5C81B5771}"/>
              </a:ext>
            </a:extLst>
          </p:cNvPr>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8" name="Text Placeholder 5">
            <a:extLst>
              <a:ext uri="{FF2B5EF4-FFF2-40B4-BE49-F238E27FC236}">
                <a16:creationId xmlns:a16="http://schemas.microsoft.com/office/drawing/2014/main" id="{FE51BEAC-D44B-FEE4-5B8F-998219149AFD}"/>
              </a:ext>
            </a:extLst>
          </p:cNvPr>
          <p:cNvSpPr txBox="1">
            <a:spLocks/>
          </p:cNvSpPr>
          <p:nvPr/>
        </p:nvSpPr>
        <p:spPr>
          <a:xfrm>
            <a:off x="6319708" y="1582271"/>
            <a:ext cx="4991159" cy="47933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First-order estimates for R approximate its value at 83 m</a:t>
            </a:r>
            <a:r>
              <a:rPr lang="el-GR" sz="1800" dirty="0"/>
              <a:t>Ω</a:t>
            </a:r>
            <a:r>
              <a:rPr lang="en-US" sz="1800" dirty="0"/>
              <a:t>, making the maximum reverse current roughly 1.2A at full capacitor charge. Considering that the maximum reverse current scales with stored capacitor voltage and the capacitor is not expected to be at full charge during operation, this results in even lower maximum reverse current during expected operation conditions. </a:t>
            </a:r>
          </a:p>
          <a:p>
            <a:pPr marL="0" indent="0">
              <a:buFont typeface="Arial" panose="020B0604020202020204" pitchFamily="34" charset="0"/>
              <a:buNone/>
            </a:pPr>
            <a:r>
              <a:rPr lang="en-US" sz="1800" dirty="0"/>
              <a:t>To ameliorate this limitation, increasing reverse current would require lower resistance across the RL branch, the lion’s share of which is from the inductor. Maximizing copper area and mitigating skin effects are of utmost importance to optimize performance. </a:t>
            </a:r>
          </a:p>
          <a:p>
            <a:pPr marL="0" indent="0">
              <a:buFont typeface="Arial" panose="020B0604020202020204" pitchFamily="34" charset="0"/>
              <a:buNone/>
            </a:pPr>
            <a:endParaRPr lang="en-US" sz="1800" dirty="0"/>
          </a:p>
        </p:txBody>
      </p:sp>
    </p:spTree>
    <p:extLst>
      <p:ext uri="{BB962C8B-B14F-4D97-AF65-F5344CB8AC3E}">
        <p14:creationId xmlns:p14="http://schemas.microsoft.com/office/powerpoint/2010/main" val="10692196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F59CC-F282-7655-F58B-397001D053A1}"/>
              </a:ext>
            </a:extLst>
          </p:cNvPr>
          <p:cNvSpPr>
            <a:spLocks noGrp="1"/>
          </p:cNvSpPr>
          <p:nvPr>
            <p:ph type="title"/>
          </p:nvPr>
        </p:nvSpPr>
        <p:spPr/>
        <p:txBody>
          <a:bodyPr/>
          <a:lstStyle/>
          <a:p>
            <a:r>
              <a:rPr lang="en-US" dirty="0"/>
              <a:t>Reverse Current – Control Schema</a:t>
            </a:r>
          </a:p>
        </p:txBody>
      </p:sp>
      <p:pic>
        <p:nvPicPr>
          <p:cNvPr id="3" name="Online Media 2" title="guy screaming for help while holding a chick fil a drink">
            <a:hlinkClick r:id="" action="ppaction://media"/>
            <a:extLst>
              <a:ext uri="{FF2B5EF4-FFF2-40B4-BE49-F238E27FC236}">
                <a16:creationId xmlns:a16="http://schemas.microsoft.com/office/drawing/2014/main" id="{3CDCB37F-614F-0266-D181-7E245E3C588F}"/>
              </a:ext>
            </a:extLst>
          </p:cNvPr>
          <p:cNvPicPr>
            <a:picLocks noRot="1" noChangeAspect="1"/>
          </p:cNvPicPr>
          <p:nvPr>
            <a:videoFile r:link="rId1"/>
          </p:nvPr>
        </p:nvPicPr>
        <p:blipFill>
          <a:blip r:embed="rId3"/>
          <a:stretch>
            <a:fillRect/>
          </a:stretch>
        </p:blipFill>
        <p:spPr>
          <a:xfrm>
            <a:off x="2523565" y="1418665"/>
            <a:ext cx="7144871" cy="5358653"/>
          </a:xfrm>
          <a:prstGeom prst="rect">
            <a:avLst/>
          </a:prstGeom>
        </p:spPr>
      </p:pic>
    </p:spTree>
    <p:extLst>
      <p:ext uri="{BB962C8B-B14F-4D97-AF65-F5344CB8AC3E}">
        <p14:creationId xmlns:p14="http://schemas.microsoft.com/office/powerpoint/2010/main" val="17607156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50BB5-4C83-F743-B01B-F9CDC2372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F886-F4AC-B6CB-4CEC-424A3051C91F}"/>
              </a:ext>
            </a:extLst>
          </p:cNvPr>
          <p:cNvSpPr>
            <a:spLocks noGrp="1"/>
          </p:cNvSpPr>
          <p:nvPr>
            <p:ph type="title"/>
          </p:nvPr>
        </p:nvSpPr>
        <p:spPr/>
        <p:txBody>
          <a:bodyPr/>
          <a:lstStyle/>
          <a:p>
            <a:r>
              <a:rPr lang="en-US" dirty="0"/>
              <a:t>Section 3: Disturbance Rejection &amp; Robustness</a:t>
            </a:r>
          </a:p>
        </p:txBody>
      </p:sp>
      <p:sp>
        <p:nvSpPr>
          <p:cNvPr id="3" name="Text Placeholder 2">
            <a:extLst>
              <a:ext uri="{FF2B5EF4-FFF2-40B4-BE49-F238E27FC236}">
                <a16:creationId xmlns:a16="http://schemas.microsoft.com/office/drawing/2014/main" id="{7EB6D585-CEE8-3232-E327-916DC11A63D9}"/>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18393388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a:xfrm>
            <a:off x="838200" y="364941"/>
            <a:ext cx="10515600" cy="1325563"/>
          </a:xfrm>
        </p:spPr>
        <p:txBody>
          <a:bodyPr/>
          <a:lstStyle/>
          <a:p>
            <a:pPr algn="ctr"/>
            <a:r>
              <a:rPr lang="en-US" dirty="0"/>
              <a:t>Sources of Inaccuracies: Examples</a:t>
            </a:r>
          </a:p>
        </p:txBody>
      </p:sp>
      <p:sp>
        <p:nvSpPr>
          <p:cNvPr id="3" name="TextBox 2">
            <a:extLst>
              <a:ext uri="{FF2B5EF4-FFF2-40B4-BE49-F238E27FC236}">
                <a16:creationId xmlns:a16="http://schemas.microsoft.com/office/drawing/2014/main" id="{3E8315EF-F180-1473-929D-6FCEC7F49766}"/>
              </a:ext>
            </a:extLst>
          </p:cNvPr>
          <p:cNvSpPr txBox="1"/>
          <p:nvPr/>
        </p:nvSpPr>
        <p:spPr>
          <a:xfrm>
            <a:off x="8668479" y="1875170"/>
            <a:ext cx="744114" cy="1200329"/>
          </a:xfrm>
          <a:prstGeom prst="rect">
            <a:avLst/>
          </a:prstGeom>
          <a:noFill/>
          <a:ln>
            <a:solidFill>
              <a:schemeClr val="tx1"/>
            </a:solidFill>
          </a:ln>
        </p:spPr>
        <p:txBody>
          <a:bodyPr wrap="none" rtlCol="0">
            <a:spAutoFit/>
          </a:bodyPr>
          <a:lstStyle/>
          <a:p>
            <a:r>
              <a:rPr lang="en-US" sz="7200" dirty="0"/>
              <a:t>R</a:t>
            </a:r>
          </a:p>
        </p:txBody>
      </p:sp>
      <p:sp>
        <p:nvSpPr>
          <p:cNvPr id="5" name="TextBox 4">
            <a:extLst>
              <a:ext uri="{FF2B5EF4-FFF2-40B4-BE49-F238E27FC236}">
                <a16:creationId xmlns:a16="http://schemas.microsoft.com/office/drawing/2014/main" id="{A2C7575A-F865-0B1F-F649-6742D19583D9}"/>
              </a:ext>
            </a:extLst>
          </p:cNvPr>
          <p:cNvSpPr txBox="1"/>
          <p:nvPr/>
        </p:nvSpPr>
        <p:spPr>
          <a:xfrm>
            <a:off x="8394686" y="1505838"/>
            <a:ext cx="1291700" cy="369332"/>
          </a:xfrm>
          <a:prstGeom prst="rect">
            <a:avLst/>
          </a:prstGeom>
          <a:noFill/>
        </p:spPr>
        <p:txBody>
          <a:bodyPr wrap="none" rtlCol="0">
            <a:spAutoFit/>
          </a:bodyPr>
          <a:lstStyle/>
          <a:p>
            <a:r>
              <a:rPr lang="en-US" dirty="0"/>
              <a:t>Resistance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FC0C35F-AFF8-4419-BB50-238C7BD4BD97}"/>
                  </a:ext>
                </a:extLst>
              </p:cNvPr>
              <p:cNvSpPr txBox="1"/>
              <p:nvPr/>
            </p:nvSpPr>
            <p:spPr>
              <a:xfrm>
                <a:off x="7324987" y="3200964"/>
                <a:ext cx="3431097" cy="1163075"/>
              </a:xfrm>
              <a:prstGeom prst="rect">
                <a:avLst/>
              </a:prstGeom>
              <a:noFill/>
            </p:spPr>
            <p:txBody>
              <a:bodyPr wrap="square" rtlCol="0">
                <a:spAutoFit/>
              </a:bodyPr>
              <a:lstStyle/>
              <a:p>
                <a:pPr algn="ctr"/>
                <a:r>
                  <a:rPr lang="en-US" dirty="0"/>
                  <a:t>First-order calculation:</a:t>
                </a:r>
              </a:p>
              <a:p>
                <a:pPr algn="ctr"/>
                <a:endParaRPr lang="en-US" dirty="0"/>
              </a:p>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𝑒𝑞</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𝐶</m:t>
                              </m:r>
                            </m:sub>
                          </m:sSub>
                        </m:num>
                        <m:den>
                          <m:r>
                            <a:rPr lang="en-US" b="0" i="1" smtClean="0">
                              <a:latin typeface="Cambria Math" panose="02040503050406030204" pitchFamily="18" charset="0"/>
                            </a:rPr>
                            <m:t>4</m:t>
                          </m:r>
                        </m:den>
                      </m:f>
                    </m:oMath>
                  </m:oMathPara>
                </a14:m>
                <a:endParaRPr lang="en-US" dirty="0"/>
              </a:p>
            </p:txBody>
          </p:sp>
        </mc:Choice>
        <mc:Fallback xmlns="">
          <p:sp>
            <p:nvSpPr>
              <p:cNvPr id="6" name="TextBox 5">
                <a:extLst>
                  <a:ext uri="{FF2B5EF4-FFF2-40B4-BE49-F238E27FC236}">
                    <a16:creationId xmlns:a16="http://schemas.microsoft.com/office/drawing/2014/main" id="{3FC0C35F-AFF8-4419-BB50-238C7BD4BD97}"/>
                  </a:ext>
                </a:extLst>
              </p:cNvPr>
              <p:cNvSpPr txBox="1">
                <a:spLocks noRot="1" noChangeAspect="1" noMove="1" noResize="1" noEditPoints="1" noAdjustHandles="1" noChangeArrowheads="1" noChangeShapeType="1" noTextEdit="1"/>
              </p:cNvSpPr>
              <p:nvPr/>
            </p:nvSpPr>
            <p:spPr>
              <a:xfrm>
                <a:off x="7324987" y="3200964"/>
                <a:ext cx="3431097" cy="1163075"/>
              </a:xfrm>
              <a:prstGeom prst="rect">
                <a:avLst/>
              </a:prstGeom>
              <a:blipFill>
                <a:blip r:embed="rId2"/>
                <a:stretch>
                  <a:fillRect t="-209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8B36FB5-9A67-3561-C9D8-69B58D8C54F7}"/>
              </a:ext>
            </a:extLst>
          </p:cNvPr>
          <p:cNvSpPr txBox="1"/>
          <p:nvPr/>
        </p:nvSpPr>
        <p:spPr>
          <a:xfrm>
            <a:off x="2078105" y="5912961"/>
            <a:ext cx="8035790" cy="369332"/>
          </a:xfrm>
          <a:prstGeom prst="rect">
            <a:avLst/>
          </a:prstGeom>
          <a:noFill/>
        </p:spPr>
        <p:txBody>
          <a:bodyPr wrap="none" rtlCol="0">
            <a:spAutoFit/>
          </a:bodyPr>
          <a:lstStyle/>
          <a:p>
            <a:r>
              <a:rPr lang="en-US" b="1" dirty="0"/>
              <a:t>Both signals and system parameters will not behave exactly as in the model</a:t>
            </a:r>
          </a:p>
        </p:txBody>
      </p:sp>
      <p:cxnSp>
        <p:nvCxnSpPr>
          <p:cNvPr id="11" name="Straight Connector 10">
            <a:extLst>
              <a:ext uri="{FF2B5EF4-FFF2-40B4-BE49-F238E27FC236}">
                <a16:creationId xmlns:a16="http://schemas.microsoft.com/office/drawing/2014/main" id="{F2E339B8-B6AA-4C6D-B21A-8EAACA562253}"/>
              </a:ext>
            </a:extLst>
          </p:cNvPr>
          <p:cNvCxnSpPr>
            <a:cxnSpLocks/>
          </p:cNvCxnSpPr>
          <p:nvPr/>
        </p:nvCxnSpPr>
        <p:spPr>
          <a:xfrm>
            <a:off x="6096000" y="1712990"/>
            <a:ext cx="0" cy="41910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41979162-F0C6-F544-8459-B21F76972C8A}"/>
              </a:ext>
            </a:extLst>
          </p:cNvPr>
          <p:cNvSpPr txBox="1"/>
          <p:nvPr/>
        </p:nvSpPr>
        <p:spPr>
          <a:xfrm>
            <a:off x="6849208" y="4767596"/>
            <a:ext cx="1717592" cy="430887"/>
          </a:xfrm>
          <a:prstGeom prst="rect">
            <a:avLst/>
          </a:prstGeom>
          <a:noFill/>
          <a:ln>
            <a:solidFill>
              <a:schemeClr val="tx1"/>
            </a:solidFill>
          </a:ln>
        </p:spPr>
        <p:txBody>
          <a:bodyPr wrap="square" rtlCol="0">
            <a:spAutoFit/>
          </a:bodyPr>
          <a:lstStyle/>
          <a:p>
            <a:r>
              <a:rPr lang="en-US" sz="1050" dirty="0"/>
              <a:t>MOSFET resistance dependent on gate voltage</a:t>
            </a:r>
          </a:p>
        </p:txBody>
      </p:sp>
      <p:cxnSp>
        <p:nvCxnSpPr>
          <p:cNvPr id="14" name="Straight Arrow Connector 13">
            <a:extLst>
              <a:ext uri="{FF2B5EF4-FFF2-40B4-BE49-F238E27FC236}">
                <a16:creationId xmlns:a16="http://schemas.microsoft.com/office/drawing/2014/main" id="{302F3CD9-6F3F-B650-A86C-231526F231C7}"/>
              </a:ext>
            </a:extLst>
          </p:cNvPr>
          <p:cNvCxnSpPr>
            <a:cxnSpLocks/>
            <a:stCxn id="12" idx="0"/>
          </p:cNvCxnSpPr>
          <p:nvPr/>
        </p:nvCxnSpPr>
        <p:spPr>
          <a:xfrm flipV="1">
            <a:off x="7708004" y="4302751"/>
            <a:ext cx="1245293" cy="464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BDAC820-A69F-CD23-7C70-2ED4FC2C8251}"/>
                  </a:ext>
                </a:extLst>
              </p:cNvPr>
              <p:cNvSpPr txBox="1"/>
              <p:nvPr/>
            </p:nvSpPr>
            <p:spPr>
              <a:xfrm>
                <a:off x="10292715" y="3916072"/>
                <a:ext cx="1464108" cy="692497"/>
              </a:xfrm>
              <a:prstGeom prst="rect">
                <a:avLst/>
              </a:prstGeom>
              <a:noFill/>
              <a:ln>
                <a:solidFill>
                  <a:schemeClr val="tx1">
                    <a:alpha val="50000"/>
                  </a:schemeClr>
                </a:solidFill>
              </a:ln>
            </p:spPr>
            <p:txBody>
              <a:bodyPr wrap="square" rtlCol="0">
                <a:spAutoFit/>
              </a:bodyPr>
              <a:lstStyle/>
              <a:p>
                <a:r>
                  <a:rPr lang="en-US" dirty="0">
                    <a:solidFill>
                      <a:schemeClr val="tx1">
                        <a:alpha val="50000"/>
                      </a:schemeClr>
                    </a:solidFill>
                  </a:rPr>
                  <a:t>(+</a:t>
                </a:r>
                <a14:m>
                  <m:oMath xmlns:m="http://schemas.openxmlformats.org/officeDocument/2006/math">
                    <m:sSub>
                      <m:sSubPr>
                        <m:ctrlPr>
                          <a:rPr lang="en-US" b="0" i="1" smtClean="0">
                            <a:solidFill>
                              <a:schemeClr val="tx1">
                                <a:alpha val="50000"/>
                              </a:schemeClr>
                            </a:solidFill>
                            <a:latin typeface="Cambria Math" panose="02040503050406030204" pitchFamily="18" charset="0"/>
                          </a:rPr>
                        </m:ctrlPr>
                      </m:sSubPr>
                      <m:e>
                        <m:r>
                          <a:rPr lang="en-US" b="0" i="1" smtClean="0">
                            <a:solidFill>
                              <a:schemeClr val="tx1">
                                <a:alpha val="50000"/>
                              </a:schemeClr>
                            </a:solidFill>
                            <a:latin typeface="Cambria Math" panose="02040503050406030204" pitchFamily="18" charset="0"/>
                          </a:rPr>
                          <m:t>𝑅</m:t>
                        </m:r>
                      </m:e>
                      <m:sub>
                        <m:r>
                          <a:rPr lang="en-US" b="0" i="1" smtClean="0">
                            <a:solidFill>
                              <a:schemeClr val="tx1">
                                <a:alpha val="50000"/>
                              </a:schemeClr>
                            </a:solidFill>
                            <a:latin typeface="Cambria Math" panose="02040503050406030204" pitchFamily="18" charset="0"/>
                          </a:rPr>
                          <m:t>𝑏𝑜𝑎𝑟𝑑</m:t>
                        </m:r>
                      </m:sub>
                    </m:sSub>
                  </m:oMath>
                </a14:m>
                <a:r>
                  <a:rPr lang="en-US" dirty="0">
                    <a:solidFill>
                      <a:schemeClr val="tx1">
                        <a:alpha val="50000"/>
                      </a:schemeClr>
                    </a:solidFill>
                  </a:rPr>
                  <a:t>)</a:t>
                </a:r>
              </a:p>
              <a:p>
                <a:r>
                  <a:rPr lang="en-US" sz="1050" dirty="0">
                    <a:solidFill>
                      <a:schemeClr val="tx1">
                        <a:alpha val="99000"/>
                      </a:schemeClr>
                    </a:solidFill>
                  </a:rPr>
                  <a:t>PCB trace resistances are hard to measure</a:t>
                </a:r>
              </a:p>
            </p:txBody>
          </p:sp>
        </mc:Choice>
        <mc:Fallback xmlns="">
          <p:sp>
            <p:nvSpPr>
              <p:cNvPr id="15" name="TextBox 14">
                <a:extLst>
                  <a:ext uri="{FF2B5EF4-FFF2-40B4-BE49-F238E27FC236}">
                    <a16:creationId xmlns:a16="http://schemas.microsoft.com/office/drawing/2014/main" id="{EBDAC820-A69F-CD23-7C70-2ED4FC2C8251}"/>
                  </a:ext>
                </a:extLst>
              </p:cNvPr>
              <p:cNvSpPr txBox="1">
                <a:spLocks noRot="1" noChangeAspect="1" noMove="1" noResize="1" noEditPoints="1" noAdjustHandles="1" noChangeArrowheads="1" noChangeShapeType="1" noTextEdit="1"/>
              </p:cNvSpPr>
              <p:nvPr/>
            </p:nvSpPr>
            <p:spPr>
              <a:xfrm>
                <a:off x="10292715" y="3916072"/>
                <a:ext cx="1464108" cy="692497"/>
              </a:xfrm>
              <a:prstGeom prst="rect">
                <a:avLst/>
              </a:prstGeom>
              <a:blipFill>
                <a:blip r:embed="rId3"/>
                <a:stretch>
                  <a:fillRect l="-2881" t="-2586" b="-2586"/>
                </a:stretch>
              </a:blipFill>
              <a:ln>
                <a:solidFill>
                  <a:schemeClr val="tx1">
                    <a:alpha val="50000"/>
                  </a:schemeClr>
                </a:solid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8474F9E5-D76C-74E3-27EC-D06B6DF7055C}"/>
              </a:ext>
            </a:extLst>
          </p:cNvPr>
          <p:cNvSpPr txBox="1"/>
          <p:nvPr/>
        </p:nvSpPr>
        <p:spPr>
          <a:xfrm>
            <a:off x="8668479" y="4782985"/>
            <a:ext cx="2066343" cy="415498"/>
          </a:xfrm>
          <a:prstGeom prst="rect">
            <a:avLst/>
          </a:prstGeom>
          <a:noFill/>
          <a:ln>
            <a:solidFill>
              <a:schemeClr val="tx1"/>
            </a:solidFill>
          </a:ln>
        </p:spPr>
        <p:txBody>
          <a:bodyPr wrap="square" rtlCol="0">
            <a:spAutoFit/>
          </a:bodyPr>
          <a:lstStyle/>
          <a:p>
            <a:r>
              <a:rPr lang="en-US" sz="1050" dirty="0"/>
              <a:t>Inductor resistance dependent on frequency due to skin effect**</a:t>
            </a:r>
          </a:p>
        </p:txBody>
      </p:sp>
      <p:cxnSp>
        <p:nvCxnSpPr>
          <p:cNvPr id="18" name="Straight Arrow Connector 17">
            <a:extLst>
              <a:ext uri="{FF2B5EF4-FFF2-40B4-BE49-F238E27FC236}">
                <a16:creationId xmlns:a16="http://schemas.microsoft.com/office/drawing/2014/main" id="{29AC338B-E767-E459-EA06-3BA235C39522}"/>
              </a:ext>
            </a:extLst>
          </p:cNvPr>
          <p:cNvCxnSpPr>
            <a:cxnSpLocks/>
            <a:stCxn id="16" idx="0"/>
          </p:cNvCxnSpPr>
          <p:nvPr/>
        </p:nvCxnSpPr>
        <p:spPr>
          <a:xfrm flipH="1" flipV="1">
            <a:off x="9510860" y="4302751"/>
            <a:ext cx="190791" cy="48023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9FF053C-9480-3DB0-0894-FABA016199A0}"/>
              </a:ext>
            </a:extLst>
          </p:cNvPr>
          <p:cNvSpPr txBox="1"/>
          <p:nvPr/>
        </p:nvSpPr>
        <p:spPr>
          <a:xfrm>
            <a:off x="7464815" y="5430332"/>
            <a:ext cx="3151440" cy="369332"/>
          </a:xfrm>
          <a:prstGeom prst="rect">
            <a:avLst/>
          </a:prstGeom>
          <a:noFill/>
          <a:ln>
            <a:noFill/>
          </a:ln>
        </p:spPr>
        <p:txBody>
          <a:bodyPr wrap="none" rtlCol="0">
            <a:spAutoFit/>
          </a:bodyPr>
          <a:lstStyle/>
          <a:p>
            <a:r>
              <a:rPr lang="en-US" dirty="0">
                <a:solidFill>
                  <a:srgbClr val="FF0000"/>
                </a:solidFill>
              </a:rPr>
              <a:t>All dependent on temperature</a:t>
            </a:r>
          </a:p>
        </p:txBody>
      </p:sp>
      <p:sp>
        <p:nvSpPr>
          <p:cNvPr id="20" name="Rectangle 19">
            <a:extLst>
              <a:ext uri="{FF2B5EF4-FFF2-40B4-BE49-F238E27FC236}">
                <a16:creationId xmlns:a16="http://schemas.microsoft.com/office/drawing/2014/main" id="{D39DF11F-D6F3-654B-3D07-939D85CBCD10}"/>
              </a:ext>
            </a:extLst>
          </p:cNvPr>
          <p:cNvSpPr/>
          <p:nvPr/>
        </p:nvSpPr>
        <p:spPr>
          <a:xfrm>
            <a:off x="6387618" y="3640015"/>
            <a:ext cx="5473196" cy="218488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64439CE-D74D-DA1B-2756-107170DAAB74}"/>
              </a:ext>
            </a:extLst>
          </p:cNvPr>
          <p:cNvSpPr txBox="1"/>
          <p:nvPr/>
        </p:nvSpPr>
        <p:spPr>
          <a:xfrm>
            <a:off x="1797245" y="1875170"/>
            <a:ext cx="2541080" cy="1200329"/>
          </a:xfrm>
          <a:prstGeom prst="rect">
            <a:avLst/>
          </a:prstGeom>
          <a:noFill/>
          <a:ln>
            <a:solidFill>
              <a:schemeClr val="tx1"/>
            </a:solidFill>
          </a:ln>
        </p:spPr>
        <p:txBody>
          <a:bodyPr wrap="none" rtlCol="0">
            <a:spAutoFit/>
          </a:bodyPr>
          <a:lstStyle/>
          <a:p>
            <a:r>
              <a:rPr lang="en-US" sz="7200" dirty="0"/>
              <a:t>&lt;i</a:t>
            </a:r>
            <a:r>
              <a:rPr lang="en-US" sz="7200" baseline="-25000" dirty="0"/>
              <a:t>L</a:t>
            </a:r>
            <a:r>
              <a:rPr lang="en-US" sz="7200" dirty="0"/>
              <a:t>(t)&gt;</a:t>
            </a:r>
          </a:p>
        </p:txBody>
      </p:sp>
      <p:sp>
        <p:nvSpPr>
          <p:cNvPr id="31" name="TextBox 30">
            <a:extLst>
              <a:ext uri="{FF2B5EF4-FFF2-40B4-BE49-F238E27FC236}">
                <a16:creationId xmlns:a16="http://schemas.microsoft.com/office/drawing/2014/main" id="{0DB6E4A8-6632-FF06-7356-22D3375AB5C5}"/>
              </a:ext>
            </a:extLst>
          </p:cNvPr>
          <p:cNvSpPr txBox="1"/>
          <p:nvPr/>
        </p:nvSpPr>
        <p:spPr>
          <a:xfrm>
            <a:off x="1733766" y="1505838"/>
            <a:ext cx="2668038" cy="369332"/>
          </a:xfrm>
          <a:prstGeom prst="rect">
            <a:avLst/>
          </a:prstGeom>
          <a:noFill/>
        </p:spPr>
        <p:txBody>
          <a:bodyPr wrap="none" rtlCol="0">
            <a:spAutoFit/>
          </a:bodyPr>
          <a:lstStyle/>
          <a:p>
            <a:r>
              <a:rPr lang="en-US" dirty="0"/>
              <a:t>Average Inductor Current</a:t>
            </a:r>
          </a:p>
        </p:txBody>
      </p:sp>
      <p:cxnSp>
        <p:nvCxnSpPr>
          <p:cNvPr id="33" name="Straight Connector 32">
            <a:extLst>
              <a:ext uri="{FF2B5EF4-FFF2-40B4-BE49-F238E27FC236}">
                <a16:creationId xmlns:a16="http://schemas.microsoft.com/office/drawing/2014/main" id="{4E2A6486-87C2-7333-E298-977841D0B5D1}"/>
              </a:ext>
            </a:extLst>
          </p:cNvPr>
          <p:cNvCxnSpPr/>
          <p:nvPr/>
        </p:nvCxnSpPr>
        <p:spPr>
          <a:xfrm>
            <a:off x="1488226" y="3832970"/>
            <a:ext cx="0" cy="1584612"/>
          </a:xfrm>
          <a:prstGeom prst="line">
            <a:avLst/>
          </a:prstGeom>
          <a:ln>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FF2CC56-F057-FCD6-65E0-EBBAF265413F}"/>
              </a:ext>
            </a:extLst>
          </p:cNvPr>
          <p:cNvCxnSpPr>
            <a:cxnSpLocks/>
          </p:cNvCxnSpPr>
          <p:nvPr/>
        </p:nvCxnSpPr>
        <p:spPr>
          <a:xfrm>
            <a:off x="1488226" y="5417582"/>
            <a:ext cx="3393831" cy="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1C852957-E057-E977-EB4F-36E903903639}"/>
              </a:ext>
            </a:extLst>
          </p:cNvPr>
          <p:cNvCxnSpPr/>
          <p:nvPr/>
        </p:nvCxnSpPr>
        <p:spPr>
          <a:xfrm>
            <a:off x="1488226" y="4545727"/>
            <a:ext cx="3329786" cy="0"/>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574F266-E87F-4CBB-0745-1850D4114BF0}"/>
              </a:ext>
            </a:extLst>
          </p:cNvPr>
          <p:cNvSpPr txBox="1"/>
          <p:nvPr/>
        </p:nvSpPr>
        <p:spPr>
          <a:xfrm>
            <a:off x="1621363" y="4598398"/>
            <a:ext cx="526106" cy="369332"/>
          </a:xfrm>
          <a:prstGeom prst="rect">
            <a:avLst/>
          </a:prstGeom>
          <a:noFill/>
        </p:spPr>
        <p:txBody>
          <a:bodyPr wrap="none" rtlCol="0">
            <a:spAutoFit/>
          </a:bodyPr>
          <a:lstStyle/>
          <a:p>
            <a:r>
              <a:rPr lang="en-US" dirty="0"/>
              <a:t>i</a:t>
            </a:r>
            <a:r>
              <a:rPr lang="en-US" baseline="-25000" dirty="0"/>
              <a:t>L</a:t>
            </a:r>
            <a:r>
              <a:rPr lang="en-US" dirty="0"/>
              <a:t>(t)</a:t>
            </a:r>
          </a:p>
        </p:txBody>
      </p:sp>
      <p:sp>
        <p:nvSpPr>
          <p:cNvPr id="51" name="TextBox 50">
            <a:extLst>
              <a:ext uri="{FF2B5EF4-FFF2-40B4-BE49-F238E27FC236}">
                <a16:creationId xmlns:a16="http://schemas.microsoft.com/office/drawing/2014/main" id="{34700188-99DF-E5BE-81DA-F8D13EDF77E9}"/>
              </a:ext>
            </a:extLst>
          </p:cNvPr>
          <p:cNvSpPr txBox="1"/>
          <p:nvPr/>
        </p:nvSpPr>
        <p:spPr>
          <a:xfrm>
            <a:off x="744497" y="4319458"/>
            <a:ext cx="772969"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a:t>
            </a:r>
          </a:p>
        </p:txBody>
      </p:sp>
      <p:grpSp>
        <p:nvGrpSpPr>
          <p:cNvPr id="55" name="Group 54">
            <a:extLst>
              <a:ext uri="{FF2B5EF4-FFF2-40B4-BE49-F238E27FC236}">
                <a16:creationId xmlns:a16="http://schemas.microsoft.com/office/drawing/2014/main" id="{698A555C-A9B9-2DA1-1869-83847F21DF23}"/>
              </a:ext>
            </a:extLst>
          </p:cNvPr>
          <p:cNvGrpSpPr/>
          <p:nvPr/>
        </p:nvGrpSpPr>
        <p:grpSpPr>
          <a:xfrm>
            <a:off x="1488226" y="4231766"/>
            <a:ext cx="1109929" cy="604062"/>
            <a:chOff x="1670538" y="3761264"/>
            <a:chExt cx="1109929" cy="604062"/>
          </a:xfrm>
        </p:grpSpPr>
        <p:grpSp>
          <p:nvGrpSpPr>
            <p:cNvPr id="40" name="Group 39">
              <a:extLst>
                <a:ext uri="{FF2B5EF4-FFF2-40B4-BE49-F238E27FC236}">
                  <a16:creationId xmlns:a16="http://schemas.microsoft.com/office/drawing/2014/main" id="{535E951A-4ACF-D8B5-6696-59E076E82367}"/>
                </a:ext>
              </a:extLst>
            </p:cNvPr>
            <p:cNvGrpSpPr/>
            <p:nvPr/>
          </p:nvGrpSpPr>
          <p:grpSpPr>
            <a:xfrm>
              <a:off x="1670538" y="3848956"/>
              <a:ext cx="1109929" cy="434954"/>
              <a:chOff x="1670538" y="3848956"/>
              <a:chExt cx="1109929" cy="434954"/>
            </a:xfrm>
          </p:grpSpPr>
          <p:cxnSp>
            <p:nvCxnSpPr>
              <p:cNvPr id="37" name="Straight Connector 36">
                <a:extLst>
                  <a:ext uri="{FF2B5EF4-FFF2-40B4-BE49-F238E27FC236}">
                    <a16:creationId xmlns:a16="http://schemas.microsoft.com/office/drawing/2014/main" id="{5EA2766B-81C9-4F07-4040-9B939BAC37A8}"/>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151E8508-7FC8-E35E-4660-EAC13C5F774B}"/>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9CB9D2F8-0F0A-6AE5-20C9-057E2F795F7B}"/>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23A9BACA-E6AB-F4B1-DD52-6951B15C4D9C}"/>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7D98BE30-9135-5A3C-7A87-2AA4294076D2}"/>
              </a:ext>
            </a:extLst>
          </p:cNvPr>
          <p:cNvGrpSpPr/>
          <p:nvPr/>
        </p:nvGrpSpPr>
        <p:grpSpPr>
          <a:xfrm>
            <a:off x="2591028" y="4234904"/>
            <a:ext cx="1109929" cy="604062"/>
            <a:chOff x="1670538" y="3761264"/>
            <a:chExt cx="1109929" cy="604062"/>
          </a:xfrm>
        </p:grpSpPr>
        <p:grpSp>
          <p:nvGrpSpPr>
            <p:cNvPr id="57" name="Group 56">
              <a:extLst>
                <a:ext uri="{FF2B5EF4-FFF2-40B4-BE49-F238E27FC236}">
                  <a16:creationId xmlns:a16="http://schemas.microsoft.com/office/drawing/2014/main" id="{EEF98C0F-408E-03B1-2672-1424027D440A}"/>
                </a:ext>
              </a:extLst>
            </p:cNvPr>
            <p:cNvGrpSpPr/>
            <p:nvPr/>
          </p:nvGrpSpPr>
          <p:grpSpPr>
            <a:xfrm>
              <a:off x="1670538" y="3848956"/>
              <a:ext cx="1109929" cy="434954"/>
              <a:chOff x="1670538" y="3848956"/>
              <a:chExt cx="1109929" cy="434954"/>
            </a:xfrm>
          </p:grpSpPr>
          <p:cxnSp>
            <p:nvCxnSpPr>
              <p:cNvPr id="60" name="Straight Connector 59">
                <a:extLst>
                  <a:ext uri="{FF2B5EF4-FFF2-40B4-BE49-F238E27FC236}">
                    <a16:creationId xmlns:a16="http://schemas.microsoft.com/office/drawing/2014/main" id="{9F99C33D-BA20-E5EA-82D8-0CB8731A02F9}"/>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F858716-2009-62D0-9D7C-68ABF64BBCB3}"/>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8" name="Straight Connector 57">
              <a:extLst>
                <a:ext uri="{FF2B5EF4-FFF2-40B4-BE49-F238E27FC236}">
                  <a16:creationId xmlns:a16="http://schemas.microsoft.com/office/drawing/2014/main" id="{67E9AE7A-91CA-77DE-7DA5-2FC85BA726EC}"/>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1B6899A-B6E7-1FAD-28D3-B5AD2C77A991}"/>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D4616C12-9088-56AB-0A91-74F73EDFE17E}"/>
              </a:ext>
            </a:extLst>
          </p:cNvPr>
          <p:cNvGrpSpPr/>
          <p:nvPr/>
        </p:nvGrpSpPr>
        <p:grpSpPr>
          <a:xfrm>
            <a:off x="3708083" y="4227778"/>
            <a:ext cx="1109929" cy="604062"/>
            <a:chOff x="1670538" y="3761264"/>
            <a:chExt cx="1109929" cy="604062"/>
          </a:xfrm>
        </p:grpSpPr>
        <p:grpSp>
          <p:nvGrpSpPr>
            <p:cNvPr id="63" name="Group 62">
              <a:extLst>
                <a:ext uri="{FF2B5EF4-FFF2-40B4-BE49-F238E27FC236}">
                  <a16:creationId xmlns:a16="http://schemas.microsoft.com/office/drawing/2014/main" id="{75B8EFBB-ABF7-CDD0-19E4-AD5C93D55E3D}"/>
                </a:ext>
              </a:extLst>
            </p:cNvPr>
            <p:cNvGrpSpPr/>
            <p:nvPr/>
          </p:nvGrpSpPr>
          <p:grpSpPr>
            <a:xfrm>
              <a:off x="1670538" y="3848956"/>
              <a:ext cx="1109929" cy="434954"/>
              <a:chOff x="1670538" y="3848956"/>
              <a:chExt cx="1109929" cy="434954"/>
            </a:xfrm>
          </p:grpSpPr>
          <p:cxnSp>
            <p:nvCxnSpPr>
              <p:cNvPr id="66" name="Straight Connector 65">
                <a:extLst>
                  <a:ext uri="{FF2B5EF4-FFF2-40B4-BE49-F238E27FC236}">
                    <a16:creationId xmlns:a16="http://schemas.microsoft.com/office/drawing/2014/main" id="{9A279BE9-8572-05EB-B5D9-0B8DC2F38222}"/>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DA5E62AE-A800-8007-13FB-BB8FFE07837E}"/>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64" name="Straight Connector 63">
              <a:extLst>
                <a:ext uri="{FF2B5EF4-FFF2-40B4-BE49-F238E27FC236}">
                  <a16:creationId xmlns:a16="http://schemas.microsoft.com/office/drawing/2014/main" id="{9923488A-6AA6-34DF-9E9F-86A64847FC20}"/>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1A0E2EB3-2931-BBF6-3390-22D72366A38A}"/>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19CD592A-4CEB-347A-20D6-3F965827E8FA}"/>
              </a:ext>
            </a:extLst>
          </p:cNvPr>
          <p:cNvSpPr txBox="1"/>
          <p:nvPr/>
        </p:nvSpPr>
        <p:spPr>
          <a:xfrm>
            <a:off x="3264312" y="3721504"/>
            <a:ext cx="1191644" cy="415498"/>
          </a:xfrm>
          <a:prstGeom prst="rect">
            <a:avLst/>
          </a:prstGeom>
          <a:noFill/>
          <a:ln>
            <a:solidFill>
              <a:schemeClr val="tx1"/>
            </a:solidFill>
          </a:ln>
        </p:spPr>
        <p:txBody>
          <a:bodyPr wrap="square" rtlCol="0">
            <a:spAutoFit/>
          </a:bodyPr>
          <a:lstStyle/>
          <a:p>
            <a:r>
              <a:rPr lang="en-US" sz="1050" dirty="0"/>
              <a:t>Noise on each switch transition</a:t>
            </a:r>
          </a:p>
        </p:txBody>
      </p:sp>
      <p:cxnSp>
        <p:nvCxnSpPr>
          <p:cNvPr id="70" name="Straight Arrow Connector 69">
            <a:extLst>
              <a:ext uri="{FF2B5EF4-FFF2-40B4-BE49-F238E27FC236}">
                <a16:creationId xmlns:a16="http://schemas.microsoft.com/office/drawing/2014/main" id="{0532BE21-8924-4B18-86AE-9B9A789857E2}"/>
              </a:ext>
            </a:extLst>
          </p:cNvPr>
          <p:cNvCxnSpPr>
            <a:cxnSpLocks/>
            <a:stCxn id="68" idx="1"/>
          </p:cNvCxnSpPr>
          <p:nvPr/>
        </p:nvCxnSpPr>
        <p:spPr>
          <a:xfrm flipH="1">
            <a:off x="2076957" y="3929253"/>
            <a:ext cx="1187355" cy="33968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77E5E1BF-F661-AF7A-F85B-B7EF45716EBD}"/>
              </a:ext>
            </a:extLst>
          </p:cNvPr>
          <p:cNvSpPr txBox="1"/>
          <p:nvPr/>
        </p:nvSpPr>
        <p:spPr>
          <a:xfrm>
            <a:off x="3322902" y="4923721"/>
            <a:ext cx="1646726" cy="415498"/>
          </a:xfrm>
          <a:prstGeom prst="rect">
            <a:avLst/>
          </a:prstGeom>
          <a:noFill/>
          <a:ln>
            <a:solidFill>
              <a:schemeClr val="tx1"/>
            </a:solidFill>
          </a:ln>
        </p:spPr>
        <p:txBody>
          <a:bodyPr wrap="square" rtlCol="0">
            <a:spAutoFit/>
          </a:bodyPr>
          <a:lstStyle/>
          <a:p>
            <a:r>
              <a:rPr lang="en-US" sz="1050" dirty="0"/>
              <a:t>Current ripple introduces AC component</a:t>
            </a:r>
          </a:p>
        </p:txBody>
      </p:sp>
      <p:cxnSp>
        <p:nvCxnSpPr>
          <p:cNvPr id="72" name="Straight Arrow Connector 71">
            <a:extLst>
              <a:ext uri="{FF2B5EF4-FFF2-40B4-BE49-F238E27FC236}">
                <a16:creationId xmlns:a16="http://schemas.microsoft.com/office/drawing/2014/main" id="{EB581330-AD17-6C66-32CC-9638118AEC59}"/>
              </a:ext>
            </a:extLst>
          </p:cNvPr>
          <p:cNvCxnSpPr>
            <a:cxnSpLocks/>
            <a:stCxn id="71" idx="1"/>
          </p:cNvCxnSpPr>
          <p:nvPr/>
        </p:nvCxnSpPr>
        <p:spPr>
          <a:xfrm flipH="1" flipV="1">
            <a:off x="2799419" y="4652625"/>
            <a:ext cx="523483" cy="478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8612C5B4-AD52-1B0C-1BC9-8E50E0BF5A9F}"/>
              </a:ext>
            </a:extLst>
          </p:cNvPr>
          <p:cNvSpPr/>
          <p:nvPr/>
        </p:nvSpPr>
        <p:spPr>
          <a:xfrm>
            <a:off x="331187" y="3640015"/>
            <a:ext cx="5473196" cy="217635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a:extLst>
              <a:ext uri="{FF2B5EF4-FFF2-40B4-BE49-F238E27FC236}">
                <a16:creationId xmlns:a16="http://schemas.microsoft.com/office/drawing/2014/main" id="{A20062A4-B5E2-F1CD-3200-7B0C780E4C62}"/>
              </a:ext>
            </a:extLst>
          </p:cNvPr>
          <p:cNvSpPr txBox="1"/>
          <p:nvPr/>
        </p:nvSpPr>
        <p:spPr>
          <a:xfrm>
            <a:off x="1003490" y="5426509"/>
            <a:ext cx="4006546"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 is not even directly measurable*</a:t>
            </a:r>
          </a:p>
        </p:txBody>
      </p:sp>
      <p:sp>
        <p:nvSpPr>
          <p:cNvPr id="79" name="TextBox 78">
            <a:extLst>
              <a:ext uri="{FF2B5EF4-FFF2-40B4-BE49-F238E27FC236}">
                <a16:creationId xmlns:a16="http://schemas.microsoft.com/office/drawing/2014/main" id="{7A3DBA61-8780-E4ED-4662-2110A637F6C6}"/>
              </a:ext>
            </a:extLst>
          </p:cNvPr>
          <p:cNvSpPr txBox="1"/>
          <p:nvPr/>
        </p:nvSpPr>
        <p:spPr>
          <a:xfrm>
            <a:off x="1830876" y="3197117"/>
            <a:ext cx="2473819" cy="369332"/>
          </a:xfrm>
          <a:prstGeom prst="rect">
            <a:avLst/>
          </a:prstGeom>
          <a:noFill/>
        </p:spPr>
        <p:txBody>
          <a:bodyPr wrap="none" rtlCol="0">
            <a:spAutoFit/>
          </a:bodyPr>
          <a:lstStyle/>
          <a:p>
            <a:r>
              <a:rPr lang="en-US" dirty="0"/>
              <a:t>Inductor current graph:</a:t>
            </a:r>
          </a:p>
        </p:txBody>
      </p:sp>
      <p:sp>
        <p:nvSpPr>
          <p:cNvPr id="80" name="TextBox 79">
            <a:extLst>
              <a:ext uri="{FF2B5EF4-FFF2-40B4-BE49-F238E27FC236}">
                <a16:creationId xmlns:a16="http://schemas.microsoft.com/office/drawing/2014/main" id="{26B2E7D6-C040-38D9-E80D-ABA5B60F8D3E}"/>
              </a:ext>
            </a:extLst>
          </p:cNvPr>
          <p:cNvSpPr txBox="1"/>
          <p:nvPr/>
        </p:nvSpPr>
        <p:spPr>
          <a:xfrm>
            <a:off x="213947" y="6282293"/>
            <a:ext cx="11764107" cy="577081"/>
          </a:xfrm>
          <a:prstGeom prst="rect">
            <a:avLst/>
          </a:prstGeom>
          <a:noFill/>
        </p:spPr>
        <p:txBody>
          <a:bodyPr wrap="square" rtlCol="0">
            <a:spAutoFit/>
          </a:bodyPr>
          <a:lstStyle/>
          <a:p>
            <a:r>
              <a:rPr lang="en-US" sz="1050" dirty="0"/>
              <a:t>*It is possible to get a good guess of &lt;i</a:t>
            </a:r>
            <a:r>
              <a:rPr lang="en-US" sz="1050" baseline="-25000" dirty="0"/>
              <a:t>L</a:t>
            </a:r>
            <a:r>
              <a:rPr lang="en-US" sz="1050" dirty="0"/>
              <a:t>(t)&gt; by measuring exactly between switch transitions. However, these transitions can appear arbitrarily close together due to the soft-starting capability of the H-bridge, and the AC component of the signal will introduce extra complications beyond this simplified model. </a:t>
            </a:r>
          </a:p>
          <a:p>
            <a:r>
              <a:rPr lang="en-US" sz="1050" dirty="0"/>
              <a:t>**While frequency is fixed for this application, the LCR meter in the solar lab only measures impedance at 100kHz, so it’s possible for measurement error to creep in as a result.</a:t>
            </a:r>
          </a:p>
        </p:txBody>
      </p:sp>
    </p:spTree>
    <p:extLst>
      <p:ext uri="{BB962C8B-B14F-4D97-AF65-F5344CB8AC3E}">
        <p14:creationId xmlns:p14="http://schemas.microsoft.com/office/powerpoint/2010/main" val="479928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61464-3F78-2DD9-C5CB-7F2428CA1187}"/>
              </a:ext>
            </a:extLst>
          </p:cNvPr>
          <p:cNvSpPr>
            <a:spLocks noGrp="1"/>
          </p:cNvSpPr>
          <p:nvPr>
            <p:ph type="title"/>
          </p:nvPr>
        </p:nvSpPr>
        <p:spPr/>
        <p:txBody>
          <a:bodyPr/>
          <a:lstStyle/>
          <a:p>
            <a:r>
              <a:rPr lang="en-US" dirty="0"/>
              <a:t>Disturbance Rejection - Noise</a:t>
            </a:r>
          </a:p>
        </p:txBody>
      </p:sp>
      <mc:AlternateContent xmlns:mc="http://schemas.openxmlformats.org/markup-compatibility/2006">
        <mc:Choice xmlns:a14="http://schemas.microsoft.com/office/drawing/2010/main" Requires="a14">
          <p:sp>
            <p:nvSpPr>
              <p:cNvPr id="4" name="Text Placeholder 3">
                <a:extLst>
                  <a:ext uri="{FF2B5EF4-FFF2-40B4-BE49-F238E27FC236}">
                    <a16:creationId xmlns:a16="http://schemas.microsoft.com/office/drawing/2014/main" id="{421BA605-F443-C7B5-528E-76C1CD852ABB}"/>
                  </a:ext>
                </a:extLst>
              </p:cNvPr>
              <p:cNvSpPr>
                <a:spLocks noGrp="1"/>
              </p:cNvSpPr>
              <p:nvPr>
                <p:ph type="body" sz="half" idx="2"/>
              </p:nvPr>
            </p:nvSpPr>
            <p:spPr/>
            <p:txBody>
              <a:bodyPr/>
              <a:lstStyle/>
              <a:p>
                <a:r>
                  <a:rPr lang="en-US" dirty="0"/>
                  <a:t>Linear systems can be represented by block diagrams and transfer functions</a:t>
                </a:r>
              </a:p>
              <a:p>
                <a:pPr marL="285750" indent="-285750">
                  <a:buFont typeface="Arial" panose="020B0604020202020204" pitchFamily="34" charset="0"/>
                  <a:buChar char="•"/>
                </a:pPr>
                <a:r>
                  <a:rPr lang="en-US" dirty="0"/>
                  <a:t>Disturbances enter at different points of the loop</a:t>
                </a:r>
              </a:p>
              <a:p>
                <a:pPr marL="285750" indent="-285750">
                  <a:buFont typeface="Arial" panose="020B0604020202020204" pitchFamily="34" charset="0"/>
                  <a:buChar char="•"/>
                </a:pPr>
                <a:r>
                  <a:rPr lang="en-US" dirty="0"/>
                  <a:t>Control disturbance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sensor noise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rounding error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all considered disturbances</a:t>
                </a:r>
              </a:p>
              <a:p>
                <a:r>
                  <a:rPr lang="en-US" dirty="0"/>
                  <a:t>Simplify feedback to single disturbance source with unity feedback</a:t>
                </a:r>
              </a:p>
              <a:p>
                <a:pPr marL="285750" indent="-285750">
                  <a:buFont typeface="Arial" panose="020B0604020202020204" pitchFamily="34" charset="0"/>
                  <a:buChar char="•"/>
                </a:pPr>
                <a:r>
                  <a:rPr lang="en-US" dirty="0"/>
                  <a:t>Rounding error ignored/bundled into sensor noise</a:t>
                </a:r>
              </a:p>
              <a:p>
                <a:pPr marL="285750" indent="-285750">
                  <a:buFont typeface="Arial" panose="020B0604020202020204" pitchFamily="34" charset="0"/>
                  <a:buChar char="•"/>
                </a:pPr>
                <a:r>
                  <a:rPr lang="en-US" dirty="0"/>
                  <a:t>Note that controller cannot tell a difference between </a:t>
                </a:r>
                <a14:m>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and </a:t>
                </a:r>
                <a14:m>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p:txBody>
          </p:sp>
        </mc:Choice>
        <mc:Fallback>
          <p:sp>
            <p:nvSpPr>
              <p:cNvPr id="4" name="Text Placeholder 3">
                <a:extLst>
                  <a:ext uri="{FF2B5EF4-FFF2-40B4-BE49-F238E27FC236}">
                    <a16:creationId xmlns:a16="http://schemas.microsoft.com/office/drawing/2014/main" id="{421BA605-F443-C7B5-528E-76C1CD852AB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b="-48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7" name="Rectangle 56">
                <a:extLst>
                  <a:ext uri="{FF2B5EF4-FFF2-40B4-BE49-F238E27FC236}">
                    <a16:creationId xmlns:a16="http://schemas.microsoft.com/office/drawing/2014/main" id="{3B901C59-ED4C-9BDB-D018-69322AF59B56}"/>
                  </a:ext>
                </a:extLst>
              </p:cNvPr>
              <p:cNvSpPr>
                <a:spLocks noChangeAspect="1"/>
              </p:cNvSpPr>
              <p:nvPr/>
            </p:nvSpPr>
            <p:spPr>
              <a:xfrm>
                <a:off x="7141458"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PI Controller</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𝐷</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p:sp>
            <p:nvSpPr>
              <p:cNvPr id="57" name="Rectangle 56">
                <a:extLst>
                  <a:ext uri="{FF2B5EF4-FFF2-40B4-BE49-F238E27FC236}">
                    <a16:creationId xmlns:a16="http://schemas.microsoft.com/office/drawing/2014/main" id="{3B901C59-ED4C-9BDB-D018-69322AF59B56}"/>
                  </a:ext>
                </a:extLst>
              </p:cNvPr>
              <p:cNvSpPr>
                <a:spLocks noRot="1" noChangeAspect="1" noMove="1" noResize="1" noEditPoints="1" noAdjustHandles="1" noChangeArrowheads="1" noChangeShapeType="1" noTextEdit="1"/>
              </p:cNvSpPr>
              <p:nvPr/>
            </p:nvSpPr>
            <p:spPr>
              <a:xfrm>
                <a:off x="7141458" y="1586124"/>
                <a:ext cx="898976" cy="548640"/>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8" name="Rectangle 57">
                <a:extLst>
                  <a:ext uri="{FF2B5EF4-FFF2-40B4-BE49-F238E27FC236}">
                    <a16:creationId xmlns:a16="http://schemas.microsoft.com/office/drawing/2014/main" id="{5CDB8F4D-D87C-2C54-D0F8-20A91E1B851A}"/>
                  </a:ext>
                </a:extLst>
              </p:cNvPr>
              <p:cNvSpPr>
                <a:spLocks noChangeAspect="1"/>
              </p:cNvSpPr>
              <p:nvPr/>
            </p:nvSpPr>
            <p:spPr>
              <a:xfrm>
                <a:off x="8734831"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Plant</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𝐺</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p:sp>
            <p:nvSpPr>
              <p:cNvPr id="58" name="Rectangle 57">
                <a:extLst>
                  <a:ext uri="{FF2B5EF4-FFF2-40B4-BE49-F238E27FC236}">
                    <a16:creationId xmlns:a16="http://schemas.microsoft.com/office/drawing/2014/main" id="{5CDB8F4D-D87C-2C54-D0F8-20A91E1B851A}"/>
                  </a:ext>
                </a:extLst>
              </p:cNvPr>
              <p:cNvSpPr>
                <a:spLocks noRot="1" noChangeAspect="1" noMove="1" noResize="1" noEditPoints="1" noAdjustHandles="1" noChangeArrowheads="1" noChangeShapeType="1" noTextEdit="1"/>
              </p:cNvSpPr>
              <p:nvPr/>
            </p:nvSpPr>
            <p:spPr>
              <a:xfrm>
                <a:off x="8734831" y="1586124"/>
                <a:ext cx="898976" cy="548640"/>
              </a:xfrm>
              <a:prstGeom prst="rect">
                <a:avLst/>
              </a:prstGeom>
              <a:blipFill>
                <a:blip r:embed="rId4"/>
                <a:stretch>
                  <a:fillRect/>
                </a:stretch>
              </a:blipFill>
              <a:ln>
                <a:solidFill>
                  <a:schemeClr val="tx1"/>
                </a:solidFill>
              </a:ln>
            </p:spPr>
            <p:txBody>
              <a:bodyPr/>
              <a:lstStyle/>
              <a:p>
                <a:r>
                  <a:rPr lang="en-US">
                    <a:noFill/>
                  </a:rPr>
                  <a:t> </a:t>
                </a:r>
              </a:p>
            </p:txBody>
          </p:sp>
        </mc:Fallback>
      </mc:AlternateContent>
      <p:sp>
        <p:nvSpPr>
          <p:cNvPr id="63" name="Oval 62">
            <a:extLst>
              <a:ext uri="{FF2B5EF4-FFF2-40B4-BE49-F238E27FC236}">
                <a16:creationId xmlns:a16="http://schemas.microsoft.com/office/drawing/2014/main" id="{9500A023-CA1F-076B-CBA2-0DDD584DDDA3}"/>
              </a:ext>
            </a:extLst>
          </p:cNvPr>
          <p:cNvSpPr/>
          <p:nvPr/>
        </p:nvSpPr>
        <p:spPr>
          <a:xfrm>
            <a:off x="10153845"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Oval 64">
            <a:extLst>
              <a:ext uri="{FF2B5EF4-FFF2-40B4-BE49-F238E27FC236}">
                <a16:creationId xmlns:a16="http://schemas.microsoft.com/office/drawing/2014/main" id="{3B0364C5-9ECB-149F-BDEF-649CC1F789C7}"/>
              </a:ext>
            </a:extLst>
          </p:cNvPr>
          <p:cNvSpPr/>
          <p:nvPr/>
        </p:nvSpPr>
        <p:spPr>
          <a:xfrm>
            <a:off x="6279111"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67" name="Rectangle 66">
                <a:extLst>
                  <a:ext uri="{FF2B5EF4-FFF2-40B4-BE49-F238E27FC236}">
                    <a16:creationId xmlns:a16="http://schemas.microsoft.com/office/drawing/2014/main" id="{7A003053-FA8C-5DBC-2BBD-4B31A1464241}"/>
                  </a:ext>
                </a:extLst>
              </p:cNvPr>
              <p:cNvSpPr>
                <a:spLocks noChangeAspect="1"/>
              </p:cNvSpPr>
              <p:nvPr/>
            </p:nvSpPr>
            <p:spPr>
              <a:xfrm>
                <a:off x="8734831"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Sensor gain</a:t>
                </a:r>
              </a:p>
              <a:p>
                <a:pPr algn="ctr"/>
                <a14:m>
                  <m:oMathPara xmlns:m="http://schemas.openxmlformats.org/officeDocument/2006/math">
                    <m:oMathParaPr>
                      <m:jc m:val="centerGroup"/>
                    </m:oMathParaPr>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𝐻</m:t>
                          </m:r>
                        </m:e>
                        <m:sup>
                          <m:r>
                            <a:rPr lang="en-US" sz="1400" b="0" i="1" smtClean="0">
                              <a:latin typeface="Cambria Math" panose="02040503050406030204" pitchFamily="18" charset="0"/>
                            </a:rPr>
                            <m:t>−1</m:t>
                          </m:r>
                        </m:sup>
                      </m:sSup>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p:sp>
            <p:nvSpPr>
              <p:cNvPr id="67" name="Rectangle 66">
                <a:extLst>
                  <a:ext uri="{FF2B5EF4-FFF2-40B4-BE49-F238E27FC236}">
                    <a16:creationId xmlns:a16="http://schemas.microsoft.com/office/drawing/2014/main" id="{7A003053-FA8C-5DBC-2BBD-4B31A1464241}"/>
                  </a:ext>
                </a:extLst>
              </p:cNvPr>
              <p:cNvSpPr>
                <a:spLocks noRot="1" noChangeAspect="1" noMove="1" noResize="1" noEditPoints="1" noAdjustHandles="1" noChangeArrowheads="1" noChangeShapeType="1" noTextEdit="1"/>
              </p:cNvSpPr>
              <p:nvPr/>
            </p:nvSpPr>
            <p:spPr>
              <a:xfrm>
                <a:off x="8734831" y="2338241"/>
                <a:ext cx="898976" cy="548640"/>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21255CCA-5464-6F66-6C21-BAA0C735D8AB}"/>
                  </a:ext>
                </a:extLst>
              </p:cNvPr>
              <p:cNvSpPr txBox="1"/>
              <p:nvPr/>
            </p:nvSpPr>
            <p:spPr>
              <a:xfrm>
                <a:off x="6096000" y="1444267"/>
                <a:ext cx="505203"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p:sp>
            <p:nvSpPr>
              <p:cNvPr id="71" name="TextBox 70">
                <a:extLst>
                  <a:ext uri="{FF2B5EF4-FFF2-40B4-BE49-F238E27FC236}">
                    <a16:creationId xmlns:a16="http://schemas.microsoft.com/office/drawing/2014/main" id="{21255CCA-5464-6F66-6C21-BAA0C735D8AB}"/>
                  </a:ext>
                </a:extLst>
              </p:cNvPr>
              <p:cNvSpPr txBox="1">
                <a:spLocks noRot="1" noChangeAspect="1" noMove="1" noResize="1" noEditPoints="1" noAdjustHandles="1" noChangeArrowheads="1" noChangeShapeType="1" noTextEdit="1"/>
              </p:cNvSpPr>
              <p:nvPr/>
            </p:nvSpPr>
            <p:spPr>
              <a:xfrm>
                <a:off x="6096000" y="1444267"/>
                <a:ext cx="505203" cy="276999"/>
              </a:xfrm>
              <a:prstGeom prst="rect">
                <a:avLst/>
              </a:prstGeom>
              <a:blipFill>
                <a:blip r:embed="rId6"/>
                <a:stretch>
                  <a:fillRect l="-10843" t="-2222" r="-16867" b="-3555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2" name="TextBox 71">
                <a:extLst>
                  <a:ext uri="{FF2B5EF4-FFF2-40B4-BE49-F238E27FC236}">
                    <a16:creationId xmlns:a16="http://schemas.microsoft.com/office/drawing/2014/main" id="{D58D3182-A052-C19C-391C-BCA4D3D819A9}"/>
                  </a:ext>
                </a:extLst>
              </p:cNvPr>
              <p:cNvSpPr txBox="1"/>
              <p:nvPr/>
            </p:nvSpPr>
            <p:spPr>
              <a:xfrm>
                <a:off x="9970734" y="1444267"/>
                <a:ext cx="496098"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p:sp>
            <p:nvSpPr>
              <p:cNvPr id="72" name="TextBox 71">
                <a:extLst>
                  <a:ext uri="{FF2B5EF4-FFF2-40B4-BE49-F238E27FC236}">
                    <a16:creationId xmlns:a16="http://schemas.microsoft.com/office/drawing/2014/main" id="{D58D3182-A052-C19C-391C-BCA4D3D819A9}"/>
                  </a:ext>
                </a:extLst>
              </p:cNvPr>
              <p:cNvSpPr txBox="1">
                <a:spLocks noRot="1" noChangeAspect="1" noMove="1" noResize="1" noEditPoints="1" noAdjustHandles="1" noChangeArrowheads="1" noChangeShapeType="1" noTextEdit="1"/>
              </p:cNvSpPr>
              <p:nvPr/>
            </p:nvSpPr>
            <p:spPr>
              <a:xfrm>
                <a:off x="9970734" y="1444267"/>
                <a:ext cx="496098" cy="276999"/>
              </a:xfrm>
              <a:prstGeom prst="rect">
                <a:avLst/>
              </a:prstGeom>
              <a:blipFill>
                <a:blip r:embed="rId7"/>
                <a:stretch>
                  <a:fillRect l="-12346" t="-2222" r="-18519" b="-35556"/>
                </a:stretch>
              </a:blipFill>
            </p:spPr>
            <p:txBody>
              <a:bodyPr/>
              <a:lstStyle/>
              <a:p>
                <a:r>
                  <a:rPr lang="en-US">
                    <a:noFill/>
                  </a:rPr>
                  <a:t> </a:t>
                </a:r>
              </a:p>
            </p:txBody>
          </p:sp>
        </mc:Fallback>
      </mc:AlternateContent>
      <p:sp>
        <p:nvSpPr>
          <p:cNvPr id="73" name="Rectangle: Rounded Corners 72">
            <a:extLst>
              <a:ext uri="{FF2B5EF4-FFF2-40B4-BE49-F238E27FC236}">
                <a16:creationId xmlns:a16="http://schemas.microsoft.com/office/drawing/2014/main" id="{6462E26C-B9E9-3763-9522-956B88B3F7CE}"/>
              </a:ext>
            </a:extLst>
          </p:cNvPr>
          <p:cNvSpPr/>
          <p:nvPr/>
        </p:nvSpPr>
        <p:spPr>
          <a:xfrm>
            <a:off x="5424889" y="88886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TextBox 73">
            <a:extLst>
              <a:ext uri="{FF2B5EF4-FFF2-40B4-BE49-F238E27FC236}">
                <a16:creationId xmlns:a16="http://schemas.microsoft.com/office/drawing/2014/main" id="{CCB06293-8815-9D4D-8293-E5A5803318B5}"/>
              </a:ext>
            </a:extLst>
          </p:cNvPr>
          <p:cNvSpPr txBox="1"/>
          <p:nvPr/>
        </p:nvSpPr>
        <p:spPr>
          <a:xfrm>
            <a:off x="8684539" y="881287"/>
            <a:ext cx="2566665" cy="338554"/>
          </a:xfrm>
          <a:prstGeom prst="rect">
            <a:avLst/>
          </a:prstGeom>
          <a:noFill/>
        </p:spPr>
        <p:txBody>
          <a:bodyPr wrap="none" rtlCol="0">
            <a:spAutoFit/>
          </a:bodyPr>
          <a:lstStyle/>
          <a:p>
            <a:pPr algn="r"/>
            <a:r>
              <a:rPr lang="en-US" sz="1600" b="1" dirty="0"/>
              <a:t>Linear System With Noise</a:t>
            </a:r>
          </a:p>
        </p:txBody>
      </p:sp>
      <p:sp>
        <p:nvSpPr>
          <p:cNvPr id="78" name="Oval 77">
            <a:extLst>
              <a:ext uri="{FF2B5EF4-FFF2-40B4-BE49-F238E27FC236}">
                <a16:creationId xmlns:a16="http://schemas.microsoft.com/office/drawing/2014/main" id="{95B2F011-7564-56C8-F6E7-01FF2784C5B5}"/>
              </a:ext>
            </a:extLst>
          </p:cNvPr>
          <p:cNvSpPr/>
          <p:nvPr/>
        </p:nvSpPr>
        <p:spPr>
          <a:xfrm>
            <a:off x="6652478"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88" name="Oval 87">
            <a:extLst>
              <a:ext uri="{FF2B5EF4-FFF2-40B4-BE49-F238E27FC236}">
                <a16:creationId xmlns:a16="http://schemas.microsoft.com/office/drawing/2014/main" id="{91D0D38A-5CAD-F86C-5972-82732F853A6C}"/>
              </a:ext>
            </a:extLst>
          </p:cNvPr>
          <p:cNvSpPr/>
          <p:nvPr/>
        </p:nvSpPr>
        <p:spPr>
          <a:xfrm>
            <a:off x="8240811"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mc:AlternateContent xmlns:mc="http://schemas.openxmlformats.org/markup-compatibility/2006">
        <mc:Choice xmlns:a14="http://schemas.microsoft.com/office/drawing/2010/main" Requires="a14">
          <p:sp>
            <p:nvSpPr>
              <p:cNvPr id="100" name="Rectangle 99">
                <a:extLst>
                  <a:ext uri="{FF2B5EF4-FFF2-40B4-BE49-F238E27FC236}">
                    <a16:creationId xmlns:a16="http://schemas.microsoft.com/office/drawing/2014/main" id="{F63FE3A8-3379-936B-9077-1D4ACED496EE}"/>
                  </a:ext>
                </a:extLst>
              </p:cNvPr>
              <p:cNvSpPr>
                <a:spLocks noChangeAspect="1"/>
              </p:cNvSpPr>
              <p:nvPr/>
            </p:nvSpPr>
            <p:spPr>
              <a:xfrm>
                <a:off x="7141458"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a:t>
                </a:r>
                <a:r>
                  <a:rPr lang="en-US" sz="1000" b="0" dirty="0"/>
                  <a:t>caling</a:t>
                </a: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𝐻</m:t>
                      </m:r>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p:sp>
            <p:nvSpPr>
              <p:cNvPr id="100" name="Rectangle 99">
                <a:extLst>
                  <a:ext uri="{FF2B5EF4-FFF2-40B4-BE49-F238E27FC236}">
                    <a16:creationId xmlns:a16="http://schemas.microsoft.com/office/drawing/2014/main" id="{F63FE3A8-3379-936B-9077-1D4ACED496EE}"/>
                  </a:ext>
                </a:extLst>
              </p:cNvPr>
              <p:cNvSpPr>
                <a:spLocks noRot="1" noChangeAspect="1" noMove="1" noResize="1" noEditPoints="1" noAdjustHandles="1" noChangeArrowheads="1" noChangeShapeType="1" noTextEdit="1"/>
              </p:cNvSpPr>
              <p:nvPr/>
            </p:nvSpPr>
            <p:spPr>
              <a:xfrm>
                <a:off x="7141458" y="2338241"/>
                <a:ext cx="898976" cy="548640"/>
              </a:xfrm>
              <a:prstGeom prst="rect">
                <a:avLst/>
              </a:prstGeom>
              <a:blipFill>
                <a:blip r:embed="rId8"/>
                <a:stretch>
                  <a:fillRect/>
                </a:stretch>
              </a:blipFill>
              <a:ln>
                <a:solidFill>
                  <a:schemeClr val="tx1"/>
                </a:solidFill>
              </a:ln>
            </p:spPr>
            <p:txBody>
              <a:bodyPr/>
              <a:lstStyle/>
              <a:p>
                <a:r>
                  <a:rPr lang="en-US">
                    <a:noFill/>
                  </a:rPr>
                  <a:t> </a:t>
                </a:r>
              </a:p>
            </p:txBody>
          </p:sp>
        </mc:Fallback>
      </mc:AlternateContent>
      <p:cxnSp>
        <p:nvCxnSpPr>
          <p:cNvPr id="102" name="Straight Arrow Connector 101">
            <a:extLst>
              <a:ext uri="{FF2B5EF4-FFF2-40B4-BE49-F238E27FC236}">
                <a16:creationId xmlns:a16="http://schemas.microsoft.com/office/drawing/2014/main" id="{EDCA5920-0FFD-FF68-446C-82B6A5937AF8}"/>
              </a:ext>
            </a:extLst>
          </p:cNvPr>
          <p:cNvCxnSpPr>
            <a:stCxn id="65" idx="6"/>
            <a:endCxn id="78" idx="2"/>
          </p:cNvCxnSpPr>
          <p:nvPr/>
        </p:nvCxnSpPr>
        <p:spPr>
          <a:xfrm>
            <a:off x="6411937" y="1860444"/>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676909D-8BFD-9C95-45B9-D6E8622FE82D}"/>
              </a:ext>
            </a:extLst>
          </p:cNvPr>
          <p:cNvCxnSpPr>
            <a:stCxn id="78" idx="6"/>
            <a:endCxn id="57" idx="1"/>
          </p:cNvCxnSpPr>
          <p:nvPr/>
        </p:nvCxnSpPr>
        <p:spPr>
          <a:xfrm flipV="1">
            <a:off x="6950285" y="1860444"/>
            <a:ext cx="19117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048FB91A-963F-7AB8-CAC6-A67C06573C78}"/>
              </a:ext>
            </a:extLst>
          </p:cNvPr>
          <p:cNvCxnSpPr>
            <a:stCxn id="57" idx="3"/>
            <a:endCxn id="88" idx="2"/>
          </p:cNvCxnSpPr>
          <p:nvPr/>
        </p:nvCxnSpPr>
        <p:spPr>
          <a:xfrm>
            <a:off x="8040434" y="1860444"/>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3ED26A34-269C-CA07-2685-2E32B74D5B63}"/>
              </a:ext>
            </a:extLst>
          </p:cNvPr>
          <p:cNvCxnSpPr>
            <a:cxnSpLocks/>
            <a:stCxn id="88" idx="6"/>
            <a:endCxn id="58" idx="1"/>
          </p:cNvCxnSpPr>
          <p:nvPr/>
        </p:nvCxnSpPr>
        <p:spPr>
          <a:xfrm flipV="1">
            <a:off x="8538618" y="1860444"/>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1" name="Straight Arrow Connector 110">
            <a:extLst>
              <a:ext uri="{FF2B5EF4-FFF2-40B4-BE49-F238E27FC236}">
                <a16:creationId xmlns:a16="http://schemas.microsoft.com/office/drawing/2014/main" id="{0A66E180-EECD-F9ED-F670-3BD5C5C8CBF9}"/>
              </a:ext>
            </a:extLst>
          </p:cNvPr>
          <p:cNvCxnSpPr>
            <a:cxnSpLocks/>
            <a:stCxn id="58" idx="3"/>
            <a:endCxn id="63" idx="2"/>
          </p:cNvCxnSpPr>
          <p:nvPr/>
        </p:nvCxnSpPr>
        <p:spPr>
          <a:xfrm>
            <a:off x="9633807" y="1860444"/>
            <a:ext cx="52003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3" name="Oval 112">
            <a:extLst>
              <a:ext uri="{FF2B5EF4-FFF2-40B4-BE49-F238E27FC236}">
                <a16:creationId xmlns:a16="http://schemas.microsoft.com/office/drawing/2014/main" id="{87D65611-AD3F-C367-389D-CFF691C82E8F}"/>
              </a:ext>
            </a:extLst>
          </p:cNvPr>
          <p:cNvSpPr/>
          <p:nvPr/>
        </p:nvSpPr>
        <p:spPr>
          <a:xfrm>
            <a:off x="8240811" y="2463658"/>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15" name="Straight Arrow Connector 114">
            <a:extLst>
              <a:ext uri="{FF2B5EF4-FFF2-40B4-BE49-F238E27FC236}">
                <a16:creationId xmlns:a16="http://schemas.microsoft.com/office/drawing/2014/main" id="{F98DB517-AF4F-4C4E-B3F4-6C591E71CA5E}"/>
              </a:ext>
            </a:extLst>
          </p:cNvPr>
          <p:cNvCxnSpPr>
            <a:stCxn id="67" idx="1"/>
            <a:endCxn id="113" idx="6"/>
          </p:cNvCxnSpPr>
          <p:nvPr/>
        </p:nvCxnSpPr>
        <p:spPr>
          <a:xfrm flipH="1">
            <a:off x="8538618" y="2612561"/>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3D92330E-811F-6BB4-7617-69A39F0E8E7F}"/>
              </a:ext>
            </a:extLst>
          </p:cNvPr>
          <p:cNvCxnSpPr>
            <a:cxnSpLocks/>
            <a:stCxn id="113" idx="2"/>
            <a:endCxn id="100" idx="3"/>
          </p:cNvCxnSpPr>
          <p:nvPr/>
        </p:nvCxnSpPr>
        <p:spPr>
          <a:xfrm flipH="1" flipV="1">
            <a:off x="8040434" y="2612561"/>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C8144167-C235-8AE9-875C-368D73FD3BA4}"/>
              </a:ext>
            </a:extLst>
          </p:cNvPr>
          <p:cNvCxnSpPr>
            <a:cxnSpLocks/>
            <a:stCxn id="78" idx="4"/>
            <a:endCxn id="145" idx="0"/>
          </p:cNvCxnSpPr>
          <p:nvPr/>
        </p:nvCxnSpPr>
        <p:spPr>
          <a:xfrm flipH="1">
            <a:off x="6797900" y="2009348"/>
            <a:ext cx="3482" cy="449662"/>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7971F5B-A441-B6D8-2CA6-996CB48544B1}"/>
              </a:ext>
            </a:extLst>
          </p:cNvPr>
          <p:cNvCxnSpPr>
            <a:cxnSpLocks/>
            <a:stCxn id="100" idx="1"/>
            <a:endCxn id="145" idx="6"/>
          </p:cNvCxnSpPr>
          <p:nvPr/>
        </p:nvCxnSpPr>
        <p:spPr>
          <a:xfrm flipH="1" flipV="1">
            <a:off x="6946803" y="2607914"/>
            <a:ext cx="194655" cy="4647"/>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5BC5E966-8166-3D03-2D6D-67AA290C1A2B}"/>
              </a:ext>
            </a:extLst>
          </p:cNvPr>
          <p:cNvCxnSpPr>
            <a:cxnSpLocks/>
          </p:cNvCxnSpPr>
          <p:nvPr/>
        </p:nvCxnSpPr>
        <p:spPr>
          <a:xfrm>
            <a:off x="9893826" y="1860444"/>
            <a:ext cx="0" cy="75211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607B9DEE-1439-43F8-9D2F-85184C2907C5}"/>
              </a:ext>
            </a:extLst>
          </p:cNvPr>
          <p:cNvCxnSpPr>
            <a:stCxn id="67" idx="3"/>
          </p:cNvCxnSpPr>
          <p:nvPr/>
        </p:nvCxnSpPr>
        <p:spPr>
          <a:xfrm>
            <a:off x="9633807" y="2612561"/>
            <a:ext cx="260019" cy="0"/>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33" name="Oval 132">
            <a:extLst>
              <a:ext uri="{FF2B5EF4-FFF2-40B4-BE49-F238E27FC236}">
                <a16:creationId xmlns:a16="http://schemas.microsoft.com/office/drawing/2014/main" id="{7D7AC1B2-A02F-91A3-9243-A3300EA87AFE}"/>
              </a:ext>
            </a:extLst>
          </p:cNvPr>
          <p:cNvSpPr/>
          <p:nvPr/>
        </p:nvSpPr>
        <p:spPr>
          <a:xfrm>
            <a:off x="8323301" y="138223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4" name="Oval 133">
            <a:extLst>
              <a:ext uri="{FF2B5EF4-FFF2-40B4-BE49-F238E27FC236}">
                <a16:creationId xmlns:a16="http://schemas.microsoft.com/office/drawing/2014/main" id="{E09CCCCE-40D0-AD17-9461-12175B06AE4D}"/>
              </a:ext>
            </a:extLst>
          </p:cNvPr>
          <p:cNvSpPr/>
          <p:nvPr/>
        </p:nvSpPr>
        <p:spPr>
          <a:xfrm>
            <a:off x="8323301"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6" name="TextBox 135">
            <a:extLst>
              <a:ext uri="{FF2B5EF4-FFF2-40B4-BE49-F238E27FC236}">
                <a16:creationId xmlns:a16="http://schemas.microsoft.com/office/drawing/2014/main" id="{8E319789-7828-287F-44A7-781045B29674}"/>
              </a:ext>
            </a:extLst>
          </p:cNvPr>
          <p:cNvSpPr txBox="1"/>
          <p:nvPr/>
        </p:nvSpPr>
        <p:spPr>
          <a:xfrm>
            <a:off x="6797899" y="1868023"/>
            <a:ext cx="288862" cy="461665"/>
          </a:xfrm>
          <a:prstGeom prst="rect">
            <a:avLst/>
          </a:prstGeom>
          <a:noFill/>
        </p:spPr>
        <p:txBody>
          <a:bodyPr wrap="none" rtlCol="0">
            <a:spAutoFit/>
          </a:bodyPr>
          <a:lstStyle/>
          <a:p>
            <a:r>
              <a:rPr lang="en-US" sz="2400" dirty="0"/>
              <a:t>-</a:t>
            </a:r>
          </a:p>
        </p:txBody>
      </p:sp>
      <p:cxnSp>
        <p:nvCxnSpPr>
          <p:cNvPr id="138" name="Straight Arrow Connector 137">
            <a:extLst>
              <a:ext uri="{FF2B5EF4-FFF2-40B4-BE49-F238E27FC236}">
                <a16:creationId xmlns:a16="http://schemas.microsoft.com/office/drawing/2014/main" id="{8C419B51-AE0D-76B3-B70D-85C8C756B2B4}"/>
              </a:ext>
            </a:extLst>
          </p:cNvPr>
          <p:cNvCxnSpPr>
            <a:stCxn id="133" idx="4"/>
            <a:endCxn id="88" idx="0"/>
          </p:cNvCxnSpPr>
          <p:nvPr/>
        </p:nvCxnSpPr>
        <p:spPr>
          <a:xfrm>
            <a:off x="8389714" y="1515060"/>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5A82BE48-D2BD-2D9A-1812-9CBADD01FF84}"/>
              </a:ext>
            </a:extLst>
          </p:cNvPr>
          <p:cNvCxnSpPr>
            <a:stCxn id="134" idx="0"/>
            <a:endCxn id="113" idx="4"/>
          </p:cNvCxnSpPr>
          <p:nvPr/>
        </p:nvCxnSpPr>
        <p:spPr>
          <a:xfrm flipV="1">
            <a:off x="8389714"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41" name="TextBox 140">
                <a:extLst>
                  <a:ext uri="{FF2B5EF4-FFF2-40B4-BE49-F238E27FC236}">
                    <a16:creationId xmlns:a16="http://schemas.microsoft.com/office/drawing/2014/main" id="{A492E464-54E7-AACC-A80B-32A256360361}"/>
                  </a:ext>
                </a:extLst>
              </p:cNvPr>
              <p:cNvSpPr txBox="1"/>
              <p:nvPr/>
            </p:nvSpPr>
            <p:spPr>
              <a:xfrm>
                <a:off x="8107457" y="1046058"/>
                <a:ext cx="579646"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p:sp>
            <p:nvSpPr>
              <p:cNvPr id="141" name="TextBox 140">
                <a:extLst>
                  <a:ext uri="{FF2B5EF4-FFF2-40B4-BE49-F238E27FC236}">
                    <a16:creationId xmlns:a16="http://schemas.microsoft.com/office/drawing/2014/main" id="{A492E464-54E7-AACC-A80B-32A256360361}"/>
                  </a:ext>
                </a:extLst>
              </p:cNvPr>
              <p:cNvSpPr txBox="1">
                <a:spLocks noRot="1" noChangeAspect="1" noMove="1" noResize="1" noEditPoints="1" noAdjustHandles="1" noChangeArrowheads="1" noChangeShapeType="1" noTextEdit="1"/>
              </p:cNvSpPr>
              <p:nvPr/>
            </p:nvSpPr>
            <p:spPr>
              <a:xfrm>
                <a:off x="8107457" y="1046058"/>
                <a:ext cx="579646" cy="276999"/>
              </a:xfrm>
              <a:prstGeom prst="rect">
                <a:avLst/>
              </a:prstGeom>
              <a:blipFill>
                <a:blip r:embed="rId9"/>
                <a:stretch>
                  <a:fillRect l="-10526" t="-4444" r="-14737" b="-3555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2" name="TextBox 141">
                <a:extLst>
                  <a:ext uri="{FF2B5EF4-FFF2-40B4-BE49-F238E27FC236}">
                    <a16:creationId xmlns:a16="http://schemas.microsoft.com/office/drawing/2014/main" id="{A254AD96-64FE-2365-C398-0B541C78B4CD}"/>
                  </a:ext>
                </a:extLst>
              </p:cNvPr>
              <p:cNvSpPr txBox="1"/>
              <p:nvPr/>
            </p:nvSpPr>
            <p:spPr>
              <a:xfrm>
                <a:off x="8134804" y="3100846"/>
                <a:ext cx="524952"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p:sp>
            <p:nvSpPr>
              <p:cNvPr id="142" name="TextBox 141">
                <a:extLst>
                  <a:ext uri="{FF2B5EF4-FFF2-40B4-BE49-F238E27FC236}">
                    <a16:creationId xmlns:a16="http://schemas.microsoft.com/office/drawing/2014/main" id="{A254AD96-64FE-2365-C398-0B541C78B4CD}"/>
                  </a:ext>
                </a:extLst>
              </p:cNvPr>
              <p:cNvSpPr txBox="1">
                <a:spLocks noRot="1" noChangeAspect="1" noMove="1" noResize="1" noEditPoints="1" noAdjustHandles="1" noChangeArrowheads="1" noChangeShapeType="1" noTextEdit="1"/>
              </p:cNvSpPr>
              <p:nvPr/>
            </p:nvSpPr>
            <p:spPr>
              <a:xfrm>
                <a:off x="8134804" y="3100846"/>
                <a:ext cx="524952" cy="276999"/>
              </a:xfrm>
              <a:prstGeom prst="rect">
                <a:avLst/>
              </a:prstGeom>
              <a:blipFill>
                <a:blip r:embed="rId10"/>
                <a:stretch>
                  <a:fillRect l="-10345" t="-4444" r="-14943" b="-35556"/>
                </a:stretch>
              </a:blipFill>
            </p:spPr>
            <p:txBody>
              <a:bodyPr/>
              <a:lstStyle/>
              <a:p>
                <a:r>
                  <a:rPr lang="en-US">
                    <a:noFill/>
                  </a:rPr>
                  <a:t> </a:t>
                </a:r>
              </a:p>
            </p:txBody>
          </p:sp>
        </mc:Fallback>
      </mc:AlternateContent>
      <p:sp>
        <p:nvSpPr>
          <p:cNvPr id="145" name="Oval 144">
            <a:extLst>
              <a:ext uri="{FF2B5EF4-FFF2-40B4-BE49-F238E27FC236}">
                <a16:creationId xmlns:a16="http://schemas.microsoft.com/office/drawing/2014/main" id="{66D705F8-5FFF-34FC-C3F5-A28AFED0A422}"/>
              </a:ext>
            </a:extLst>
          </p:cNvPr>
          <p:cNvSpPr/>
          <p:nvPr/>
        </p:nvSpPr>
        <p:spPr>
          <a:xfrm>
            <a:off x="6648996" y="2459010"/>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48" name="Oval 147">
            <a:extLst>
              <a:ext uri="{FF2B5EF4-FFF2-40B4-BE49-F238E27FC236}">
                <a16:creationId xmlns:a16="http://schemas.microsoft.com/office/drawing/2014/main" id="{B075468F-553D-9C11-73A4-8AE389AE3F17}"/>
              </a:ext>
            </a:extLst>
          </p:cNvPr>
          <p:cNvSpPr/>
          <p:nvPr/>
        </p:nvSpPr>
        <p:spPr>
          <a:xfrm>
            <a:off x="6725765"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9" name="Straight Arrow Connector 148">
            <a:extLst>
              <a:ext uri="{FF2B5EF4-FFF2-40B4-BE49-F238E27FC236}">
                <a16:creationId xmlns:a16="http://schemas.microsoft.com/office/drawing/2014/main" id="{3C5A5EB7-F930-F1FD-77EC-5DC181C521CA}"/>
              </a:ext>
            </a:extLst>
          </p:cNvPr>
          <p:cNvCxnSpPr>
            <a:stCxn id="148" idx="0"/>
          </p:cNvCxnSpPr>
          <p:nvPr/>
        </p:nvCxnSpPr>
        <p:spPr>
          <a:xfrm flipV="1">
            <a:off x="6792178"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50" name="TextBox 149">
                <a:extLst>
                  <a:ext uri="{FF2B5EF4-FFF2-40B4-BE49-F238E27FC236}">
                    <a16:creationId xmlns:a16="http://schemas.microsoft.com/office/drawing/2014/main" id="{1AFFF70A-4AA4-CD70-CB01-4A46FABECDDC}"/>
                  </a:ext>
                </a:extLst>
              </p:cNvPr>
              <p:cNvSpPr txBox="1"/>
              <p:nvPr/>
            </p:nvSpPr>
            <p:spPr>
              <a:xfrm>
                <a:off x="6532207" y="3094741"/>
                <a:ext cx="518027"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p:sp>
            <p:nvSpPr>
              <p:cNvPr id="150" name="TextBox 149">
                <a:extLst>
                  <a:ext uri="{FF2B5EF4-FFF2-40B4-BE49-F238E27FC236}">
                    <a16:creationId xmlns:a16="http://schemas.microsoft.com/office/drawing/2014/main" id="{1AFFF70A-4AA4-CD70-CB01-4A46FABECDDC}"/>
                  </a:ext>
                </a:extLst>
              </p:cNvPr>
              <p:cNvSpPr txBox="1">
                <a:spLocks noRot="1" noChangeAspect="1" noMove="1" noResize="1" noEditPoints="1" noAdjustHandles="1" noChangeArrowheads="1" noChangeShapeType="1" noTextEdit="1"/>
              </p:cNvSpPr>
              <p:nvPr/>
            </p:nvSpPr>
            <p:spPr>
              <a:xfrm>
                <a:off x="6532207" y="3094741"/>
                <a:ext cx="518027" cy="276999"/>
              </a:xfrm>
              <a:prstGeom prst="rect">
                <a:avLst/>
              </a:prstGeom>
              <a:blipFill>
                <a:blip r:embed="rId11"/>
                <a:stretch>
                  <a:fillRect l="-11765" t="-4444" r="-16471" b="-3555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1" name="Rectangle 150">
                <a:extLst>
                  <a:ext uri="{FF2B5EF4-FFF2-40B4-BE49-F238E27FC236}">
                    <a16:creationId xmlns:a16="http://schemas.microsoft.com/office/drawing/2014/main" id="{DDB1BDA9-B554-B37E-2B4E-0C18CDC3EA6F}"/>
                  </a:ext>
                </a:extLst>
              </p:cNvPr>
              <p:cNvSpPr>
                <a:spLocks noChangeAspect="1"/>
              </p:cNvSpPr>
              <p:nvPr/>
            </p:nvSpPr>
            <p:spPr>
              <a:xfrm>
                <a:off x="6623164" y="440235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p:sp>
            <p:nvSpPr>
              <p:cNvPr id="151" name="Rectangle 150">
                <a:extLst>
                  <a:ext uri="{FF2B5EF4-FFF2-40B4-BE49-F238E27FC236}">
                    <a16:creationId xmlns:a16="http://schemas.microsoft.com/office/drawing/2014/main" id="{DDB1BDA9-B554-B37E-2B4E-0C18CDC3EA6F}"/>
                  </a:ext>
                </a:extLst>
              </p:cNvPr>
              <p:cNvSpPr>
                <a:spLocks noRot="1" noChangeAspect="1" noMove="1" noResize="1" noEditPoints="1" noAdjustHandles="1" noChangeArrowheads="1" noChangeShapeType="1" noTextEdit="1"/>
              </p:cNvSpPr>
              <p:nvPr/>
            </p:nvSpPr>
            <p:spPr>
              <a:xfrm>
                <a:off x="6623164" y="4402359"/>
                <a:ext cx="1348464" cy="822960"/>
              </a:xfrm>
              <a:prstGeom prst="rect">
                <a:avLst/>
              </a:prstGeom>
              <a:blipFill>
                <a:blip r:embed="rId1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2" name="Rectangle 151">
                <a:extLst>
                  <a:ext uri="{FF2B5EF4-FFF2-40B4-BE49-F238E27FC236}">
                    <a16:creationId xmlns:a16="http://schemas.microsoft.com/office/drawing/2014/main" id="{174AFEAF-F7AD-A58C-74D4-C8EE98BFBE4F}"/>
                  </a:ext>
                </a:extLst>
              </p:cNvPr>
              <p:cNvSpPr>
                <a:spLocks noChangeAspect="1"/>
              </p:cNvSpPr>
              <p:nvPr/>
            </p:nvSpPr>
            <p:spPr>
              <a:xfrm>
                <a:off x="8720085" y="439846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𝐺</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p:sp>
            <p:nvSpPr>
              <p:cNvPr id="152" name="Rectangle 151">
                <a:extLst>
                  <a:ext uri="{FF2B5EF4-FFF2-40B4-BE49-F238E27FC236}">
                    <a16:creationId xmlns:a16="http://schemas.microsoft.com/office/drawing/2014/main" id="{174AFEAF-F7AD-A58C-74D4-C8EE98BFBE4F}"/>
                  </a:ext>
                </a:extLst>
              </p:cNvPr>
              <p:cNvSpPr>
                <a:spLocks noRot="1" noChangeAspect="1" noMove="1" noResize="1" noEditPoints="1" noAdjustHandles="1" noChangeArrowheads="1" noChangeShapeType="1" noTextEdit="1"/>
              </p:cNvSpPr>
              <p:nvPr/>
            </p:nvSpPr>
            <p:spPr>
              <a:xfrm>
                <a:off x="8720085" y="4398469"/>
                <a:ext cx="1348464" cy="822960"/>
              </a:xfrm>
              <a:prstGeom prst="rect">
                <a:avLst/>
              </a:prstGeom>
              <a:blipFill>
                <a:blip r:embed="rId13"/>
                <a:stretch>
                  <a:fillRect/>
                </a:stretch>
              </a:blipFill>
              <a:ln>
                <a:solidFill>
                  <a:schemeClr val="tx1"/>
                </a:solidFill>
              </a:ln>
            </p:spPr>
            <p:txBody>
              <a:bodyPr/>
              <a:lstStyle/>
              <a:p>
                <a:r>
                  <a:rPr lang="en-US">
                    <a:noFill/>
                  </a:rPr>
                  <a:t> </a:t>
                </a:r>
              </a:p>
            </p:txBody>
          </p:sp>
        </mc:Fallback>
      </mc:AlternateContent>
      <p:sp>
        <p:nvSpPr>
          <p:cNvPr id="153" name="Oval 152">
            <a:extLst>
              <a:ext uri="{FF2B5EF4-FFF2-40B4-BE49-F238E27FC236}">
                <a16:creationId xmlns:a16="http://schemas.microsoft.com/office/drawing/2014/main" id="{864C6BA1-181B-567E-8E29-7E622455E0A1}"/>
              </a:ext>
            </a:extLst>
          </p:cNvPr>
          <p:cNvSpPr/>
          <p:nvPr/>
        </p:nvSpPr>
        <p:spPr>
          <a:xfrm>
            <a:off x="10641729"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4" name="Oval 153">
            <a:extLst>
              <a:ext uri="{FF2B5EF4-FFF2-40B4-BE49-F238E27FC236}">
                <a16:creationId xmlns:a16="http://schemas.microsoft.com/office/drawing/2014/main" id="{0CE76D0D-C02B-DF33-6B68-AAEBDF9A3819}"/>
              </a:ext>
            </a:extLst>
          </p:cNvPr>
          <p:cNvSpPr/>
          <p:nvPr/>
        </p:nvSpPr>
        <p:spPr>
          <a:xfrm>
            <a:off x="5748720"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156" name="TextBox 155">
                <a:extLst>
                  <a:ext uri="{FF2B5EF4-FFF2-40B4-BE49-F238E27FC236}">
                    <a16:creationId xmlns:a16="http://schemas.microsoft.com/office/drawing/2014/main" id="{74F178E9-8040-E112-AE72-B2C5F2EE7CE1}"/>
                  </a:ext>
                </a:extLst>
              </p:cNvPr>
              <p:cNvSpPr txBox="1"/>
              <p:nvPr/>
            </p:nvSpPr>
            <p:spPr>
              <a:xfrm>
                <a:off x="5565609" y="4389881"/>
                <a:ext cx="505203"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p:sp>
            <p:nvSpPr>
              <p:cNvPr id="156" name="TextBox 155">
                <a:extLst>
                  <a:ext uri="{FF2B5EF4-FFF2-40B4-BE49-F238E27FC236}">
                    <a16:creationId xmlns:a16="http://schemas.microsoft.com/office/drawing/2014/main" id="{74F178E9-8040-E112-AE72-B2C5F2EE7CE1}"/>
                  </a:ext>
                </a:extLst>
              </p:cNvPr>
              <p:cNvSpPr txBox="1">
                <a:spLocks noRot="1" noChangeAspect="1" noMove="1" noResize="1" noEditPoints="1" noAdjustHandles="1" noChangeArrowheads="1" noChangeShapeType="1" noTextEdit="1"/>
              </p:cNvSpPr>
              <p:nvPr/>
            </p:nvSpPr>
            <p:spPr>
              <a:xfrm>
                <a:off x="5565609" y="4389881"/>
                <a:ext cx="505203" cy="276999"/>
              </a:xfrm>
              <a:prstGeom prst="rect">
                <a:avLst/>
              </a:prstGeom>
              <a:blipFill>
                <a:blip r:embed="rId14"/>
                <a:stretch>
                  <a:fillRect l="-12048" t="-2174" r="-16867" b="-3260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7" name="TextBox 156">
                <a:extLst>
                  <a:ext uri="{FF2B5EF4-FFF2-40B4-BE49-F238E27FC236}">
                    <a16:creationId xmlns:a16="http://schemas.microsoft.com/office/drawing/2014/main" id="{02D1097C-56C0-89F7-9E98-69165212F0C7}"/>
                  </a:ext>
                </a:extLst>
              </p:cNvPr>
              <p:cNvSpPr txBox="1"/>
              <p:nvPr/>
            </p:nvSpPr>
            <p:spPr>
              <a:xfrm>
                <a:off x="10458618" y="4389881"/>
                <a:ext cx="496098"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p:sp>
            <p:nvSpPr>
              <p:cNvPr id="157" name="TextBox 156">
                <a:extLst>
                  <a:ext uri="{FF2B5EF4-FFF2-40B4-BE49-F238E27FC236}">
                    <a16:creationId xmlns:a16="http://schemas.microsoft.com/office/drawing/2014/main" id="{02D1097C-56C0-89F7-9E98-69165212F0C7}"/>
                  </a:ext>
                </a:extLst>
              </p:cNvPr>
              <p:cNvSpPr txBox="1">
                <a:spLocks noRot="1" noChangeAspect="1" noMove="1" noResize="1" noEditPoints="1" noAdjustHandles="1" noChangeArrowheads="1" noChangeShapeType="1" noTextEdit="1"/>
              </p:cNvSpPr>
              <p:nvPr/>
            </p:nvSpPr>
            <p:spPr>
              <a:xfrm>
                <a:off x="10458618" y="4389881"/>
                <a:ext cx="496098" cy="276999"/>
              </a:xfrm>
              <a:prstGeom prst="rect">
                <a:avLst/>
              </a:prstGeom>
              <a:blipFill>
                <a:blip r:embed="rId15"/>
                <a:stretch>
                  <a:fillRect l="-12346" t="-2174" r="-18519" b="-32609"/>
                </a:stretch>
              </a:blipFill>
            </p:spPr>
            <p:txBody>
              <a:bodyPr/>
              <a:lstStyle/>
              <a:p>
                <a:r>
                  <a:rPr lang="en-US">
                    <a:noFill/>
                  </a:rPr>
                  <a:t> </a:t>
                </a:r>
              </a:p>
            </p:txBody>
          </p:sp>
        </mc:Fallback>
      </mc:AlternateContent>
      <p:sp>
        <p:nvSpPr>
          <p:cNvPr id="158" name="Rectangle: Rounded Corners 157">
            <a:extLst>
              <a:ext uri="{FF2B5EF4-FFF2-40B4-BE49-F238E27FC236}">
                <a16:creationId xmlns:a16="http://schemas.microsoft.com/office/drawing/2014/main" id="{0CCBA996-EF7E-D93A-8E80-BAABE781E31B}"/>
              </a:ext>
            </a:extLst>
          </p:cNvPr>
          <p:cNvSpPr/>
          <p:nvPr/>
        </p:nvSpPr>
        <p:spPr>
          <a:xfrm>
            <a:off x="5410143" y="364047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TextBox 158">
            <a:extLst>
              <a:ext uri="{FF2B5EF4-FFF2-40B4-BE49-F238E27FC236}">
                <a16:creationId xmlns:a16="http://schemas.microsoft.com/office/drawing/2014/main" id="{A9B0ABC3-7A97-EAF3-AB80-ABD681618280}"/>
              </a:ext>
            </a:extLst>
          </p:cNvPr>
          <p:cNvSpPr txBox="1"/>
          <p:nvPr/>
        </p:nvSpPr>
        <p:spPr>
          <a:xfrm>
            <a:off x="8939098" y="3632897"/>
            <a:ext cx="2297360" cy="338554"/>
          </a:xfrm>
          <a:prstGeom prst="rect">
            <a:avLst/>
          </a:prstGeom>
          <a:noFill/>
        </p:spPr>
        <p:txBody>
          <a:bodyPr wrap="none" rtlCol="0">
            <a:spAutoFit/>
          </a:bodyPr>
          <a:lstStyle/>
          <a:p>
            <a:pPr algn="r"/>
            <a:r>
              <a:rPr lang="en-US" sz="1600" b="1" dirty="0"/>
              <a:t>Simplified UFB System</a:t>
            </a:r>
          </a:p>
        </p:txBody>
      </p:sp>
      <p:sp>
        <p:nvSpPr>
          <p:cNvPr id="160" name="Oval 159">
            <a:extLst>
              <a:ext uri="{FF2B5EF4-FFF2-40B4-BE49-F238E27FC236}">
                <a16:creationId xmlns:a16="http://schemas.microsoft.com/office/drawing/2014/main" id="{5205F794-02AA-0021-8E84-F1FAAA9F13ED}"/>
              </a:ext>
            </a:extLst>
          </p:cNvPr>
          <p:cNvSpPr/>
          <p:nvPr/>
        </p:nvSpPr>
        <p:spPr>
          <a:xfrm>
            <a:off x="6122087"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61" name="Oval 160">
            <a:extLst>
              <a:ext uri="{FF2B5EF4-FFF2-40B4-BE49-F238E27FC236}">
                <a16:creationId xmlns:a16="http://schemas.microsoft.com/office/drawing/2014/main" id="{6AF6E5A5-5790-0B49-F12B-D5093343AD7B}"/>
              </a:ext>
            </a:extLst>
          </p:cNvPr>
          <p:cNvSpPr/>
          <p:nvPr/>
        </p:nvSpPr>
        <p:spPr>
          <a:xfrm>
            <a:off x="8226065"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63" name="Straight Arrow Connector 162">
            <a:extLst>
              <a:ext uri="{FF2B5EF4-FFF2-40B4-BE49-F238E27FC236}">
                <a16:creationId xmlns:a16="http://schemas.microsoft.com/office/drawing/2014/main" id="{66FB5A8C-7572-6288-54F5-D9F501C676D8}"/>
              </a:ext>
            </a:extLst>
          </p:cNvPr>
          <p:cNvCxnSpPr>
            <a:stCxn id="154" idx="6"/>
            <a:endCxn id="160" idx="2"/>
          </p:cNvCxnSpPr>
          <p:nvPr/>
        </p:nvCxnSpPr>
        <p:spPr>
          <a:xfrm>
            <a:off x="5881546" y="4806058"/>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Straight Arrow Connector 163">
            <a:extLst>
              <a:ext uri="{FF2B5EF4-FFF2-40B4-BE49-F238E27FC236}">
                <a16:creationId xmlns:a16="http://schemas.microsoft.com/office/drawing/2014/main" id="{4F6BA6F0-284A-51EC-F3AB-808D53F137ED}"/>
              </a:ext>
            </a:extLst>
          </p:cNvPr>
          <p:cNvCxnSpPr>
            <a:stCxn id="160" idx="6"/>
            <a:endCxn id="151" idx="1"/>
          </p:cNvCxnSpPr>
          <p:nvPr/>
        </p:nvCxnSpPr>
        <p:spPr>
          <a:xfrm>
            <a:off x="6419894" y="4806059"/>
            <a:ext cx="203270"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49822AD9-DABF-710D-BD72-693659FE891E}"/>
              </a:ext>
            </a:extLst>
          </p:cNvPr>
          <p:cNvCxnSpPr>
            <a:stCxn id="151" idx="3"/>
            <a:endCxn id="161" idx="2"/>
          </p:cNvCxnSpPr>
          <p:nvPr/>
        </p:nvCxnSpPr>
        <p:spPr>
          <a:xfrm flipV="1">
            <a:off x="7971628" y="4806059"/>
            <a:ext cx="254437"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4AE083C0-09F7-799D-D6FF-7CFE8C9743D0}"/>
              </a:ext>
            </a:extLst>
          </p:cNvPr>
          <p:cNvCxnSpPr>
            <a:cxnSpLocks/>
            <a:stCxn id="161" idx="6"/>
            <a:endCxn id="152" idx="1"/>
          </p:cNvCxnSpPr>
          <p:nvPr/>
        </p:nvCxnSpPr>
        <p:spPr>
          <a:xfrm>
            <a:off x="8523872" y="4806059"/>
            <a:ext cx="196213" cy="38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7" name="Straight Arrow Connector 166">
            <a:extLst>
              <a:ext uri="{FF2B5EF4-FFF2-40B4-BE49-F238E27FC236}">
                <a16:creationId xmlns:a16="http://schemas.microsoft.com/office/drawing/2014/main" id="{602A6753-4534-E0B6-C421-89A752840221}"/>
              </a:ext>
            </a:extLst>
          </p:cNvPr>
          <p:cNvCxnSpPr>
            <a:cxnSpLocks/>
            <a:stCxn id="152" idx="3"/>
            <a:endCxn id="153" idx="2"/>
          </p:cNvCxnSpPr>
          <p:nvPr/>
        </p:nvCxnSpPr>
        <p:spPr>
          <a:xfrm flipV="1">
            <a:off x="10068549" y="4806058"/>
            <a:ext cx="573180" cy="389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8" name="Oval 167">
            <a:extLst>
              <a:ext uri="{FF2B5EF4-FFF2-40B4-BE49-F238E27FC236}">
                <a16:creationId xmlns:a16="http://schemas.microsoft.com/office/drawing/2014/main" id="{D08B16FD-E3BE-0C76-073B-0B6A98764468}"/>
              </a:ext>
            </a:extLst>
          </p:cNvPr>
          <p:cNvSpPr/>
          <p:nvPr/>
        </p:nvSpPr>
        <p:spPr>
          <a:xfrm>
            <a:off x="10150196" y="540462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70" name="Straight Arrow Connector 169">
            <a:extLst>
              <a:ext uri="{FF2B5EF4-FFF2-40B4-BE49-F238E27FC236}">
                <a16:creationId xmlns:a16="http://schemas.microsoft.com/office/drawing/2014/main" id="{77AF8C67-CF82-1246-27B1-B2654386C486}"/>
              </a:ext>
            </a:extLst>
          </p:cNvPr>
          <p:cNvCxnSpPr>
            <a:cxnSpLocks/>
            <a:stCxn id="168" idx="2"/>
          </p:cNvCxnSpPr>
          <p:nvPr/>
        </p:nvCxnSpPr>
        <p:spPr>
          <a:xfrm flipH="1">
            <a:off x="6279111" y="5553528"/>
            <a:ext cx="3871085" cy="0"/>
          </a:xfrm>
          <a:prstGeom prst="straightConnector1">
            <a:avLst/>
          </a:prstGeom>
          <a:ln>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1" name="Straight Connector 170">
            <a:extLst>
              <a:ext uri="{FF2B5EF4-FFF2-40B4-BE49-F238E27FC236}">
                <a16:creationId xmlns:a16="http://schemas.microsoft.com/office/drawing/2014/main" id="{AB28DCB9-294C-F34B-254B-3F601E38C58C}"/>
              </a:ext>
            </a:extLst>
          </p:cNvPr>
          <p:cNvCxnSpPr>
            <a:cxnSpLocks/>
            <a:stCxn id="160" idx="4"/>
          </p:cNvCxnSpPr>
          <p:nvPr/>
        </p:nvCxnSpPr>
        <p:spPr>
          <a:xfrm>
            <a:off x="6270991" y="4954962"/>
            <a:ext cx="0" cy="598565"/>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3" name="Straight Connector 172">
            <a:extLst>
              <a:ext uri="{FF2B5EF4-FFF2-40B4-BE49-F238E27FC236}">
                <a16:creationId xmlns:a16="http://schemas.microsoft.com/office/drawing/2014/main" id="{02E77825-1B35-891F-4F8B-F3791BB38ADC}"/>
              </a:ext>
            </a:extLst>
          </p:cNvPr>
          <p:cNvCxnSpPr>
            <a:cxnSpLocks/>
            <a:endCxn id="168" idx="0"/>
          </p:cNvCxnSpPr>
          <p:nvPr/>
        </p:nvCxnSpPr>
        <p:spPr>
          <a:xfrm flipH="1">
            <a:off x="10299100" y="4801410"/>
            <a:ext cx="4216" cy="603214"/>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75" name="Oval 174">
            <a:extLst>
              <a:ext uri="{FF2B5EF4-FFF2-40B4-BE49-F238E27FC236}">
                <a16:creationId xmlns:a16="http://schemas.microsoft.com/office/drawing/2014/main" id="{68E8D862-FEBA-8A44-8A6E-89F010E306E1}"/>
              </a:ext>
            </a:extLst>
          </p:cNvPr>
          <p:cNvSpPr/>
          <p:nvPr/>
        </p:nvSpPr>
        <p:spPr>
          <a:xfrm>
            <a:off x="8308555" y="4327848"/>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a:extLst>
              <a:ext uri="{FF2B5EF4-FFF2-40B4-BE49-F238E27FC236}">
                <a16:creationId xmlns:a16="http://schemas.microsoft.com/office/drawing/2014/main" id="{A8E1D2C4-9995-17A0-A0E1-AD43E97DA5FE}"/>
              </a:ext>
            </a:extLst>
          </p:cNvPr>
          <p:cNvSpPr/>
          <p:nvPr/>
        </p:nvSpPr>
        <p:spPr>
          <a:xfrm>
            <a:off x="10232686" y="5888067"/>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7" name="TextBox 176">
            <a:extLst>
              <a:ext uri="{FF2B5EF4-FFF2-40B4-BE49-F238E27FC236}">
                <a16:creationId xmlns:a16="http://schemas.microsoft.com/office/drawing/2014/main" id="{7AD87B55-63C7-179F-0C0A-BA3594160C2D}"/>
              </a:ext>
            </a:extLst>
          </p:cNvPr>
          <p:cNvSpPr txBox="1"/>
          <p:nvPr/>
        </p:nvSpPr>
        <p:spPr>
          <a:xfrm>
            <a:off x="6267508" y="4813637"/>
            <a:ext cx="288862" cy="461665"/>
          </a:xfrm>
          <a:prstGeom prst="rect">
            <a:avLst/>
          </a:prstGeom>
          <a:noFill/>
        </p:spPr>
        <p:txBody>
          <a:bodyPr wrap="none" rtlCol="0">
            <a:spAutoFit/>
          </a:bodyPr>
          <a:lstStyle/>
          <a:p>
            <a:r>
              <a:rPr lang="en-US" sz="2400" dirty="0"/>
              <a:t>-</a:t>
            </a:r>
          </a:p>
        </p:txBody>
      </p:sp>
      <p:cxnSp>
        <p:nvCxnSpPr>
          <p:cNvPr id="178" name="Straight Arrow Connector 177">
            <a:extLst>
              <a:ext uri="{FF2B5EF4-FFF2-40B4-BE49-F238E27FC236}">
                <a16:creationId xmlns:a16="http://schemas.microsoft.com/office/drawing/2014/main" id="{C3E5E7D1-B38C-3A67-5FB7-C6A4048C53EA}"/>
              </a:ext>
            </a:extLst>
          </p:cNvPr>
          <p:cNvCxnSpPr>
            <a:stCxn id="175" idx="4"/>
            <a:endCxn id="161" idx="0"/>
          </p:cNvCxnSpPr>
          <p:nvPr/>
        </p:nvCxnSpPr>
        <p:spPr>
          <a:xfrm>
            <a:off x="8374968" y="4460674"/>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80" name="TextBox 179">
                <a:extLst>
                  <a:ext uri="{FF2B5EF4-FFF2-40B4-BE49-F238E27FC236}">
                    <a16:creationId xmlns:a16="http://schemas.microsoft.com/office/drawing/2014/main" id="{019785C1-E7EE-8FE4-7D7D-A7B814C36BDE}"/>
                  </a:ext>
                </a:extLst>
              </p:cNvPr>
              <p:cNvSpPr txBox="1"/>
              <p:nvPr/>
            </p:nvSpPr>
            <p:spPr>
              <a:xfrm>
                <a:off x="8092711" y="3991672"/>
                <a:ext cx="579646"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p:sp>
            <p:nvSpPr>
              <p:cNvPr id="180" name="TextBox 179">
                <a:extLst>
                  <a:ext uri="{FF2B5EF4-FFF2-40B4-BE49-F238E27FC236}">
                    <a16:creationId xmlns:a16="http://schemas.microsoft.com/office/drawing/2014/main" id="{019785C1-E7EE-8FE4-7D7D-A7B814C36BDE}"/>
                  </a:ext>
                </a:extLst>
              </p:cNvPr>
              <p:cNvSpPr txBox="1">
                <a:spLocks noRot="1" noChangeAspect="1" noMove="1" noResize="1" noEditPoints="1" noAdjustHandles="1" noChangeArrowheads="1" noChangeShapeType="1" noTextEdit="1"/>
              </p:cNvSpPr>
              <p:nvPr/>
            </p:nvSpPr>
            <p:spPr>
              <a:xfrm>
                <a:off x="8092711" y="3991672"/>
                <a:ext cx="579646" cy="276999"/>
              </a:xfrm>
              <a:prstGeom prst="rect">
                <a:avLst/>
              </a:prstGeom>
              <a:blipFill>
                <a:blip r:embed="rId16"/>
                <a:stretch>
                  <a:fillRect l="-10526" t="-2222" r="-14737" b="-3555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1" name="TextBox 180">
                <a:extLst>
                  <a:ext uri="{FF2B5EF4-FFF2-40B4-BE49-F238E27FC236}">
                    <a16:creationId xmlns:a16="http://schemas.microsoft.com/office/drawing/2014/main" id="{DD38B8DA-6CBD-5C0E-C8E4-9AC74A6276D9}"/>
                  </a:ext>
                </a:extLst>
              </p:cNvPr>
              <p:cNvSpPr txBox="1"/>
              <p:nvPr/>
            </p:nvSpPr>
            <p:spPr>
              <a:xfrm>
                <a:off x="9000244" y="5822037"/>
                <a:ext cx="1218539" cy="276999"/>
              </a:xfrm>
              <a:prstGeom prst="rect">
                <a:avLst/>
              </a:prstGeom>
              <a:noFill/>
            </p:spPr>
            <p:txBody>
              <a:bodyPr wrap="none" lIns="0" tIns="0" rIns="0" bIns="0" rtlCol="0">
                <a:spAutoFit/>
              </a:bodyPr>
              <a:lstStyle/>
              <a:p>
                <a:pPr/>
                <a14:m>
                  <m:oMathPara xmlns:m="http://schemas.openxmlformats.org/officeDocument/2006/math">
                    <m:oMathParaPr>
                      <m:jc m:val="righ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p:sp>
            <p:nvSpPr>
              <p:cNvPr id="181" name="TextBox 180">
                <a:extLst>
                  <a:ext uri="{FF2B5EF4-FFF2-40B4-BE49-F238E27FC236}">
                    <a16:creationId xmlns:a16="http://schemas.microsoft.com/office/drawing/2014/main" id="{DD38B8DA-6CBD-5C0E-C8E4-9AC74A6276D9}"/>
                  </a:ext>
                </a:extLst>
              </p:cNvPr>
              <p:cNvSpPr txBox="1">
                <a:spLocks noRot="1" noChangeAspect="1" noMove="1" noResize="1" noEditPoints="1" noAdjustHandles="1" noChangeArrowheads="1" noChangeShapeType="1" noTextEdit="1"/>
              </p:cNvSpPr>
              <p:nvPr/>
            </p:nvSpPr>
            <p:spPr>
              <a:xfrm>
                <a:off x="9000244" y="5822037"/>
                <a:ext cx="1218539" cy="276999"/>
              </a:xfrm>
              <a:prstGeom prst="rect">
                <a:avLst/>
              </a:prstGeom>
              <a:blipFill>
                <a:blip r:embed="rId17"/>
                <a:stretch>
                  <a:fillRect l="-2000" t="-2222" r="-9000" b="-35556"/>
                </a:stretch>
              </a:blipFill>
            </p:spPr>
            <p:txBody>
              <a:bodyPr/>
              <a:lstStyle/>
              <a:p>
                <a:r>
                  <a:rPr lang="en-US">
                    <a:noFill/>
                  </a:rPr>
                  <a:t> </a:t>
                </a:r>
              </a:p>
            </p:txBody>
          </p:sp>
        </mc:Fallback>
      </mc:AlternateContent>
      <p:cxnSp>
        <p:nvCxnSpPr>
          <p:cNvPr id="207" name="Straight Arrow Connector 206">
            <a:extLst>
              <a:ext uri="{FF2B5EF4-FFF2-40B4-BE49-F238E27FC236}">
                <a16:creationId xmlns:a16="http://schemas.microsoft.com/office/drawing/2014/main" id="{934E9EEE-B48E-CEFA-19D5-683679E38081}"/>
              </a:ext>
            </a:extLst>
          </p:cNvPr>
          <p:cNvCxnSpPr>
            <a:stCxn id="176" idx="0"/>
            <a:endCxn id="168" idx="4"/>
          </p:cNvCxnSpPr>
          <p:nvPr/>
        </p:nvCxnSpPr>
        <p:spPr>
          <a:xfrm flipV="1">
            <a:off x="10299099" y="5702431"/>
            <a:ext cx="1" cy="1856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2350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62DD9-9933-602E-E1B2-64D8A5FA8DBA}"/>
              </a:ext>
            </a:extLst>
          </p:cNvPr>
          <p:cNvSpPr>
            <a:spLocks noGrp="1"/>
          </p:cNvSpPr>
          <p:nvPr>
            <p:ph type="title"/>
          </p:nvPr>
        </p:nvSpPr>
        <p:spPr/>
        <p:txBody>
          <a:bodyPr/>
          <a:lstStyle/>
          <a:p>
            <a:r>
              <a:rPr lang="en-US" dirty="0"/>
              <a:t>Disturbance Rejection – Full Model</a:t>
            </a:r>
          </a:p>
        </p:txBody>
      </p:sp>
      <p:grpSp>
        <p:nvGrpSpPr>
          <p:cNvPr id="71" name="Group 70">
            <a:extLst>
              <a:ext uri="{FF2B5EF4-FFF2-40B4-BE49-F238E27FC236}">
                <a16:creationId xmlns:a16="http://schemas.microsoft.com/office/drawing/2014/main" id="{F426E0EA-BCBA-9AA1-2862-B7E2859F122C}"/>
              </a:ext>
            </a:extLst>
          </p:cNvPr>
          <p:cNvGrpSpPr/>
          <p:nvPr/>
        </p:nvGrpSpPr>
        <p:grpSpPr>
          <a:xfrm>
            <a:off x="1177437" y="1777719"/>
            <a:ext cx="9837127" cy="3396555"/>
            <a:chOff x="1516673" y="1777719"/>
            <a:chExt cx="9837127" cy="3396555"/>
          </a:xfrm>
        </p:grpSpPr>
        <mc:AlternateContent xmlns:mc="http://schemas.openxmlformats.org/markup-compatibility/2006">
          <mc:Choice xmlns:a14="http://schemas.microsoft.com/office/drawing/2010/main" Requires="a14">
            <p:sp>
              <p:nvSpPr>
                <p:cNvPr id="3" name="Rectangle 2">
                  <a:extLst>
                    <a:ext uri="{FF2B5EF4-FFF2-40B4-BE49-F238E27FC236}">
                      <a16:creationId xmlns:a16="http://schemas.microsoft.com/office/drawing/2014/main" id="{495CEB50-BA68-02D9-32B0-F8726E2580F9}"/>
                    </a:ext>
                  </a:extLst>
                </p:cNvPr>
                <p:cNvSpPr>
                  <a:spLocks noChangeAspect="1"/>
                </p:cNvSpPr>
                <p:nvPr/>
              </p:nvSpPr>
              <p:spPr>
                <a:xfrm>
                  <a:off x="3439041" y="2638268"/>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p:sp>
              <p:nvSpPr>
                <p:cNvPr id="3" name="Rectangle 2">
                  <a:extLst>
                    <a:ext uri="{FF2B5EF4-FFF2-40B4-BE49-F238E27FC236}">
                      <a16:creationId xmlns:a16="http://schemas.microsoft.com/office/drawing/2014/main" id="{495CEB50-BA68-02D9-32B0-F8726E2580F9}"/>
                    </a:ext>
                  </a:extLst>
                </p:cNvPr>
                <p:cNvSpPr>
                  <a:spLocks noRot="1" noChangeAspect="1" noMove="1" noResize="1" noEditPoints="1" noAdjustHandles="1" noChangeArrowheads="1" noChangeShapeType="1" noTextEdit="1"/>
                </p:cNvSpPr>
                <p:nvPr/>
              </p:nvSpPr>
              <p:spPr>
                <a:xfrm>
                  <a:off x="3439041" y="2638268"/>
                  <a:ext cx="1348464" cy="822960"/>
                </a:xfrm>
                <a:prstGeom prst="rect">
                  <a:avLst/>
                </a:prstGeom>
                <a:blipFill>
                  <a:blip r:embed="rId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D0DEB021-FE84-39B4-3511-2C8CF63EAB12}"/>
                    </a:ext>
                  </a:extLst>
                </p:cNvPr>
                <p:cNvSpPr>
                  <a:spLocks noChangeAspect="1"/>
                </p:cNvSpPr>
                <p:nvPr/>
              </p:nvSpPr>
              <p:spPr>
                <a:xfrm>
                  <a:off x="7678136" y="2631994"/>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𝐺</m:t>
                            </m:r>
                          </m:e>
                          <m:sub>
                            <m:r>
                              <a:rPr lang="en-US" sz="2400" b="0" i="1" smtClean="0">
                                <a:latin typeface="Cambria Math" panose="02040503050406030204" pitchFamily="18" charset="0"/>
                              </a:rPr>
                              <m:t>𝑖𝑀</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US" sz="2400" dirty="0"/>
                </a:p>
              </p:txBody>
            </p:sp>
          </mc:Choice>
          <mc:Fallback>
            <p:sp>
              <p:nvSpPr>
                <p:cNvPr id="4" name="Rectangle 3">
                  <a:extLst>
                    <a:ext uri="{FF2B5EF4-FFF2-40B4-BE49-F238E27FC236}">
                      <a16:creationId xmlns:a16="http://schemas.microsoft.com/office/drawing/2014/main" id="{D0DEB021-FE84-39B4-3511-2C8CF63EAB12}"/>
                    </a:ext>
                  </a:extLst>
                </p:cNvPr>
                <p:cNvSpPr>
                  <a:spLocks noRot="1" noChangeAspect="1" noMove="1" noResize="1" noEditPoints="1" noAdjustHandles="1" noChangeArrowheads="1" noChangeShapeType="1" noTextEdit="1"/>
                </p:cNvSpPr>
                <p:nvPr/>
              </p:nvSpPr>
              <p:spPr>
                <a:xfrm>
                  <a:off x="7678136" y="2631994"/>
                  <a:ext cx="1348464" cy="822960"/>
                </a:xfrm>
                <a:prstGeom prst="rect">
                  <a:avLst/>
                </a:prstGeom>
                <a:blipFill>
                  <a:blip r:embed="rId3"/>
                  <a:stretch>
                    <a:fillRect/>
                  </a:stretch>
                </a:blipFill>
                <a:ln>
                  <a:solidFill>
                    <a:schemeClr val="tx1"/>
                  </a:solidFill>
                </a:ln>
              </p:spPr>
              <p:txBody>
                <a:bodyPr/>
                <a:lstStyle/>
                <a:p>
                  <a:r>
                    <a:rPr lang="en-US">
                      <a:noFill/>
                    </a:rPr>
                    <a:t> </a:t>
                  </a:r>
                </a:p>
              </p:txBody>
            </p:sp>
          </mc:Fallback>
        </mc:AlternateContent>
        <p:sp>
          <p:nvSpPr>
            <p:cNvPr id="5" name="Oval 4">
              <a:extLst>
                <a:ext uri="{FF2B5EF4-FFF2-40B4-BE49-F238E27FC236}">
                  <a16:creationId xmlns:a16="http://schemas.microsoft.com/office/drawing/2014/main" id="{CB145F1E-C258-AC17-1F1F-4C8AFC085934}"/>
                </a:ext>
              </a:extLst>
            </p:cNvPr>
            <p:cNvSpPr/>
            <p:nvPr/>
          </p:nvSpPr>
          <p:spPr>
            <a:xfrm>
              <a:off x="9682224" y="297706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5229110F-5CE7-DE7C-E8DF-8E2C0ACE722B}"/>
                </a:ext>
              </a:extLst>
            </p:cNvPr>
            <p:cNvSpPr/>
            <p:nvPr/>
          </p:nvSpPr>
          <p:spPr>
            <a:xfrm>
              <a:off x="2363851" y="297555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51D9D43C-44D5-5AD1-3827-FE3011C08D3B}"/>
                    </a:ext>
                  </a:extLst>
                </p:cNvPr>
                <p:cNvSpPr txBox="1"/>
                <p:nvPr/>
              </p:nvSpPr>
              <p:spPr>
                <a:xfrm>
                  <a:off x="1643654" y="2874056"/>
                  <a:ext cx="721800" cy="29924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𝑟𝑒𝑓</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p:sp>
              <p:nvSpPr>
                <p:cNvPr id="7" name="TextBox 6">
                  <a:extLst>
                    <a:ext uri="{FF2B5EF4-FFF2-40B4-BE49-F238E27FC236}">
                      <a16:creationId xmlns:a16="http://schemas.microsoft.com/office/drawing/2014/main" id="{51D9D43C-44D5-5AD1-3827-FE3011C08D3B}"/>
                    </a:ext>
                  </a:extLst>
                </p:cNvPr>
                <p:cNvSpPr txBox="1">
                  <a:spLocks noRot="1" noChangeAspect="1" noMove="1" noResize="1" noEditPoints="1" noAdjustHandles="1" noChangeArrowheads="1" noChangeShapeType="1" noTextEdit="1"/>
                </p:cNvSpPr>
                <p:nvPr/>
              </p:nvSpPr>
              <p:spPr>
                <a:xfrm>
                  <a:off x="1643654" y="2874056"/>
                  <a:ext cx="721800" cy="299249"/>
                </a:xfrm>
                <a:prstGeom prst="rect">
                  <a:avLst/>
                </a:prstGeom>
                <a:blipFill>
                  <a:blip r:embed="rId4"/>
                  <a:stretch>
                    <a:fillRect l="-8475" r="-12712" b="-26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83E43D3E-DCCA-40EB-6BB9-A9D5254B3936}"/>
                    </a:ext>
                  </a:extLst>
                </p:cNvPr>
                <p:cNvSpPr txBox="1"/>
                <p:nvPr/>
              </p:nvSpPr>
              <p:spPr>
                <a:xfrm>
                  <a:off x="9815050" y="2904975"/>
                  <a:ext cx="720197"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p:sp>
              <p:nvSpPr>
                <p:cNvPr id="8" name="TextBox 7">
                  <a:extLst>
                    <a:ext uri="{FF2B5EF4-FFF2-40B4-BE49-F238E27FC236}">
                      <a16:creationId xmlns:a16="http://schemas.microsoft.com/office/drawing/2014/main" id="{83E43D3E-DCCA-40EB-6BB9-A9D5254B3936}"/>
                    </a:ext>
                  </a:extLst>
                </p:cNvPr>
                <p:cNvSpPr txBox="1">
                  <a:spLocks noRot="1" noChangeAspect="1" noMove="1" noResize="1" noEditPoints="1" noAdjustHandles="1" noChangeArrowheads="1" noChangeShapeType="1" noTextEdit="1"/>
                </p:cNvSpPr>
                <p:nvPr/>
              </p:nvSpPr>
              <p:spPr>
                <a:xfrm>
                  <a:off x="9815050" y="2904975"/>
                  <a:ext cx="720197" cy="276999"/>
                </a:xfrm>
                <a:prstGeom prst="rect">
                  <a:avLst/>
                </a:prstGeom>
                <a:blipFill>
                  <a:blip r:embed="rId5"/>
                  <a:stretch>
                    <a:fillRect l="-7563" t="-4444" r="-10924" b="-35556"/>
                  </a:stretch>
                </a:blipFill>
              </p:spPr>
              <p:txBody>
                <a:bodyPr/>
                <a:lstStyle/>
                <a:p>
                  <a:r>
                    <a:rPr lang="en-US">
                      <a:noFill/>
                    </a:rPr>
                    <a:t> </a:t>
                  </a:r>
                </a:p>
              </p:txBody>
            </p:sp>
          </mc:Fallback>
        </mc:AlternateContent>
        <p:sp>
          <p:nvSpPr>
            <p:cNvPr id="9" name="Rectangle: Rounded Corners 8">
              <a:extLst>
                <a:ext uri="{FF2B5EF4-FFF2-40B4-BE49-F238E27FC236}">
                  <a16:creationId xmlns:a16="http://schemas.microsoft.com/office/drawing/2014/main" id="{F55E866F-E78C-1F51-B14C-F980CE6AC3A8}"/>
                </a:ext>
              </a:extLst>
            </p:cNvPr>
            <p:cNvSpPr/>
            <p:nvPr/>
          </p:nvSpPr>
          <p:spPr>
            <a:xfrm>
              <a:off x="1516673" y="1785296"/>
              <a:ext cx="9837127" cy="338897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5C2BAEE-BE0A-127F-D133-6E6ED6E0A3CE}"/>
                </a:ext>
              </a:extLst>
            </p:cNvPr>
            <p:cNvSpPr txBox="1"/>
            <p:nvPr/>
          </p:nvSpPr>
          <p:spPr>
            <a:xfrm>
              <a:off x="9660195" y="1777719"/>
              <a:ext cx="1693605" cy="338554"/>
            </a:xfrm>
            <a:prstGeom prst="rect">
              <a:avLst/>
            </a:prstGeom>
            <a:noFill/>
          </p:spPr>
          <p:txBody>
            <a:bodyPr wrap="none" rtlCol="0">
              <a:spAutoFit/>
            </a:bodyPr>
            <a:lstStyle/>
            <a:p>
              <a:pPr algn="r"/>
              <a:r>
                <a:rPr lang="en-US" sz="1600" b="1" dirty="0"/>
                <a:t>Full UFB System</a:t>
              </a:r>
            </a:p>
          </p:txBody>
        </p:sp>
        <p:sp>
          <p:nvSpPr>
            <p:cNvPr id="11" name="Oval 10">
              <a:extLst>
                <a:ext uri="{FF2B5EF4-FFF2-40B4-BE49-F238E27FC236}">
                  <a16:creationId xmlns:a16="http://schemas.microsoft.com/office/drawing/2014/main" id="{07DA3416-7209-6061-F609-B260818DDA38}"/>
                </a:ext>
              </a:extLst>
            </p:cNvPr>
            <p:cNvSpPr/>
            <p:nvPr/>
          </p:nvSpPr>
          <p:spPr>
            <a:xfrm>
              <a:off x="2737218"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2" name="Oval 11">
              <a:extLst>
                <a:ext uri="{FF2B5EF4-FFF2-40B4-BE49-F238E27FC236}">
                  <a16:creationId xmlns:a16="http://schemas.microsoft.com/office/drawing/2014/main" id="{9682CED1-3C7C-CC7C-C8F3-BB29F539B196}"/>
                </a:ext>
              </a:extLst>
            </p:cNvPr>
            <p:cNvSpPr/>
            <p:nvPr/>
          </p:nvSpPr>
          <p:spPr>
            <a:xfrm>
              <a:off x="7153713"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3" name="Straight Arrow Connector 12">
              <a:extLst>
                <a:ext uri="{FF2B5EF4-FFF2-40B4-BE49-F238E27FC236}">
                  <a16:creationId xmlns:a16="http://schemas.microsoft.com/office/drawing/2014/main" id="{4EC6D35A-BF30-D0D0-BB58-1DA42C3F9726}"/>
                </a:ext>
              </a:extLst>
            </p:cNvPr>
            <p:cNvCxnSpPr>
              <a:stCxn id="6" idx="6"/>
              <a:endCxn id="11" idx="2"/>
            </p:cNvCxnSpPr>
            <p:nvPr/>
          </p:nvCxnSpPr>
          <p:spPr>
            <a:xfrm>
              <a:off x="2496677" y="3041967"/>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710F878-270E-B5AD-D4F7-79B5FAEF5767}"/>
                </a:ext>
              </a:extLst>
            </p:cNvPr>
            <p:cNvCxnSpPr>
              <a:stCxn id="11" idx="6"/>
              <a:endCxn id="3" idx="1"/>
            </p:cNvCxnSpPr>
            <p:nvPr/>
          </p:nvCxnSpPr>
          <p:spPr>
            <a:xfrm>
              <a:off x="3035025" y="3041968"/>
              <a:ext cx="404016"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309675BE-C45A-390E-098C-FB82367E79F3}"/>
                </a:ext>
              </a:extLst>
            </p:cNvPr>
            <p:cNvSpPr/>
            <p:nvPr/>
          </p:nvSpPr>
          <p:spPr>
            <a:xfrm>
              <a:off x="7236203" y="233079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4E157BFF-B883-AA56-2832-FA6432FEF965}"/>
                </a:ext>
              </a:extLst>
            </p:cNvPr>
            <p:cNvSpPr/>
            <p:nvPr/>
          </p:nvSpPr>
          <p:spPr>
            <a:xfrm>
              <a:off x="9815050" y="464543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Box 23">
              <a:extLst>
                <a:ext uri="{FF2B5EF4-FFF2-40B4-BE49-F238E27FC236}">
                  <a16:creationId xmlns:a16="http://schemas.microsoft.com/office/drawing/2014/main" id="{0A22B27C-EAF6-0648-0649-323E73386121}"/>
                </a:ext>
              </a:extLst>
            </p:cNvPr>
            <p:cNvSpPr txBox="1"/>
            <p:nvPr/>
          </p:nvSpPr>
          <p:spPr>
            <a:xfrm>
              <a:off x="2882639" y="3049546"/>
              <a:ext cx="288862" cy="461665"/>
            </a:xfrm>
            <a:prstGeom prst="rect">
              <a:avLst/>
            </a:prstGeom>
            <a:noFill/>
          </p:spPr>
          <p:txBody>
            <a:bodyPr wrap="none" rtlCol="0">
              <a:spAutoFit/>
            </a:bodyPr>
            <a:lstStyle/>
            <a:p>
              <a:r>
                <a:rPr lang="en-US" sz="2400" dirty="0"/>
                <a:t>-</a:t>
              </a:r>
            </a:p>
          </p:txBody>
        </p:sp>
        <p:cxnSp>
          <p:nvCxnSpPr>
            <p:cNvPr id="25" name="Straight Arrow Connector 24">
              <a:extLst>
                <a:ext uri="{FF2B5EF4-FFF2-40B4-BE49-F238E27FC236}">
                  <a16:creationId xmlns:a16="http://schemas.microsoft.com/office/drawing/2014/main" id="{31DCA8E0-AC94-083D-5031-C8EAB176A31E}"/>
                </a:ext>
              </a:extLst>
            </p:cNvPr>
            <p:cNvCxnSpPr>
              <a:stCxn id="22" idx="4"/>
              <a:endCxn id="12" idx="0"/>
            </p:cNvCxnSpPr>
            <p:nvPr/>
          </p:nvCxnSpPr>
          <p:spPr>
            <a:xfrm>
              <a:off x="7302616" y="2463621"/>
              <a:ext cx="1" cy="42944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EF5BA2D8-656D-31BC-EE3C-B9F98F9AC7B7}"/>
                    </a:ext>
                  </a:extLst>
                </p:cNvPr>
                <p:cNvSpPr txBox="1"/>
                <p:nvPr/>
              </p:nvSpPr>
              <p:spPr>
                <a:xfrm>
                  <a:off x="7020359" y="1994619"/>
                  <a:ext cx="512513"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p:txBody>
            </p:sp>
          </mc:Choice>
          <mc:Fallback>
            <p:sp>
              <p:nvSpPr>
                <p:cNvPr id="26" name="TextBox 25">
                  <a:extLst>
                    <a:ext uri="{FF2B5EF4-FFF2-40B4-BE49-F238E27FC236}">
                      <a16:creationId xmlns:a16="http://schemas.microsoft.com/office/drawing/2014/main" id="{EF5BA2D8-656D-31BC-EE3C-B9F98F9AC7B7}"/>
                    </a:ext>
                  </a:extLst>
                </p:cNvPr>
                <p:cNvSpPr txBox="1">
                  <a:spLocks noRot="1" noChangeAspect="1" noMove="1" noResize="1" noEditPoints="1" noAdjustHandles="1" noChangeArrowheads="1" noChangeShapeType="1" noTextEdit="1"/>
                </p:cNvSpPr>
                <p:nvPr/>
              </p:nvSpPr>
              <p:spPr>
                <a:xfrm>
                  <a:off x="7020359" y="1994619"/>
                  <a:ext cx="512513" cy="276999"/>
                </a:xfrm>
                <a:prstGeom prst="rect">
                  <a:avLst/>
                </a:prstGeom>
                <a:blipFill>
                  <a:blip r:embed="rId6"/>
                  <a:stretch>
                    <a:fillRect l="-7143" t="-2174" r="-16667" b="-3260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8946CF86-8FCB-4186-B420-8AC2788510EA}"/>
                    </a:ext>
                  </a:extLst>
                </p:cNvPr>
                <p:cNvSpPr txBox="1"/>
                <p:nvPr/>
              </p:nvSpPr>
              <p:spPr>
                <a:xfrm>
                  <a:off x="9991838" y="4573349"/>
                  <a:ext cx="1218539" cy="276999"/>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p:sp>
              <p:nvSpPr>
                <p:cNvPr id="27" name="TextBox 26">
                  <a:extLst>
                    <a:ext uri="{FF2B5EF4-FFF2-40B4-BE49-F238E27FC236}">
                      <a16:creationId xmlns:a16="http://schemas.microsoft.com/office/drawing/2014/main" id="{8946CF86-8FCB-4186-B420-8AC2788510EA}"/>
                    </a:ext>
                  </a:extLst>
                </p:cNvPr>
                <p:cNvSpPr txBox="1">
                  <a:spLocks noRot="1" noChangeAspect="1" noMove="1" noResize="1" noEditPoints="1" noAdjustHandles="1" noChangeArrowheads="1" noChangeShapeType="1" noTextEdit="1"/>
                </p:cNvSpPr>
                <p:nvPr/>
              </p:nvSpPr>
              <p:spPr>
                <a:xfrm>
                  <a:off x="9991838" y="4573349"/>
                  <a:ext cx="1218539" cy="276999"/>
                </a:xfrm>
                <a:prstGeom prst="rect">
                  <a:avLst/>
                </a:prstGeom>
                <a:blipFill>
                  <a:blip r:embed="rId7"/>
                  <a:stretch>
                    <a:fillRect l="-6500" t="-2174" r="-4500" b="-32609"/>
                  </a:stretch>
                </a:blipFill>
              </p:spPr>
              <p:txBody>
                <a:bodyPr/>
                <a:lstStyle/>
                <a:p>
                  <a:r>
                    <a:rPr lang="en-US">
                      <a:noFill/>
                    </a:rPr>
                    <a:t> </a:t>
                  </a:r>
                </a:p>
              </p:txBody>
            </p:sp>
          </mc:Fallback>
        </mc:AlternateContent>
        <p:sp>
          <p:nvSpPr>
            <p:cNvPr id="30" name="Rectangle 29">
              <a:extLst>
                <a:ext uri="{FF2B5EF4-FFF2-40B4-BE49-F238E27FC236}">
                  <a16:creationId xmlns:a16="http://schemas.microsoft.com/office/drawing/2014/main" id="{0E88F316-A041-110F-6D5E-ABD925A7BF31}"/>
                </a:ext>
              </a:extLst>
            </p:cNvPr>
            <p:cNvSpPr/>
            <p:nvPr/>
          </p:nvSpPr>
          <p:spPr>
            <a:xfrm>
              <a:off x="5281269" y="2553422"/>
              <a:ext cx="3831958" cy="1889857"/>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1" name="Rectangle 30">
                  <a:extLst>
                    <a:ext uri="{FF2B5EF4-FFF2-40B4-BE49-F238E27FC236}">
                      <a16:creationId xmlns:a16="http://schemas.microsoft.com/office/drawing/2014/main" id="{0C09C1E0-24F9-D06F-9EC6-4B141E0D97B4}"/>
                    </a:ext>
                  </a:extLst>
                </p:cNvPr>
                <p:cNvSpPr>
                  <a:spLocks noChangeAspect="1"/>
                </p:cNvSpPr>
                <p:nvPr/>
              </p:nvSpPr>
              <p:spPr>
                <a:xfrm>
                  <a:off x="5415526" y="2640076"/>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Linearization</a:t>
                  </a: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𝑀</m:t>
                            </m:r>
                          </m:e>
                          <m:sub>
                            <m:r>
                              <a:rPr lang="en-US" sz="1400" b="0" i="1" smtClean="0">
                                <a:latin typeface="Cambria Math" panose="02040503050406030204" pitchFamily="18" charset="0"/>
                              </a:rPr>
                              <m:t>𝑇</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𝑀</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oMath>
                    </m:oMathPara>
                  </a14:m>
                  <a:endParaRPr lang="en-US" sz="2400" dirty="0"/>
                </a:p>
              </p:txBody>
            </p:sp>
          </mc:Choice>
          <mc:Fallback>
            <p:sp>
              <p:nvSpPr>
                <p:cNvPr id="31" name="Rectangle 30">
                  <a:extLst>
                    <a:ext uri="{FF2B5EF4-FFF2-40B4-BE49-F238E27FC236}">
                      <a16:creationId xmlns:a16="http://schemas.microsoft.com/office/drawing/2014/main" id="{0C09C1E0-24F9-D06F-9EC6-4B141E0D97B4}"/>
                    </a:ext>
                  </a:extLst>
                </p:cNvPr>
                <p:cNvSpPr>
                  <a:spLocks noRot="1" noChangeAspect="1" noMove="1" noResize="1" noEditPoints="1" noAdjustHandles="1" noChangeArrowheads="1" noChangeShapeType="1" noTextEdit="1"/>
                </p:cNvSpPr>
                <p:nvPr/>
              </p:nvSpPr>
              <p:spPr>
                <a:xfrm>
                  <a:off x="5415526" y="2640076"/>
                  <a:ext cx="1348464" cy="822960"/>
                </a:xfrm>
                <a:prstGeom prst="rect">
                  <a:avLst/>
                </a:prstGeom>
                <a:blipFill>
                  <a:blip r:embed="rId8"/>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87CE3631-DD44-965C-02C7-58249D71EE8C}"/>
                    </a:ext>
                  </a:extLst>
                </p:cNvPr>
                <p:cNvSpPr txBox="1"/>
                <p:nvPr/>
              </p:nvSpPr>
              <p:spPr>
                <a:xfrm>
                  <a:off x="5281269" y="3462530"/>
                  <a:ext cx="3831958" cy="940194"/>
                </a:xfrm>
                <a:prstGeom prst="rect">
                  <a:avLst/>
                </a:prstGeom>
                <a:noFill/>
              </p:spPr>
              <p:txBody>
                <a:bodyPr wrap="square">
                  <a:spAutoFit/>
                </a:bodyPr>
                <a:lstStyle/>
                <a:p>
                  <a:pPr algn="ctr"/>
                  <a:r>
                    <a:rPr lang="en-US" sz="1600" b="0" dirty="0">
                      <a:latin typeface="Cambria Math" panose="02040503050406030204" pitchFamily="18" charset="0"/>
                    </a:rPr>
                    <a:t>Linearized Plant</a:t>
                  </a:r>
                </a:p>
                <a:p>
                  <a:pPr algn="ct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𝐺</m:t>
                            </m:r>
                          </m:e>
                          <m:sub>
                            <m:r>
                              <a:rPr lang="en-US" sz="3600" b="0" i="1" smtClean="0">
                                <a:latin typeface="Cambria Math" panose="02040503050406030204" pitchFamily="18" charset="0"/>
                              </a:rPr>
                              <m:t>𝑖</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𝑀</m:t>
                                </m:r>
                              </m:e>
                              <m:sub>
                                <m:r>
                                  <a:rPr lang="en-US" sz="3600" b="0" i="1" smtClean="0">
                                    <a:latin typeface="Cambria Math" panose="02040503050406030204" pitchFamily="18" charset="0"/>
                                  </a:rPr>
                                  <m:t>𝑇</m:t>
                                </m:r>
                              </m:sub>
                            </m:sSub>
                          </m:sub>
                        </m:sSub>
                        <m:r>
                          <a:rPr lang="en-US" sz="3600" b="0" i="1" smtClean="0">
                            <a:latin typeface="Cambria Math" panose="02040503050406030204" pitchFamily="18" charset="0"/>
                          </a:rPr>
                          <m:t>(</m:t>
                        </m:r>
                        <m:r>
                          <a:rPr lang="en-US" sz="3600" b="0" i="1" smtClean="0">
                            <a:latin typeface="Cambria Math" panose="02040503050406030204" pitchFamily="18" charset="0"/>
                          </a:rPr>
                          <m:t>𝑠</m:t>
                        </m:r>
                        <m:r>
                          <a:rPr lang="en-US" sz="3600" b="0" i="1" smtClean="0">
                            <a:latin typeface="Cambria Math" panose="02040503050406030204" pitchFamily="18" charset="0"/>
                          </a:rPr>
                          <m:t>)</m:t>
                        </m:r>
                      </m:oMath>
                    </m:oMathPara>
                  </a14:m>
                  <a:endParaRPr lang="en-US" sz="3600" dirty="0"/>
                </a:p>
              </p:txBody>
            </p:sp>
          </mc:Choice>
          <mc:Fallback>
            <p:sp>
              <p:nvSpPr>
                <p:cNvPr id="35" name="TextBox 34">
                  <a:extLst>
                    <a:ext uri="{FF2B5EF4-FFF2-40B4-BE49-F238E27FC236}">
                      <a16:creationId xmlns:a16="http://schemas.microsoft.com/office/drawing/2014/main" id="{87CE3631-DD44-965C-02C7-58249D71EE8C}"/>
                    </a:ext>
                  </a:extLst>
                </p:cNvPr>
                <p:cNvSpPr txBox="1">
                  <a:spLocks noRot="1" noChangeAspect="1" noMove="1" noResize="1" noEditPoints="1" noAdjustHandles="1" noChangeArrowheads="1" noChangeShapeType="1" noTextEdit="1"/>
                </p:cNvSpPr>
                <p:nvPr/>
              </p:nvSpPr>
              <p:spPr>
                <a:xfrm>
                  <a:off x="5281269" y="3462530"/>
                  <a:ext cx="3831958" cy="940194"/>
                </a:xfrm>
                <a:prstGeom prst="rect">
                  <a:avLst/>
                </a:prstGeom>
                <a:blipFill>
                  <a:blip r:embed="rId9"/>
                  <a:stretch>
                    <a:fillRect t="-2597"/>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32590D8-A6E6-DE0B-3C28-4B016AA110E4}"/>
                </a:ext>
              </a:extLst>
            </p:cNvPr>
            <p:cNvCxnSpPr>
              <a:stCxn id="3" idx="3"/>
              <a:endCxn id="31" idx="1"/>
            </p:cNvCxnSpPr>
            <p:nvPr/>
          </p:nvCxnSpPr>
          <p:spPr>
            <a:xfrm>
              <a:off x="4787505" y="3049748"/>
              <a:ext cx="628021" cy="180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BE5F46AE-02DA-9F58-D987-26CD46FAB4DC}"/>
                </a:ext>
              </a:extLst>
            </p:cNvPr>
            <p:cNvCxnSpPr>
              <a:stCxn id="31" idx="3"/>
              <a:endCxn id="12" idx="2"/>
            </p:cNvCxnSpPr>
            <p:nvPr/>
          </p:nvCxnSpPr>
          <p:spPr>
            <a:xfrm flipV="1">
              <a:off x="6763990" y="3041968"/>
              <a:ext cx="389723" cy="95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DFC7F002-A69B-7C8C-172A-C9C4CAADB1D9}"/>
                </a:ext>
              </a:extLst>
            </p:cNvPr>
            <p:cNvCxnSpPr>
              <a:stCxn id="12" idx="6"/>
              <a:endCxn id="4" idx="1"/>
            </p:cNvCxnSpPr>
            <p:nvPr/>
          </p:nvCxnSpPr>
          <p:spPr>
            <a:xfrm>
              <a:off x="7451520" y="3041968"/>
              <a:ext cx="226616" cy="150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A1F43624-2CD8-3CEB-BEA2-144C2433DC5A}"/>
                </a:ext>
              </a:extLst>
            </p:cNvPr>
            <p:cNvCxnSpPr>
              <a:stCxn id="4" idx="3"/>
              <a:endCxn id="5" idx="2"/>
            </p:cNvCxnSpPr>
            <p:nvPr/>
          </p:nvCxnSpPr>
          <p:spPr>
            <a:xfrm>
              <a:off x="9026600" y="3043474"/>
              <a:ext cx="65562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D5D34AD9-9F0B-1A60-E37C-6AB3CDBE1F20}"/>
                </a:ext>
              </a:extLst>
            </p:cNvPr>
            <p:cNvSpPr/>
            <p:nvPr/>
          </p:nvSpPr>
          <p:spPr>
            <a:xfrm>
              <a:off x="9259107" y="456294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50" name="Straight Arrow Connector 49">
              <a:extLst>
                <a:ext uri="{FF2B5EF4-FFF2-40B4-BE49-F238E27FC236}">
                  <a16:creationId xmlns:a16="http://schemas.microsoft.com/office/drawing/2014/main" id="{66004081-641F-8CFD-D10B-0B819013A2BC}"/>
                </a:ext>
              </a:extLst>
            </p:cNvPr>
            <p:cNvCxnSpPr>
              <a:cxnSpLocks/>
              <a:stCxn id="48" idx="0"/>
            </p:cNvCxnSpPr>
            <p:nvPr/>
          </p:nvCxnSpPr>
          <p:spPr>
            <a:xfrm flipV="1">
              <a:off x="9408011" y="3049546"/>
              <a:ext cx="0" cy="1513398"/>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A5EFAB6D-EDD1-14EE-A444-3CF8BA4584BB}"/>
                </a:ext>
              </a:extLst>
            </p:cNvPr>
            <p:cNvCxnSpPr>
              <a:stCxn id="23" idx="2"/>
              <a:endCxn id="48" idx="6"/>
            </p:cNvCxnSpPr>
            <p:nvPr/>
          </p:nvCxnSpPr>
          <p:spPr>
            <a:xfrm flipH="1">
              <a:off x="9556914" y="4711848"/>
              <a:ext cx="258136"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6A10E48-5998-0FEA-B5EF-F79AC587B414}"/>
                </a:ext>
              </a:extLst>
            </p:cNvPr>
            <p:cNvCxnSpPr>
              <a:cxnSpLocks/>
              <a:stCxn id="48" idx="2"/>
            </p:cNvCxnSpPr>
            <p:nvPr/>
          </p:nvCxnSpPr>
          <p:spPr>
            <a:xfrm flipH="1">
              <a:off x="2882639" y="4711848"/>
              <a:ext cx="637646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B2E056E-184A-3058-6AD4-2527BF191C5D}"/>
                </a:ext>
              </a:extLst>
            </p:cNvPr>
            <p:cNvCxnSpPr>
              <a:cxnSpLocks/>
              <a:stCxn id="11" idx="4"/>
            </p:cNvCxnSpPr>
            <p:nvPr/>
          </p:nvCxnSpPr>
          <p:spPr>
            <a:xfrm>
              <a:off x="2886122" y="3190871"/>
              <a:ext cx="0" cy="1520977"/>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60" name="TextBox 59">
                  <a:extLst>
                    <a:ext uri="{FF2B5EF4-FFF2-40B4-BE49-F238E27FC236}">
                      <a16:creationId xmlns:a16="http://schemas.microsoft.com/office/drawing/2014/main" id="{7154DBB8-1150-3149-7C86-5E65FBAB3410}"/>
                    </a:ext>
                  </a:extLst>
                </p:cNvPr>
                <p:cNvSpPr txBox="1"/>
                <p:nvPr/>
              </p:nvSpPr>
              <p:spPr>
                <a:xfrm>
                  <a:off x="3065540" y="2808311"/>
                  <a:ext cx="314317" cy="18466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𝑒</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p:sp>
              <p:nvSpPr>
                <p:cNvPr id="60" name="TextBox 59">
                  <a:extLst>
                    <a:ext uri="{FF2B5EF4-FFF2-40B4-BE49-F238E27FC236}">
                      <a16:creationId xmlns:a16="http://schemas.microsoft.com/office/drawing/2014/main" id="{7154DBB8-1150-3149-7C86-5E65FBAB3410}"/>
                    </a:ext>
                  </a:extLst>
                </p:cNvPr>
                <p:cNvSpPr txBox="1">
                  <a:spLocks noRot="1" noChangeAspect="1" noMove="1" noResize="1" noEditPoints="1" noAdjustHandles="1" noChangeArrowheads="1" noChangeShapeType="1" noTextEdit="1"/>
                </p:cNvSpPr>
                <p:nvPr/>
              </p:nvSpPr>
              <p:spPr>
                <a:xfrm>
                  <a:off x="3065540" y="2808311"/>
                  <a:ext cx="314317" cy="184666"/>
                </a:xfrm>
                <a:prstGeom prst="rect">
                  <a:avLst/>
                </a:prstGeom>
                <a:blipFill>
                  <a:blip r:embed="rId10"/>
                  <a:stretch>
                    <a:fillRect l="-5769" t="-6667" r="-17308" b="-3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1" name="TextBox 60">
                  <a:extLst>
                    <a:ext uri="{FF2B5EF4-FFF2-40B4-BE49-F238E27FC236}">
                      <a16:creationId xmlns:a16="http://schemas.microsoft.com/office/drawing/2014/main" id="{DC523082-32D9-0AFA-54CD-66A0965C1AAE}"/>
                    </a:ext>
                  </a:extLst>
                </p:cNvPr>
                <p:cNvSpPr txBox="1"/>
                <p:nvPr/>
              </p:nvSpPr>
              <p:spPr>
                <a:xfrm>
                  <a:off x="2974842" y="3739754"/>
                  <a:ext cx="810030" cy="19287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r>
                              <a:rPr lang="en-US" sz="1200" b="0" i="1" smtClean="0">
                                <a:latin typeface="Cambria Math" panose="02040503050406030204" pitchFamily="18" charset="0"/>
                              </a:rPr>
                              <m:t>,</m:t>
                            </m:r>
                            <m:r>
                              <a:rPr lang="en-US" sz="1200" b="0" i="1" smtClean="0">
                                <a:latin typeface="Cambria Math" panose="02040503050406030204" pitchFamily="18" charset="0"/>
                              </a:rPr>
                              <m:t>𝑠𝑒𝑛𝑠𝑒</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p:sp>
              <p:nvSpPr>
                <p:cNvPr id="61" name="TextBox 60">
                  <a:extLst>
                    <a:ext uri="{FF2B5EF4-FFF2-40B4-BE49-F238E27FC236}">
                      <a16:creationId xmlns:a16="http://schemas.microsoft.com/office/drawing/2014/main" id="{DC523082-32D9-0AFA-54CD-66A0965C1AAE}"/>
                    </a:ext>
                  </a:extLst>
                </p:cNvPr>
                <p:cNvSpPr txBox="1">
                  <a:spLocks noRot="1" noChangeAspect="1" noMove="1" noResize="1" noEditPoints="1" noAdjustHandles="1" noChangeArrowheads="1" noChangeShapeType="1" noTextEdit="1"/>
                </p:cNvSpPr>
                <p:nvPr/>
              </p:nvSpPr>
              <p:spPr>
                <a:xfrm>
                  <a:off x="2974842" y="3739754"/>
                  <a:ext cx="810030" cy="192873"/>
                </a:xfrm>
                <a:prstGeom prst="rect">
                  <a:avLst/>
                </a:prstGeom>
                <a:blipFill>
                  <a:blip r:embed="rId11"/>
                  <a:stretch>
                    <a:fillRect l="-4511" r="-6767" b="-34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4" name="TextBox 63">
                  <a:extLst>
                    <a:ext uri="{FF2B5EF4-FFF2-40B4-BE49-F238E27FC236}">
                      <a16:creationId xmlns:a16="http://schemas.microsoft.com/office/drawing/2014/main" id="{CF2AF608-7F5B-7FD1-676D-E1F8F97D4F9E}"/>
                    </a:ext>
                  </a:extLst>
                </p:cNvPr>
                <p:cNvSpPr txBox="1"/>
                <p:nvPr/>
              </p:nvSpPr>
              <p:spPr>
                <a:xfrm>
                  <a:off x="4814102" y="2848106"/>
                  <a:ext cx="440570" cy="18466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𝑀</m:t>
                            </m:r>
                          </m:e>
                          <m:sub>
                            <m:r>
                              <a:rPr lang="en-US" sz="1200" b="0" i="1" smtClean="0">
                                <a:latin typeface="Cambria Math" panose="02040503050406030204" pitchFamily="18" charset="0"/>
                              </a:rPr>
                              <m:t>𝑇</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p:sp>
              <p:nvSpPr>
                <p:cNvPr id="64" name="TextBox 63">
                  <a:extLst>
                    <a:ext uri="{FF2B5EF4-FFF2-40B4-BE49-F238E27FC236}">
                      <a16:creationId xmlns:a16="http://schemas.microsoft.com/office/drawing/2014/main" id="{CF2AF608-7F5B-7FD1-676D-E1F8F97D4F9E}"/>
                    </a:ext>
                  </a:extLst>
                </p:cNvPr>
                <p:cNvSpPr txBox="1">
                  <a:spLocks noRot="1" noChangeAspect="1" noMove="1" noResize="1" noEditPoints="1" noAdjustHandles="1" noChangeArrowheads="1" noChangeShapeType="1" noTextEdit="1"/>
                </p:cNvSpPr>
                <p:nvPr/>
              </p:nvSpPr>
              <p:spPr>
                <a:xfrm>
                  <a:off x="4814102" y="2848106"/>
                  <a:ext cx="440570" cy="184666"/>
                </a:xfrm>
                <a:prstGeom prst="rect">
                  <a:avLst/>
                </a:prstGeom>
                <a:blipFill>
                  <a:blip r:embed="rId12"/>
                  <a:stretch>
                    <a:fillRect l="-8333" t="-3226" r="-13889" b="-3548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817271F0-142E-044E-C4D3-48F661C7646B}"/>
                    </a:ext>
                  </a:extLst>
                </p:cNvPr>
                <p:cNvSpPr txBox="1"/>
                <p:nvPr/>
              </p:nvSpPr>
              <p:spPr>
                <a:xfrm>
                  <a:off x="6778447" y="2839015"/>
                  <a:ext cx="360227" cy="18466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oMath>
                    </m:oMathPara>
                  </a14:m>
                  <a:endParaRPr lang="en-US" sz="1200" dirty="0"/>
                </a:p>
              </p:txBody>
            </p:sp>
          </mc:Choice>
          <mc:Fallback>
            <p:sp>
              <p:nvSpPr>
                <p:cNvPr id="67" name="TextBox 66">
                  <a:extLst>
                    <a:ext uri="{FF2B5EF4-FFF2-40B4-BE49-F238E27FC236}">
                      <a16:creationId xmlns:a16="http://schemas.microsoft.com/office/drawing/2014/main" id="{817271F0-142E-044E-C4D3-48F661C7646B}"/>
                    </a:ext>
                  </a:extLst>
                </p:cNvPr>
                <p:cNvSpPr txBox="1">
                  <a:spLocks noRot="1" noChangeAspect="1" noMove="1" noResize="1" noEditPoints="1" noAdjustHandles="1" noChangeArrowheads="1" noChangeShapeType="1" noTextEdit="1"/>
                </p:cNvSpPr>
                <p:nvPr/>
              </p:nvSpPr>
              <p:spPr>
                <a:xfrm>
                  <a:off x="6778447" y="2839015"/>
                  <a:ext cx="360227" cy="184666"/>
                </a:xfrm>
                <a:prstGeom prst="rect">
                  <a:avLst/>
                </a:prstGeom>
                <a:blipFill>
                  <a:blip r:embed="rId13"/>
                  <a:stretch>
                    <a:fillRect l="-10169" t="-6667" r="-16949" b="-36667"/>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33051E59-1389-5DCF-54CC-E02283CAF2A0}"/>
                  </a:ext>
                </a:extLst>
              </p:cNvPr>
              <p:cNvSpPr txBox="1"/>
              <p:nvPr/>
            </p:nvSpPr>
            <p:spPr>
              <a:xfrm>
                <a:off x="1177438" y="5315884"/>
                <a:ext cx="9837126" cy="1165063"/>
              </a:xfrm>
              <a:prstGeom prst="rect">
                <a:avLst/>
              </a:prstGeom>
              <a:noFill/>
            </p:spPr>
            <p:txBody>
              <a:bodyPr wrap="square" rtlCol="0">
                <a:spAutoFit/>
              </a:bodyPr>
              <a:lstStyle/>
              <a:p>
                <a:r>
                  <a:rPr lang="en-US" b="1" dirty="0"/>
                  <a:t>Key Takeaway: </a:t>
                </a:r>
                <a:r>
                  <a:rPr lang="en-US" dirty="0"/>
                  <a:t>Disturbance </a:t>
                </a:r>
                <a14:m>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is inserted into the nonlinear control signal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and cannot be analyzed using typical tools</a:t>
                </a:r>
              </a:p>
              <a:p>
                <a:r>
                  <a:rPr lang="en-US" dirty="0"/>
                  <a:t>Can trivially calculate transfer function </a:t>
                </a:r>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den>
                    </m:f>
                    <m:r>
                      <a:rPr lang="en-US" b="0" i="1" smtClean="0">
                        <a:latin typeface="Cambria Math" panose="02040503050406030204" pitchFamily="18" charset="0"/>
                      </a:rPr>
                      <m:t>=</m:t>
                    </m:r>
                    <m:r>
                      <a:rPr lang="en-US" b="0" i="1" smtClean="0">
                        <a:latin typeface="Cambria Math" panose="02040503050406030204" pitchFamily="18" charset="0"/>
                      </a:rPr>
                      <m:t>𝐻</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𝑖</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1+</m:t>
                        </m:r>
                        <m:r>
                          <a:rPr lang="en-US" i="1">
                            <a:latin typeface="Cambria Math" panose="02040503050406030204" pitchFamily="18" charset="0"/>
                          </a:rPr>
                          <m:t>𝐷</m:t>
                        </m:r>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𝑖</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den>
                    </m:f>
                  </m:oMath>
                </a14:m>
                <a:endParaRPr lang="en-US" dirty="0"/>
              </a:p>
            </p:txBody>
          </p:sp>
        </mc:Choice>
        <mc:Fallback>
          <p:sp>
            <p:nvSpPr>
              <p:cNvPr id="70" name="TextBox 69">
                <a:extLst>
                  <a:ext uri="{FF2B5EF4-FFF2-40B4-BE49-F238E27FC236}">
                    <a16:creationId xmlns:a16="http://schemas.microsoft.com/office/drawing/2014/main" id="{33051E59-1389-5DCF-54CC-E02283CAF2A0}"/>
                  </a:ext>
                </a:extLst>
              </p:cNvPr>
              <p:cNvSpPr txBox="1">
                <a:spLocks noRot="1" noChangeAspect="1" noMove="1" noResize="1" noEditPoints="1" noAdjustHandles="1" noChangeArrowheads="1" noChangeShapeType="1" noTextEdit="1"/>
              </p:cNvSpPr>
              <p:nvPr/>
            </p:nvSpPr>
            <p:spPr>
              <a:xfrm>
                <a:off x="1177438" y="5315884"/>
                <a:ext cx="9837126" cy="1165063"/>
              </a:xfrm>
              <a:prstGeom prst="rect">
                <a:avLst/>
              </a:prstGeom>
              <a:blipFill>
                <a:blip r:embed="rId14"/>
                <a:stretch>
                  <a:fillRect l="-496" t="-2094"/>
                </a:stretch>
              </a:blipFill>
            </p:spPr>
            <p:txBody>
              <a:bodyPr/>
              <a:lstStyle/>
              <a:p>
                <a:r>
                  <a:rPr lang="en-US">
                    <a:noFill/>
                  </a:rPr>
                  <a:t> </a:t>
                </a:r>
              </a:p>
            </p:txBody>
          </p:sp>
        </mc:Fallback>
      </mc:AlternateContent>
    </p:spTree>
    <p:extLst>
      <p:ext uri="{BB962C8B-B14F-4D97-AF65-F5344CB8AC3E}">
        <p14:creationId xmlns:p14="http://schemas.microsoft.com/office/powerpoint/2010/main" val="13119434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0322E-72FA-7113-41DA-C6F3A8E79DB3}"/>
              </a:ext>
            </a:extLst>
          </p:cNvPr>
          <p:cNvSpPr>
            <a:spLocks noGrp="1"/>
          </p:cNvSpPr>
          <p:nvPr>
            <p:ph type="title"/>
          </p:nvPr>
        </p:nvSpPr>
        <p:spPr/>
        <p:txBody>
          <a:bodyPr/>
          <a:lstStyle/>
          <a:p>
            <a:r>
              <a:rPr lang="en-US" dirty="0"/>
              <a:t>Model Robustness - Sensitivity</a:t>
            </a:r>
          </a:p>
        </p:txBody>
      </p:sp>
      <p:sp>
        <p:nvSpPr>
          <p:cNvPr id="5" name="Text Placeholder 4">
            <a:extLst>
              <a:ext uri="{FF2B5EF4-FFF2-40B4-BE49-F238E27FC236}">
                <a16:creationId xmlns:a16="http://schemas.microsoft.com/office/drawing/2014/main" id="{2271D8C9-DE82-2DA0-7FDA-C736C878C674}"/>
              </a:ext>
            </a:extLst>
          </p:cNvPr>
          <p:cNvSpPr>
            <a:spLocks noGrp="1"/>
          </p:cNvSpPr>
          <p:nvPr>
            <p:ph type="body" sz="half" idx="2"/>
          </p:nvPr>
        </p:nvSpPr>
        <p:spPr/>
        <p:txBody>
          <a:bodyPr/>
          <a:lstStyle/>
          <a:p>
            <a:r>
              <a:rPr lang="en-US" dirty="0"/>
              <a:t>Definition: Change in output behavior of a system relative to change in parameter</a:t>
            </a:r>
          </a:p>
          <a:p>
            <a:pPr marL="285750" indent="-285750">
              <a:buFont typeface="Arial" panose="020B0604020202020204" pitchFamily="34" charset="0"/>
              <a:buChar char="•"/>
            </a:pPr>
            <a:r>
              <a:rPr lang="en-US" dirty="0"/>
              <a:t>Relative change determined in proportion to parameter size</a:t>
            </a:r>
          </a:p>
          <a:p>
            <a:pPr marL="285750" indent="-285750">
              <a:buFont typeface="Arial" panose="020B0604020202020204" pitchFamily="34" charset="0"/>
              <a:buChar char="•"/>
            </a:pPr>
            <a:r>
              <a:rPr lang="en-US" dirty="0"/>
              <a:t>Can use simple calculus and algebra</a:t>
            </a:r>
          </a:p>
          <a:p>
            <a:r>
              <a:rPr lang="en-US" dirty="0"/>
              <a:t>Very useful metric to evaluate robustness of closed-loop control systems</a:t>
            </a:r>
          </a:p>
          <a:p>
            <a:pPr marL="285750" indent="-285750">
              <a:buFont typeface="Arial" panose="020B0604020202020204" pitchFamily="34" charset="0"/>
              <a:buChar char="•"/>
            </a:pPr>
            <a:r>
              <a:rPr lang="en-US" dirty="0"/>
              <a:t>Accounts for numerical stability issues like small-difference-of-large-numbers and division by small numbers</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954A0FE4-182F-50BD-EFF1-3F64465B626B}"/>
                  </a:ext>
                </a:extLst>
              </p:cNvPr>
              <p:cNvSpPr txBox="1"/>
              <p:nvPr/>
            </p:nvSpPr>
            <p:spPr>
              <a:xfrm>
                <a:off x="5656385" y="905136"/>
                <a:ext cx="2639633" cy="467839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a:rPr lang="en-US" sz="3600" b="0" i="1" smtClean="0">
                                  <a:latin typeface="Cambria Math" panose="02040503050406030204" pitchFamily="18" charset="0"/>
                                </a:rPr>
                                <m:t>𝑇</m:t>
                              </m:r>
                            </m:den>
                          </m:f>
                        </m:num>
                        <m:den>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num>
                            <m:den>
                              <m:r>
                                <a:rPr lang="en-US" sz="3600" b="0" i="1" smtClean="0">
                                  <a:latin typeface="Cambria Math" panose="02040503050406030204" pitchFamily="18" charset="0"/>
                                </a:rPr>
                                <m:t>𝐺</m:t>
                              </m:r>
                            </m:den>
                          </m:f>
                        </m:den>
                      </m:f>
                    </m:oMath>
                  </m:oMathPara>
                </a14:m>
                <a:endParaRPr lang="en-US" sz="3600" b="0" dirty="0"/>
              </a:p>
              <a:p>
                <a:endParaRPr lang="en-US" sz="2400" b="0" i="1" dirty="0">
                  <a:latin typeface="Cambria Math" panose="02040503050406030204" pitchFamily="18" charset="0"/>
                </a:endParaRPr>
              </a:p>
              <a:p>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b="0" dirty="0"/>
              </a:p>
              <a:p>
                <a:endParaRPr lang="en-US" sz="2400" i="1" dirty="0">
                  <a:latin typeface="Cambria Math" panose="02040503050406030204" pitchFamily="18" charset="0"/>
                </a:endParaRPr>
              </a:p>
              <a:p>
                <a14:m>
                  <m:oMathPara xmlns:m="http://schemas.openxmlformats.org/officeDocument/2006/math">
                    <m:oMathParaPr>
                      <m:jc m:val="centerGroup"/>
                    </m:oMathParaPr>
                    <m:oMath xmlns:m="http://schemas.openxmlformats.org/officeDocument/2006/math">
                      <m:sSubSup>
                        <m:sSubSupPr>
                          <m:ctrlPr>
                            <a:rPr lang="en-US" sz="3600" i="1">
                              <a:latin typeface="Cambria Math" panose="02040503050406030204" pitchFamily="18" charset="0"/>
                            </a:rPr>
                          </m:ctrlPr>
                        </m:sSubSupPr>
                        <m:e>
                          <m:r>
                            <a:rPr lang="en-US" sz="3600" i="1">
                              <a:latin typeface="Cambria Math" panose="02040503050406030204" pitchFamily="18" charset="0"/>
                            </a:rPr>
                            <m:t>𝑆</m:t>
                          </m:r>
                        </m:e>
                        <m:sub>
                          <m:r>
                            <a:rPr lang="en-US" sz="3600" i="1">
                              <a:latin typeface="Cambria Math" panose="02040503050406030204" pitchFamily="18" charset="0"/>
                            </a:rPr>
                            <m:t>𝐺</m:t>
                          </m:r>
                        </m:sub>
                        <m:sup>
                          <m:r>
                            <a:rPr lang="en-US" sz="3600" i="1">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𝑑𝑇</m:t>
                          </m:r>
                        </m:num>
                        <m:den>
                          <m:r>
                            <a:rPr lang="en-US" sz="3600" b="0" i="1" smtClean="0">
                              <a:latin typeface="Cambria Math" panose="02040503050406030204" pitchFamily="18" charset="0"/>
                            </a:rPr>
                            <m:t>𝑑𝐺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dirty="0"/>
              </a:p>
            </p:txBody>
          </p:sp>
        </mc:Choice>
        <mc:Fallback>
          <p:sp>
            <p:nvSpPr>
              <p:cNvPr id="3" name="TextBox 2">
                <a:extLst>
                  <a:ext uri="{FF2B5EF4-FFF2-40B4-BE49-F238E27FC236}">
                    <a16:creationId xmlns:a16="http://schemas.microsoft.com/office/drawing/2014/main" id="{954A0FE4-182F-50BD-EFF1-3F64465B626B}"/>
                  </a:ext>
                </a:extLst>
              </p:cNvPr>
              <p:cNvSpPr txBox="1">
                <a:spLocks noRot="1" noChangeAspect="1" noMove="1" noResize="1" noEditPoints="1" noAdjustHandles="1" noChangeArrowheads="1" noChangeShapeType="1" noTextEdit="1"/>
              </p:cNvSpPr>
              <p:nvPr/>
            </p:nvSpPr>
            <p:spPr>
              <a:xfrm>
                <a:off x="5656385" y="905136"/>
                <a:ext cx="2639633" cy="4678397"/>
              </a:xfrm>
              <a:prstGeom prst="rect">
                <a:avLst/>
              </a:prstGeom>
              <a:blipFill>
                <a:blip r:embed="rId2"/>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57817604-C21E-2196-5283-A8A5C3854317}"/>
              </a:ext>
            </a:extLst>
          </p:cNvPr>
          <p:cNvSpPr txBox="1"/>
          <p:nvPr/>
        </p:nvSpPr>
        <p:spPr>
          <a:xfrm>
            <a:off x="8822683" y="1457235"/>
            <a:ext cx="2409491" cy="1200329"/>
          </a:xfrm>
          <a:prstGeom prst="rect">
            <a:avLst/>
          </a:prstGeom>
          <a:noFill/>
        </p:spPr>
        <p:txBody>
          <a:bodyPr wrap="square" rtlCol="0">
            <a:spAutoFit/>
          </a:bodyPr>
          <a:lstStyle/>
          <a:p>
            <a:r>
              <a:rPr lang="en-US" sz="3600" dirty="0"/>
              <a:t>“Sensitivity of T to G”</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F43BB62-3D35-F3FD-2600-0126311C1A7D}"/>
                  </a:ext>
                </a:extLst>
              </p:cNvPr>
              <p:cNvSpPr txBox="1"/>
              <p:nvPr/>
            </p:nvSpPr>
            <p:spPr>
              <a:xfrm>
                <a:off x="8695393" y="3644412"/>
                <a:ext cx="2664069" cy="1200329"/>
              </a:xfrm>
              <a:prstGeom prst="rect">
                <a:avLst/>
              </a:prstGeom>
              <a:noFill/>
              <a:ln>
                <a:solidFill>
                  <a:schemeClr val="tx1"/>
                </a:solidFill>
              </a:ln>
            </p:spPr>
            <p:txBody>
              <a:bodyPr wrap="square" rtlCol="0">
                <a:spAutoFit/>
              </a:bodyPr>
              <a:lstStyle/>
              <a:p>
                <a:r>
                  <a:rPr lang="en-US" dirty="0"/>
                  <a:t>Can be done relative to the entire plant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or to specific parameters in the closed-loop system</a:t>
                </a:r>
              </a:p>
            </p:txBody>
          </p:sp>
        </mc:Choice>
        <mc:Fallback>
          <p:sp>
            <p:nvSpPr>
              <p:cNvPr id="7" name="TextBox 6">
                <a:extLst>
                  <a:ext uri="{FF2B5EF4-FFF2-40B4-BE49-F238E27FC236}">
                    <a16:creationId xmlns:a16="http://schemas.microsoft.com/office/drawing/2014/main" id="{FF43BB62-3D35-F3FD-2600-0126311C1A7D}"/>
                  </a:ext>
                </a:extLst>
              </p:cNvPr>
              <p:cNvSpPr txBox="1">
                <a:spLocks noRot="1" noChangeAspect="1" noMove="1" noResize="1" noEditPoints="1" noAdjustHandles="1" noChangeArrowheads="1" noChangeShapeType="1" noTextEdit="1"/>
              </p:cNvSpPr>
              <p:nvPr/>
            </p:nvSpPr>
            <p:spPr>
              <a:xfrm>
                <a:off x="8695393" y="3644412"/>
                <a:ext cx="2664069" cy="1200329"/>
              </a:xfrm>
              <a:prstGeom prst="rect">
                <a:avLst/>
              </a:prstGeom>
              <a:blipFill>
                <a:blip r:embed="rId3"/>
                <a:stretch>
                  <a:fillRect l="-1595" t="-2010" r="-1595" b="-7035"/>
                </a:stretch>
              </a:blipFill>
              <a:ln>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34940411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15647E8-D01B-281C-8874-A75244FA0AD1}"/>
              </a:ext>
            </a:extLst>
          </p:cNvPr>
          <p:cNvSpPr>
            <a:spLocks noGrp="1"/>
          </p:cNvSpPr>
          <p:nvPr>
            <p:ph type="title"/>
          </p:nvPr>
        </p:nvSpPr>
        <p:spPr/>
        <p:txBody>
          <a:bodyPr/>
          <a:lstStyle/>
          <a:p>
            <a:r>
              <a:rPr lang="en-US" dirty="0"/>
              <a:t>Results</a:t>
            </a:r>
          </a:p>
        </p:txBody>
      </p:sp>
    </p:spTree>
    <p:extLst>
      <p:ext uri="{BB962C8B-B14F-4D97-AF65-F5344CB8AC3E}">
        <p14:creationId xmlns:p14="http://schemas.microsoft.com/office/powerpoint/2010/main" val="78204378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2985</TotalTime>
  <Words>2818</Words>
  <Application>Microsoft Office PowerPoint</Application>
  <PresentationFormat>Widescreen</PresentationFormat>
  <Paragraphs>334</Paragraphs>
  <Slides>28</Slides>
  <Notes>0</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28</vt:i4>
      </vt:variant>
    </vt:vector>
  </HeadingPairs>
  <TitlesOfParts>
    <vt:vector size="35" baseType="lpstr">
      <vt:lpstr>Aptos</vt:lpstr>
      <vt:lpstr>Aptos Display</vt:lpstr>
      <vt:lpstr>Arial</vt:lpstr>
      <vt:lpstr>Cambria Math</vt:lpstr>
      <vt:lpstr>Courier New</vt:lpstr>
      <vt:lpstr>Office Theme</vt:lpstr>
      <vt:lpstr>Packager Shell Object</vt:lpstr>
      <vt:lpstr>UT Robomasters – Supercap Power Stage Modeling</vt:lpstr>
      <vt:lpstr>PLECS Analysis: Toy Models</vt:lpstr>
      <vt:lpstr>List of Topics Relevant to This Presentation</vt:lpstr>
      <vt:lpstr>Section 1: Basics of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Addendum: On Feed-Forward Systems</vt:lpstr>
      <vt:lpstr>Section 2: Reverse Charging and Boost Mode</vt:lpstr>
      <vt:lpstr>Overall System Review: Reverse Charging</vt:lpstr>
      <vt:lpstr>Reverse Charging: Maximum Reverse Current</vt:lpstr>
      <vt:lpstr>Maximum Reverse Current, Continued</vt:lpstr>
      <vt:lpstr>Maximum Reverse Current, Continued</vt:lpstr>
      <vt:lpstr>Reverse Current – Control Schema</vt:lpstr>
      <vt:lpstr>Section 3: Disturbance Rejection &amp; Robustness</vt:lpstr>
      <vt:lpstr>Sources of Inaccuracies: Examples</vt:lpstr>
      <vt:lpstr>Disturbance Rejection - Noise</vt:lpstr>
      <vt:lpstr>Disturbance Rejection – Full Model</vt:lpstr>
      <vt:lpstr>Model Robustness - Sensitivity</vt:lpstr>
      <vt:lpstr>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dhakk</cp:lastModifiedBy>
  <cp:revision>19</cp:revision>
  <dcterms:created xsi:type="dcterms:W3CDTF">2026-03-11T16:16:20Z</dcterms:created>
  <dcterms:modified xsi:type="dcterms:W3CDTF">2026-03-29T07:22:46Z</dcterms:modified>
</cp:coreProperties>
</file>