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2" r:id="rId23"/>
    <p:sldId id="274" r:id="rId24"/>
    <p:sldId id="272" r:id="rId25"/>
    <p:sldId id="283" r:id="rId26"/>
    <p:sldId id="284" r:id="rId27"/>
    <p:sldId id="277" r:id="rId28"/>
    <p:sldId id="285"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84" d="100"/>
          <a:sy n="84" d="100"/>
        </p:scale>
        <p:origin x="61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3/29/2026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3" Type="http://schemas.openxmlformats.org/officeDocument/2006/relationships/image" Target="../media/image31.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0.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[Timothy Yeap, Ethan Chu, Heath </a:t>
            </a:r>
            <a:r>
              <a:rPr lang="en-US" dirty="0" err="1"/>
              <a:t>Luebsen</a:t>
            </a:r>
            <a:r>
              <a:rPr lang="en-US" dirty="0"/>
              <a:t>]</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Freshmen: 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First-order estimates for R approximate its value at 83 m</a:t>
            </a:r>
            <a:r>
              <a:rPr lang="el-GR" sz="1800" dirty="0"/>
              <a:t>Ω</a:t>
            </a:r>
            <a:r>
              <a:rPr lang="en-US" sz="1800"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Font typeface="Arial" panose="020B0604020202020204" pitchFamily="34" charset="0"/>
              <a:buNone/>
            </a:pPr>
            <a:r>
              <a:rPr lang="en-US" sz="1800" dirty="0"/>
              <a:t>To ameliorate this limitation, increasing reverse current would require lower resistance across the RL branch, the lion’s share of which is from the inductor. Maximizing copper area and mitigating skin effects are of utmost importance to optimize performance. </a:t>
            </a:r>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18665"/>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a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xmlns="">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xmlns="">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xmlns="">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xmlns="">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xmlns="">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Sensitivity</a:t>
            </a:r>
          </a:p>
        </p:txBody>
      </p:sp>
      <p:sp>
        <p:nvSpPr>
          <p:cNvPr id="2" name="TextBox 1">
            <a:extLst>
              <a:ext uri="{FF2B5EF4-FFF2-40B4-BE49-F238E27FC236}">
                <a16:creationId xmlns:a16="http://schemas.microsoft.com/office/drawing/2014/main" id="{5D260C9A-99D7-DD80-1DC0-1A1F58A5D09E}"/>
              </a:ext>
            </a:extLst>
          </p:cNvPr>
          <p:cNvSpPr txBox="1"/>
          <p:nvPr/>
        </p:nvSpPr>
        <p:spPr>
          <a:xfrm>
            <a:off x="563727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9A7CD1F-D119-28C8-0094-4E82911D867E}"/>
                  </a:ext>
                </a:extLst>
              </p:cNvPr>
              <p:cNvSpPr txBox="1"/>
              <p:nvPr/>
            </p:nvSpPr>
            <p:spPr>
              <a:xfrm>
                <a:off x="-1003554" y="1546987"/>
                <a:ext cx="6243066" cy="28496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𝑅</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𝐿</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endParaRPr lang="en-US" sz="2400" dirty="0"/>
              </a:p>
            </p:txBody>
          </p:sp>
        </mc:Choice>
        <mc:Fallback>
          <p:sp>
            <p:nvSpPr>
              <p:cNvPr id="4" name="TextBox 3">
                <a:extLst>
                  <a:ext uri="{FF2B5EF4-FFF2-40B4-BE49-F238E27FC236}">
                    <a16:creationId xmlns:a16="http://schemas.microsoft.com/office/drawing/2014/main" id="{D9A7CD1F-D119-28C8-0094-4E82911D867E}"/>
                  </a:ext>
                </a:extLst>
              </p:cNvPr>
              <p:cNvSpPr txBox="1">
                <a:spLocks noRot="1" noChangeAspect="1" noMove="1" noResize="1" noEditPoints="1" noAdjustHandles="1" noChangeArrowheads="1" noChangeShapeType="1" noTextEdit="1"/>
              </p:cNvSpPr>
              <p:nvPr/>
            </p:nvSpPr>
            <p:spPr>
              <a:xfrm>
                <a:off x="-1003554" y="1546987"/>
                <a:ext cx="6243066" cy="284962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25681706-545C-F9C4-0738-F05EF11F5B56}"/>
                  </a:ext>
                </a:extLst>
              </p:cNvPr>
              <p:cNvSpPr txBox="1"/>
              <p:nvPr/>
            </p:nvSpPr>
            <p:spPr>
              <a:xfrm>
                <a:off x="838200" y="4330360"/>
                <a:ext cx="1395603" cy="1961306"/>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p:txBody>
          </p:sp>
        </mc:Choice>
        <mc:Fallback>
          <p:sp>
            <p:nvSpPr>
              <p:cNvPr id="6" name="TextBox 5">
                <a:extLst>
                  <a:ext uri="{FF2B5EF4-FFF2-40B4-BE49-F238E27FC236}">
                    <a16:creationId xmlns:a16="http://schemas.microsoft.com/office/drawing/2014/main" id="{25681706-545C-F9C4-0738-F05EF11F5B56}"/>
                  </a:ext>
                </a:extLst>
              </p:cNvPr>
              <p:cNvSpPr txBox="1">
                <a:spLocks noRot="1" noChangeAspect="1" noMove="1" noResize="1" noEditPoints="1" noAdjustHandles="1" noChangeArrowheads="1" noChangeShapeType="1" noTextEdit="1"/>
              </p:cNvSpPr>
              <p:nvPr/>
            </p:nvSpPr>
            <p:spPr>
              <a:xfrm>
                <a:off x="838200" y="4330360"/>
                <a:ext cx="1395603" cy="1961306"/>
              </a:xfrm>
              <a:prstGeom prst="rect">
                <a:avLst/>
              </a:prstGeom>
              <a:blipFill>
                <a:blip r:embed="rId3"/>
                <a:stretch>
                  <a:fillRect b="-15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B45B785C-3E7E-47DB-B436-8AAC17C038FE}"/>
                  </a:ext>
                </a:extLst>
              </p:cNvPr>
              <p:cNvSpPr txBox="1"/>
              <p:nvPr/>
            </p:nvSpPr>
            <p:spPr>
              <a:xfrm>
                <a:off x="5637276" y="1690688"/>
                <a:ext cx="1957715" cy="227459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𝑅</m:t>
                      </m:r>
                      <m:r>
                        <a:rPr lang="en-US" sz="2400" b="0" i="1" smtClean="0">
                          <a:latin typeface="Cambria Math" panose="02040503050406030204" pitchFamily="18" charset="0"/>
                        </a:rPr>
                        <m:t>=0.08233</m:t>
                      </m:r>
                      <m:r>
                        <m:rPr>
                          <m:sty m:val="p"/>
                        </m:rPr>
                        <a:rPr lang="el-GR" sz="2400" b="0" i="1" smtClean="0">
                          <a:latin typeface="Cambria Math" panose="02040503050406030204" pitchFamily="18" charset="0"/>
                          <a:ea typeface="Cambria Math" panose="02040503050406030204" pitchFamily="18" charset="0"/>
                        </a:rPr>
                        <m:t>Ω</m:t>
                      </m:r>
                    </m:oMath>
                  </m:oMathPara>
                </a14:m>
                <a:endParaRPr lang="en-US" sz="2400" b="0" dirty="0">
                  <a:ea typeface="Cambria Math" panose="02040503050406030204" pitchFamily="18" charset="0"/>
                </a:endParaRPr>
              </a:p>
              <a:p>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r>
                        <a:rPr lang="en-US" sz="2400" b="0" i="1" smtClean="0">
                          <a:latin typeface="Cambria Math" panose="02040503050406030204" pitchFamily="18" charset="0"/>
                        </a:rPr>
                        <m:t>=24</m:t>
                      </m:r>
                      <m:r>
                        <a:rPr lang="en-US" sz="2400" b="0" i="1" smtClean="0">
                          <a:latin typeface="Cambria Math" panose="02040503050406030204" pitchFamily="18" charset="0"/>
                        </a:rPr>
                        <m:t>𝑉</m:t>
                      </m:r>
                    </m:oMath>
                  </m:oMathPara>
                </a14:m>
                <a:endParaRPr lang="en-US" sz="2400" b="0" dirty="0"/>
              </a:p>
              <a:p>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𝐿</m:t>
                      </m:r>
                      <m:r>
                        <a:rPr lang="en-US" sz="2400" b="0" i="1" smtClean="0">
                          <a:latin typeface="Cambria Math" panose="02040503050406030204" pitchFamily="18" charset="0"/>
                        </a:rPr>
                        <m:t>=28.306</m:t>
                      </m:r>
                      <m:r>
                        <a:rPr lang="en-US" sz="2400" b="0" i="1" smtClean="0">
                          <a:latin typeface="Cambria Math" panose="02040503050406030204" pitchFamily="18" charset="0"/>
                          <a:ea typeface="Cambria Math" panose="02040503050406030204" pitchFamily="18" charset="0"/>
                        </a:rPr>
                        <m:t>𝜇</m:t>
                      </m:r>
                      <m:r>
                        <a:rPr lang="en-US" sz="2400" b="0" i="1" smtClean="0">
                          <a:latin typeface="Cambria Math" panose="02040503050406030204" pitchFamily="18" charset="0"/>
                          <a:ea typeface="Cambria Math" panose="02040503050406030204" pitchFamily="18" charset="0"/>
                        </a:rPr>
                        <m:t>𝐹</m:t>
                      </m:r>
                    </m:oMath>
                  </m:oMathPara>
                </a14:m>
                <a:endParaRPr lang="en-US" sz="2400" b="0" dirty="0">
                  <a:ea typeface="Cambria Math" panose="02040503050406030204" pitchFamily="18" charset="0"/>
                </a:endParaRPr>
              </a:p>
              <a:p>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𝑝</m:t>
                          </m:r>
                        </m:sub>
                      </m:sSub>
                      <m:r>
                        <a:rPr lang="en-US" sz="2400" b="0" i="1" smtClean="0">
                          <a:latin typeface="Cambria Math" panose="02040503050406030204" pitchFamily="18" charset="0"/>
                        </a:rPr>
                        <m:t>=2.13422</m:t>
                      </m:r>
                    </m:oMath>
                  </m:oMathPara>
                </a14:m>
                <a:endParaRPr lang="en-US" sz="2400" b="0" dirty="0"/>
              </a:p>
              <a:p>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=6207.54</m:t>
                      </m:r>
                    </m:oMath>
                  </m:oMathPara>
                </a14:m>
                <a:endParaRPr lang="en-US" sz="2400" b="0" dirty="0"/>
              </a:p>
              <a:p>
                <a:endParaRPr lang="en-US" sz="2400" dirty="0"/>
              </a:p>
            </p:txBody>
          </p:sp>
        </mc:Choice>
        <mc:Fallback>
          <p:sp>
            <p:nvSpPr>
              <p:cNvPr id="7" name="TextBox 6">
                <a:extLst>
                  <a:ext uri="{FF2B5EF4-FFF2-40B4-BE49-F238E27FC236}">
                    <a16:creationId xmlns:a16="http://schemas.microsoft.com/office/drawing/2014/main" id="{B45B785C-3E7E-47DB-B436-8AAC17C038FE}"/>
                  </a:ext>
                </a:extLst>
              </p:cNvPr>
              <p:cNvSpPr txBox="1">
                <a:spLocks noRot="1" noChangeAspect="1" noMove="1" noResize="1" noEditPoints="1" noAdjustHandles="1" noChangeArrowheads="1" noChangeShapeType="1" noTextEdit="1"/>
              </p:cNvSpPr>
              <p:nvPr/>
            </p:nvSpPr>
            <p:spPr>
              <a:xfrm>
                <a:off x="5637276" y="1690688"/>
                <a:ext cx="1957715" cy="2274597"/>
              </a:xfrm>
              <a:prstGeom prst="rect">
                <a:avLst/>
              </a:prstGeom>
              <a:blipFill>
                <a:blip r:embed="rId4"/>
                <a:stretch>
                  <a:fillRect l="-3427" r="-342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1A48824-CAE8-9513-0163-F478020AC08D}"/>
              </a:ext>
            </a:extLst>
          </p:cNvPr>
          <p:cNvSpPr txBox="1"/>
          <p:nvPr/>
        </p:nvSpPr>
        <p:spPr>
          <a:xfrm>
            <a:off x="513435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394ADEE-F7B5-EAFC-D0F3-8DD32E5FD6A5}"/>
                  </a:ext>
                </a:extLst>
              </p:cNvPr>
              <p:cNvSpPr txBox="1"/>
              <p:nvPr/>
            </p:nvSpPr>
            <p:spPr>
              <a:xfrm>
                <a:off x="3425381" y="4330360"/>
                <a:ext cx="6633972" cy="164865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a:p>
                <a:pPr/>
                <a:endParaRPr lang="en-US" sz="2400" dirty="0"/>
              </a:p>
            </p:txBody>
          </p:sp>
        </mc:Choice>
        <mc:Fallback>
          <p:sp>
            <p:nvSpPr>
              <p:cNvPr id="10" name="TextBox 9">
                <a:extLst>
                  <a:ext uri="{FF2B5EF4-FFF2-40B4-BE49-F238E27FC236}">
                    <a16:creationId xmlns:a16="http://schemas.microsoft.com/office/drawing/2014/main" id="{0394ADEE-F7B5-EAFC-D0F3-8DD32E5FD6A5}"/>
                  </a:ext>
                </a:extLst>
              </p:cNvPr>
              <p:cNvSpPr txBox="1">
                <a:spLocks noRot="1" noChangeAspect="1" noMove="1" noResize="1" noEditPoints="1" noAdjustHandles="1" noChangeArrowheads="1" noChangeShapeType="1" noTextEdit="1"/>
              </p:cNvSpPr>
              <p:nvPr/>
            </p:nvSpPr>
            <p:spPr>
              <a:xfrm>
                <a:off x="3425381" y="4330360"/>
                <a:ext cx="6633972" cy="164865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20437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2998</TotalTime>
  <Words>2876</Words>
  <Application>Microsoft Office PowerPoint</Application>
  <PresentationFormat>Widescreen</PresentationFormat>
  <Paragraphs>348</Paragraphs>
  <Slides>28</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28</vt:i4>
      </vt:variant>
    </vt:vector>
  </HeadingPairs>
  <TitlesOfParts>
    <vt:vector size="35"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Reverse Current – Control Schema</vt:lpstr>
      <vt:lpstr>Section 3: Disturbance Rejection &amp; Robustness</vt:lpstr>
      <vt:lpstr>Sources of Inaccuracies: Examples</vt:lpstr>
      <vt:lpstr>Disturbance Rejection - Noise</vt:lpstr>
      <vt:lpstr>Disturbance Rejection – Full Model</vt:lpstr>
      <vt:lpstr>Model Robustness - Sensitivity</vt:lpstr>
      <vt:lpstr>Sensitivity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Yeap, Timothy D</cp:lastModifiedBy>
  <cp:revision>20</cp:revision>
  <dcterms:created xsi:type="dcterms:W3CDTF">2026-03-11T16:16:20Z</dcterms:created>
  <dcterms:modified xsi:type="dcterms:W3CDTF">2026-03-29T21:57:55Z</dcterms:modified>
</cp:coreProperties>
</file>