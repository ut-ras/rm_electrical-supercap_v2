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5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61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03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362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05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2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55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27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6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14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25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5691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D478F-B618-A8F3-2C35-06BD5544D3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UT Robomasters – Supercap Power Stage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A6C19F-7071-1C1F-0412-FB8090E6E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Egan Wang (ew23776)</a:t>
            </a:r>
          </a:p>
        </p:txBody>
      </p:sp>
    </p:spTree>
    <p:extLst>
      <p:ext uri="{BB962C8B-B14F-4D97-AF65-F5344CB8AC3E}">
        <p14:creationId xmlns:p14="http://schemas.microsoft.com/office/powerpoint/2010/main" val="323031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5A745-7BF0-A1B6-7231-174460A9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Topology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630530-B4E1-DE36-661C-8CD0B56A1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dirty="0"/>
              <a:t>H-Bridge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switches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 half-bridges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Full-bridge analogue to buck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Voltage across switched nodes can be +Vg, 0, or +Vg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F0BA4D-E20B-F2DC-E856-D9099C36F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489" y="175000"/>
            <a:ext cx="6019723" cy="3059633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4A270B61-CF52-FA0E-48FD-88C2FDA36CCD}"/>
              </a:ext>
            </a:extLst>
          </p:cNvPr>
          <p:cNvGrpSpPr/>
          <p:nvPr/>
        </p:nvGrpSpPr>
        <p:grpSpPr>
          <a:xfrm>
            <a:off x="5878896" y="3690873"/>
            <a:ext cx="4926905" cy="2702023"/>
            <a:chOff x="5934734" y="3531668"/>
            <a:chExt cx="4926905" cy="2702023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B7CBCB-BE40-404D-EE09-4D39BB8E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3584846"/>
              <a:ext cx="2170222" cy="1277897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FAEE1E0-D71F-9794-65C3-5873E2323545}"/>
                </a:ext>
              </a:extLst>
            </p:cNvPr>
            <p:cNvGrpSpPr/>
            <p:nvPr/>
          </p:nvGrpSpPr>
          <p:grpSpPr>
            <a:xfrm>
              <a:off x="6519084" y="3736366"/>
              <a:ext cx="142595" cy="490604"/>
              <a:chOff x="6320118" y="3683188"/>
              <a:chExt cx="142595" cy="490604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A60AACF8-4161-A0B9-A70B-F6449D87CF1F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ECE47650-A04B-6D70-94D8-E2E7F64E4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C0334D8-2C23-298D-043B-1F8A8AB9100C}"/>
                </a:ext>
              </a:extLst>
            </p:cNvPr>
            <p:cNvGrpSpPr/>
            <p:nvPr/>
          </p:nvGrpSpPr>
          <p:grpSpPr>
            <a:xfrm rot="10800000">
              <a:off x="7679017" y="4202033"/>
              <a:ext cx="142595" cy="490604"/>
              <a:chOff x="6320118" y="3683188"/>
              <a:chExt cx="142595" cy="49060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30780A4-D992-86E3-0C32-DB60CEF42F77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E2653BE3-787B-5D05-D1D2-90B3A65945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70A542-6C83-EDCF-C46B-D560799AC16A}"/>
                </a:ext>
              </a:extLst>
            </p:cNvPr>
            <p:cNvSpPr txBox="1"/>
            <p:nvPr/>
          </p:nvSpPr>
          <p:spPr>
            <a:xfrm>
              <a:off x="6837346" y="4331702"/>
              <a:ext cx="56021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+V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9AB4C9-6C90-B3E3-E8B2-1B17772D7E0F}"/>
                </a:ext>
              </a:extLst>
            </p:cNvPr>
            <p:cNvSpPr txBox="1"/>
            <p:nvPr/>
          </p:nvSpPr>
          <p:spPr>
            <a:xfrm>
              <a:off x="6570075" y="412636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C7FDCE-2962-8982-C6F5-9526B0EF6E3E}"/>
                </a:ext>
              </a:extLst>
            </p:cNvPr>
            <p:cNvSpPr txBox="1"/>
            <p:nvPr/>
          </p:nvSpPr>
          <p:spPr>
            <a:xfrm>
              <a:off x="7409989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2F517F6-C492-EB58-8116-8996FA184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89057" y="3588021"/>
              <a:ext cx="2170222" cy="127789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1E2D49-ECBC-E3B4-4628-E1CA66F69AAE}"/>
                </a:ext>
              </a:extLst>
            </p:cNvPr>
            <p:cNvGrpSpPr/>
            <p:nvPr/>
          </p:nvGrpSpPr>
          <p:grpSpPr>
            <a:xfrm>
              <a:off x="9273407" y="3739541"/>
              <a:ext cx="142595" cy="490604"/>
              <a:chOff x="6320118" y="3683188"/>
              <a:chExt cx="142595" cy="490604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AAE98B0-F106-4140-7351-1B5B9EE1A4A3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7CF8AD86-E01D-D3A2-8EF6-04D0FC394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50A0223-3BFC-DF84-6ED8-2C3338010217}"/>
                </a:ext>
              </a:extLst>
            </p:cNvPr>
            <p:cNvSpPr txBox="1"/>
            <p:nvPr/>
          </p:nvSpPr>
          <p:spPr>
            <a:xfrm>
              <a:off x="9744371" y="433170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54E323-AFBE-21EC-63FC-1EE164F89826}"/>
                </a:ext>
              </a:extLst>
            </p:cNvPr>
            <p:cNvSpPr txBox="1"/>
            <p:nvPr/>
          </p:nvSpPr>
          <p:spPr>
            <a:xfrm>
              <a:off x="9324398" y="412954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8EDD51E-2D00-39E4-EA40-5A8AFBBC9153}"/>
                </a:ext>
              </a:extLst>
            </p:cNvPr>
            <p:cNvSpPr txBox="1"/>
            <p:nvPr/>
          </p:nvSpPr>
          <p:spPr>
            <a:xfrm>
              <a:off x="10170218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26C7354-E294-86E6-0213-92846B5D33C2}"/>
                </a:ext>
              </a:extLst>
            </p:cNvPr>
            <p:cNvGrpSpPr/>
            <p:nvPr/>
          </p:nvGrpSpPr>
          <p:grpSpPr>
            <a:xfrm flipH="1">
              <a:off x="10432463" y="3736366"/>
              <a:ext cx="142595" cy="490604"/>
              <a:chOff x="6320118" y="3683188"/>
              <a:chExt cx="142595" cy="490604"/>
            </a:xfrm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0B91AD5-92AA-8B8F-6111-2B864EEC47F0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7C48808-2892-C550-BF12-E454D7CED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4C3D421-D7F0-7EAE-7D95-7E86BE7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4955406"/>
              <a:ext cx="2170222" cy="1277897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3B006E2-F60B-2DA4-0CC5-EF33E8007F8B}"/>
                </a:ext>
              </a:extLst>
            </p:cNvPr>
            <p:cNvGrpSpPr/>
            <p:nvPr/>
          </p:nvGrpSpPr>
          <p:grpSpPr>
            <a:xfrm flipV="1">
              <a:off x="6519084" y="5576664"/>
              <a:ext cx="142595" cy="490604"/>
              <a:chOff x="6320118" y="3683188"/>
              <a:chExt cx="142595" cy="490604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241BCD0-ECED-1212-61CC-3673FE32DC01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0E81F802-6D9A-6D24-671E-E0C936C81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88CA125-D735-A439-9BE4-A86D87DFCCC9}"/>
                </a:ext>
              </a:extLst>
            </p:cNvPr>
            <p:cNvSpPr txBox="1"/>
            <p:nvPr/>
          </p:nvSpPr>
          <p:spPr>
            <a:xfrm>
              <a:off x="6986928" y="570226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57A0F5C-F5C1-12AC-A484-549CA65D87F9}"/>
                </a:ext>
              </a:extLst>
            </p:cNvPr>
            <p:cNvSpPr txBox="1"/>
            <p:nvPr/>
          </p:nvSpPr>
          <p:spPr>
            <a:xfrm>
              <a:off x="6570075" y="54969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29888B7-4E7F-AE75-083C-FE1C35FAB100}"/>
                </a:ext>
              </a:extLst>
            </p:cNvPr>
            <p:cNvSpPr txBox="1"/>
            <p:nvPr/>
          </p:nvSpPr>
          <p:spPr>
            <a:xfrm>
              <a:off x="7409989" y="545696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8C819EE-13E8-219D-3335-38FE63B3C9F9}"/>
                </a:ext>
              </a:extLst>
            </p:cNvPr>
            <p:cNvGrpSpPr/>
            <p:nvPr/>
          </p:nvGrpSpPr>
          <p:grpSpPr>
            <a:xfrm flipH="1" flipV="1">
              <a:off x="7678140" y="5573489"/>
              <a:ext cx="142595" cy="490604"/>
              <a:chOff x="6320118" y="3683188"/>
              <a:chExt cx="142595" cy="49060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1D86095-924F-ED94-5F66-046DC54479F9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3224F0B-78C6-1381-B7A5-D68B13190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1042D71C-8445-FF11-4E97-51D220DB9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417" y="4955794"/>
              <a:ext cx="2170222" cy="127789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2CC8D9D-5B31-3D47-1836-80647CA3A63E}"/>
                </a:ext>
              </a:extLst>
            </p:cNvPr>
            <p:cNvSpPr txBox="1"/>
            <p:nvPr/>
          </p:nvSpPr>
          <p:spPr>
            <a:xfrm>
              <a:off x="9706180" y="5694761"/>
              <a:ext cx="46403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-V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9528D70-D3B6-D3F9-5961-F0BF334E5856}"/>
                </a:ext>
              </a:extLst>
            </p:cNvPr>
            <p:cNvSpPr txBox="1"/>
            <p:nvPr/>
          </p:nvSpPr>
          <p:spPr>
            <a:xfrm>
              <a:off x="9326758" y="5497315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345ED9D-5413-6F53-8065-03EDDF4E9CC7}"/>
                </a:ext>
              </a:extLst>
            </p:cNvPr>
            <p:cNvSpPr txBox="1"/>
            <p:nvPr/>
          </p:nvSpPr>
          <p:spPr>
            <a:xfrm>
              <a:off x="10170218" y="5468575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BFFEA18-D9EC-D99D-6F38-A448BB46E757}"/>
                </a:ext>
              </a:extLst>
            </p:cNvPr>
            <p:cNvGrpSpPr/>
            <p:nvPr/>
          </p:nvGrpSpPr>
          <p:grpSpPr>
            <a:xfrm flipH="1">
              <a:off x="10434823" y="5104139"/>
              <a:ext cx="142595" cy="490604"/>
              <a:chOff x="6320118" y="3683188"/>
              <a:chExt cx="142595" cy="490604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A3DEFBF-F1DB-3792-123F-A169149D717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191179-57F6-7874-B6FB-AFCDB6B3B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EC833D-45AD-23D8-BBEB-9E6484DD8A97}"/>
                </a:ext>
              </a:extLst>
            </p:cNvPr>
            <p:cNvGrpSpPr/>
            <p:nvPr/>
          </p:nvGrpSpPr>
          <p:grpSpPr>
            <a:xfrm flipV="1">
              <a:off x="9271765" y="5580990"/>
              <a:ext cx="142595" cy="490604"/>
              <a:chOff x="6320118" y="3683188"/>
              <a:chExt cx="142595" cy="490604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10986DD2-75A6-5378-5505-57E52B26019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05DC4F9-C55F-9072-5048-E9C63393E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D815993-6A74-13F5-63E7-F6533C2BFACA}"/>
                </a:ext>
              </a:extLst>
            </p:cNvPr>
            <p:cNvSpPr txBox="1"/>
            <p:nvPr/>
          </p:nvSpPr>
          <p:spPr>
            <a:xfrm>
              <a:off x="6567433" y="3531668"/>
              <a:ext cx="11415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low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08A7626-5D19-3EFC-2E9F-DDCCFD5179CC}"/>
                </a:ext>
              </a:extLst>
            </p:cNvPr>
            <p:cNvSpPr txBox="1"/>
            <p:nvPr/>
          </p:nvSpPr>
          <p:spPr>
            <a:xfrm>
              <a:off x="9324398" y="3562038"/>
              <a:ext cx="1196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high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49FF20B-35E3-B32A-0FC5-ECBB7631184C}"/>
                </a:ext>
              </a:extLst>
            </p:cNvPr>
            <p:cNvSpPr txBox="1"/>
            <p:nvPr/>
          </p:nvSpPr>
          <p:spPr>
            <a:xfrm>
              <a:off x="6586770" y="4950186"/>
              <a:ext cx="10765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low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A934DE9-F1D0-F21F-52FF-F75B4F6CF95C}"/>
                </a:ext>
              </a:extLst>
            </p:cNvPr>
            <p:cNvSpPr txBox="1"/>
            <p:nvPr/>
          </p:nvSpPr>
          <p:spPr>
            <a:xfrm>
              <a:off x="9351712" y="4973943"/>
              <a:ext cx="11312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high</a:t>
              </a:r>
            </a:p>
          </p:txBody>
        </p:sp>
      </p:grp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EACD6F68-AD31-9AE4-F895-581F2A1696C1}"/>
              </a:ext>
            </a:extLst>
          </p:cNvPr>
          <p:cNvSpPr/>
          <p:nvPr/>
        </p:nvSpPr>
        <p:spPr>
          <a:xfrm>
            <a:off x="5417116" y="3426869"/>
            <a:ext cx="5850467" cy="3230033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04703D-A5B7-85ED-E03C-28485AC29E4D}"/>
              </a:ext>
            </a:extLst>
          </p:cNvPr>
          <p:cNvSpPr txBox="1"/>
          <p:nvPr/>
        </p:nvSpPr>
        <p:spPr>
          <a:xfrm>
            <a:off x="9463522" y="3435050"/>
            <a:ext cx="1826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Possible Voltages</a:t>
            </a:r>
          </a:p>
        </p:txBody>
      </p:sp>
    </p:spTree>
    <p:extLst>
      <p:ext uri="{BB962C8B-B14F-4D97-AF65-F5344CB8AC3E}">
        <p14:creationId xmlns:p14="http://schemas.microsoft.com/office/powerpoint/2010/main" val="3789560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00598-45B1-B381-FB43-D2AB855E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6BD35-4977-9055-94F0-6AD2C61A8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Half-bridges 1 and 2 are independent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high and both low result in 0 voltage across switch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Duty ratios &lt;2.5% and &gt;97.5% are risky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H-bridge topology allows finer control</a:t>
            </a:r>
          </a:p>
          <a:p>
            <a:r>
              <a:rPr lang="en-US" dirty="0"/>
              <a:t>Control scheme shown on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Duty cycle “seen” across switch nodes labelled as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M(t)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0502B-7230-5267-A45B-8DE580568134}"/>
              </a:ext>
            </a:extLst>
          </p:cNvPr>
          <p:cNvSpPr txBox="1"/>
          <p:nvPr/>
        </p:nvSpPr>
        <p:spPr>
          <a:xfrm>
            <a:off x="7634641" y="647941"/>
            <a:ext cx="1470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Half-bridge 1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Half-bridge 2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84D332-04AA-EBA6-7252-4614FD20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14" t="-685" r="514" b="1376"/>
          <a:stretch>
            <a:fillRect/>
          </a:stretch>
        </p:blipFill>
        <p:spPr>
          <a:xfrm flipH="1">
            <a:off x="6376296" y="1374895"/>
            <a:ext cx="4041935" cy="2054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8D96FD-06D4-0D03-C4A6-054A02ECA043}"/>
              </a:ext>
            </a:extLst>
          </p:cNvPr>
          <p:cNvCxnSpPr>
            <a:cxnSpLocks/>
          </p:cNvCxnSpPr>
          <p:nvPr/>
        </p:nvCxnSpPr>
        <p:spPr>
          <a:xfrm>
            <a:off x="8359163" y="1346440"/>
            <a:ext cx="0" cy="20825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CBC7C4-5DE6-ACF9-D7FA-3FB735EFFC1F}"/>
              </a:ext>
            </a:extLst>
          </p:cNvPr>
          <p:cNvCxnSpPr/>
          <p:nvPr/>
        </p:nvCxnSpPr>
        <p:spPr>
          <a:xfrm>
            <a:off x="8072967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7AF2779-B892-5889-B791-BECC8F4C5E63}"/>
              </a:ext>
            </a:extLst>
          </p:cNvPr>
          <p:cNvCxnSpPr/>
          <p:nvPr/>
        </p:nvCxnSpPr>
        <p:spPr>
          <a:xfrm>
            <a:off x="8369714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7C417D7-308E-F429-978A-9AAAF0E66C44}"/>
              </a:ext>
            </a:extLst>
          </p:cNvPr>
          <p:cNvSpPr txBox="1"/>
          <p:nvPr/>
        </p:nvSpPr>
        <p:spPr>
          <a:xfrm>
            <a:off x="7609296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27AF8C-EF12-3353-4845-EE452C456BA0}"/>
              </a:ext>
            </a:extLst>
          </p:cNvPr>
          <p:cNvSpPr txBox="1"/>
          <p:nvPr/>
        </p:nvSpPr>
        <p:spPr>
          <a:xfrm>
            <a:off x="8376510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FDF89-C29A-0C61-0D3A-19E3C092C549}"/>
              </a:ext>
            </a:extLst>
          </p:cNvPr>
          <p:cNvSpPr txBox="1"/>
          <p:nvPr/>
        </p:nvSpPr>
        <p:spPr>
          <a:xfrm>
            <a:off x="7588488" y="3672632"/>
            <a:ext cx="1556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Halfway point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B9078E-96E0-22B3-3796-BD6D983CAD90}"/>
              </a:ext>
            </a:extLst>
          </p:cNvPr>
          <p:cNvCxnSpPr>
            <a:stCxn id="20" idx="0"/>
          </p:cNvCxnSpPr>
          <p:nvPr/>
        </p:nvCxnSpPr>
        <p:spPr>
          <a:xfrm flipV="1">
            <a:off x="8366522" y="3481168"/>
            <a:ext cx="3192" cy="1914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818B73-AD0D-7A92-AD7E-8F30EB6501EE}"/>
              </a:ext>
            </a:extLst>
          </p:cNvPr>
          <p:cNvSpPr txBox="1"/>
          <p:nvPr/>
        </p:nvSpPr>
        <p:spPr>
          <a:xfrm>
            <a:off x="6087016" y="4233428"/>
            <a:ext cx="46204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Half-bridge 1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+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/>
              <a:t>Half-bridge 2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–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>
                <a:ea typeface="Cambria Math" panose="02040503050406030204" pitchFamily="18" charset="0"/>
              </a:rPr>
              <a:t>Duty cycle “seen” by inductive tank: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2*d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3BD2BD6-3839-DBA1-A1D3-8FE924880947}"/>
              </a:ext>
            </a:extLst>
          </p:cNvPr>
          <p:cNvSpPr/>
          <p:nvPr/>
        </p:nvSpPr>
        <p:spPr>
          <a:xfrm>
            <a:off x="5670176" y="416515"/>
            <a:ext cx="5328024" cy="3657944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54266-2F06-EED9-D8E6-BF96EBFA83CF}"/>
              </a:ext>
            </a:extLst>
          </p:cNvPr>
          <p:cNvSpPr txBox="1"/>
          <p:nvPr/>
        </p:nvSpPr>
        <p:spPr>
          <a:xfrm>
            <a:off x="9452287" y="424696"/>
            <a:ext cx="15680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Scope Reading</a:t>
            </a:r>
          </a:p>
        </p:txBody>
      </p:sp>
    </p:spTree>
    <p:extLst>
      <p:ext uri="{BB962C8B-B14F-4D97-AF65-F5344CB8AC3E}">
        <p14:creationId xmlns:p14="http://schemas.microsoft.com/office/powerpoint/2010/main" val="3662244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734B7-8CDD-AC44-5768-587FD109C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Equivalent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ACA2F-657F-8F9E-37C1-789E0A298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Use SRA analysis and derive KCL- and KVL-like equations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Convert into loops and create ideal transformer model of circuit with gain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1:M(t)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a typeface="Cambria Math" panose="02040503050406030204" pitchFamily="18" charset="0"/>
              </a:rPr>
              <a:t>Transformer model will be useful for reflection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B9D04C-332B-B4D9-A43C-5CF0075FB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306" y="1388615"/>
            <a:ext cx="5173845" cy="17905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39EB99-9A3F-FC2F-4327-A2119B2B4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2729" y="4089616"/>
            <a:ext cx="5299422" cy="1536471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5D18A0-60F6-5F5F-507E-C0F51B01B4CF}"/>
              </a:ext>
            </a:extLst>
          </p:cNvPr>
          <p:cNvSpPr/>
          <p:nvPr/>
        </p:nvSpPr>
        <p:spPr>
          <a:xfrm>
            <a:off x="5842932" y="914367"/>
            <a:ext cx="5634376" cy="2441230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C40E1-B838-D902-AADC-E27EAE8637AE}"/>
              </a:ext>
            </a:extLst>
          </p:cNvPr>
          <p:cNvSpPr txBox="1"/>
          <p:nvPr/>
        </p:nvSpPr>
        <p:spPr>
          <a:xfrm>
            <a:off x="9025290" y="922547"/>
            <a:ext cx="24520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Ideal Transformer Model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4BBEA23-98F6-381D-49D5-B9F521AE7262}"/>
              </a:ext>
            </a:extLst>
          </p:cNvPr>
          <p:cNvSpPr/>
          <p:nvPr/>
        </p:nvSpPr>
        <p:spPr>
          <a:xfrm>
            <a:off x="5842932" y="3696715"/>
            <a:ext cx="5634376" cy="2441230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E9094-3426-7339-42B1-2552156A9C4B}"/>
              </a:ext>
            </a:extLst>
          </p:cNvPr>
          <p:cNvSpPr txBox="1"/>
          <p:nvPr/>
        </p:nvSpPr>
        <p:spPr>
          <a:xfrm>
            <a:off x="8478089" y="3704895"/>
            <a:ext cx="2999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Voltage/Current Source Model</a:t>
            </a:r>
          </a:p>
        </p:txBody>
      </p:sp>
    </p:spTree>
    <p:extLst>
      <p:ext uri="{BB962C8B-B14F-4D97-AF65-F5344CB8AC3E}">
        <p14:creationId xmlns:p14="http://schemas.microsoft.com/office/powerpoint/2010/main" val="3322298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F08C0-4C31-3258-538C-87F883D9B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 Feed-Forward Correction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B7F404-C6A8-F55C-599B-D49A63D12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343400"/>
          </a:xfrm>
        </p:spPr>
        <p:txBody>
          <a:bodyPr>
            <a:normAutofit/>
          </a:bodyPr>
          <a:lstStyle/>
          <a:p>
            <a:r>
              <a:rPr lang="en-US" dirty="0"/>
              <a:t>Split the voltage source on the right into a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V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  <a:r>
              <a:rPr lang="en-US" dirty="0"/>
              <a:t> component and remainder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Remainder voltage has to be equal to voltage across RL branch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 is conserved - take note of the current/voltage behavior of the transformer</a:t>
            </a:r>
          </a:p>
          <a:p>
            <a:r>
              <a:rPr lang="en-US" dirty="0"/>
              <a:t>“Cut out” the capacitor and focus on the RL branch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though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V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c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  <a:r>
              <a:rPr lang="en-US" dirty="0"/>
              <a:t> is time-variant, it changes very slowly and can be treated as constant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Remember to adjust the voltage source on the left side to compensate – reflect the new voltage source by dividing by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M(t)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C2CCF52-D12D-0A2C-D980-D51AA12060D7}"/>
              </a:ext>
            </a:extLst>
          </p:cNvPr>
          <p:cNvGrpSpPr/>
          <p:nvPr/>
        </p:nvGrpSpPr>
        <p:grpSpPr>
          <a:xfrm>
            <a:off x="5791794" y="457200"/>
            <a:ext cx="5524048" cy="3167953"/>
            <a:chOff x="5406297" y="582993"/>
            <a:chExt cx="5945915" cy="340988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518150B-BDB1-3F15-A03A-6552D64AF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6297" y="582993"/>
              <a:ext cx="5945915" cy="3409887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0EA1A0A-2DAA-6803-A020-E8C088E2DC6D}"/>
                </a:ext>
              </a:extLst>
            </p:cNvPr>
            <p:cNvCxnSpPr/>
            <p:nvPr/>
          </p:nvCxnSpPr>
          <p:spPr>
            <a:xfrm>
              <a:off x="8379254" y="2834640"/>
              <a:ext cx="2034746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9005B2B9-8D07-B441-3F0D-FAF6AD166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950" y="4095356"/>
            <a:ext cx="6550895" cy="222080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8DB7471-9C8F-B202-122F-96E0424F4E96}"/>
              </a:ext>
            </a:extLst>
          </p:cNvPr>
          <p:cNvSpPr/>
          <p:nvPr/>
        </p:nvSpPr>
        <p:spPr>
          <a:xfrm>
            <a:off x="5171813" y="224509"/>
            <a:ext cx="6673171" cy="3400644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7B6E84-AAAA-078C-3ED6-4D309500C030}"/>
              </a:ext>
            </a:extLst>
          </p:cNvPr>
          <p:cNvSpPr txBox="1"/>
          <p:nvPr/>
        </p:nvSpPr>
        <p:spPr>
          <a:xfrm>
            <a:off x="9855336" y="215829"/>
            <a:ext cx="1989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Separated Voltages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D770D94-A1A9-31C0-8865-C42439C8FDC9}"/>
              </a:ext>
            </a:extLst>
          </p:cNvPr>
          <p:cNvSpPr/>
          <p:nvPr/>
        </p:nvSpPr>
        <p:spPr>
          <a:xfrm>
            <a:off x="5171813" y="3769342"/>
            <a:ext cx="6673171" cy="2872829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7BA290-B7FD-C284-4F5B-67DCE066346A}"/>
              </a:ext>
            </a:extLst>
          </p:cNvPr>
          <p:cNvSpPr txBox="1"/>
          <p:nvPr/>
        </p:nvSpPr>
        <p:spPr>
          <a:xfrm>
            <a:off x="9918238" y="3760662"/>
            <a:ext cx="19267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Isolated RL Branch</a:t>
            </a:r>
          </a:p>
        </p:txBody>
      </p:sp>
    </p:spTree>
    <p:extLst>
      <p:ext uri="{BB962C8B-B14F-4D97-AF65-F5344CB8AC3E}">
        <p14:creationId xmlns:p14="http://schemas.microsoft.com/office/powerpoint/2010/main" val="3781020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4E1FD39-11C5-9B6F-70C7-3A17F073D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586" y="1562990"/>
            <a:ext cx="5229043" cy="39217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73E8E06-740A-C6E4-702F-64A1F883D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Current Reflection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5CAC862-1F56-86C6-B4FB-147A5A556A64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8" y="2057400"/>
                <a:ext cx="4768252" cy="3811588"/>
              </a:xfrm>
            </p:spPr>
            <p:txBody>
              <a:bodyPr/>
              <a:lstStyle/>
              <a:p>
                <a:r>
                  <a:rPr lang="en-US" dirty="0"/>
                  <a:t>Reflect the voltage source across the transformer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In previous diagram, this is basically already done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Battery current needs to be scaled by turns ratio</a:t>
                </a:r>
              </a:p>
              <a:p>
                <a:r>
                  <a:rPr lang="en-US" b="1" dirty="0"/>
                  <a:t>We have our toy model!</a:t>
                </a:r>
              </a:p>
              <a:p>
                <a:r>
                  <a:rPr lang="en-US" dirty="0"/>
                  <a:t>Write the equation: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𝐸𝑆𝑅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5CAC862-1F56-86C6-B4FB-147A5A556A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8" y="2057400"/>
                <a:ext cx="4768252" cy="3811588"/>
              </a:xfrm>
              <a:blipFill>
                <a:blip r:embed="rId3"/>
                <a:stretch>
                  <a:fillRect l="-767" t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8409507-A64A-2BF0-6820-6E9335A90964}"/>
              </a:ext>
            </a:extLst>
          </p:cNvPr>
          <p:cNvCxnSpPr/>
          <p:nvPr/>
        </p:nvCxnSpPr>
        <p:spPr>
          <a:xfrm flipV="1">
            <a:off x="6874163" y="2401887"/>
            <a:ext cx="0" cy="553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EDFAB4-F136-40CC-BDE8-C3CB1C59B98C}"/>
              </a:ext>
            </a:extLst>
          </p:cNvPr>
          <p:cNvSpPr txBox="1"/>
          <p:nvPr/>
        </p:nvSpPr>
        <p:spPr>
          <a:xfrm>
            <a:off x="6874163" y="2524783"/>
            <a:ext cx="1675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I</a:t>
            </a:r>
            <a:r>
              <a:rPr lang="en-US" sz="1400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RL</a:t>
            </a:r>
            <a:r>
              <a:rPr lang="en-US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(t) = </a:t>
            </a:r>
            <a:r>
              <a:rPr lang="en-US" sz="14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I</a:t>
            </a:r>
            <a:r>
              <a:rPr lang="en-US" sz="1400" baseline="-25000" dirty="0" err="1">
                <a:latin typeface="Cambria Math" panose="02040503050406030204" pitchFamily="18" charset="0"/>
                <a:ea typeface="Cambria Math" panose="02040503050406030204" pitchFamily="18" charset="0"/>
              </a:rPr>
              <a:t>bat</a:t>
            </a:r>
            <a:r>
              <a:rPr lang="en-US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(t)/M(t)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D4D720-73F9-70DE-1C33-07657D3D3165}"/>
              </a:ext>
            </a:extLst>
          </p:cNvPr>
          <p:cNvSpPr/>
          <p:nvPr/>
        </p:nvSpPr>
        <p:spPr>
          <a:xfrm>
            <a:off x="5968767" y="1105654"/>
            <a:ext cx="5658103" cy="4506581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1AFC95-82F6-1485-B4A2-D6939AEA8EAA}"/>
              </a:ext>
            </a:extLst>
          </p:cNvPr>
          <p:cNvSpPr txBox="1"/>
          <p:nvPr/>
        </p:nvSpPr>
        <p:spPr>
          <a:xfrm>
            <a:off x="9549249" y="1096974"/>
            <a:ext cx="2077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Complete Toy Model</a:t>
            </a:r>
          </a:p>
        </p:txBody>
      </p:sp>
    </p:spTree>
    <p:extLst>
      <p:ext uri="{BB962C8B-B14F-4D97-AF65-F5344CB8AC3E}">
        <p14:creationId xmlns:p14="http://schemas.microsoft.com/office/powerpoint/2010/main" val="298441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A9397FD-6232-24E1-7371-1CB2DAE4B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Manipulation &amp; Linearization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414CD6-3E29-4E53-90AC-2403F6AC7867}"/>
                  </a:ext>
                </a:extLst>
              </p:cNvPr>
              <p:cNvSpPr txBox="1"/>
              <p:nvPr/>
            </p:nvSpPr>
            <p:spPr>
              <a:xfrm>
                <a:off x="325772" y="1497959"/>
                <a:ext cx="5531135" cy="47694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From the equation:</a:t>
                </a:r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𝐸𝑆𝑅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Multiply by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M(t):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is quite the nasty equation. It has quadratic terms and a derivative. Let’s define a new variable for the LHS of the equation,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labelled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(t) </a:t>
                </a:r>
                <a:r>
                  <a:rPr lang="en-US" dirty="0">
                    <a:ea typeface="Cambria Math" panose="02040503050406030204" pitchFamily="18" charset="0"/>
                  </a:rPr>
                  <a:t>due to being roughly equivalent to the “transformer reflection” of the voltage gain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M(t)</a:t>
                </a:r>
                <a:r>
                  <a:rPr lang="en-US" dirty="0">
                    <a:ea typeface="Cambria Math" panose="02040503050406030204" pitchFamily="18" charset="0"/>
                  </a:rPr>
                  <a:t>. 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We complete the square and rewrite: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414CD6-3E29-4E53-90AC-2403F6AC7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72" y="1497959"/>
                <a:ext cx="5531135" cy="4769447"/>
              </a:xfrm>
              <a:prstGeom prst="rect">
                <a:avLst/>
              </a:prstGeom>
              <a:blipFill>
                <a:blip r:embed="rId2"/>
                <a:stretch>
                  <a:fillRect l="-881" t="-639" r="-7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1D848D5-0423-53A0-5A72-B9BD907CE0D0}"/>
              </a:ext>
            </a:extLst>
          </p:cNvPr>
          <p:cNvCxnSpPr>
            <a:stCxn id="5" idx="2"/>
          </p:cNvCxnSpPr>
          <p:nvPr/>
        </p:nvCxnSpPr>
        <p:spPr>
          <a:xfrm>
            <a:off x="6096000" y="1690688"/>
            <a:ext cx="0" cy="48569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CB691E-7DF4-C0A2-76BA-F82022134DF6}"/>
                  </a:ext>
                </a:extLst>
              </p:cNvPr>
              <p:cNvSpPr txBox="1"/>
              <p:nvPr/>
            </p:nvSpPr>
            <p:spPr>
              <a:xfrm>
                <a:off x="6335093" y="1497959"/>
                <a:ext cx="5531135" cy="48161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We can the</a:t>
                </a:r>
                <a:r>
                  <a:rPr lang="en-US" dirty="0"/>
                  <a:t>n define an auxiliary variable:</a:t>
                </a:r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Rewrite the KVL equation: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encapsulating the quadratic term within a new variable, we now have only additions, scalar multiplications, and derivatives – the equation is linear! We can now convert to s-domain: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𝐸𝑆𝑅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Rewrite as a transfer function: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𝑏𝑎𝑡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𝑠𝐿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We have a proper transfer function now!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CB691E-7DF4-C0A2-76BA-F82022134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5093" y="1497959"/>
                <a:ext cx="5531135" cy="4816127"/>
              </a:xfrm>
              <a:prstGeom prst="rect">
                <a:avLst/>
              </a:prstGeom>
              <a:blipFill>
                <a:blip r:embed="rId3"/>
                <a:stretch>
                  <a:fillRect l="-881" t="-633" b="-11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A971414-667F-E727-E27C-90430C6E1180}"/>
              </a:ext>
            </a:extLst>
          </p:cNvPr>
          <p:cNvSpPr/>
          <p:nvPr/>
        </p:nvSpPr>
        <p:spPr>
          <a:xfrm>
            <a:off x="7868873" y="5004033"/>
            <a:ext cx="2499920" cy="864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534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EADC2-68B0-6532-35E7-CF00DD941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System Design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251CCB-152F-DE34-5961-AD5C76435645}"/>
                  </a:ext>
                </a:extLst>
              </p:cNvPr>
              <p:cNvSpPr txBox="1"/>
              <p:nvPr/>
            </p:nvSpPr>
            <p:spPr>
              <a:xfrm>
                <a:off x="883299" y="1546789"/>
                <a:ext cx="5531135" cy="32406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We go back to our definition of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(t)</a:t>
                </a:r>
                <a:r>
                  <a:rPr lang="en-US" dirty="0"/>
                  <a:t>:</a:t>
                </a:r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Solve for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M(t):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rad>
                        <m:radPr>
                          <m:deg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ra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will be using the solution with both terms added. (The subtractive solution corresponds to charging the capacitor in reverse, flipping terminal sign polarities.)</a:t>
                </a:r>
              </a:p>
              <a:p>
                <a:r>
                  <a:rPr lang="en-US" dirty="0"/>
                  <a:t>We can thus design our system as a linear black box composed of the linearization above combined with the physical circuitry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.</a:t>
                </a:r>
                <a:endParaRPr lang="en-US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4251CCB-152F-DE34-5961-AD5C764356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299" y="1546789"/>
                <a:ext cx="5531135" cy="3240695"/>
              </a:xfrm>
              <a:prstGeom prst="rect">
                <a:avLst/>
              </a:prstGeom>
              <a:blipFill>
                <a:blip r:embed="rId2"/>
                <a:stretch>
                  <a:fillRect l="-992" t="-1507" b="-22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CB0FA398-799E-7A77-F778-2161B9A3FD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43568" y="1978620"/>
            <a:ext cx="3036250" cy="236967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F40FE7F-D3C4-3706-7EF6-3429C1FE0A19}"/>
              </a:ext>
            </a:extLst>
          </p:cNvPr>
          <p:cNvSpPr/>
          <p:nvPr/>
        </p:nvSpPr>
        <p:spPr>
          <a:xfrm>
            <a:off x="7083764" y="1539426"/>
            <a:ext cx="3755858" cy="2991476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8EF3C7-A77A-C0D7-AAFC-F5BAE12F8737}"/>
              </a:ext>
            </a:extLst>
          </p:cNvPr>
          <p:cNvSpPr txBox="1"/>
          <p:nvPr/>
        </p:nvSpPr>
        <p:spPr>
          <a:xfrm>
            <a:off x="8623759" y="1562705"/>
            <a:ext cx="22158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Linearization +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95A952-FF7D-4119-710B-6A12A831F611}"/>
                  </a:ext>
                </a:extLst>
              </p:cNvPr>
              <p:cNvSpPr txBox="1"/>
              <p:nvPr/>
            </p:nvSpPr>
            <p:spPr>
              <a:xfrm>
                <a:off x="7861597" y="997068"/>
                <a:ext cx="1939505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)⇔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95A952-FF7D-4119-710B-6A12A831F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1597" y="997068"/>
                <a:ext cx="1939505" cy="369332"/>
              </a:xfrm>
              <a:prstGeom prst="rect">
                <a:avLst/>
              </a:prstGeom>
              <a:blipFill>
                <a:blip r:embed="rId4"/>
                <a:stretch>
                  <a:fillRect l="-1563" r="-5000" b="-3064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706548C-B0AA-8704-F9CE-75D1C08D2DD5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84432" y="4638011"/>
            <a:ext cx="298948" cy="29894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A2EFFA2-D65D-0567-9668-053E42474B20}"/>
                  </a:ext>
                </a:extLst>
              </p:cNvPr>
              <p:cNvSpPr txBox="1"/>
              <p:nvPr/>
            </p:nvSpPr>
            <p:spPr>
              <a:xfrm>
                <a:off x="7514502" y="4645184"/>
                <a:ext cx="2894382" cy="148188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𝑏𝑎𝑡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𝑏𝑎𝑡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𝑠𝐿</m:t>
                          </m:r>
                        </m:den>
                      </m:f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A2EFFA2-D65D-0567-9668-053E42474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502" y="4645184"/>
                <a:ext cx="2894382" cy="1481881"/>
              </a:xfrm>
              <a:prstGeom prst="rect">
                <a:avLst/>
              </a:prstGeom>
              <a:blipFill>
                <a:blip r:embed="rId5"/>
                <a:stretch>
                  <a:fillRect l="-420" r="-315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710BFE7-76AC-FECD-5F6D-75380C9171A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888960" y="1179750"/>
            <a:ext cx="298948" cy="29894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4788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529</TotalTime>
  <Words>760</Words>
  <Application>Microsoft Office PowerPoint</Application>
  <PresentationFormat>Widescreen</PresentationFormat>
  <Paragraphs>99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UT Robomasters – Supercap Power Stage Modeling</vt:lpstr>
      <vt:lpstr>Overview of Topology</vt:lpstr>
      <vt:lpstr>Duty Cycle Control</vt:lpstr>
      <vt:lpstr>Transformer Equivalent</vt:lpstr>
      <vt:lpstr>Capacitor Feed-Forward Correction</vt:lpstr>
      <vt:lpstr>Battery Current Reflection</vt:lpstr>
      <vt:lpstr>Algebraic Manipulation &amp; Linearization</vt:lpstr>
      <vt:lpstr>Overall System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dhakk</dc:creator>
  <cp:lastModifiedBy>dhakk</cp:lastModifiedBy>
  <cp:revision>4</cp:revision>
  <dcterms:created xsi:type="dcterms:W3CDTF">2026-03-11T16:16:20Z</dcterms:created>
  <dcterms:modified xsi:type="dcterms:W3CDTF">2026-03-12T03:23:09Z</dcterms:modified>
</cp:coreProperties>
</file>