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86" r:id="rId4"/>
    <p:sldId id="271" r:id="rId5"/>
    <p:sldId id="257" r:id="rId6"/>
    <p:sldId id="259" r:id="rId7"/>
    <p:sldId id="258" r:id="rId8"/>
    <p:sldId id="260" r:id="rId9"/>
    <p:sldId id="261" r:id="rId10"/>
    <p:sldId id="262" r:id="rId11"/>
    <p:sldId id="263" r:id="rId12"/>
    <p:sldId id="264" r:id="rId13"/>
    <p:sldId id="265" r:id="rId14"/>
    <p:sldId id="267" r:id="rId15"/>
    <p:sldId id="268" r:id="rId16"/>
    <p:sldId id="273" r:id="rId17"/>
    <p:sldId id="270" r:id="rId18"/>
    <p:sldId id="279" r:id="rId19"/>
    <p:sldId id="278" r:id="rId20"/>
    <p:sldId id="280" r:id="rId21"/>
    <p:sldId id="281" r:id="rId22"/>
    <p:sldId id="282" r:id="rId23"/>
    <p:sldId id="274" r:id="rId24"/>
    <p:sldId id="272" r:id="rId25"/>
    <p:sldId id="283" r:id="rId26"/>
    <p:sldId id="284" r:id="rId27"/>
    <p:sldId id="277" r:id="rId28"/>
    <p:sldId id="285" r:id="rId29"/>
    <p:sldId id="28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84" d="100"/>
          <a:sy n="84" d="100"/>
        </p:scale>
        <p:origin x="61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3/29/2026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3/29/2026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3/29/2026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3/29/2026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3/29/2026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5" Type="http://schemas.openxmlformats.org/officeDocument/2006/relationships/image" Target="../media/image150.png"/><Relationship Id="rId4" Type="http://schemas.openxmlformats.org/officeDocument/2006/relationships/image" Target="../media/image140.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slideLayout" Target="../slideLayouts/slideLayout6.xml"/><Relationship Id="rId1" Type="http://schemas.openxmlformats.org/officeDocument/2006/relationships/video" Target="https://www.youtube.com/embed/ITo-WbpANi0?feature=oembed"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image" Target="../media/image41.png"/><Relationship Id="rId3" Type="http://schemas.openxmlformats.org/officeDocument/2006/relationships/image" Target="../media/image31.png"/><Relationship Id="rId7" Type="http://schemas.openxmlformats.org/officeDocument/2006/relationships/image" Target="../media/image35.png"/><Relationship Id="rId12" Type="http://schemas.openxmlformats.org/officeDocument/2006/relationships/image" Target="../media/image40.png"/><Relationship Id="rId17" Type="http://schemas.openxmlformats.org/officeDocument/2006/relationships/image" Target="../media/image45.png"/><Relationship Id="rId2" Type="http://schemas.openxmlformats.org/officeDocument/2006/relationships/image" Target="../media/image30.png"/><Relationship Id="rId16" Type="http://schemas.openxmlformats.org/officeDocument/2006/relationships/image" Target="../media/image44.png"/><Relationship Id="rId1" Type="http://schemas.openxmlformats.org/officeDocument/2006/relationships/slideLayout" Target="../slideLayouts/slideLayout8.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5" Type="http://schemas.openxmlformats.org/officeDocument/2006/relationships/image" Target="../media/image43.png"/><Relationship Id="rId10" Type="http://schemas.openxmlformats.org/officeDocument/2006/relationships/image" Target="../media/image38.png"/><Relationship Id="rId4" Type="http://schemas.openxmlformats.org/officeDocument/2006/relationships/image" Target="../media/image32.png"/><Relationship Id="rId9" Type="http://schemas.openxmlformats.org/officeDocument/2006/relationships/image" Target="../media/image37.png"/><Relationship Id="rId14" Type="http://schemas.openxmlformats.org/officeDocument/2006/relationships/image" Target="../media/image42.png"/></Relationships>
</file>

<file path=ppt/slides/_rels/slide26.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7.png"/><Relationship Id="rId7" Type="http://schemas.openxmlformats.org/officeDocument/2006/relationships/image" Target="../media/image51.png"/><Relationship Id="rId12" Type="http://schemas.openxmlformats.org/officeDocument/2006/relationships/image" Target="../media/image56.png"/><Relationship Id="rId2" Type="http://schemas.openxmlformats.org/officeDocument/2006/relationships/image" Target="../media/image46.png"/><Relationship Id="rId1" Type="http://schemas.openxmlformats.org/officeDocument/2006/relationships/slideLayout" Target="../slideLayouts/slideLayout6.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 Id="rId14" Type="http://schemas.openxmlformats.org/officeDocument/2006/relationships/image" Target="../media/image58.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6.xml"/><Relationship Id="rId5" Type="http://schemas.openxmlformats.org/officeDocument/2006/relationships/image" Target="../media/image64.png"/><Relationship Id="rId4" Type="http://schemas.openxmlformats.org/officeDocument/2006/relationships/image" Target="../media/image63.png"/></Relationships>
</file>

<file path=ppt/slides/_rels/slide2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6.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[Timothy Yeap, Ethan Chu, Heath </a:t>
            </a:r>
            <a:r>
              <a:rPr lang="en-US" dirty="0" err="1"/>
              <a:t>Luebsen</a:t>
            </a:r>
            <a:r>
              <a:rPr lang="en-US" dirty="0"/>
              <a:t>]</a:t>
            </a:r>
          </a:p>
        </p:txBody>
      </p:sp>
      <p:sp>
        <p:nvSpPr>
          <p:cNvPr id="4" name="Rectangle 3">
            <a:extLst>
              <a:ext uri="{FF2B5EF4-FFF2-40B4-BE49-F238E27FC236}">
                <a16:creationId xmlns:a16="http://schemas.microsoft.com/office/drawing/2014/main" id="{A0949B7C-CD71-55A4-B144-0777F760504B}"/>
              </a:ext>
            </a:extLst>
          </p:cNvPr>
          <p:cNvSpPr/>
          <p:nvPr/>
        </p:nvSpPr>
        <p:spPr>
          <a:xfrm>
            <a:off x="6442744" y="5134061"/>
            <a:ext cx="4362275" cy="11115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Freshmen: If you can see this, get your butt to work on disturbance rejection and robustness modeling so I can put your name on here</a:t>
            </a:r>
          </a:p>
        </p:txBody>
      </p:sp>
      <p:cxnSp>
        <p:nvCxnSpPr>
          <p:cNvPr id="6" name="Straight Arrow Connector 5">
            <a:extLst>
              <a:ext uri="{FF2B5EF4-FFF2-40B4-BE49-F238E27FC236}">
                <a16:creationId xmlns:a16="http://schemas.microsoft.com/office/drawing/2014/main" id="{B7341F1D-D4CF-FC90-4073-E1ADC43AFF15}"/>
              </a:ext>
            </a:extLst>
          </p:cNvPr>
          <p:cNvCxnSpPr>
            <a:cxnSpLocks/>
            <a:stCxn id="4" idx="0"/>
          </p:cNvCxnSpPr>
          <p:nvPr/>
        </p:nvCxnSpPr>
        <p:spPr>
          <a:xfrm flipH="1" flipV="1">
            <a:off x="7650760" y="4286774"/>
            <a:ext cx="973122" cy="847287"/>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75C05-D53A-EB7B-0259-F9E892597A12}"/>
              </a:ext>
            </a:extLst>
          </p:cNvPr>
          <p:cNvSpPr>
            <a:spLocks noGrp="1"/>
          </p:cNvSpPr>
          <p:nvPr>
            <p:ph type="title"/>
          </p:nvPr>
        </p:nvSpPr>
        <p:spPr/>
        <p:txBody>
          <a:bodyPr/>
          <a:lstStyle/>
          <a:p>
            <a:r>
              <a:rPr lang="en-US" dirty="0"/>
              <a:t>List of Topics Relevant to This Presentation</a:t>
            </a:r>
          </a:p>
        </p:txBody>
      </p:sp>
      <p:sp>
        <p:nvSpPr>
          <p:cNvPr id="3" name="Content Placeholder 2">
            <a:extLst>
              <a:ext uri="{FF2B5EF4-FFF2-40B4-BE49-F238E27FC236}">
                <a16:creationId xmlns:a16="http://schemas.microsoft.com/office/drawing/2014/main" id="{A04F342F-E6CE-DD03-4519-3357C6F9C431}"/>
              </a:ext>
            </a:extLst>
          </p:cNvPr>
          <p:cNvSpPr>
            <a:spLocks noGrp="1"/>
          </p:cNvSpPr>
          <p:nvPr>
            <p:ph idx="1"/>
          </p:nvPr>
        </p:nvSpPr>
        <p:spPr/>
        <p:txBody>
          <a:bodyPr>
            <a:normAutofit fontScale="92500" lnSpcReduction="10000"/>
          </a:bodyPr>
          <a:lstStyle/>
          <a:p>
            <a:pPr marL="0" indent="0">
              <a:buNone/>
            </a:pPr>
            <a:r>
              <a:rPr lang="en-US" dirty="0"/>
              <a:t>Make sure you have at least basic knowledge of these concepts so that you can understand the content in this presentation:</a:t>
            </a:r>
          </a:p>
          <a:p>
            <a:r>
              <a:rPr lang="en-US" dirty="0"/>
              <a:t>SRA calculations</a:t>
            </a:r>
          </a:p>
          <a:p>
            <a:r>
              <a:rPr lang="en-US" dirty="0"/>
              <a:t>Ideal transformer modeling</a:t>
            </a:r>
          </a:p>
          <a:p>
            <a:r>
              <a:rPr lang="en-US" dirty="0"/>
              <a:t>Laplace transforms</a:t>
            </a:r>
          </a:p>
          <a:p>
            <a:r>
              <a:rPr lang="en-US" dirty="0"/>
              <a:t>Transfer functions and closed-loop systems</a:t>
            </a:r>
          </a:p>
          <a:p>
            <a:pPr marL="0" indent="0">
              <a:buNone/>
            </a:pPr>
            <a:r>
              <a:rPr lang="en-US" dirty="0"/>
              <a:t>Make sure you are </a:t>
            </a:r>
            <a:r>
              <a:rPr lang="en-US" b="1" dirty="0"/>
              <a:t>very familiar </a:t>
            </a:r>
            <a:r>
              <a:rPr lang="en-US" dirty="0"/>
              <a:t>with these concepts:</a:t>
            </a:r>
          </a:p>
          <a:p>
            <a:r>
              <a:rPr lang="en-US" dirty="0"/>
              <a:t>KVL and KCL</a:t>
            </a:r>
          </a:p>
          <a:p>
            <a:r>
              <a:rPr lang="en-US" dirty="0"/>
              <a:t>Algebraic manipulation</a:t>
            </a:r>
          </a:p>
          <a:p>
            <a:r>
              <a:rPr lang="en-US" dirty="0"/>
              <a:t>Differential and integral calculus</a:t>
            </a:r>
          </a:p>
        </p:txBody>
      </p:sp>
    </p:spTree>
    <p:extLst>
      <p:ext uri="{BB962C8B-B14F-4D97-AF65-F5344CB8AC3E}">
        <p14:creationId xmlns:p14="http://schemas.microsoft.com/office/powerpoint/2010/main" val="32592693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Basics of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3850045786"/>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0" name=""/>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we find out that the term is negligible anyway. Consider this an exercise for the reader to prove,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7390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468963"/>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i="1">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468963"/>
              </a:xfrm>
              <a:prstGeom prst="rect">
                <a:avLst/>
              </a:prstGeom>
              <a:blipFill>
                <a:blip r:embed="rId2"/>
                <a:stretch>
                  <a:fillRect l="-992" t="-1406" b="-210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952413" y="587369"/>
            <a:ext cx="2800317" cy="861774"/>
          </a:xfrm>
          <a:prstGeom prst="rect">
            <a:avLst/>
          </a:prstGeom>
          <a:noFill/>
        </p:spPr>
        <p:txBody>
          <a:bodyPr wrap="none" rtlCol="0">
            <a:spAutoFit/>
          </a:bodyPr>
          <a:lstStyle/>
          <a:p>
            <a:pPr algn="r"/>
            <a:r>
              <a:rPr lang="en-US" sz="1600" dirty="0"/>
              <a:t>Response to 3.75A step input</a:t>
            </a:r>
          </a:p>
          <a:p>
            <a:pPr algn="r"/>
            <a:r>
              <a:rPr lang="en-US" sz="1600" dirty="0"/>
              <a:t>FF+PI performance is in </a:t>
            </a:r>
            <a:r>
              <a:rPr lang="en-US" sz="1600" dirty="0">
                <a:solidFill>
                  <a:srgbClr val="00B050"/>
                </a:solidFill>
              </a:rPr>
              <a:t>green</a:t>
            </a:r>
          </a:p>
          <a:p>
            <a:pPr algn="r"/>
            <a:r>
              <a:rPr lang="en-US" sz="1600" dirty="0"/>
              <a:t>PI</a:t>
            </a:r>
            <a:r>
              <a:rPr lang="en-US" sz="1600" baseline="30000" dirty="0"/>
              <a:t>2</a:t>
            </a:r>
            <a:r>
              <a:rPr lang="en-US" sz="1600" dirty="0"/>
              <a:t> performance is in </a:t>
            </a:r>
            <a:r>
              <a:rPr lang="en-US" sz="1600"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a:xfrm>
            <a:off x="839788" y="403123"/>
            <a:ext cx="3932237" cy="848032"/>
          </a:xfrm>
        </p:spPr>
        <p:txBody>
          <a:bodyPr/>
          <a:lstStyle/>
          <a:p>
            <a:r>
              <a:rPr lang="en-US" dirty="0"/>
              <a:t>Time-Domain Analysis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a:xfrm>
                <a:off x="839788" y="1251155"/>
                <a:ext cx="3932237" cy="4490884"/>
              </a:xfrm>
            </p:spPr>
            <p:txBody>
              <a:bodyPr>
                <a:normAutofit/>
              </a:bodyPr>
              <a:lstStyle/>
              <a:p>
                <a:r>
                  <a:rPr lang="en-US" dirty="0"/>
                  <a:t>Remember that asterisk? What we did was assume that</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Notice that this integral term corresponds precisely to the voltage term that was accounted for with a feed-forward signal! </a:t>
                </a:r>
              </a:p>
              <a:p>
                <a:r>
                  <a:rPr lang="en-US" dirty="0"/>
                  <a:t>Therefore, going forward, our best bet is to stick with FF+PI control. </a:t>
                </a:r>
              </a:p>
              <a:p>
                <a:r>
                  <a:rPr lang="en-US" dirty="0"/>
                  <a:t>Note: If y’all can figure out a way to get a more accurate representation of the system and get a feasible implementation of PI</a:t>
                </a:r>
                <a:r>
                  <a:rPr lang="en-US" baseline="30000" dirty="0"/>
                  <a:t>2</a:t>
                </a:r>
                <a:r>
                  <a:rPr lang="en-US" dirty="0"/>
                  <a:t> control, please let me know</a:t>
                </a:r>
              </a:p>
            </p:txBody>
          </p:sp>
        </mc:Choice>
        <mc:Fallback xmlns="">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xfrm>
                <a:off x="839788" y="1251155"/>
                <a:ext cx="3932237" cy="4490884"/>
              </a:xfrm>
              <a:blipFill>
                <a:blip r:embed="rId2"/>
                <a:stretch>
                  <a:fillRect l="-9302" t="-12347"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55445" y="1251155"/>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8E09-6462-C114-BB7E-1DA5A04BEAB9}"/>
              </a:ext>
            </a:extLst>
          </p:cNvPr>
          <p:cNvSpPr>
            <a:spLocks noGrp="1"/>
          </p:cNvSpPr>
          <p:nvPr>
            <p:ph type="title"/>
          </p:nvPr>
        </p:nvSpPr>
        <p:spPr/>
        <p:txBody>
          <a:bodyPr/>
          <a:lstStyle/>
          <a:p>
            <a:r>
              <a:rPr lang="en-US" dirty="0"/>
              <a:t>Addendum: On Feed-Forward Systems</a:t>
            </a:r>
          </a:p>
        </p:txBody>
      </p:sp>
      <p:sp>
        <p:nvSpPr>
          <p:cNvPr id="3" name="Content Placeholder 2">
            <a:extLst>
              <a:ext uri="{FF2B5EF4-FFF2-40B4-BE49-F238E27FC236}">
                <a16:creationId xmlns:a16="http://schemas.microsoft.com/office/drawing/2014/main" id="{333F89A1-3EA7-E57C-621F-60AFC6CB7643}"/>
              </a:ext>
            </a:extLst>
          </p:cNvPr>
          <p:cNvSpPr>
            <a:spLocks noGrp="1"/>
          </p:cNvSpPr>
          <p:nvPr>
            <p:ph idx="1"/>
          </p:nvPr>
        </p:nvSpPr>
        <p:spPr/>
        <p:txBody>
          <a:bodyPr/>
          <a:lstStyle/>
          <a:p>
            <a:pPr marL="0" indent="0">
              <a:buNone/>
            </a:pPr>
            <a:r>
              <a:rPr lang="en-US" dirty="0"/>
              <a:t>In general, feed-forward systems are a way to perform </a:t>
            </a:r>
            <a:r>
              <a:rPr lang="en-US" i="1" dirty="0"/>
              <a:t>disturbance rejection</a:t>
            </a:r>
            <a:r>
              <a:rPr lang="en-US" dirty="0"/>
              <a:t>, where extraneous signals that result from interactions of the system with itself and surroundings (known as disturbances) have their undesirable effects minimized. This particular approach directly measures the quantity in question (capacitor voltage) and subtracts it – pretty intuitive. </a:t>
            </a:r>
          </a:p>
          <a:p>
            <a:pPr marL="0" indent="0">
              <a:buNone/>
            </a:pPr>
            <a:r>
              <a:rPr lang="en-US" dirty="0"/>
              <a:t>A question I answered and  found pertinent to include: Why not feed-forward the inductor current? The inductor current is the “through” variable for the entire RLC branch, so performing feed-forward cancellation would result in a controlled current of 0.</a:t>
            </a:r>
          </a:p>
        </p:txBody>
      </p:sp>
    </p:spTree>
    <p:extLst>
      <p:ext uri="{BB962C8B-B14F-4D97-AF65-F5344CB8AC3E}">
        <p14:creationId xmlns:p14="http://schemas.microsoft.com/office/powerpoint/2010/main" val="38668669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Reverse Charging and Boost Mode</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PLECs moment</a:t>
            </a:r>
          </a:p>
        </p:txBody>
      </p:sp>
    </p:spTree>
    <p:extLst>
      <p:ext uri="{BB962C8B-B14F-4D97-AF65-F5344CB8AC3E}">
        <p14:creationId xmlns:p14="http://schemas.microsoft.com/office/powerpoint/2010/main" val="26985407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6C4E-A3D7-60EC-EF35-CD3B548B4F37}"/>
              </a:ext>
            </a:extLst>
          </p:cNvPr>
          <p:cNvSpPr>
            <a:spLocks noGrp="1"/>
          </p:cNvSpPr>
          <p:nvPr>
            <p:ph type="title"/>
          </p:nvPr>
        </p:nvSpPr>
        <p:spPr/>
        <p:txBody>
          <a:bodyPr/>
          <a:lstStyle/>
          <a:p>
            <a:r>
              <a:rPr lang="en-US" dirty="0"/>
              <a:t>Overall System Review: Reverse Charging</a:t>
            </a:r>
          </a:p>
        </p:txBody>
      </p:sp>
      <p:sp>
        <p:nvSpPr>
          <p:cNvPr id="4" name="Text Placeholder 3">
            <a:extLst>
              <a:ext uri="{FF2B5EF4-FFF2-40B4-BE49-F238E27FC236}">
                <a16:creationId xmlns:a16="http://schemas.microsoft.com/office/drawing/2014/main" id="{EBCDFBF2-D857-ADB2-C3BB-EDC8E81B86B3}"/>
              </a:ext>
            </a:extLst>
          </p:cNvPr>
          <p:cNvSpPr>
            <a:spLocks noGrp="1"/>
          </p:cNvSpPr>
          <p:nvPr>
            <p:ph type="body" sz="half" idx="2"/>
          </p:nvPr>
        </p:nvSpPr>
        <p:spPr/>
        <p:txBody>
          <a:bodyPr/>
          <a:lstStyle/>
          <a:p>
            <a:r>
              <a:rPr lang="en-US" dirty="0"/>
              <a:t>Whole system works as parallel sources</a:t>
            </a:r>
          </a:p>
          <a:p>
            <a:pPr marL="285750" indent="-285750">
              <a:buFont typeface="Arial" panose="020B0604020202020204" pitchFamily="34" charset="0"/>
              <a:buChar char="•"/>
            </a:pPr>
            <a:r>
              <a:rPr lang="en-US" dirty="0"/>
              <a:t>Nodes between battery, converter, and load use KCL to divide current</a:t>
            </a:r>
          </a:p>
          <a:p>
            <a:pPr marL="285750" indent="-285750">
              <a:buFont typeface="Arial" panose="020B0604020202020204" pitchFamily="34" charset="0"/>
              <a:buChar char="•"/>
            </a:pPr>
            <a:r>
              <a:rPr lang="en-US" dirty="0"/>
              <a:t>No qualitative distinction between forward charging (storing excess energy) and reverse charging (releasing needed energy)</a:t>
            </a:r>
          </a:p>
          <a:p>
            <a:r>
              <a:rPr lang="en-US" dirty="0"/>
              <a:t>System must work seamlessly between both forward and reverse to allow current control behavior</a:t>
            </a:r>
          </a:p>
        </p:txBody>
      </p:sp>
      <p:grpSp>
        <p:nvGrpSpPr>
          <p:cNvPr id="25" name="Group 24">
            <a:extLst>
              <a:ext uri="{FF2B5EF4-FFF2-40B4-BE49-F238E27FC236}">
                <a16:creationId xmlns:a16="http://schemas.microsoft.com/office/drawing/2014/main" id="{55B2F12C-DB34-F536-02EC-9E1B88FF791D}"/>
              </a:ext>
            </a:extLst>
          </p:cNvPr>
          <p:cNvGrpSpPr/>
          <p:nvPr/>
        </p:nvGrpSpPr>
        <p:grpSpPr>
          <a:xfrm>
            <a:off x="5357118" y="1499088"/>
            <a:ext cx="6216163" cy="4157297"/>
            <a:chOff x="5704740" y="2180492"/>
            <a:chExt cx="6216163" cy="4157297"/>
          </a:xfrm>
        </p:grpSpPr>
        <p:sp>
          <p:nvSpPr>
            <p:cNvPr id="5" name="Rectangle 4">
              <a:extLst>
                <a:ext uri="{FF2B5EF4-FFF2-40B4-BE49-F238E27FC236}">
                  <a16:creationId xmlns:a16="http://schemas.microsoft.com/office/drawing/2014/main" id="{4333A17A-F7FF-003C-D65A-87EE3A9A56CE}"/>
                </a:ext>
              </a:extLst>
            </p:cNvPr>
            <p:cNvSpPr/>
            <p:nvPr/>
          </p:nvSpPr>
          <p:spPr>
            <a:xfrm>
              <a:off x="5704740"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Battery</a:t>
              </a:r>
            </a:p>
          </p:txBody>
        </p:sp>
        <p:sp>
          <p:nvSpPr>
            <p:cNvPr id="7" name="Rectangle 6">
              <a:extLst>
                <a:ext uri="{FF2B5EF4-FFF2-40B4-BE49-F238E27FC236}">
                  <a16:creationId xmlns:a16="http://schemas.microsoft.com/office/drawing/2014/main" id="{8BA743D7-F146-C8E8-8E8B-27294E452D15}"/>
                </a:ext>
              </a:extLst>
            </p:cNvPr>
            <p:cNvSpPr/>
            <p:nvPr/>
          </p:nvSpPr>
          <p:spPr>
            <a:xfrm>
              <a:off x="10008576"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Load</a:t>
              </a:r>
            </a:p>
          </p:txBody>
        </p:sp>
        <p:sp>
          <p:nvSpPr>
            <p:cNvPr id="8" name="Rectangle 7">
              <a:extLst>
                <a:ext uri="{FF2B5EF4-FFF2-40B4-BE49-F238E27FC236}">
                  <a16:creationId xmlns:a16="http://schemas.microsoft.com/office/drawing/2014/main" id="{DB6A3E24-0326-F016-C421-9BCF44EF3E29}"/>
                </a:ext>
              </a:extLst>
            </p:cNvPr>
            <p:cNvSpPr/>
            <p:nvPr/>
          </p:nvSpPr>
          <p:spPr>
            <a:xfrm>
              <a:off x="8533666" y="442546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Converter</a:t>
              </a:r>
            </a:p>
          </p:txBody>
        </p:sp>
        <p:cxnSp>
          <p:nvCxnSpPr>
            <p:cNvPr id="10" name="Straight Connector 9">
              <a:extLst>
                <a:ext uri="{FF2B5EF4-FFF2-40B4-BE49-F238E27FC236}">
                  <a16:creationId xmlns:a16="http://schemas.microsoft.com/office/drawing/2014/main" id="{0960E20F-B69F-93E3-8741-69730F35434E}"/>
                </a:ext>
              </a:extLst>
            </p:cNvPr>
            <p:cNvCxnSpPr>
              <a:cxnSpLocks/>
            </p:cNvCxnSpPr>
            <p:nvPr/>
          </p:nvCxnSpPr>
          <p:spPr>
            <a:xfrm>
              <a:off x="7617067" y="2773973"/>
              <a:ext cx="2397371"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42ABB98-1804-4EB7-D248-24B0183B5E07}"/>
                </a:ext>
              </a:extLst>
            </p:cNvPr>
            <p:cNvCxnSpPr>
              <a:cxnSpLocks/>
            </p:cNvCxnSpPr>
            <p:nvPr/>
          </p:nvCxnSpPr>
          <p:spPr>
            <a:xfrm>
              <a:off x="7617067" y="3396762"/>
              <a:ext cx="239150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963A33A-A9E4-1369-E049-82AC9807A44E}"/>
                </a:ext>
              </a:extLst>
            </p:cNvPr>
            <p:cNvCxnSpPr>
              <a:cxnSpLocks/>
            </p:cNvCxnSpPr>
            <p:nvPr/>
          </p:nvCxnSpPr>
          <p:spPr>
            <a:xfrm>
              <a:off x="8313127" y="4974981"/>
              <a:ext cx="22053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9BC010C-4EDF-8CBD-AF4A-FDF81F920A3B}"/>
                </a:ext>
              </a:extLst>
            </p:cNvPr>
            <p:cNvCxnSpPr/>
            <p:nvPr/>
          </p:nvCxnSpPr>
          <p:spPr>
            <a:xfrm flipV="1">
              <a:off x="8313127" y="2773973"/>
              <a:ext cx="0" cy="2201008"/>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F2B6C75-A9ED-10D8-96E3-699E51F43910}"/>
                </a:ext>
              </a:extLst>
            </p:cNvPr>
            <p:cNvCxnSpPr>
              <a:cxnSpLocks/>
            </p:cNvCxnSpPr>
            <p:nvPr/>
          </p:nvCxnSpPr>
          <p:spPr>
            <a:xfrm flipH="1">
              <a:off x="7838342" y="5794131"/>
              <a:ext cx="695324"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0D916A2-FABD-FAA0-FCC3-85126343BA71}"/>
                </a:ext>
              </a:extLst>
            </p:cNvPr>
            <p:cNvCxnSpPr>
              <a:cxnSpLocks/>
              <a:stCxn id="22" idx="3"/>
            </p:cNvCxnSpPr>
            <p:nvPr/>
          </p:nvCxnSpPr>
          <p:spPr>
            <a:xfrm flipV="1">
              <a:off x="7838341" y="3396762"/>
              <a:ext cx="1" cy="2590067"/>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56CCD26D-A8E8-D53E-FE3D-F682956C9A94}"/>
                </a:ext>
              </a:extLst>
            </p:cNvPr>
            <p:cNvSpPr/>
            <p:nvPr/>
          </p:nvSpPr>
          <p:spPr>
            <a:xfrm>
              <a:off x="7806103" y="3364524"/>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CB4F9A0-CD84-9F1B-B2D7-9878254789AD}"/>
                </a:ext>
              </a:extLst>
            </p:cNvPr>
            <p:cNvSpPr/>
            <p:nvPr/>
          </p:nvSpPr>
          <p:spPr>
            <a:xfrm>
              <a:off x="8280889" y="2737340"/>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9CEBB0B1-775F-23FD-F38D-AAB40C8615E8}"/>
                </a:ext>
              </a:extLst>
            </p:cNvPr>
            <p:cNvSpPr/>
            <p:nvPr/>
          </p:nvSpPr>
          <p:spPr>
            <a:xfrm rot="10800000">
              <a:off x="7746549" y="5986829"/>
              <a:ext cx="183584" cy="158262"/>
            </a:xfrm>
            <a:prstGeom prst="triangl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ACEB3883-DD7C-6E95-5F04-3652D4439CE2}"/>
                </a:ext>
              </a:extLst>
            </p:cNvPr>
            <p:cNvSpPr/>
            <p:nvPr/>
          </p:nvSpPr>
          <p:spPr>
            <a:xfrm>
              <a:off x="7806102" y="5761893"/>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Rounded Corners 25">
            <a:extLst>
              <a:ext uri="{FF2B5EF4-FFF2-40B4-BE49-F238E27FC236}">
                <a16:creationId xmlns:a16="http://schemas.microsoft.com/office/drawing/2014/main" id="{13D99816-F563-92A5-B1EF-588931661F86}"/>
              </a:ext>
            </a:extLst>
          </p:cNvPr>
          <p:cNvSpPr/>
          <p:nvPr/>
        </p:nvSpPr>
        <p:spPr>
          <a:xfrm>
            <a:off x="5215466" y="1120350"/>
            <a:ext cx="6484118" cy="470895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92FF557-B237-0864-14C9-50C9590DC8C5}"/>
              </a:ext>
            </a:extLst>
          </p:cNvPr>
          <p:cNvSpPr txBox="1"/>
          <p:nvPr/>
        </p:nvSpPr>
        <p:spPr>
          <a:xfrm>
            <a:off x="9250965" y="1111670"/>
            <a:ext cx="2448619" cy="338554"/>
          </a:xfrm>
          <a:prstGeom prst="rect">
            <a:avLst/>
          </a:prstGeom>
          <a:noFill/>
        </p:spPr>
        <p:txBody>
          <a:bodyPr wrap="none" rtlCol="0">
            <a:spAutoFit/>
          </a:bodyPr>
          <a:lstStyle/>
          <a:p>
            <a:pPr algn="r"/>
            <a:r>
              <a:rPr lang="en-US" sz="1600" b="1" dirty="0"/>
              <a:t>Basic Full System Model</a:t>
            </a:r>
          </a:p>
        </p:txBody>
      </p:sp>
    </p:spTree>
    <p:extLst>
      <p:ext uri="{BB962C8B-B14F-4D97-AF65-F5344CB8AC3E}">
        <p14:creationId xmlns:p14="http://schemas.microsoft.com/office/powerpoint/2010/main" val="18841702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198F8-D73B-29EA-58F4-B7577C77FD19}"/>
              </a:ext>
            </a:extLst>
          </p:cNvPr>
          <p:cNvSpPr>
            <a:spLocks noGrp="1"/>
          </p:cNvSpPr>
          <p:nvPr>
            <p:ph type="title"/>
          </p:nvPr>
        </p:nvSpPr>
        <p:spPr/>
        <p:txBody>
          <a:bodyPr/>
          <a:lstStyle/>
          <a:p>
            <a:r>
              <a:rPr lang="en-US" dirty="0"/>
              <a:t>Reverse Charging: Maximum Reverse Current</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73F8DD2-AE5D-78D7-BF82-7A4B15CB059B}"/>
                  </a:ext>
                </a:extLst>
              </p:cNvPr>
              <p:cNvSpPr>
                <a:spLocks noGrp="1"/>
              </p:cNvSpPr>
              <p:nvPr>
                <p:ph type="body" sz="half" idx="2"/>
              </p:nvPr>
            </p:nvSpPr>
            <p:spPr/>
            <p:txBody>
              <a:bodyPr/>
              <a:lstStyle/>
              <a:p>
                <a:r>
                  <a:rPr lang="en-US" dirty="0"/>
                  <a:t>Formula for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i="1" dirty="0"/>
                  <a:t> </a:t>
                </a:r>
                <a:r>
                  <a:rPr lang="en-US" dirty="0"/>
                  <a:t>has limits:</a:t>
                </a:r>
                <a:endParaRPr lang="en-US" i="1" dirty="0"/>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ea typeface="Cambria Math" panose="02040503050406030204" pitchFamily="18" charset="0"/>
                        </a:rPr>
                        <m:t>±</m:t>
                      </m:r>
                      <m:rad>
                        <m:radPr>
                          <m:degHide m:val="on"/>
                          <m:ctrlPr>
                            <a:rPr lang="en-US" i="1">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𝑇</m:t>
                              </m:r>
                            </m:sub>
                            <m:sup>
                              <m:r>
                                <a:rPr lang="en-US" i="1">
                                  <a:latin typeface="Cambria Math" panose="02040503050406030204" pitchFamily="18" charset="0"/>
                                </a:rPr>
                                <m:t>2</m:t>
                              </m:r>
                            </m:sup>
                          </m:sSubSup>
                        </m:e>
                      </m:ra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oMath>
                </a14:m>
                <a:r>
                  <a:rPr lang="en-US" dirty="0"/>
                  <a:t> results in non-real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endParaRPr lang="en-US" dirty="0"/>
              </a:p>
              <a:p>
                <a:pPr marL="285750" indent="-285750">
                  <a:buFont typeface="Arial" panose="020B0604020202020204" pitchFamily="34" charset="0"/>
                  <a:buChar char="•"/>
                </a:pPr>
                <a:r>
                  <a:rPr lang="en-US" dirty="0"/>
                  <a:t>Sets limit on maximum reverse current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 </m:t>
                    </m:r>
                  </m:oMath>
                </a14:m>
                <a:r>
                  <a:rPr lang="en-US" dirty="0"/>
                  <a:t>math trick</a:t>
                </a:r>
              </a:p>
              <a:p>
                <a:pPr marL="285750" indent="-285750">
                  <a:buFont typeface="Arial" panose="020B0604020202020204" pitchFamily="34" charset="0"/>
                  <a:buChar char="•"/>
                </a:pPr>
                <a:r>
                  <a:rPr lang="en-US" dirty="0"/>
                  <a:t>Minimum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corresponds to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oMath>
                </a14:m>
                <a:r>
                  <a:rPr lang="en-US" dirty="0"/>
                  <a:t>, greater than minimum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 realizable</a:t>
                </a:r>
              </a:p>
              <a:p>
                <a:r>
                  <a:rPr lang="en-US" dirty="0"/>
                  <a:t>Look back on model with RL branch – possible to attain higher reverse current?</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)&lt;0</m:t>
                    </m:r>
                  </m:oMath>
                </a14:m>
                <a:r>
                  <a:rPr lang="en-US" dirty="0"/>
                  <a:t> requires either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m:t>
                    </m:r>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m:t>
                    </m:r>
                  </m:oMath>
                </a14:m>
                <a:endParaRPr lang="en-US" dirty="0"/>
              </a:p>
            </p:txBody>
          </p:sp>
        </mc:Choice>
        <mc:Fallback xmlns="">
          <p:sp>
            <p:nvSpPr>
              <p:cNvPr id="4" name="Text Placeholder 3">
                <a:extLst>
                  <a:ext uri="{FF2B5EF4-FFF2-40B4-BE49-F238E27FC236}">
                    <a16:creationId xmlns:a16="http://schemas.microsoft.com/office/drawing/2014/main" id="{273F8DD2-AE5D-78D7-BF82-7A4B15CB059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6C88532B-1D99-30C9-0C25-F0C77D0C6B0B}"/>
              </a:ext>
            </a:extLst>
          </p:cNvPr>
          <p:cNvPicPr>
            <a:picLocks noChangeAspect="1"/>
          </p:cNvPicPr>
          <p:nvPr/>
        </p:nvPicPr>
        <p:blipFill>
          <a:blip r:embed="rId3"/>
          <a:stretch>
            <a:fillRect/>
          </a:stretch>
        </p:blipFill>
        <p:spPr>
          <a:xfrm>
            <a:off x="5232950" y="1849220"/>
            <a:ext cx="6550895" cy="2220800"/>
          </a:xfrm>
          <a:prstGeom prst="rect">
            <a:avLst/>
          </a:prstGeom>
        </p:spPr>
      </p:pic>
      <p:sp>
        <p:nvSpPr>
          <p:cNvPr id="6" name="Rectangle: Rounded Corners 5">
            <a:extLst>
              <a:ext uri="{FF2B5EF4-FFF2-40B4-BE49-F238E27FC236}">
                <a16:creationId xmlns:a16="http://schemas.microsoft.com/office/drawing/2014/main" id="{CCFA847B-1647-C58F-0939-7066C0E48511}"/>
              </a:ext>
            </a:extLst>
          </p:cNvPr>
          <p:cNvSpPr/>
          <p:nvPr/>
        </p:nvSpPr>
        <p:spPr>
          <a:xfrm>
            <a:off x="5171813" y="1523206"/>
            <a:ext cx="6673171" cy="381158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9AD879A-5540-354A-3EB3-43E870B9B1BF}"/>
              </a:ext>
            </a:extLst>
          </p:cNvPr>
          <p:cNvSpPr txBox="1"/>
          <p:nvPr/>
        </p:nvSpPr>
        <p:spPr>
          <a:xfrm>
            <a:off x="9918238" y="1514526"/>
            <a:ext cx="1926746" cy="338554"/>
          </a:xfrm>
          <a:prstGeom prst="rect">
            <a:avLst/>
          </a:prstGeom>
          <a:noFill/>
        </p:spPr>
        <p:txBody>
          <a:bodyPr wrap="none" rtlCol="0">
            <a:spAutoFit/>
          </a:bodyPr>
          <a:lstStyle/>
          <a:p>
            <a:pPr algn="r"/>
            <a:r>
              <a:rPr lang="en-US" sz="1600" b="1" dirty="0"/>
              <a:t>Isolated RL Branch</a:t>
            </a:r>
          </a:p>
        </p:txBody>
      </p:sp>
      <p:sp>
        <p:nvSpPr>
          <p:cNvPr id="9" name="Rectangle 8">
            <a:extLst>
              <a:ext uri="{FF2B5EF4-FFF2-40B4-BE49-F238E27FC236}">
                <a16:creationId xmlns:a16="http://schemas.microsoft.com/office/drawing/2014/main" id="{58FFA540-3083-5680-2150-6014101AB2A2}"/>
              </a:ext>
            </a:extLst>
          </p:cNvPr>
          <p:cNvSpPr/>
          <p:nvPr/>
        </p:nvSpPr>
        <p:spPr>
          <a:xfrm>
            <a:off x="7344561" y="2754549"/>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DB3F6B86-DB37-5D5B-FE5D-FD9FF7A1B3F4}"/>
              </a:ext>
            </a:extLst>
          </p:cNvPr>
          <p:cNvCxnSpPr/>
          <p:nvPr/>
        </p:nvCxnSpPr>
        <p:spPr>
          <a:xfrm flipV="1">
            <a:off x="8397380" y="2079235"/>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E6A6494-EF7C-A372-CA4E-9613D5EF2080}"/>
              </a:ext>
            </a:extLst>
          </p:cNvPr>
          <p:cNvCxnSpPr>
            <a:cxnSpLocks/>
          </p:cNvCxnSpPr>
          <p:nvPr/>
        </p:nvCxnSpPr>
        <p:spPr>
          <a:xfrm>
            <a:off x="9132815" y="2079235"/>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292BA53-40C3-A32B-9DA5-004052569C61}"/>
              </a:ext>
            </a:extLst>
          </p:cNvPr>
          <p:cNvSpPr txBox="1"/>
          <p:nvPr/>
        </p:nvSpPr>
        <p:spPr>
          <a:xfrm>
            <a:off x="5972165" y="4196373"/>
            <a:ext cx="5072467" cy="923330"/>
          </a:xfrm>
          <a:prstGeom prst="rect">
            <a:avLst/>
          </a:prstGeom>
          <a:noFill/>
        </p:spPr>
        <p:txBody>
          <a:bodyPr wrap="square" rtlCol="0">
            <a:spAutoFit/>
          </a:bodyPr>
          <a:lstStyle/>
          <a:p>
            <a:r>
              <a:rPr lang="en-US" dirty="0"/>
              <a:t>Negative current means current flows into battery</a:t>
            </a:r>
          </a:p>
          <a:p>
            <a:r>
              <a:rPr lang="en-US" dirty="0"/>
              <a:t>Either </a:t>
            </a:r>
            <a:r>
              <a:rPr lang="en-US" dirty="0">
                <a:solidFill>
                  <a:srgbClr val="FF0000"/>
                </a:solidFill>
              </a:rPr>
              <a:t>current flows in reverse from inductor </a:t>
            </a:r>
            <a:r>
              <a:rPr lang="en-US" dirty="0"/>
              <a:t>or </a:t>
            </a:r>
            <a:r>
              <a:rPr lang="en-US" dirty="0">
                <a:solidFill>
                  <a:srgbClr val="00B050"/>
                </a:solidFill>
              </a:rPr>
              <a:t>transformer polarity flips</a:t>
            </a:r>
          </a:p>
        </p:txBody>
      </p:sp>
      <p:cxnSp>
        <p:nvCxnSpPr>
          <p:cNvPr id="15" name="Straight Arrow Connector 14">
            <a:extLst>
              <a:ext uri="{FF2B5EF4-FFF2-40B4-BE49-F238E27FC236}">
                <a16:creationId xmlns:a16="http://schemas.microsoft.com/office/drawing/2014/main" id="{45D0DA3B-37DC-1A58-BF6C-3F578F2B5A7C}"/>
              </a:ext>
            </a:extLst>
          </p:cNvPr>
          <p:cNvCxnSpPr/>
          <p:nvPr/>
        </p:nvCxnSpPr>
        <p:spPr>
          <a:xfrm flipV="1">
            <a:off x="10755347" y="3169959"/>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1EC3668A-6CF4-FAC4-9037-CC988B534156}"/>
              </a:ext>
            </a:extLst>
          </p:cNvPr>
          <p:cNvSpPr/>
          <p:nvPr/>
        </p:nvSpPr>
        <p:spPr>
          <a:xfrm>
            <a:off x="8572500" y="2645492"/>
            <a:ext cx="46567" cy="46567"/>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9611D02-F72F-31ED-520E-024B96DB97B3}"/>
              </a:ext>
            </a:extLst>
          </p:cNvPr>
          <p:cNvSpPr/>
          <p:nvPr/>
        </p:nvSpPr>
        <p:spPr>
          <a:xfrm>
            <a:off x="8909638" y="2645492"/>
            <a:ext cx="46567" cy="46567"/>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875EE43-D497-B2AA-9A1D-2F186285D439}"/>
              </a:ext>
            </a:extLst>
          </p:cNvPr>
          <p:cNvSpPr/>
          <p:nvPr/>
        </p:nvSpPr>
        <p:spPr>
          <a:xfrm>
            <a:off x="8909638" y="3203074"/>
            <a:ext cx="46567" cy="46567"/>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AE567318-9B5B-E98D-1547-4E358714F43C}"/>
              </a:ext>
            </a:extLst>
          </p:cNvPr>
          <p:cNvCxnSpPr>
            <a:cxnSpLocks/>
          </p:cNvCxnSpPr>
          <p:nvPr/>
        </p:nvCxnSpPr>
        <p:spPr>
          <a:xfrm>
            <a:off x="9134330" y="3249641"/>
            <a:ext cx="0" cy="566257"/>
          </a:xfrm>
          <a:prstGeom prst="straightConnector1">
            <a:avLst/>
          </a:prstGeom>
          <a:ln>
            <a:solidFill>
              <a:srgbClr val="00B050"/>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B21932E-A73C-87DE-3431-BCF0E246FCA3}"/>
              </a:ext>
            </a:extLst>
          </p:cNvPr>
          <p:cNvCxnSpPr>
            <a:cxnSpLocks/>
          </p:cNvCxnSpPr>
          <p:nvPr/>
        </p:nvCxnSpPr>
        <p:spPr>
          <a:xfrm>
            <a:off x="10645630" y="3169958"/>
            <a:ext cx="0" cy="566257"/>
          </a:xfrm>
          <a:prstGeom prst="straightConnector1">
            <a:avLst/>
          </a:prstGeom>
          <a:ln>
            <a:solidFill>
              <a:srgbClr val="00B05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72862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3752B4-6DED-AFEA-A9AD-0F446536407A}"/>
              </a:ext>
            </a:extLst>
          </p:cNvPr>
          <p:cNvSpPr>
            <a:spLocks noGrp="1"/>
          </p:cNvSpPr>
          <p:nvPr>
            <p:ph type="title"/>
          </p:nvPr>
        </p:nvSpPr>
        <p:spPr/>
        <p:txBody>
          <a:bodyPr/>
          <a:lstStyle/>
          <a:p>
            <a:r>
              <a:rPr lang="en-US" dirty="0"/>
              <a:t>Maximum Reverse Current, Continued</a:t>
            </a:r>
          </a:p>
        </p:txBody>
      </p:sp>
      <p:cxnSp>
        <p:nvCxnSpPr>
          <p:cNvPr id="6" name="Straight Connector 5">
            <a:extLst>
              <a:ext uri="{FF2B5EF4-FFF2-40B4-BE49-F238E27FC236}">
                <a16:creationId xmlns:a16="http://schemas.microsoft.com/office/drawing/2014/main" id="{E8DE34FB-F915-A7B6-47D1-F4EB7BF31EA1}"/>
              </a:ext>
            </a:extLst>
          </p:cNvPr>
          <p:cNvCxnSpPr>
            <a:stCxn id="2" idx="2"/>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D6B1CDB-962E-F681-7BE8-FFF6F4A33546}"/>
                  </a:ext>
                </a:extLst>
              </p:cNvPr>
              <p:cNvSpPr txBox="1"/>
              <p:nvPr/>
            </p:nvSpPr>
            <p:spPr>
              <a:xfrm>
                <a:off x="2021417" y="1690688"/>
                <a:ext cx="2082800" cy="369332"/>
              </a:xfrm>
              <a:prstGeom prst="rect">
                <a:avLst/>
              </a:prstGeom>
              <a:noFill/>
            </p:spPr>
            <p:txBody>
              <a:bodyPr wrap="square">
                <a:spAutoFit/>
              </a:bodyPr>
              <a:lstStyle/>
              <a:p>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m:t>
                    </m:r>
                  </m:oMath>
                </a14:m>
                <a:r>
                  <a:rPr lang="en-US" dirty="0"/>
                  <a:t> </a:t>
                </a:r>
              </a:p>
            </p:txBody>
          </p:sp>
        </mc:Choice>
        <mc:Fallback xmlns="">
          <p:sp>
            <p:nvSpPr>
              <p:cNvPr id="4" name="TextBox 3">
                <a:extLst>
                  <a:ext uri="{FF2B5EF4-FFF2-40B4-BE49-F238E27FC236}">
                    <a16:creationId xmlns:a16="http://schemas.microsoft.com/office/drawing/2014/main" id="{DD6B1CDB-962E-F681-7BE8-FFF6F4A33546}"/>
                  </a:ext>
                </a:extLst>
              </p:cNvPr>
              <p:cNvSpPr txBox="1">
                <a:spLocks noRot="1" noChangeAspect="1" noMove="1" noResize="1" noEditPoints="1" noAdjustHandles="1" noChangeArrowheads="1" noChangeShapeType="1" noTextEdit="1"/>
              </p:cNvSpPr>
              <p:nvPr/>
            </p:nvSpPr>
            <p:spPr>
              <a:xfrm>
                <a:off x="2021417" y="1690688"/>
                <a:ext cx="20828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4958B64-CDBE-1C0D-893C-5555A7BDD718}"/>
                  </a:ext>
                </a:extLst>
              </p:cNvPr>
              <p:cNvSpPr txBox="1"/>
              <p:nvPr/>
            </p:nvSpPr>
            <p:spPr>
              <a:xfrm>
                <a:off x="8096250" y="1690688"/>
                <a:ext cx="207433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m:t>
                      </m:r>
                    </m:oMath>
                  </m:oMathPara>
                </a14:m>
                <a:endParaRPr lang="en-US" dirty="0"/>
              </a:p>
            </p:txBody>
          </p:sp>
        </mc:Choice>
        <mc:Fallback xmlns="">
          <p:sp>
            <p:nvSpPr>
              <p:cNvPr id="9" name="TextBox 8">
                <a:extLst>
                  <a:ext uri="{FF2B5EF4-FFF2-40B4-BE49-F238E27FC236}">
                    <a16:creationId xmlns:a16="http://schemas.microsoft.com/office/drawing/2014/main" id="{C4958B64-CDBE-1C0D-893C-5555A7BDD718}"/>
                  </a:ext>
                </a:extLst>
              </p:cNvPr>
              <p:cNvSpPr txBox="1">
                <a:spLocks noRot="1" noChangeAspect="1" noMove="1" noResize="1" noEditPoints="1" noAdjustHandles="1" noChangeArrowheads="1" noChangeShapeType="1" noTextEdit="1"/>
              </p:cNvSpPr>
              <p:nvPr/>
            </p:nvSpPr>
            <p:spPr>
              <a:xfrm>
                <a:off x="8096250" y="1690688"/>
                <a:ext cx="2074333"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95E5DDA-15B0-2D4F-409A-4A7F7BCEC3CB}"/>
                  </a:ext>
                </a:extLst>
              </p:cNvPr>
              <p:cNvSpPr txBox="1"/>
              <p:nvPr/>
            </p:nvSpPr>
            <p:spPr>
              <a:xfrm>
                <a:off x="115273" y="5486400"/>
                <a:ext cx="5850467" cy="1002390"/>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r>
                  <a:rPr lang="en-US" sz="1400" dirty="0"/>
                  <a:t> corresponds to a change to </a:t>
                </a:r>
                <a14:m>
                  <m:oMath xmlns:m="http://schemas.openxmlformats.org/officeDocument/2006/math">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oMath>
                </a14:m>
                <a:r>
                  <a:rPr lang="en-US" sz="1400" dirty="0"/>
                  <a:t> regime</a:t>
                </a:r>
              </a:p>
              <a:p>
                <a:r>
                  <a:rPr lang="en-US" sz="1400" dirty="0"/>
                  <a:t>Current flowing out of capacitor results in negative inductor current</a:t>
                </a:r>
              </a:p>
              <a:p>
                <a:r>
                  <a:rPr lang="en-US" sz="1400" dirty="0"/>
                  <a:t>Thus </a:t>
                </a:r>
                <a14:m>
                  <m:oMath xmlns:m="http://schemas.openxmlformats.org/officeDocument/2006/math">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m:rPr>
                            <m:sty m:val="p"/>
                          </m:rPr>
                          <a:rPr lang="en-US" sz="1400" b="0" i="0" dirty="0" smtClean="0">
                            <a:latin typeface="Cambria Math" panose="02040503050406030204" pitchFamily="18" charset="0"/>
                          </a:rPr>
                          <m:t>L</m:t>
                        </m:r>
                      </m:sub>
                    </m:sSub>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&lt;</m:t>
                    </m:r>
                    <m:r>
                      <a:rPr lang="en-US" sz="1400" i="1" dirty="0">
                        <a:latin typeface="Cambria Math" panose="02040503050406030204" pitchFamily="18" charset="0"/>
                      </a:rPr>
                      <m:t>0, 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i="1" dirty="0" smtClean="0">
                        <a:latin typeface="Cambria Math" panose="02040503050406030204" pitchFamily="18" charset="0"/>
                      </a:rPr>
                      <m:t>&lt;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&gt;0</m:t>
                    </m:r>
                  </m:oMath>
                </a14:m>
                <a:endParaRPr lang="en-US" sz="1400" dirty="0"/>
              </a:p>
              <a:p>
                <a:r>
                  <a:rPr lang="en-US" sz="1600" b="1" dirty="0"/>
                  <a:t>Reverse charging not possible!</a:t>
                </a:r>
              </a:p>
            </p:txBody>
          </p:sp>
        </mc:Choice>
        <mc:Fallback xmlns="">
          <p:sp>
            <p:nvSpPr>
              <p:cNvPr id="12" name="TextBox 11">
                <a:extLst>
                  <a:ext uri="{FF2B5EF4-FFF2-40B4-BE49-F238E27FC236}">
                    <a16:creationId xmlns:a16="http://schemas.microsoft.com/office/drawing/2014/main" id="{D95E5DDA-15B0-2D4F-409A-4A7F7BCEC3CB}"/>
                  </a:ext>
                </a:extLst>
              </p:cNvPr>
              <p:cNvSpPr txBox="1">
                <a:spLocks noRot="1" noChangeAspect="1" noMove="1" noResize="1" noEditPoints="1" noAdjustHandles="1" noChangeArrowheads="1" noChangeShapeType="1" noTextEdit="1"/>
              </p:cNvSpPr>
              <p:nvPr/>
            </p:nvSpPr>
            <p:spPr>
              <a:xfrm>
                <a:off x="115273" y="5486400"/>
                <a:ext cx="5850467" cy="1002390"/>
              </a:xfrm>
              <a:prstGeom prst="rect">
                <a:avLst/>
              </a:prstGeom>
              <a:blipFill>
                <a:blip r:embed="rId4"/>
                <a:stretch>
                  <a:fillRect l="-625" t="-610" b="-7317"/>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9BE38B83-4397-6C46-3E8E-B423A3198890}"/>
              </a:ext>
            </a:extLst>
          </p:cNvPr>
          <p:cNvGrpSpPr/>
          <p:nvPr/>
        </p:nvGrpSpPr>
        <p:grpSpPr>
          <a:xfrm>
            <a:off x="577054" y="2422197"/>
            <a:ext cx="4926905" cy="2702023"/>
            <a:chOff x="5934734" y="3531668"/>
            <a:chExt cx="4926905" cy="2702023"/>
          </a:xfrm>
        </p:grpSpPr>
        <p:pic>
          <p:nvPicPr>
            <p:cNvPr id="14" name="Picture 13">
              <a:extLst>
                <a:ext uri="{FF2B5EF4-FFF2-40B4-BE49-F238E27FC236}">
                  <a16:creationId xmlns:a16="http://schemas.microsoft.com/office/drawing/2014/main" id="{7DAC6857-8EE0-6A3F-173B-71FEE6E9B551}"/>
                </a:ext>
              </a:extLst>
            </p:cNvPr>
            <p:cNvPicPr>
              <a:picLocks noChangeAspect="1"/>
            </p:cNvPicPr>
            <p:nvPr/>
          </p:nvPicPr>
          <p:blipFill>
            <a:blip r:embed="rId5"/>
            <a:stretch>
              <a:fillRect/>
            </a:stretch>
          </p:blipFill>
          <p:spPr>
            <a:xfrm>
              <a:off x="5934734" y="3584846"/>
              <a:ext cx="2170222" cy="1277897"/>
            </a:xfrm>
            <a:prstGeom prst="rect">
              <a:avLst/>
            </a:prstGeom>
          </p:spPr>
        </p:pic>
        <p:grpSp>
          <p:nvGrpSpPr>
            <p:cNvPr id="15" name="Group 14">
              <a:extLst>
                <a:ext uri="{FF2B5EF4-FFF2-40B4-BE49-F238E27FC236}">
                  <a16:creationId xmlns:a16="http://schemas.microsoft.com/office/drawing/2014/main" id="{AEB2DAE8-6079-6D05-585B-8EDB70D695CB}"/>
                </a:ext>
              </a:extLst>
            </p:cNvPr>
            <p:cNvGrpSpPr/>
            <p:nvPr/>
          </p:nvGrpSpPr>
          <p:grpSpPr>
            <a:xfrm>
              <a:off x="6519084" y="3736366"/>
              <a:ext cx="142595" cy="490604"/>
              <a:chOff x="6320118" y="3683188"/>
              <a:chExt cx="142595" cy="490604"/>
            </a:xfrm>
          </p:grpSpPr>
          <p:cxnSp>
            <p:nvCxnSpPr>
              <p:cNvPr id="56" name="Straight Connector 55">
                <a:extLst>
                  <a:ext uri="{FF2B5EF4-FFF2-40B4-BE49-F238E27FC236}">
                    <a16:creationId xmlns:a16="http://schemas.microsoft.com/office/drawing/2014/main" id="{99BB1004-6624-7425-FE2E-F816B1D5C3C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E3EA0E-97DC-F00F-563A-B85E7896623F}"/>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6" name="Group 15">
              <a:extLst>
                <a:ext uri="{FF2B5EF4-FFF2-40B4-BE49-F238E27FC236}">
                  <a16:creationId xmlns:a16="http://schemas.microsoft.com/office/drawing/2014/main" id="{6234E214-B071-5E62-5ACB-48923714F1EF}"/>
                </a:ext>
              </a:extLst>
            </p:cNvPr>
            <p:cNvGrpSpPr/>
            <p:nvPr/>
          </p:nvGrpSpPr>
          <p:grpSpPr>
            <a:xfrm rot="10800000">
              <a:off x="7679017" y="4202033"/>
              <a:ext cx="142595" cy="490604"/>
              <a:chOff x="6320118" y="3683188"/>
              <a:chExt cx="142595" cy="490604"/>
            </a:xfrm>
          </p:grpSpPr>
          <p:cxnSp>
            <p:nvCxnSpPr>
              <p:cNvPr id="54" name="Straight Connector 53">
                <a:extLst>
                  <a:ext uri="{FF2B5EF4-FFF2-40B4-BE49-F238E27FC236}">
                    <a16:creationId xmlns:a16="http://schemas.microsoft.com/office/drawing/2014/main" id="{A32BBC77-2288-61DB-0022-A2542C8AC4E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16BC7D9D-8F46-7154-9696-49C7AE0B014B}"/>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17" name="TextBox 16">
              <a:extLst>
                <a:ext uri="{FF2B5EF4-FFF2-40B4-BE49-F238E27FC236}">
                  <a16:creationId xmlns:a16="http://schemas.microsoft.com/office/drawing/2014/main" id="{BB46143A-835B-C336-B624-96584CCE09CC}"/>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18" name="TextBox 17">
              <a:extLst>
                <a:ext uri="{FF2B5EF4-FFF2-40B4-BE49-F238E27FC236}">
                  <a16:creationId xmlns:a16="http://schemas.microsoft.com/office/drawing/2014/main" id="{BA212787-29BE-02D1-3C91-177CC73A2ABA}"/>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19" name="TextBox 18">
              <a:extLst>
                <a:ext uri="{FF2B5EF4-FFF2-40B4-BE49-F238E27FC236}">
                  <a16:creationId xmlns:a16="http://schemas.microsoft.com/office/drawing/2014/main" id="{34CEC704-53CB-B642-E0A3-ACDB7070A033}"/>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0" name="Picture 19">
              <a:extLst>
                <a:ext uri="{FF2B5EF4-FFF2-40B4-BE49-F238E27FC236}">
                  <a16:creationId xmlns:a16="http://schemas.microsoft.com/office/drawing/2014/main" id="{88A8F898-9E81-7B3F-E201-1D2DF3D6B8D8}"/>
                </a:ext>
              </a:extLst>
            </p:cNvPr>
            <p:cNvPicPr>
              <a:picLocks noChangeAspect="1"/>
            </p:cNvPicPr>
            <p:nvPr/>
          </p:nvPicPr>
          <p:blipFill>
            <a:blip r:embed="rId5"/>
            <a:stretch>
              <a:fillRect/>
            </a:stretch>
          </p:blipFill>
          <p:spPr>
            <a:xfrm>
              <a:off x="8689057" y="3588021"/>
              <a:ext cx="2170222" cy="1277897"/>
            </a:xfrm>
            <a:prstGeom prst="rect">
              <a:avLst/>
            </a:prstGeom>
          </p:spPr>
        </p:pic>
        <p:grpSp>
          <p:nvGrpSpPr>
            <p:cNvPr id="21" name="Group 20">
              <a:extLst>
                <a:ext uri="{FF2B5EF4-FFF2-40B4-BE49-F238E27FC236}">
                  <a16:creationId xmlns:a16="http://schemas.microsoft.com/office/drawing/2014/main" id="{86008F26-58B3-BB5B-9CF9-D951D64B9DA0}"/>
                </a:ext>
              </a:extLst>
            </p:cNvPr>
            <p:cNvGrpSpPr/>
            <p:nvPr/>
          </p:nvGrpSpPr>
          <p:grpSpPr>
            <a:xfrm>
              <a:off x="9273407" y="3739541"/>
              <a:ext cx="142595" cy="490604"/>
              <a:chOff x="6320118" y="3683188"/>
              <a:chExt cx="142595" cy="490604"/>
            </a:xfrm>
          </p:grpSpPr>
          <p:cxnSp>
            <p:nvCxnSpPr>
              <p:cNvPr id="52" name="Straight Connector 51">
                <a:extLst>
                  <a:ext uri="{FF2B5EF4-FFF2-40B4-BE49-F238E27FC236}">
                    <a16:creationId xmlns:a16="http://schemas.microsoft.com/office/drawing/2014/main" id="{21D77252-C9A9-FDEC-10C2-5BBA1A71CA0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E48070C0-7313-E8D5-8FBC-F35B2F523734}"/>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44791395-E801-3C05-D922-4EA57491EDC3}"/>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3" name="TextBox 22">
              <a:extLst>
                <a:ext uri="{FF2B5EF4-FFF2-40B4-BE49-F238E27FC236}">
                  <a16:creationId xmlns:a16="http://schemas.microsoft.com/office/drawing/2014/main" id="{DFCEC997-5CA4-CB6F-B8F9-0B6BE998B5D0}"/>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C67F6782-388B-A044-F1F3-FEA0A71B1219}"/>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25" name="Group 24">
              <a:extLst>
                <a:ext uri="{FF2B5EF4-FFF2-40B4-BE49-F238E27FC236}">
                  <a16:creationId xmlns:a16="http://schemas.microsoft.com/office/drawing/2014/main" id="{C6CA83CB-243C-0BB0-7731-37EC154CE6E5}"/>
                </a:ext>
              </a:extLst>
            </p:cNvPr>
            <p:cNvGrpSpPr/>
            <p:nvPr/>
          </p:nvGrpSpPr>
          <p:grpSpPr>
            <a:xfrm flipH="1">
              <a:off x="10432463" y="3736366"/>
              <a:ext cx="142595" cy="490604"/>
              <a:chOff x="6320118" y="3683188"/>
              <a:chExt cx="142595" cy="490604"/>
            </a:xfrm>
          </p:grpSpPr>
          <p:cxnSp>
            <p:nvCxnSpPr>
              <p:cNvPr id="50" name="Straight Connector 49">
                <a:extLst>
                  <a:ext uri="{FF2B5EF4-FFF2-40B4-BE49-F238E27FC236}">
                    <a16:creationId xmlns:a16="http://schemas.microsoft.com/office/drawing/2014/main" id="{DC820D84-6EFC-B01C-7343-79C45C90DB8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66B4776-2DF4-3115-FECA-3AFC9F6B133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26" name="Picture 25">
              <a:extLst>
                <a:ext uri="{FF2B5EF4-FFF2-40B4-BE49-F238E27FC236}">
                  <a16:creationId xmlns:a16="http://schemas.microsoft.com/office/drawing/2014/main" id="{9285D060-E6DB-051E-A789-66BCCD34C5A0}"/>
                </a:ext>
              </a:extLst>
            </p:cNvPr>
            <p:cNvPicPr>
              <a:picLocks noChangeAspect="1"/>
            </p:cNvPicPr>
            <p:nvPr/>
          </p:nvPicPr>
          <p:blipFill>
            <a:blip r:embed="rId5"/>
            <a:stretch>
              <a:fillRect/>
            </a:stretch>
          </p:blipFill>
          <p:spPr>
            <a:xfrm>
              <a:off x="5934734" y="4955406"/>
              <a:ext cx="2170222" cy="1277897"/>
            </a:xfrm>
            <a:prstGeom prst="rect">
              <a:avLst/>
            </a:prstGeom>
          </p:spPr>
        </p:pic>
        <p:grpSp>
          <p:nvGrpSpPr>
            <p:cNvPr id="27" name="Group 26">
              <a:extLst>
                <a:ext uri="{FF2B5EF4-FFF2-40B4-BE49-F238E27FC236}">
                  <a16:creationId xmlns:a16="http://schemas.microsoft.com/office/drawing/2014/main" id="{16C35B37-D263-407C-C21B-B246D37E8F47}"/>
                </a:ext>
              </a:extLst>
            </p:cNvPr>
            <p:cNvGrpSpPr/>
            <p:nvPr/>
          </p:nvGrpSpPr>
          <p:grpSpPr>
            <a:xfrm flipV="1">
              <a:off x="6519084" y="5576664"/>
              <a:ext cx="142595" cy="490604"/>
              <a:chOff x="6320118" y="3683188"/>
              <a:chExt cx="142595" cy="490604"/>
            </a:xfrm>
          </p:grpSpPr>
          <p:cxnSp>
            <p:nvCxnSpPr>
              <p:cNvPr id="48" name="Straight Connector 47">
                <a:extLst>
                  <a:ext uri="{FF2B5EF4-FFF2-40B4-BE49-F238E27FC236}">
                    <a16:creationId xmlns:a16="http://schemas.microsoft.com/office/drawing/2014/main" id="{DA503DB8-D214-6E95-FCE9-545D3D130AC2}"/>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4B1F886-688B-5586-910B-C086B42A41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8" name="TextBox 27">
              <a:extLst>
                <a:ext uri="{FF2B5EF4-FFF2-40B4-BE49-F238E27FC236}">
                  <a16:creationId xmlns:a16="http://schemas.microsoft.com/office/drawing/2014/main" id="{7360FA79-F754-FE91-D06E-07C4E526FD2A}"/>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9" name="TextBox 28">
              <a:extLst>
                <a:ext uri="{FF2B5EF4-FFF2-40B4-BE49-F238E27FC236}">
                  <a16:creationId xmlns:a16="http://schemas.microsoft.com/office/drawing/2014/main" id="{A3A669D9-D8CE-6E54-BCE6-8706D08EE84D}"/>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30" name="TextBox 29">
              <a:extLst>
                <a:ext uri="{FF2B5EF4-FFF2-40B4-BE49-F238E27FC236}">
                  <a16:creationId xmlns:a16="http://schemas.microsoft.com/office/drawing/2014/main" id="{9E4FBB72-2629-F033-0547-E7C43C1E3596}"/>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31" name="Group 30">
              <a:extLst>
                <a:ext uri="{FF2B5EF4-FFF2-40B4-BE49-F238E27FC236}">
                  <a16:creationId xmlns:a16="http://schemas.microsoft.com/office/drawing/2014/main" id="{1C43A9EE-FEFD-3FFB-CE2D-7E5D07D9B41F}"/>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F5131488-FF4D-DB55-2E1B-53F8575EDD8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B4CF05B-A825-7D44-D2CE-FAE5D07E546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2" name="Picture 31">
              <a:extLst>
                <a:ext uri="{FF2B5EF4-FFF2-40B4-BE49-F238E27FC236}">
                  <a16:creationId xmlns:a16="http://schemas.microsoft.com/office/drawing/2014/main" id="{0EE3F80D-13CD-3173-94A1-2E14A444C442}"/>
                </a:ext>
              </a:extLst>
            </p:cNvPr>
            <p:cNvPicPr>
              <a:picLocks noChangeAspect="1"/>
            </p:cNvPicPr>
            <p:nvPr/>
          </p:nvPicPr>
          <p:blipFill>
            <a:blip r:embed="rId5"/>
            <a:stretch>
              <a:fillRect/>
            </a:stretch>
          </p:blipFill>
          <p:spPr>
            <a:xfrm>
              <a:off x="8691417" y="4955794"/>
              <a:ext cx="2170222" cy="1277897"/>
            </a:xfrm>
            <a:prstGeom prst="rect">
              <a:avLst/>
            </a:prstGeom>
          </p:spPr>
        </p:pic>
        <p:sp>
          <p:nvSpPr>
            <p:cNvPr id="33" name="TextBox 32">
              <a:extLst>
                <a:ext uri="{FF2B5EF4-FFF2-40B4-BE49-F238E27FC236}">
                  <a16:creationId xmlns:a16="http://schemas.microsoft.com/office/drawing/2014/main" id="{51CC3F14-8CD6-BE02-22FC-BA429F625502}"/>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34" name="TextBox 33">
              <a:extLst>
                <a:ext uri="{FF2B5EF4-FFF2-40B4-BE49-F238E27FC236}">
                  <a16:creationId xmlns:a16="http://schemas.microsoft.com/office/drawing/2014/main" id="{35B738E0-5E26-0F1D-4B99-B348753E26EC}"/>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35" name="TextBox 34">
              <a:extLst>
                <a:ext uri="{FF2B5EF4-FFF2-40B4-BE49-F238E27FC236}">
                  <a16:creationId xmlns:a16="http://schemas.microsoft.com/office/drawing/2014/main" id="{18478F14-D511-3C02-05AE-336E82A3081A}"/>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36" name="Group 35">
              <a:extLst>
                <a:ext uri="{FF2B5EF4-FFF2-40B4-BE49-F238E27FC236}">
                  <a16:creationId xmlns:a16="http://schemas.microsoft.com/office/drawing/2014/main" id="{2F4DA4DD-B5C7-0452-15A8-55ABCC9430BE}"/>
                </a:ext>
              </a:extLst>
            </p:cNvPr>
            <p:cNvGrpSpPr/>
            <p:nvPr/>
          </p:nvGrpSpPr>
          <p:grpSpPr>
            <a:xfrm flipH="1">
              <a:off x="10434823" y="5104139"/>
              <a:ext cx="142595" cy="490604"/>
              <a:chOff x="6320118" y="3683188"/>
              <a:chExt cx="142595" cy="490604"/>
            </a:xfrm>
          </p:grpSpPr>
          <p:cxnSp>
            <p:nvCxnSpPr>
              <p:cNvPr id="44" name="Straight Connector 43">
                <a:extLst>
                  <a:ext uri="{FF2B5EF4-FFF2-40B4-BE49-F238E27FC236}">
                    <a16:creationId xmlns:a16="http://schemas.microsoft.com/office/drawing/2014/main" id="{C83D50D3-3AAD-5F66-2DEB-FE6007A19C7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CA039790-FC8B-9C9A-E9BD-176E164A82D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E6D43038-808D-2CE5-A201-12618B689245}"/>
                </a:ext>
              </a:extLst>
            </p:cNvPr>
            <p:cNvGrpSpPr/>
            <p:nvPr/>
          </p:nvGrpSpPr>
          <p:grpSpPr>
            <a:xfrm flipV="1">
              <a:off x="9271765" y="5580990"/>
              <a:ext cx="142595" cy="490604"/>
              <a:chOff x="6320118" y="3683188"/>
              <a:chExt cx="142595" cy="490604"/>
            </a:xfrm>
          </p:grpSpPr>
          <p:cxnSp>
            <p:nvCxnSpPr>
              <p:cNvPr id="42" name="Straight Connector 41">
                <a:extLst>
                  <a:ext uri="{FF2B5EF4-FFF2-40B4-BE49-F238E27FC236}">
                    <a16:creationId xmlns:a16="http://schemas.microsoft.com/office/drawing/2014/main" id="{5853DD34-5C7B-ED45-055F-EE8A587B333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2307B5-DD00-954C-043D-7955D9BF489E}"/>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EFA8746D-A522-B374-B5D9-D70F0F9C3D31}"/>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39" name="TextBox 38">
              <a:extLst>
                <a:ext uri="{FF2B5EF4-FFF2-40B4-BE49-F238E27FC236}">
                  <a16:creationId xmlns:a16="http://schemas.microsoft.com/office/drawing/2014/main" id="{CA988F19-EA6B-B300-1FB2-64037578AC67}"/>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40" name="TextBox 39">
              <a:extLst>
                <a:ext uri="{FF2B5EF4-FFF2-40B4-BE49-F238E27FC236}">
                  <a16:creationId xmlns:a16="http://schemas.microsoft.com/office/drawing/2014/main" id="{2AA70CBE-6893-66A4-0FAD-D204149F09B9}"/>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41" name="TextBox 40">
              <a:extLst>
                <a:ext uri="{FF2B5EF4-FFF2-40B4-BE49-F238E27FC236}">
                  <a16:creationId xmlns:a16="http://schemas.microsoft.com/office/drawing/2014/main" id="{2A169840-2091-4305-D3E3-A54EADC59681}"/>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58" name="Rectangle: Rounded Corners 57">
            <a:extLst>
              <a:ext uri="{FF2B5EF4-FFF2-40B4-BE49-F238E27FC236}">
                <a16:creationId xmlns:a16="http://schemas.microsoft.com/office/drawing/2014/main" id="{40EC70B4-DF2D-3D09-ACD4-59BE51EBBCD8}"/>
              </a:ext>
            </a:extLst>
          </p:cNvPr>
          <p:cNvSpPr/>
          <p:nvPr/>
        </p:nvSpPr>
        <p:spPr>
          <a:xfrm>
            <a:off x="115274" y="2158193"/>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49B43E8A-D01A-A017-49D3-C5C732C4D5D7}"/>
              </a:ext>
            </a:extLst>
          </p:cNvPr>
          <p:cNvSpPr txBox="1"/>
          <p:nvPr/>
        </p:nvSpPr>
        <p:spPr>
          <a:xfrm>
            <a:off x="4161680" y="2166374"/>
            <a:ext cx="1826206" cy="338554"/>
          </a:xfrm>
          <a:prstGeom prst="rect">
            <a:avLst/>
          </a:prstGeom>
          <a:noFill/>
        </p:spPr>
        <p:txBody>
          <a:bodyPr wrap="none" rtlCol="0">
            <a:spAutoFit/>
          </a:bodyPr>
          <a:lstStyle/>
          <a:p>
            <a:r>
              <a:rPr lang="en-US" sz="1600" b="1" dirty="0"/>
              <a:t>Possible Voltages</a:t>
            </a:r>
          </a:p>
        </p:txBody>
      </p:sp>
      <p:grpSp>
        <p:nvGrpSpPr>
          <p:cNvPr id="73" name="Group 72">
            <a:extLst>
              <a:ext uri="{FF2B5EF4-FFF2-40B4-BE49-F238E27FC236}">
                <a16:creationId xmlns:a16="http://schemas.microsoft.com/office/drawing/2014/main" id="{3ADEF0BE-E454-2F01-7744-D51332CB7F15}"/>
              </a:ext>
            </a:extLst>
          </p:cNvPr>
          <p:cNvGrpSpPr/>
          <p:nvPr/>
        </p:nvGrpSpPr>
        <p:grpSpPr>
          <a:xfrm>
            <a:off x="6217648" y="2166375"/>
            <a:ext cx="5826315" cy="2297644"/>
            <a:chOff x="6217648" y="2166374"/>
            <a:chExt cx="6673171" cy="2631607"/>
          </a:xfrm>
        </p:grpSpPr>
        <p:pic>
          <p:nvPicPr>
            <p:cNvPr id="60" name="Picture 59">
              <a:extLst>
                <a:ext uri="{FF2B5EF4-FFF2-40B4-BE49-F238E27FC236}">
                  <a16:creationId xmlns:a16="http://schemas.microsoft.com/office/drawing/2014/main" id="{85C3A0A6-7C34-38FB-BA2F-C3B011268147}"/>
                </a:ext>
              </a:extLst>
            </p:cNvPr>
            <p:cNvPicPr>
              <a:picLocks noChangeAspect="1"/>
            </p:cNvPicPr>
            <p:nvPr/>
          </p:nvPicPr>
          <p:blipFill>
            <a:blip r:embed="rId6"/>
            <a:stretch>
              <a:fillRect/>
            </a:stretch>
          </p:blipFill>
          <p:spPr>
            <a:xfrm>
              <a:off x="6278785" y="2501068"/>
              <a:ext cx="6550895" cy="2220800"/>
            </a:xfrm>
            <a:prstGeom prst="rect">
              <a:avLst/>
            </a:prstGeom>
          </p:spPr>
        </p:pic>
        <p:sp>
          <p:nvSpPr>
            <p:cNvPr id="61" name="Rectangle: Rounded Corners 60">
              <a:extLst>
                <a:ext uri="{FF2B5EF4-FFF2-40B4-BE49-F238E27FC236}">
                  <a16:creationId xmlns:a16="http://schemas.microsoft.com/office/drawing/2014/main" id="{77D84C04-2B2B-DD1F-F43B-149EE2042E72}"/>
                </a:ext>
              </a:extLst>
            </p:cNvPr>
            <p:cNvSpPr/>
            <p:nvPr/>
          </p:nvSpPr>
          <p:spPr>
            <a:xfrm>
              <a:off x="6217648" y="2175054"/>
              <a:ext cx="6673171" cy="262292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5D467950-8D9E-E784-7F9E-048B44891E0E}"/>
                </a:ext>
              </a:extLst>
            </p:cNvPr>
            <p:cNvSpPr txBox="1"/>
            <p:nvPr/>
          </p:nvSpPr>
          <p:spPr>
            <a:xfrm>
              <a:off x="10964073" y="2166374"/>
              <a:ext cx="1926746" cy="338554"/>
            </a:xfrm>
            <a:prstGeom prst="rect">
              <a:avLst/>
            </a:prstGeom>
            <a:noFill/>
          </p:spPr>
          <p:txBody>
            <a:bodyPr wrap="none" rtlCol="0">
              <a:spAutoFit/>
            </a:bodyPr>
            <a:lstStyle/>
            <a:p>
              <a:pPr algn="r"/>
              <a:r>
                <a:rPr lang="en-US" sz="1600" b="1" dirty="0"/>
                <a:t>Isolated RL Branch</a:t>
              </a:r>
            </a:p>
          </p:txBody>
        </p:sp>
        <p:sp>
          <p:nvSpPr>
            <p:cNvPr id="63" name="Rectangle 62">
              <a:extLst>
                <a:ext uri="{FF2B5EF4-FFF2-40B4-BE49-F238E27FC236}">
                  <a16:creationId xmlns:a16="http://schemas.microsoft.com/office/drawing/2014/main" id="{720C7405-E07E-3A4A-DBC0-993E654E9D29}"/>
                </a:ext>
              </a:extLst>
            </p:cNvPr>
            <p:cNvSpPr/>
            <p:nvPr/>
          </p:nvSpPr>
          <p:spPr>
            <a:xfrm>
              <a:off x="8390396" y="3406397"/>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1079C165-55E2-B287-792D-FA03B3C8FFF2}"/>
                </a:ext>
              </a:extLst>
            </p:cNvPr>
            <p:cNvCxnSpPr/>
            <p:nvPr/>
          </p:nvCxnSpPr>
          <p:spPr>
            <a:xfrm flipV="1">
              <a:off x="9443215"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CFBB927-7504-820D-74B7-AB8F1AE86A04}"/>
                </a:ext>
              </a:extLst>
            </p:cNvPr>
            <p:cNvCxnSpPr>
              <a:cxnSpLocks/>
            </p:cNvCxnSpPr>
            <p:nvPr/>
          </p:nvCxnSpPr>
          <p:spPr>
            <a:xfrm>
              <a:off x="10178650"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710091E1-C2D9-9419-0568-C66442BE8842}"/>
                </a:ext>
              </a:extLst>
            </p:cNvPr>
            <p:cNvCxnSpPr/>
            <p:nvPr/>
          </p:nvCxnSpPr>
          <p:spPr>
            <a:xfrm flipV="1">
              <a:off x="11801182" y="3821807"/>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3E0BC8E-5C4A-9204-C2EA-48373DAFEAD5}"/>
                  </a:ext>
                </a:extLst>
              </p:cNvPr>
              <p:cNvSpPr txBox="1"/>
              <p:nvPr/>
            </p:nvSpPr>
            <p:spPr>
              <a:xfrm>
                <a:off x="6217648" y="4622637"/>
                <a:ext cx="5850467" cy="1235338"/>
              </a:xfrm>
              <a:prstGeom prst="rect">
                <a:avLst/>
              </a:prstGeom>
              <a:noFill/>
            </p:spPr>
            <p:txBody>
              <a:bodyPr wrap="square" rtlCol="0">
                <a:spAutoFit/>
              </a:bodyPr>
              <a:lstStyle/>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𝐿</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)&lt;0</m:t>
                    </m:r>
                  </m:oMath>
                </a14:m>
                <a:r>
                  <a:rPr lang="en-US" sz="1400" dirty="0"/>
                  <a:t> corresponds to negative inductor current</a:t>
                </a:r>
              </a:p>
              <a:p>
                <a:r>
                  <a:rPr lang="en-US" sz="1400" dirty="0"/>
                  <a:t>Steady-state negative inductor current requires </a:t>
                </a:r>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𝑐</m:t>
                        </m:r>
                      </m:sub>
                    </m:sSub>
                    <m:r>
                      <a:rPr lang="en-US" sz="1400" b="0" i="1" smtClean="0">
                        <a:latin typeface="Cambria Math" panose="02040503050406030204" pitchFamily="18" charset="0"/>
                      </a:rPr>
                      <m:t>&lt;0</m:t>
                    </m:r>
                  </m:oMath>
                </a14:m>
                <a:r>
                  <a:rPr lang="en-US" sz="1400" dirty="0"/>
                  <a:t> due to RL branch impedance</a:t>
                </a:r>
              </a:p>
              <a:p>
                <a:r>
                  <a:rPr lang="en-US" sz="1400" dirty="0"/>
                  <a:t>Thus </a:t>
                </a:r>
                <a14:m>
                  <m:oMath xmlns:m="http://schemas.openxmlformats.org/officeDocument/2006/math">
                    <m:r>
                      <a:rPr lang="en-US" sz="1400" i="1" dirty="0" smtClean="0">
                        <a:latin typeface="Cambria Math" panose="02040503050406030204" pitchFamily="18" charset="0"/>
                      </a:rPr>
                      <m:t>𝑀</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𝑡</m:t>
                        </m:r>
                      </m:e>
                    </m:d>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𝑔</m:t>
                        </m:r>
                      </m:sub>
                    </m:sSub>
                    <m:r>
                      <a:rPr lang="en-US" sz="1400" b="0" i="1" dirty="0" smtClean="0">
                        <a:latin typeface="Cambria Math" panose="02040503050406030204" pitchFamily="18" charset="0"/>
                      </a:rPr>
                      <m:t>&lt;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𝑐</m:t>
                        </m:r>
                      </m:sub>
                    </m:sSub>
                    <m:r>
                      <a:rPr lang="en-US" sz="1400" i="1" dirty="0">
                        <a:latin typeface="Cambria Math" panose="02040503050406030204" pitchFamily="18" charset="0"/>
                      </a:rPr>
                      <m:t>,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&gt;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endParaRPr lang="en-US" sz="1400" dirty="0"/>
              </a:p>
              <a:p>
                <a:r>
                  <a:rPr lang="en-US" sz="1600" b="1" dirty="0"/>
                  <a:t>Reverse charging is possible!</a:t>
                </a:r>
              </a:p>
            </p:txBody>
          </p:sp>
        </mc:Choice>
        <mc:Fallback xmlns="">
          <p:sp>
            <p:nvSpPr>
              <p:cNvPr id="74" name="TextBox 73">
                <a:extLst>
                  <a:ext uri="{FF2B5EF4-FFF2-40B4-BE49-F238E27FC236}">
                    <a16:creationId xmlns:a16="http://schemas.microsoft.com/office/drawing/2014/main" id="{43E0BC8E-5C4A-9204-C2EA-48373DAFEAD5}"/>
                  </a:ext>
                </a:extLst>
              </p:cNvPr>
              <p:cNvSpPr txBox="1">
                <a:spLocks noRot="1" noChangeAspect="1" noMove="1" noResize="1" noEditPoints="1" noAdjustHandles="1" noChangeArrowheads="1" noChangeShapeType="1" noTextEdit="1"/>
              </p:cNvSpPr>
              <p:nvPr/>
            </p:nvSpPr>
            <p:spPr>
              <a:xfrm>
                <a:off x="6217648" y="4622637"/>
                <a:ext cx="5850467" cy="1235338"/>
              </a:xfrm>
              <a:prstGeom prst="rect">
                <a:avLst/>
              </a:prstGeom>
              <a:blipFill>
                <a:blip r:embed="rId7"/>
                <a:stretch>
                  <a:fillRect l="-625" t="-493" b="-4926"/>
                </a:stretch>
              </a:blipFill>
            </p:spPr>
            <p:txBody>
              <a:bodyPr/>
              <a:lstStyle/>
              <a:p>
                <a:r>
                  <a:rPr lang="en-US">
                    <a:noFill/>
                  </a:rPr>
                  <a:t> </a:t>
                </a:r>
              </a:p>
            </p:txBody>
          </p:sp>
        </mc:Fallback>
      </mc:AlternateContent>
    </p:spTree>
    <p:extLst>
      <p:ext uri="{BB962C8B-B14F-4D97-AF65-F5344CB8AC3E}">
        <p14:creationId xmlns:p14="http://schemas.microsoft.com/office/powerpoint/2010/main" val="2913852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5CD14-C47E-C217-17FF-DB5C0B93FE59}"/>
              </a:ext>
            </a:extLst>
          </p:cNvPr>
          <p:cNvSpPr>
            <a:spLocks noGrp="1"/>
          </p:cNvSpPr>
          <p:nvPr>
            <p:ph type="title"/>
          </p:nvPr>
        </p:nvSpPr>
        <p:spPr/>
        <p:txBody>
          <a:bodyPr/>
          <a:lstStyle/>
          <a:p>
            <a:r>
              <a:rPr lang="en-US" dirty="0"/>
              <a:t>Maximum Reverse Current, Continued</a:t>
            </a:r>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35DF6CCB-0898-3758-FBD2-56B547E4F24B}"/>
                  </a:ext>
                </a:extLst>
              </p:cNvPr>
              <p:cNvSpPr>
                <a:spLocks noGrp="1"/>
              </p:cNvSpPr>
              <p:nvPr>
                <p:ph type="body" sz="half" idx="4294967295"/>
              </p:nvPr>
            </p:nvSpPr>
            <p:spPr>
              <a:xfrm>
                <a:off x="881133" y="1582271"/>
                <a:ext cx="4991159" cy="4793362"/>
              </a:xfrm>
            </p:spPr>
            <p:txBody>
              <a:bodyPr>
                <a:noAutofit/>
              </a:bodyPr>
              <a:lstStyle/>
              <a:p>
                <a:pPr marL="0" indent="0">
                  <a:buNone/>
                </a:pPr>
                <a:r>
                  <a:rPr lang="en-US" sz="1800" dirty="0"/>
                  <a:t>To find steady-state maximum reverse current, we approximate the inductor as having 0 impedance. Negative voltage across resistor in RL branch causes negative current which is then reflected across ideal transformer. We can thus derive an expression for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sub>
                      </m:sSub>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𝐺</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sSup>
                            <m:sSupPr>
                              <m:ctrlPr>
                                <a:rPr lang="en-US" sz="1800" b="0" i="1" smtClean="0">
                                  <a:latin typeface="Cambria Math" panose="02040503050406030204" pitchFamily="18" charset="0"/>
                                </a:rPr>
                              </m:ctrlPr>
                            </m:sSupPr>
                            <m:e>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e>
                            <m:sup>
                              <m:r>
                                <a:rPr lang="en-US" sz="1800" b="0" i="1" smtClean="0">
                                  <a:latin typeface="Cambria Math" panose="02040503050406030204" pitchFamily="18" charset="0"/>
                                </a:rPr>
                                <m:t>2</m:t>
                              </m:r>
                            </m:sup>
                          </m:sSup>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num>
                        <m:den>
                          <m:r>
                            <a:rPr lang="en-US" sz="1800" b="0" i="1" smtClean="0">
                              <a:latin typeface="Cambria Math" panose="02040503050406030204" pitchFamily="18" charset="0"/>
                            </a:rPr>
                            <m:t>𝑅</m:t>
                          </m:r>
                        </m:den>
                      </m:f>
                    </m:oMath>
                  </m:oMathPara>
                </a14:m>
                <a:endParaRPr lang="en-US" sz="1800" dirty="0"/>
              </a:p>
              <a:p>
                <a:pPr marL="0" indent="0">
                  <a:buNone/>
                </a:pPr>
                <a:r>
                  <a:rPr lang="en-US" sz="1800" dirty="0"/>
                  <a:t>Apply optimization for maximum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r>
                            <a:rPr lang="en-US" sz="1800" b="0" i="1" smtClean="0">
                              <a:latin typeface="Cambria Math" panose="02040503050406030204" pitchFamily="18" charset="0"/>
                            </a:rPr>
                            <m:t>,</m:t>
                          </m:r>
                          <m:r>
                            <a:rPr lang="en-US" sz="1800" b="0" i="1" smtClean="0">
                              <a:latin typeface="Cambria Math" panose="02040503050406030204" pitchFamily="18" charset="0"/>
                            </a:rPr>
                            <m:t>𝑚𝑎𝑥</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up>
                              <m:r>
                                <a:rPr lang="en-US" sz="1800" b="0" i="1" smtClean="0">
                                  <a:latin typeface="Cambria Math" panose="02040503050406030204" pitchFamily="18" charset="0"/>
                                </a:rPr>
                                <m:t>2</m:t>
                              </m:r>
                            </m:sup>
                          </m:sSubSup>
                        </m:num>
                        <m:den>
                          <m:r>
                            <a:rPr lang="en-US" sz="1800" b="0" i="1" smtClean="0">
                              <a:latin typeface="Cambria Math" panose="02040503050406030204" pitchFamily="18" charset="0"/>
                            </a:rPr>
                            <m:t>4</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r>
                            <a:rPr lang="en-US" sz="1800" b="0" i="1" smtClean="0">
                              <a:latin typeface="Cambria Math" panose="02040503050406030204" pitchFamily="18" charset="0"/>
                            </a:rPr>
                            <m:t>𝑅</m:t>
                          </m:r>
                        </m:den>
                      </m:f>
                      <m:r>
                        <a:rPr lang="en-US" sz="1800" b="0" i="1" smtClean="0">
                          <a:latin typeface="Cambria Math" panose="02040503050406030204" pitchFamily="18" charset="0"/>
                        </a:rPr>
                        <m:t>,</m:t>
                      </m:r>
                      <m:r>
                        <a:rPr lang="en-US" sz="1800" b="0" i="1" smtClean="0">
                          <a:latin typeface="Cambria Math" panose="02040503050406030204" pitchFamily="18" charset="0"/>
                        </a:rPr>
                        <m:t>𝑀</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Sub>
                        </m:num>
                        <m:den>
                          <m:r>
                            <a:rPr lang="en-US" sz="1800" b="0" i="1" smtClean="0">
                              <a:latin typeface="Cambria Math" panose="02040503050406030204" pitchFamily="18" charset="0"/>
                            </a:rPr>
                            <m:t>2</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den>
                      </m:f>
                      <m:r>
                        <a:rPr lang="en-US" sz="1800" b="0" i="1" smtClean="0">
                          <a:latin typeface="Cambria Math" panose="02040503050406030204" pitchFamily="18" charset="0"/>
                        </a:rPr>
                        <m:t>=</m:t>
                      </m:r>
                      <m:r>
                        <a:rPr lang="en-US" sz="1800" b="0" i="1" smtClean="0">
                          <a:latin typeface="Cambria Math" panose="02040503050406030204" pitchFamily="18" charset="0"/>
                        </a:rPr>
                        <m:t>𝐾</m:t>
                      </m:r>
                    </m:oMath>
                  </m:oMathPara>
                </a14:m>
                <a:endParaRPr lang="en-US" sz="1800" dirty="0"/>
              </a:p>
              <a:p>
                <a:pPr marL="0" indent="0">
                  <a:buNone/>
                </a:pPr>
                <a:r>
                  <a:rPr lang="en-US" sz="1800" dirty="0"/>
                  <a:t>A familiar constant appears! Let’s see if a corresponding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𝑀</m:t>
                        </m:r>
                      </m:e>
                      <m:sub>
                        <m:r>
                          <a:rPr lang="en-US" sz="1800" b="0" i="1" smtClean="0">
                            <a:latin typeface="Cambria Math" panose="02040503050406030204" pitchFamily="18" charset="0"/>
                          </a:rPr>
                          <m:t>𝑇</m:t>
                        </m:r>
                      </m:sub>
                    </m:sSub>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oMath>
                </a14:m>
                <a:r>
                  <a:rPr lang="en-US" sz="1800" dirty="0"/>
                  <a:t> appears:</a:t>
                </a:r>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p>
                        <m:sSupPr>
                          <m:ctrlPr>
                            <a:rPr lang="en-US" sz="1800" i="1">
                              <a:latin typeface="Cambria Math" panose="02040503050406030204" pitchFamily="18" charset="0"/>
                            </a:rPr>
                          </m:ctrlPr>
                        </m:sSupPr>
                        <m:e>
                          <m:d>
                            <m:dPr>
                              <m:ctrlPr>
                                <a:rPr lang="en-US" sz="1800" i="1">
                                  <a:latin typeface="Cambria Math" panose="02040503050406030204" pitchFamily="18" charset="0"/>
                                </a:rPr>
                              </m:ctrlPr>
                            </m:dPr>
                            <m:e>
                              <m:r>
                                <a:rPr lang="en-US" sz="1800" i="1">
                                  <a:latin typeface="Cambria Math" panose="02040503050406030204" pitchFamily="18" charset="0"/>
                                </a:rPr>
                                <m:t>𝑀</m:t>
                              </m:r>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𝐾</m:t>
                                  </m:r>
                                </m:e>
                                <m:sub>
                                  <m:r>
                                    <a:rPr lang="en-US" sz="1800" i="1">
                                      <a:latin typeface="Cambria Math" panose="02040503050406030204" pitchFamily="18" charset="0"/>
                                    </a:rPr>
                                    <m:t>𝑇</m:t>
                                  </m:r>
                                </m:sub>
                              </m:sSub>
                            </m:e>
                          </m:d>
                        </m:e>
                        <m:sup>
                          <m:r>
                            <a:rPr lang="en-US" sz="1800" i="1">
                              <a:latin typeface="Cambria Math" panose="02040503050406030204" pitchFamily="18" charset="0"/>
                            </a:rPr>
                            <m:t>2</m:t>
                          </m:r>
                        </m:sup>
                      </m:sSup>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r>
                  <a:rPr lang="en-US" sz="1800" dirty="0"/>
                  <a:t>This is precisely the minimum value we saw earlier!</a:t>
                </a:r>
              </a:p>
            </p:txBody>
          </p:sp>
        </mc:Choice>
        <mc:Fallback xmlns="">
          <p:sp>
            <p:nvSpPr>
              <p:cNvPr id="6" name="Text Placeholder 5">
                <a:extLst>
                  <a:ext uri="{FF2B5EF4-FFF2-40B4-BE49-F238E27FC236}">
                    <a16:creationId xmlns:a16="http://schemas.microsoft.com/office/drawing/2014/main" id="{35DF6CCB-0898-3758-FBD2-56B547E4F24B}"/>
                  </a:ext>
                </a:extLst>
              </p:cNvPr>
              <p:cNvSpPr>
                <a:spLocks noGrp="1" noRot="1" noChangeAspect="1" noMove="1" noResize="1" noEditPoints="1" noAdjustHandles="1" noChangeArrowheads="1" noChangeShapeType="1" noTextEdit="1"/>
              </p:cNvSpPr>
              <p:nvPr>
                <p:ph type="body" sz="half" idx="4294967295"/>
              </p:nvPr>
            </p:nvSpPr>
            <p:spPr>
              <a:xfrm>
                <a:off x="881133" y="1582271"/>
                <a:ext cx="4991159" cy="4793362"/>
              </a:xfrm>
              <a:blipFill>
                <a:blip r:embed="rId2"/>
                <a:stretch>
                  <a:fillRect l="-1100" t="-1272" r="-611" b="-1272"/>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62394A39-FB94-3A45-4A70-1EB5C81B5771}"/>
              </a:ext>
            </a:extLst>
          </p:cNvPr>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8" name="Text Placeholder 5">
            <a:extLst>
              <a:ext uri="{FF2B5EF4-FFF2-40B4-BE49-F238E27FC236}">
                <a16:creationId xmlns:a16="http://schemas.microsoft.com/office/drawing/2014/main" id="{FE51BEAC-D44B-FEE4-5B8F-998219149AFD}"/>
              </a:ext>
            </a:extLst>
          </p:cNvPr>
          <p:cNvSpPr txBox="1">
            <a:spLocks/>
          </p:cNvSpPr>
          <p:nvPr/>
        </p:nvSpPr>
        <p:spPr>
          <a:xfrm>
            <a:off x="6319708" y="1582271"/>
            <a:ext cx="4991159" cy="47933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First-order estimates for R approximate its value at 83 m</a:t>
            </a:r>
            <a:r>
              <a:rPr lang="el-GR" sz="1800" dirty="0"/>
              <a:t>Ω</a:t>
            </a:r>
            <a:r>
              <a:rPr lang="en-US" sz="1800" dirty="0"/>
              <a:t>, making the maximum reverse current roughly 1.2A at full capacitor charge. Considering that the maximum reverse current scales with stored capacitor voltage and the capacitor is not expected to be at full charge during operation, this results in even lower maximum reverse current during expected operation conditions. </a:t>
            </a:r>
          </a:p>
          <a:p>
            <a:pPr marL="0" indent="0">
              <a:buFont typeface="Arial" panose="020B0604020202020204" pitchFamily="34" charset="0"/>
              <a:buNone/>
            </a:pPr>
            <a:r>
              <a:rPr lang="en-US" sz="1800" dirty="0"/>
              <a:t>To ameliorate this limitation, increasing reverse current would require lower resistance across the RL branch, the lion’s share of which is from the inductor. Maximizing copper area and mitigating skin effects are of utmost importance to optimize performance. </a:t>
            </a:r>
          </a:p>
          <a:p>
            <a:pPr marL="0" indent="0">
              <a:buFont typeface="Arial" panose="020B0604020202020204" pitchFamily="34" charset="0"/>
              <a:buNone/>
            </a:pPr>
            <a:endParaRPr lang="en-US" sz="1800" dirty="0"/>
          </a:p>
        </p:txBody>
      </p:sp>
    </p:spTree>
    <p:extLst>
      <p:ext uri="{BB962C8B-B14F-4D97-AF65-F5344CB8AC3E}">
        <p14:creationId xmlns:p14="http://schemas.microsoft.com/office/powerpoint/2010/main" val="10692196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F59CC-F282-7655-F58B-397001D053A1}"/>
              </a:ext>
            </a:extLst>
          </p:cNvPr>
          <p:cNvSpPr>
            <a:spLocks noGrp="1"/>
          </p:cNvSpPr>
          <p:nvPr>
            <p:ph type="title"/>
          </p:nvPr>
        </p:nvSpPr>
        <p:spPr/>
        <p:txBody>
          <a:bodyPr/>
          <a:lstStyle/>
          <a:p>
            <a:r>
              <a:rPr lang="en-US" dirty="0"/>
              <a:t>Reverse Current – Control Schema</a:t>
            </a:r>
          </a:p>
        </p:txBody>
      </p:sp>
      <p:pic>
        <p:nvPicPr>
          <p:cNvPr id="3" name="Online Media 2" title="guy screaming for help while holding a chick fil a drink">
            <a:hlinkClick r:id="" action="ppaction://media"/>
            <a:extLst>
              <a:ext uri="{FF2B5EF4-FFF2-40B4-BE49-F238E27FC236}">
                <a16:creationId xmlns:a16="http://schemas.microsoft.com/office/drawing/2014/main" id="{3CDCB37F-614F-0266-D181-7E245E3C588F}"/>
              </a:ext>
            </a:extLst>
          </p:cNvPr>
          <p:cNvPicPr>
            <a:picLocks noRot="1" noChangeAspect="1"/>
          </p:cNvPicPr>
          <p:nvPr>
            <a:videoFile r:link="rId1"/>
          </p:nvPr>
        </p:nvPicPr>
        <p:blipFill>
          <a:blip r:embed="rId3"/>
          <a:stretch>
            <a:fillRect/>
          </a:stretch>
        </p:blipFill>
        <p:spPr>
          <a:xfrm>
            <a:off x="2523565" y="1418665"/>
            <a:ext cx="7144871" cy="5358653"/>
          </a:xfrm>
          <a:prstGeom prst="rect">
            <a:avLst/>
          </a:prstGeom>
        </p:spPr>
      </p:pic>
    </p:spTree>
    <p:extLst>
      <p:ext uri="{BB962C8B-B14F-4D97-AF65-F5344CB8AC3E}">
        <p14:creationId xmlns:p14="http://schemas.microsoft.com/office/powerpoint/2010/main" val="17607156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50BB5-4C83-F743-B01B-F9CDC2372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F886-F4AC-B6CB-4CEC-424A3051C91F}"/>
              </a:ext>
            </a:extLst>
          </p:cNvPr>
          <p:cNvSpPr>
            <a:spLocks noGrp="1"/>
          </p:cNvSpPr>
          <p:nvPr>
            <p:ph type="title"/>
          </p:nvPr>
        </p:nvSpPr>
        <p:spPr/>
        <p:txBody>
          <a:bodyPr/>
          <a:lstStyle/>
          <a:p>
            <a:r>
              <a:rPr lang="en-US" dirty="0"/>
              <a:t>Section 3: Disturbance Rejection &amp; Robustness</a:t>
            </a:r>
          </a:p>
        </p:txBody>
      </p:sp>
      <p:sp>
        <p:nvSpPr>
          <p:cNvPr id="3" name="Text Placeholder 2">
            <a:extLst>
              <a:ext uri="{FF2B5EF4-FFF2-40B4-BE49-F238E27FC236}">
                <a16:creationId xmlns:a16="http://schemas.microsoft.com/office/drawing/2014/main" id="{7EB6D585-CEE8-3232-E327-916DC11A63D9}"/>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18393388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a:xfrm>
            <a:off x="838200" y="364941"/>
            <a:ext cx="10515600" cy="1325563"/>
          </a:xfrm>
        </p:spPr>
        <p:txBody>
          <a:bodyPr/>
          <a:lstStyle/>
          <a:p>
            <a:pPr algn="ctr"/>
            <a:r>
              <a:rPr lang="en-US" dirty="0"/>
              <a:t>Sources of Inaccuracies: Examples</a:t>
            </a:r>
          </a:p>
        </p:txBody>
      </p:sp>
      <p:sp>
        <p:nvSpPr>
          <p:cNvPr id="3" name="TextBox 2">
            <a:extLst>
              <a:ext uri="{FF2B5EF4-FFF2-40B4-BE49-F238E27FC236}">
                <a16:creationId xmlns:a16="http://schemas.microsoft.com/office/drawing/2014/main" id="{3E8315EF-F180-1473-929D-6FCEC7F49766}"/>
              </a:ext>
            </a:extLst>
          </p:cNvPr>
          <p:cNvSpPr txBox="1"/>
          <p:nvPr/>
        </p:nvSpPr>
        <p:spPr>
          <a:xfrm>
            <a:off x="8668479" y="1875170"/>
            <a:ext cx="744114" cy="1200329"/>
          </a:xfrm>
          <a:prstGeom prst="rect">
            <a:avLst/>
          </a:prstGeom>
          <a:noFill/>
          <a:ln>
            <a:solidFill>
              <a:schemeClr val="tx1"/>
            </a:solidFill>
          </a:ln>
        </p:spPr>
        <p:txBody>
          <a:bodyPr wrap="none" rtlCol="0">
            <a:spAutoFit/>
          </a:bodyPr>
          <a:lstStyle/>
          <a:p>
            <a:r>
              <a:rPr lang="en-US" sz="7200" dirty="0"/>
              <a:t>R</a:t>
            </a:r>
          </a:p>
        </p:txBody>
      </p:sp>
      <p:sp>
        <p:nvSpPr>
          <p:cNvPr id="5" name="TextBox 4">
            <a:extLst>
              <a:ext uri="{FF2B5EF4-FFF2-40B4-BE49-F238E27FC236}">
                <a16:creationId xmlns:a16="http://schemas.microsoft.com/office/drawing/2014/main" id="{A2C7575A-F865-0B1F-F649-6742D19583D9}"/>
              </a:ext>
            </a:extLst>
          </p:cNvPr>
          <p:cNvSpPr txBox="1"/>
          <p:nvPr/>
        </p:nvSpPr>
        <p:spPr>
          <a:xfrm>
            <a:off x="8394686" y="1505838"/>
            <a:ext cx="1291700" cy="369332"/>
          </a:xfrm>
          <a:prstGeom prst="rect">
            <a:avLst/>
          </a:prstGeom>
          <a:noFill/>
        </p:spPr>
        <p:txBody>
          <a:bodyPr wrap="none" rtlCol="0">
            <a:spAutoFit/>
          </a:bodyPr>
          <a:lstStyle/>
          <a:p>
            <a:r>
              <a:rPr lang="en-US" dirty="0"/>
              <a:t>Resistance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FC0C35F-AFF8-4419-BB50-238C7BD4BD97}"/>
                  </a:ext>
                </a:extLst>
              </p:cNvPr>
              <p:cNvSpPr txBox="1"/>
              <p:nvPr/>
            </p:nvSpPr>
            <p:spPr>
              <a:xfrm>
                <a:off x="7324987" y="3200964"/>
                <a:ext cx="3431097" cy="1163075"/>
              </a:xfrm>
              <a:prstGeom prst="rect">
                <a:avLst/>
              </a:prstGeom>
              <a:noFill/>
            </p:spPr>
            <p:txBody>
              <a:bodyPr wrap="square" rtlCol="0">
                <a:spAutoFit/>
              </a:bodyPr>
              <a:lstStyle/>
              <a:p>
                <a:pPr algn="ctr"/>
                <a:r>
                  <a:rPr lang="en-US" dirty="0"/>
                  <a:t>First-order calculation:</a:t>
                </a:r>
              </a:p>
              <a:p>
                <a:pPr algn="ctr"/>
                <a:endParaRPr lang="en-US" dirty="0"/>
              </a:p>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𝑒𝑞</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𝐶</m:t>
                              </m:r>
                            </m:sub>
                          </m:sSub>
                        </m:num>
                        <m:den>
                          <m:r>
                            <a:rPr lang="en-US" b="0" i="1" smtClean="0">
                              <a:latin typeface="Cambria Math" panose="02040503050406030204" pitchFamily="18" charset="0"/>
                            </a:rPr>
                            <m:t>4</m:t>
                          </m:r>
                        </m:den>
                      </m:f>
                    </m:oMath>
                  </m:oMathPara>
                </a14:m>
                <a:endParaRPr lang="en-US" dirty="0"/>
              </a:p>
            </p:txBody>
          </p:sp>
        </mc:Choice>
        <mc:Fallback xmlns="">
          <p:sp>
            <p:nvSpPr>
              <p:cNvPr id="6" name="TextBox 5">
                <a:extLst>
                  <a:ext uri="{FF2B5EF4-FFF2-40B4-BE49-F238E27FC236}">
                    <a16:creationId xmlns:a16="http://schemas.microsoft.com/office/drawing/2014/main" id="{3FC0C35F-AFF8-4419-BB50-238C7BD4BD97}"/>
                  </a:ext>
                </a:extLst>
              </p:cNvPr>
              <p:cNvSpPr txBox="1">
                <a:spLocks noRot="1" noChangeAspect="1" noMove="1" noResize="1" noEditPoints="1" noAdjustHandles="1" noChangeArrowheads="1" noChangeShapeType="1" noTextEdit="1"/>
              </p:cNvSpPr>
              <p:nvPr/>
            </p:nvSpPr>
            <p:spPr>
              <a:xfrm>
                <a:off x="7324987" y="3200964"/>
                <a:ext cx="3431097" cy="1163075"/>
              </a:xfrm>
              <a:prstGeom prst="rect">
                <a:avLst/>
              </a:prstGeom>
              <a:blipFill>
                <a:blip r:embed="rId2"/>
                <a:stretch>
                  <a:fillRect t="-209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8B36FB5-9A67-3561-C9D8-69B58D8C54F7}"/>
              </a:ext>
            </a:extLst>
          </p:cNvPr>
          <p:cNvSpPr txBox="1"/>
          <p:nvPr/>
        </p:nvSpPr>
        <p:spPr>
          <a:xfrm>
            <a:off x="2078105" y="5912961"/>
            <a:ext cx="8035790" cy="369332"/>
          </a:xfrm>
          <a:prstGeom prst="rect">
            <a:avLst/>
          </a:prstGeom>
          <a:noFill/>
        </p:spPr>
        <p:txBody>
          <a:bodyPr wrap="none" rtlCol="0">
            <a:spAutoFit/>
          </a:bodyPr>
          <a:lstStyle/>
          <a:p>
            <a:r>
              <a:rPr lang="en-US" b="1" dirty="0"/>
              <a:t>Both signals and system parameters will not behave exactly as in the model</a:t>
            </a:r>
          </a:p>
        </p:txBody>
      </p:sp>
      <p:cxnSp>
        <p:nvCxnSpPr>
          <p:cNvPr id="11" name="Straight Connector 10">
            <a:extLst>
              <a:ext uri="{FF2B5EF4-FFF2-40B4-BE49-F238E27FC236}">
                <a16:creationId xmlns:a16="http://schemas.microsoft.com/office/drawing/2014/main" id="{F2E339B8-B6AA-4C6D-B21A-8EAACA562253}"/>
              </a:ext>
            </a:extLst>
          </p:cNvPr>
          <p:cNvCxnSpPr>
            <a:cxnSpLocks/>
          </p:cNvCxnSpPr>
          <p:nvPr/>
        </p:nvCxnSpPr>
        <p:spPr>
          <a:xfrm>
            <a:off x="6096000" y="1712990"/>
            <a:ext cx="0" cy="41910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41979162-F0C6-F544-8459-B21F76972C8A}"/>
              </a:ext>
            </a:extLst>
          </p:cNvPr>
          <p:cNvSpPr txBox="1"/>
          <p:nvPr/>
        </p:nvSpPr>
        <p:spPr>
          <a:xfrm>
            <a:off x="6849208" y="4767596"/>
            <a:ext cx="1717592" cy="430887"/>
          </a:xfrm>
          <a:prstGeom prst="rect">
            <a:avLst/>
          </a:prstGeom>
          <a:noFill/>
          <a:ln>
            <a:solidFill>
              <a:schemeClr val="tx1"/>
            </a:solidFill>
          </a:ln>
        </p:spPr>
        <p:txBody>
          <a:bodyPr wrap="square" rtlCol="0">
            <a:spAutoFit/>
          </a:bodyPr>
          <a:lstStyle/>
          <a:p>
            <a:r>
              <a:rPr lang="en-US" sz="1050" dirty="0"/>
              <a:t>MOSFET resistance dependent on gate voltage</a:t>
            </a:r>
          </a:p>
        </p:txBody>
      </p:sp>
      <p:cxnSp>
        <p:nvCxnSpPr>
          <p:cNvPr id="14" name="Straight Arrow Connector 13">
            <a:extLst>
              <a:ext uri="{FF2B5EF4-FFF2-40B4-BE49-F238E27FC236}">
                <a16:creationId xmlns:a16="http://schemas.microsoft.com/office/drawing/2014/main" id="{302F3CD9-6F3F-B650-A86C-231526F231C7}"/>
              </a:ext>
            </a:extLst>
          </p:cNvPr>
          <p:cNvCxnSpPr>
            <a:cxnSpLocks/>
            <a:stCxn id="12" idx="0"/>
          </p:cNvCxnSpPr>
          <p:nvPr/>
        </p:nvCxnSpPr>
        <p:spPr>
          <a:xfrm flipV="1">
            <a:off x="7708004" y="4302751"/>
            <a:ext cx="1245293" cy="464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BDAC820-A69F-CD23-7C70-2ED4FC2C8251}"/>
                  </a:ext>
                </a:extLst>
              </p:cNvPr>
              <p:cNvSpPr txBox="1"/>
              <p:nvPr/>
            </p:nvSpPr>
            <p:spPr>
              <a:xfrm>
                <a:off x="10292715" y="3916072"/>
                <a:ext cx="1464108" cy="692497"/>
              </a:xfrm>
              <a:prstGeom prst="rect">
                <a:avLst/>
              </a:prstGeom>
              <a:noFill/>
              <a:ln>
                <a:solidFill>
                  <a:schemeClr val="tx1">
                    <a:alpha val="50000"/>
                  </a:schemeClr>
                </a:solidFill>
              </a:ln>
            </p:spPr>
            <p:txBody>
              <a:bodyPr wrap="square" rtlCol="0">
                <a:spAutoFit/>
              </a:bodyPr>
              <a:lstStyle/>
              <a:p>
                <a:r>
                  <a:rPr lang="en-US" dirty="0">
                    <a:solidFill>
                      <a:schemeClr val="tx1">
                        <a:alpha val="50000"/>
                      </a:schemeClr>
                    </a:solidFill>
                  </a:rPr>
                  <a:t>(+</a:t>
                </a:r>
                <a14:m>
                  <m:oMath xmlns:m="http://schemas.openxmlformats.org/officeDocument/2006/math">
                    <m:sSub>
                      <m:sSubPr>
                        <m:ctrlPr>
                          <a:rPr lang="en-US" b="0" i="1" smtClean="0">
                            <a:solidFill>
                              <a:schemeClr val="tx1">
                                <a:alpha val="50000"/>
                              </a:schemeClr>
                            </a:solidFill>
                            <a:latin typeface="Cambria Math" panose="02040503050406030204" pitchFamily="18" charset="0"/>
                          </a:rPr>
                        </m:ctrlPr>
                      </m:sSubPr>
                      <m:e>
                        <m:r>
                          <a:rPr lang="en-US" b="0" i="1" smtClean="0">
                            <a:solidFill>
                              <a:schemeClr val="tx1">
                                <a:alpha val="50000"/>
                              </a:schemeClr>
                            </a:solidFill>
                            <a:latin typeface="Cambria Math" panose="02040503050406030204" pitchFamily="18" charset="0"/>
                          </a:rPr>
                          <m:t>𝑅</m:t>
                        </m:r>
                      </m:e>
                      <m:sub>
                        <m:r>
                          <a:rPr lang="en-US" b="0" i="1" smtClean="0">
                            <a:solidFill>
                              <a:schemeClr val="tx1">
                                <a:alpha val="50000"/>
                              </a:schemeClr>
                            </a:solidFill>
                            <a:latin typeface="Cambria Math" panose="02040503050406030204" pitchFamily="18" charset="0"/>
                          </a:rPr>
                          <m:t>𝑏𝑜𝑎𝑟𝑑</m:t>
                        </m:r>
                      </m:sub>
                    </m:sSub>
                  </m:oMath>
                </a14:m>
                <a:r>
                  <a:rPr lang="en-US" dirty="0">
                    <a:solidFill>
                      <a:schemeClr val="tx1">
                        <a:alpha val="50000"/>
                      </a:schemeClr>
                    </a:solidFill>
                  </a:rPr>
                  <a:t>)</a:t>
                </a:r>
              </a:p>
              <a:p>
                <a:r>
                  <a:rPr lang="en-US" sz="1050" dirty="0">
                    <a:solidFill>
                      <a:schemeClr val="tx1">
                        <a:alpha val="99000"/>
                      </a:schemeClr>
                    </a:solidFill>
                  </a:rPr>
                  <a:t>PCB trace resistances are hard to measure</a:t>
                </a:r>
              </a:p>
            </p:txBody>
          </p:sp>
        </mc:Choice>
        <mc:Fallback xmlns="">
          <p:sp>
            <p:nvSpPr>
              <p:cNvPr id="15" name="TextBox 14">
                <a:extLst>
                  <a:ext uri="{FF2B5EF4-FFF2-40B4-BE49-F238E27FC236}">
                    <a16:creationId xmlns:a16="http://schemas.microsoft.com/office/drawing/2014/main" id="{EBDAC820-A69F-CD23-7C70-2ED4FC2C8251}"/>
                  </a:ext>
                </a:extLst>
              </p:cNvPr>
              <p:cNvSpPr txBox="1">
                <a:spLocks noRot="1" noChangeAspect="1" noMove="1" noResize="1" noEditPoints="1" noAdjustHandles="1" noChangeArrowheads="1" noChangeShapeType="1" noTextEdit="1"/>
              </p:cNvSpPr>
              <p:nvPr/>
            </p:nvSpPr>
            <p:spPr>
              <a:xfrm>
                <a:off x="10292715" y="3916072"/>
                <a:ext cx="1464108" cy="692497"/>
              </a:xfrm>
              <a:prstGeom prst="rect">
                <a:avLst/>
              </a:prstGeom>
              <a:blipFill>
                <a:blip r:embed="rId3"/>
                <a:stretch>
                  <a:fillRect l="-2881" t="-2586" b="-2586"/>
                </a:stretch>
              </a:blipFill>
              <a:ln>
                <a:solidFill>
                  <a:schemeClr val="tx1">
                    <a:alpha val="50000"/>
                  </a:schemeClr>
                </a:solid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8474F9E5-D76C-74E3-27EC-D06B6DF7055C}"/>
              </a:ext>
            </a:extLst>
          </p:cNvPr>
          <p:cNvSpPr txBox="1"/>
          <p:nvPr/>
        </p:nvSpPr>
        <p:spPr>
          <a:xfrm>
            <a:off x="8668479" y="4782985"/>
            <a:ext cx="2066343" cy="415498"/>
          </a:xfrm>
          <a:prstGeom prst="rect">
            <a:avLst/>
          </a:prstGeom>
          <a:noFill/>
          <a:ln>
            <a:solidFill>
              <a:schemeClr val="tx1"/>
            </a:solidFill>
          </a:ln>
        </p:spPr>
        <p:txBody>
          <a:bodyPr wrap="square" rtlCol="0">
            <a:spAutoFit/>
          </a:bodyPr>
          <a:lstStyle/>
          <a:p>
            <a:r>
              <a:rPr lang="en-US" sz="1050" dirty="0"/>
              <a:t>Inductor resistance dependent on frequency due to skin effect**</a:t>
            </a:r>
          </a:p>
        </p:txBody>
      </p:sp>
      <p:cxnSp>
        <p:nvCxnSpPr>
          <p:cNvPr id="18" name="Straight Arrow Connector 17">
            <a:extLst>
              <a:ext uri="{FF2B5EF4-FFF2-40B4-BE49-F238E27FC236}">
                <a16:creationId xmlns:a16="http://schemas.microsoft.com/office/drawing/2014/main" id="{29AC338B-E767-E459-EA06-3BA235C39522}"/>
              </a:ext>
            </a:extLst>
          </p:cNvPr>
          <p:cNvCxnSpPr>
            <a:cxnSpLocks/>
            <a:stCxn id="16" idx="0"/>
          </p:cNvCxnSpPr>
          <p:nvPr/>
        </p:nvCxnSpPr>
        <p:spPr>
          <a:xfrm flipH="1" flipV="1">
            <a:off x="9510860" y="4302751"/>
            <a:ext cx="190791" cy="48023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9FF053C-9480-3DB0-0894-FABA016199A0}"/>
              </a:ext>
            </a:extLst>
          </p:cNvPr>
          <p:cNvSpPr txBox="1"/>
          <p:nvPr/>
        </p:nvSpPr>
        <p:spPr>
          <a:xfrm>
            <a:off x="7464815" y="5430332"/>
            <a:ext cx="3151440" cy="369332"/>
          </a:xfrm>
          <a:prstGeom prst="rect">
            <a:avLst/>
          </a:prstGeom>
          <a:noFill/>
          <a:ln>
            <a:noFill/>
          </a:ln>
        </p:spPr>
        <p:txBody>
          <a:bodyPr wrap="none" rtlCol="0">
            <a:spAutoFit/>
          </a:bodyPr>
          <a:lstStyle/>
          <a:p>
            <a:r>
              <a:rPr lang="en-US" dirty="0">
                <a:solidFill>
                  <a:srgbClr val="FF0000"/>
                </a:solidFill>
              </a:rPr>
              <a:t>All dependent on temperature</a:t>
            </a:r>
          </a:p>
        </p:txBody>
      </p:sp>
      <p:sp>
        <p:nvSpPr>
          <p:cNvPr id="20" name="Rectangle 19">
            <a:extLst>
              <a:ext uri="{FF2B5EF4-FFF2-40B4-BE49-F238E27FC236}">
                <a16:creationId xmlns:a16="http://schemas.microsoft.com/office/drawing/2014/main" id="{D39DF11F-D6F3-654B-3D07-939D85CBCD10}"/>
              </a:ext>
            </a:extLst>
          </p:cNvPr>
          <p:cNvSpPr/>
          <p:nvPr/>
        </p:nvSpPr>
        <p:spPr>
          <a:xfrm>
            <a:off x="6387618" y="3640015"/>
            <a:ext cx="5473196" cy="218488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64439CE-D74D-DA1B-2756-107170DAAB74}"/>
              </a:ext>
            </a:extLst>
          </p:cNvPr>
          <p:cNvSpPr txBox="1"/>
          <p:nvPr/>
        </p:nvSpPr>
        <p:spPr>
          <a:xfrm>
            <a:off x="1797245" y="1875170"/>
            <a:ext cx="2541080" cy="1200329"/>
          </a:xfrm>
          <a:prstGeom prst="rect">
            <a:avLst/>
          </a:prstGeom>
          <a:noFill/>
          <a:ln>
            <a:solidFill>
              <a:schemeClr val="tx1"/>
            </a:solidFill>
          </a:ln>
        </p:spPr>
        <p:txBody>
          <a:bodyPr wrap="none" rtlCol="0">
            <a:spAutoFit/>
          </a:bodyPr>
          <a:lstStyle/>
          <a:p>
            <a:r>
              <a:rPr lang="en-US" sz="7200" dirty="0"/>
              <a:t>&lt;i</a:t>
            </a:r>
            <a:r>
              <a:rPr lang="en-US" sz="7200" baseline="-25000" dirty="0"/>
              <a:t>L</a:t>
            </a:r>
            <a:r>
              <a:rPr lang="en-US" sz="7200" dirty="0"/>
              <a:t>(t)&gt;</a:t>
            </a:r>
          </a:p>
        </p:txBody>
      </p:sp>
      <p:sp>
        <p:nvSpPr>
          <p:cNvPr id="31" name="TextBox 30">
            <a:extLst>
              <a:ext uri="{FF2B5EF4-FFF2-40B4-BE49-F238E27FC236}">
                <a16:creationId xmlns:a16="http://schemas.microsoft.com/office/drawing/2014/main" id="{0DB6E4A8-6632-FF06-7356-22D3375AB5C5}"/>
              </a:ext>
            </a:extLst>
          </p:cNvPr>
          <p:cNvSpPr txBox="1"/>
          <p:nvPr/>
        </p:nvSpPr>
        <p:spPr>
          <a:xfrm>
            <a:off x="1733766" y="1505838"/>
            <a:ext cx="2668038" cy="369332"/>
          </a:xfrm>
          <a:prstGeom prst="rect">
            <a:avLst/>
          </a:prstGeom>
          <a:noFill/>
        </p:spPr>
        <p:txBody>
          <a:bodyPr wrap="none" rtlCol="0">
            <a:spAutoFit/>
          </a:bodyPr>
          <a:lstStyle/>
          <a:p>
            <a:r>
              <a:rPr lang="en-US" dirty="0"/>
              <a:t>Average Inductor Current</a:t>
            </a:r>
          </a:p>
        </p:txBody>
      </p:sp>
      <p:cxnSp>
        <p:nvCxnSpPr>
          <p:cNvPr id="33" name="Straight Connector 32">
            <a:extLst>
              <a:ext uri="{FF2B5EF4-FFF2-40B4-BE49-F238E27FC236}">
                <a16:creationId xmlns:a16="http://schemas.microsoft.com/office/drawing/2014/main" id="{4E2A6486-87C2-7333-E298-977841D0B5D1}"/>
              </a:ext>
            </a:extLst>
          </p:cNvPr>
          <p:cNvCxnSpPr/>
          <p:nvPr/>
        </p:nvCxnSpPr>
        <p:spPr>
          <a:xfrm>
            <a:off x="1488226" y="3832970"/>
            <a:ext cx="0" cy="1584612"/>
          </a:xfrm>
          <a:prstGeom prst="line">
            <a:avLst/>
          </a:prstGeom>
          <a:ln>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FF2CC56-F057-FCD6-65E0-EBBAF265413F}"/>
              </a:ext>
            </a:extLst>
          </p:cNvPr>
          <p:cNvCxnSpPr>
            <a:cxnSpLocks/>
          </p:cNvCxnSpPr>
          <p:nvPr/>
        </p:nvCxnSpPr>
        <p:spPr>
          <a:xfrm>
            <a:off x="1488226" y="5417582"/>
            <a:ext cx="3393831" cy="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1C852957-E057-E977-EB4F-36E903903639}"/>
              </a:ext>
            </a:extLst>
          </p:cNvPr>
          <p:cNvCxnSpPr/>
          <p:nvPr/>
        </p:nvCxnSpPr>
        <p:spPr>
          <a:xfrm>
            <a:off x="1488226" y="4545727"/>
            <a:ext cx="3329786" cy="0"/>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574F266-E87F-4CBB-0745-1850D4114BF0}"/>
              </a:ext>
            </a:extLst>
          </p:cNvPr>
          <p:cNvSpPr txBox="1"/>
          <p:nvPr/>
        </p:nvSpPr>
        <p:spPr>
          <a:xfrm>
            <a:off x="1621363" y="4598398"/>
            <a:ext cx="526106" cy="369332"/>
          </a:xfrm>
          <a:prstGeom prst="rect">
            <a:avLst/>
          </a:prstGeom>
          <a:noFill/>
        </p:spPr>
        <p:txBody>
          <a:bodyPr wrap="none" rtlCol="0">
            <a:spAutoFit/>
          </a:bodyPr>
          <a:lstStyle/>
          <a:p>
            <a:r>
              <a:rPr lang="en-US" dirty="0"/>
              <a:t>i</a:t>
            </a:r>
            <a:r>
              <a:rPr lang="en-US" baseline="-25000" dirty="0"/>
              <a:t>L</a:t>
            </a:r>
            <a:r>
              <a:rPr lang="en-US" dirty="0"/>
              <a:t>(t)</a:t>
            </a:r>
          </a:p>
        </p:txBody>
      </p:sp>
      <p:sp>
        <p:nvSpPr>
          <p:cNvPr id="51" name="TextBox 50">
            <a:extLst>
              <a:ext uri="{FF2B5EF4-FFF2-40B4-BE49-F238E27FC236}">
                <a16:creationId xmlns:a16="http://schemas.microsoft.com/office/drawing/2014/main" id="{34700188-99DF-E5BE-81DA-F8D13EDF77E9}"/>
              </a:ext>
            </a:extLst>
          </p:cNvPr>
          <p:cNvSpPr txBox="1"/>
          <p:nvPr/>
        </p:nvSpPr>
        <p:spPr>
          <a:xfrm>
            <a:off x="744497" y="4319458"/>
            <a:ext cx="772969"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a:t>
            </a:r>
          </a:p>
        </p:txBody>
      </p:sp>
      <p:grpSp>
        <p:nvGrpSpPr>
          <p:cNvPr id="55" name="Group 54">
            <a:extLst>
              <a:ext uri="{FF2B5EF4-FFF2-40B4-BE49-F238E27FC236}">
                <a16:creationId xmlns:a16="http://schemas.microsoft.com/office/drawing/2014/main" id="{698A555C-A9B9-2DA1-1869-83847F21DF23}"/>
              </a:ext>
            </a:extLst>
          </p:cNvPr>
          <p:cNvGrpSpPr/>
          <p:nvPr/>
        </p:nvGrpSpPr>
        <p:grpSpPr>
          <a:xfrm>
            <a:off x="1488226" y="4231766"/>
            <a:ext cx="1109929" cy="604062"/>
            <a:chOff x="1670538" y="3761264"/>
            <a:chExt cx="1109929" cy="604062"/>
          </a:xfrm>
        </p:grpSpPr>
        <p:grpSp>
          <p:nvGrpSpPr>
            <p:cNvPr id="40" name="Group 39">
              <a:extLst>
                <a:ext uri="{FF2B5EF4-FFF2-40B4-BE49-F238E27FC236}">
                  <a16:creationId xmlns:a16="http://schemas.microsoft.com/office/drawing/2014/main" id="{535E951A-4ACF-D8B5-6696-59E076E82367}"/>
                </a:ext>
              </a:extLst>
            </p:cNvPr>
            <p:cNvGrpSpPr/>
            <p:nvPr/>
          </p:nvGrpSpPr>
          <p:grpSpPr>
            <a:xfrm>
              <a:off x="1670538" y="3848956"/>
              <a:ext cx="1109929" cy="434954"/>
              <a:chOff x="1670538" y="3848956"/>
              <a:chExt cx="1109929" cy="434954"/>
            </a:xfrm>
          </p:grpSpPr>
          <p:cxnSp>
            <p:nvCxnSpPr>
              <p:cNvPr id="37" name="Straight Connector 36">
                <a:extLst>
                  <a:ext uri="{FF2B5EF4-FFF2-40B4-BE49-F238E27FC236}">
                    <a16:creationId xmlns:a16="http://schemas.microsoft.com/office/drawing/2014/main" id="{5EA2766B-81C9-4F07-4040-9B939BAC37A8}"/>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151E8508-7FC8-E35E-4660-EAC13C5F774B}"/>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9CB9D2F8-0F0A-6AE5-20C9-057E2F795F7B}"/>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23A9BACA-E6AB-F4B1-DD52-6951B15C4D9C}"/>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7D98BE30-9135-5A3C-7A87-2AA4294076D2}"/>
              </a:ext>
            </a:extLst>
          </p:cNvPr>
          <p:cNvGrpSpPr/>
          <p:nvPr/>
        </p:nvGrpSpPr>
        <p:grpSpPr>
          <a:xfrm>
            <a:off x="2591028" y="4234904"/>
            <a:ext cx="1109929" cy="604062"/>
            <a:chOff x="1670538" y="3761264"/>
            <a:chExt cx="1109929" cy="604062"/>
          </a:xfrm>
        </p:grpSpPr>
        <p:grpSp>
          <p:nvGrpSpPr>
            <p:cNvPr id="57" name="Group 56">
              <a:extLst>
                <a:ext uri="{FF2B5EF4-FFF2-40B4-BE49-F238E27FC236}">
                  <a16:creationId xmlns:a16="http://schemas.microsoft.com/office/drawing/2014/main" id="{EEF98C0F-408E-03B1-2672-1424027D440A}"/>
                </a:ext>
              </a:extLst>
            </p:cNvPr>
            <p:cNvGrpSpPr/>
            <p:nvPr/>
          </p:nvGrpSpPr>
          <p:grpSpPr>
            <a:xfrm>
              <a:off x="1670538" y="3848956"/>
              <a:ext cx="1109929" cy="434954"/>
              <a:chOff x="1670538" y="3848956"/>
              <a:chExt cx="1109929" cy="434954"/>
            </a:xfrm>
          </p:grpSpPr>
          <p:cxnSp>
            <p:nvCxnSpPr>
              <p:cNvPr id="60" name="Straight Connector 59">
                <a:extLst>
                  <a:ext uri="{FF2B5EF4-FFF2-40B4-BE49-F238E27FC236}">
                    <a16:creationId xmlns:a16="http://schemas.microsoft.com/office/drawing/2014/main" id="{9F99C33D-BA20-E5EA-82D8-0CB8731A02F9}"/>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F858716-2009-62D0-9D7C-68ABF64BBCB3}"/>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8" name="Straight Connector 57">
              <a:extLst>
                <a:ext uri="{FF2B5EF4-FFF2-40B4-BE49-F238E27FC236}">
                  <a16:creationId xmlns:a16="http://schemas.microsoft.com/office/drawing/2014/main" id="{67E9AE7A-91CA-77DE-7DA5-2FC85BA726EC}"/>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1B6899A-B6E7-1FAD-28D3-B5AD2C77A991}"/>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D4616C12-9088-56AB-0A91-74F73EDFE17E}"/>
              </a:ext>
            </a:extLst>
          </p:cNvPr>
          <p:cNvGrpSpPr/>
          <p:nvPr/>
        </p:nvGrpSpPr>
        <p:grpSpPr>
          <a:xfrm>
            <a:off x="3708083" y="4227778"/>
            <a:ext cx="1109929" cy="604062"/>
            <a:chOff x="1670538" y="3761264"/>
            <a:chExt cx="1109929" cy="604062"/>
          </a:xfrm>
        </p:grpSpPr>
        <p:grpSp>
          <p:nvGrpSpPr>
            <p:cNvPr id="63" name="Group 62">
              <a:extLst>
                <a:ext uri="{FF2B5EF4-FFF2-40B4-BE49-F238E27FC236}">
                  <a16:creationId xmlns:a16="http://schemas.microsoft.com/office/drawing/2014/main" id="{75B8EFBB-ABF7-CDD0-19E4-AD5C93D55E3D}"/>
                </a:ext>
              </a:extLst>
            </p:cNvPr>
            <p:cNvGrpSpPr/>
            <p:nvPr/>
          </p:nvGrpSpPr>
          <p:grpSpPr>
            <a:xfrm>
              <a:off x="1670538" y="3848956"/>
              <a:ext cx="1109929" cy="434954"/>
              <a:chOff x="1670538" y="3848956"/>
              <a:chExt cx="1109929" cy="434954"/>
            </a:xfrm>
          </p:grpSpPr>
          <p:cxnSp>
            <p:nvCxnSpPr>
              <p:cNvPr id="66" name="Straight Connector 65">
                <a:extLst>
                  <a:ext uri="{FF2B5EF4-FFF2-40B4-BE49-F238E27FC236}">
                    <a16:creationId xmlns:a16="http://schemas.microsoft.com/office/drawing/2014/main" id="{9A279BE9-8572-05EB-B5D9-0B8DC2F38222}"/>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DA5E62AE-A800-8007-13FB-BB8FFE07837E}"/>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64" name="Straight Connector 63">
              <a:extLst>
                <a:ext uri="{FF2B5EF4-FFF2-40B4-BE49-F238E27FC236}">
                  <a16:creationId xmlns:a16="http://schemas.microsoft.com/office/drawing/2014/main" id="{9923488A-6AA6-34DF-9E9F-86A64847FC20}"/>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1A0E2EB3-2931-BBF6-3390-22D72366A38A}"/>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19CD592A-4CEB-347A-20D6-3F965827E8FA}"/>
              </a:ext>
            </a:extLst>
          </p:cNvPr>
          <p:cNvSpPr txBox="1"/>
          <p:nvPr/>
        </p:nvSpPr>
        <p:spPr>
          <a:xfrm>
            <a:off x="3264312" y="3721504"/>
            <a:ext cx="1191644" cy="415498"/>
          </a:xfrm>
          <a:prstGeom prst="rect">
            <a:avLst/>
          </a:prstGeom>
          <a:noFill/>
          <a:ln>
            <a:solidFill>
              <a:schemeClr val="tx1"/>
            </a:solidFill>
          </a:ln>
        </p:spPr>
        <p:txBody>
          <a:bodyPr wrap="square" rtlCol="0">
            <a:spAutoFit/>
          </a:bodyPr>
          <a:lstStyle/>
          <a:p>
            <a:r>
              <a:rPr lang="en-US" sz="1050" dirty="0"/>
              <a:t>Noise on each switch transition</a:t>
            </a:r>
          </a:p>
        </p:txBody>
      </p:sp>
      <p:cxnSp>
        <p:nvCxnSpPr>
          <p:cNvPr id="70" name="Straight Arrow Connector 69">
            <a:extLst>
              <a:ext uri="{FF2B5EF4-FFF2-40B4-BE49-F238E27FC236}">
                <a16:creationId xmlns:a16="http://schemas.microsoft.com/office/drawing/2014/main" id="{0532BE21-8924-4B18-86AE-9B9A789857E2}"/>
              </a:ext>
            </a:extLst>
          </p:cNvPr>
          <p:cNvCxnSpPr>
            <a:cxnSpLocks/>
            <a:stCxn id="68" idx="1"/>
          </p:cNvCxnSpPr>
          <p:nvPr/>
        </p:nvCxnSpPr>
        <p:spPr>
          <a:xfrm flipH="1">
            <a:off x="2076957" y="3929253"/>
            <a:ext cx="1187355" cy="33968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77E5E1BF-F661-AF7A-F85B-B7EF45716EBD}"/>
              </a:ext>
            </a:extLst>
          </p:cNvPr>
          <p:cNvSpPr txBox="1"/>
          <p:nvPr/>
        </p:nvSpPr>
        <p:spPr>
          <a:xfrm>
            <a:off x="3322902" y="4923721"/>
            <a:ext cx="1646726" cy="415498"/>
          </a:xfrm>
          <a:prstGeom prst="rect">
            <a:avLst/>
          </a:prstGeom>
          <a:noFill/>
          <a:ln>
            <a:solidFill>
              <a:schemeClr val="tx1"/>
            </a:solidFill>
          </a:ln>
        </p:spPr>
        <p:txBody>
          <a:bodyPr wrap="square" rtlCol="0">
            <a:spAutoFit/>
          </a:bodyPr>
          <a:lstStyle/>
          <a:p>
            <a:r>
              <a:rPr lang="en-US" sz="1050" dirty="0"/>
              <a:t>Current ripple introduces AC component</a:t>
            </a:r>
          </a:p>
        </p:txBody>
      </p:sp>
      <p:cxnSp>
        <p:nvCxnSpPr>
          <p:cNvPr id="72" name="Straight Arrow Connector 71">
            <a:extLst>
              <a:ext uri="{FF2B5EF4-FFF2-40B4-BE49-F238E27FC236}">
                <a16:creationId xmlns:a16="http://schemas.microsoft.com/office/drawing/2014/main" id="{EB581330-AD17-6C66-32CC-9638118AEC59}"/>
              </a:ext>
            </a:extLst>
          </p:cNvPr>
          <p:cNvCxnSpPr>
            <a:cxnSpLocks/>
            <a:stCxn id="71" idx="1"/>
          </p:cNvCxnSpPr>
          <p:nvPr/>
        </p:nvCxnSpPr>
        <p:spPr>
          <a:xfrm flipH="1" flipV="1">
            <a:off x="2799419" y="4652625"/>
            <a:ext cx="523483" cy="478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8612C5B4-AD52-1B0C-1BC9-8E50E0BF5A9F}"/>
              </a:ext>
            </a:extLst>
          </p:cNvPr>
          <p:cNvSpPr/>
          <p:nvPr/>
        </p:nvSpPr>
        <p:spPr>
          <a:xfrm>
            <a:off x="331187" y="3640015"/>
            <a:ext cx="5473196" cy="217635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a:extLst>
              <a:ext uri="{FF2B5EF4-FFF2-40B4-BE49-F238E27FC236}">
                <a16:creationId xmlns:a16="http://schemas.microsoft.com/office/drawing/2014/main" id="{A20062A4-B5E2-F1CD-3200-7B0C780E4C62}"/>
              </a:ext>
            </a:extLst>
          </p:cNvPr>
          <p:cNvSpPr txBox="1"/>
          <p:nvPr/>
        </p:nvSpPr>
        <p:spPr>
          <a:xfrm>
            <a:off x="1003490" y="5426509"/>
            <a:ext cx="4006546"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 is not even directly measurable*</a:t>
            </a:r>
          </a:p>
        </p:txBody>
      </p:sp>
      <p:sp>
        <p:nvSpPr>
          <p:cNvPr id="79" name="TextBox 78">
            <a:extLst>
              <a:ext uri="{FF2B5EF4-FFF2-40B4-BE49-F238E27FC236}">
                <a16:creationId xmlns:a16="http://schemas.microsoft.com/office/drawing/2014/main" id="{7A3DBA61-8780-E4ED-4662-2110A637F6C6}"/>
              </a:ext>
            </a:extLst>
          </p:cNvPr>
          <p:cNvSpPr txBox="1"/>
          <p:nvPr/>
        </p:nvSpPr>
        <p:spPr>
          <a:xfrm>
            <a:off x="1830876" y="3197117"/>
            <a:ext cx="2473819" cy="369332"/>
          </a:xfrm>
          <a:prstGeom prst="rect">
            <a:avLst/>
          </a:prstGeom>
          <a:noFill/>
        </p:spPr>
        <p:txBody>
          <a:bodyPr wrap="none" rtlCol="0">
            <a:spAutoFit/>
          </a:bodyPr>
          <a:lstStyle/>
          <a:p>
            <a:r>
              <a:rPr lang="en-US" dirty="0"/>
              <a:t>Inductor current graph:</a:t>
            </a:r>
          </a:p>
        </p:txBody>
      </p:sp>
      <p:sp>
        <p:nvSpPr>
          <p:cNvPr id="80" name="TextBox 79">
            <a:extLst>
              <a:ext uri="{FF2B5EF4-FFF2-40B4-BE49-F238E27FC236}">
                <a16:creationId xmlns:a16="http://schemas.microsoft.com/office/drawing/2014/main" id="{26B2E7D6-C040-38D9-E80D-ABA5B60F8D3E}"/>
              </a:ext>
            </a:extLst>
          </p:cNvPr>
          <p:cNvSpPr txBox="1"/>
          <p:nvPr/>
        </p:nvSpPr>
        <p:spPr>
          <a:xfrm>
            <a:off x="213947" y="6282293"/>
            <a:ext cx="11764107" cy="577081"/>
          </a:xfrm>
          <a:prstGeom prst="rect">
            <a:avLst/>
          </a:prstGeom>
          <a:noFill/>
        </p:spPr>
        <p:txBody>
          <a:bodyPr wrap="square" rtlCol="0">
            <a:spAutoFit/>
          </a:bodyPr>
          <a:lstStyle/>
          <a:p>
            <a:r>
              <a:rPr lang="en-US" sz="1050" dirty="0"/>
              <a:t>*It is possible to get a good guess of &lt;i</a:t>
            </a:r>
            <a:r>
              <a:rPr lang="en-US" sz="1050" baseline="-25000" dirty="0"/>
              <a:t>L</a:t>
            </a:r>
            <a:r>
              <a:rPr lang="en-US" sz="1050" dirty="0"/>
              <a:t>(t)&gt; by measuring exactly between switch transitions. However, these transitions can appear arbitrarily close together due to the soft-starting capability of the H-bridge, and the AC component of the signal will introduce extra complications beyond this simplified model. </a:t>
            </a:r>
          </a:p>
          <a:p>
            <a:r>
              <a:rPr lang="en-US" sz="1050" dirty="0"/>
              <a:t>**While frequency is fixed for this application, the LCR meter in the solar lab only measures impedance at 100kHz, so it’s possible for measurement error to creep in as a result.</a:t>
            </a:r>
          </a:p>
        </p:txBody>
      </p:sp>
    </p:spTree>
    <p:extLst>
      <p:ext uri="{BB962C8B-B14F-4D97-AF65-F5344CB8AC3E}">
        <p14:creationId xmlns:p14="http://schemas.microsoft.com/office/powerpoint/2010/main" val="479928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61464-3F78-2DD9-C5CB-7F2428CA1187}"/>
              </a:ext>
            </a:extLst>
          </p:cNvPr>
          <p:cNvSpPr>
            <a:spLocks noGrp="1"/>
          </p:cNvSpPr>
          <p:nvPr>
            <p:ph type="title"/>
          </p:nvPr>
        </p:nvSpPr>
        <p:spPr/>
        <p:txBody>
          <a:bodyPr/>
          <a:lstStyle/>
          <a:p>
            <a:r>
              <a:rPr lang="en-US" dirty="0"/>
              <a:t>Disturbance Rejection - Noise</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421BA605-F443-C7B5-528E-76C1CD852ABB}"/>
                  </a:ext>
                </a:extLst>
              </p:cNvPr>
              <p:cNvSpPr>
                <a:spLocks noGrp="1"/>
              </p:cNvSpPr>
              <p:nvPr>
                <p:ph type="body" sz="half" idx="2"/>
              </p:nvPr>
            </p:nvSpPr>
            <p:spPr/>
            <p:txBody>
              <a:bodyPr/>
              <a:lstStyle/>
              <a:p>
                <a:r>
                  <a:rPr lang="en-US" dirty="0"/>
                  <a:t>Linear systems can be represented by block diagrams and transfer functions</a:t>
                </a:r>
              </a:p>
              <a:p>
                <a:pPr marL="285750" indent="-285750">
                  <a:buFont typeface="Arial" panose="020B0604020202020204" pitchFamily="34" charset="0"/>
                  <a:buChar char="•"/>
                </a:pPr>
                <a:r>
                  <a:rPr lang="en-US" dirty="0"/>
                  <a:t>Disturbances enter at different points of the loop</a:t>
                </a:r>
              </a:p>
              <a:p>
                <a:pPr marL="285750" indent="-285750">
                  <a:buFont typeface="Arial" panose="020B0604020202020204" pitchFamily="34" charset="0"/>
                  <a:buChar char="•"/>
                </a:pPr>
                <a:r>
                  <a:rPr lang="en-US" dirty="0"/>
                  <a:t>Control disturbance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sensor noise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rounding error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all considered disturbances</a:t>
                </a:r>
              </a:p>
              <a:p>
                <a:r>
                  <a:rPr lang="en-US" dirty="0"/>
                  <a:t>Simplify feedback to single disturbance source with unity feedback</a:t>
                </a:r>
              </a:p>
              <a:p>
                <a:pPr marL="285750" indent="-285750">
                  <a:buFont typeface="Arial" panose="020B0604020202020204" pitchFamily="34" charset="0"/>
                  <a:buChar char="•"/>
                </a:pPr>
                <a:r>
                  <a:rPr lang="en-US" dirty="0"/>
                  <a:t>Rounding error ignored/bundled into sensor noise</a:t>
                </a:r>
              </a:p>
              <a:p>
                <a:pPr marL="285750" indent="-285750">
                  <a:buFont typeface="Arial" panose="020B0604020202020204" pitchFamily="34" charset="0"/>
                  <a:buChar char="•"/>
                </a:pPr>
                <a:r>
                  <a:rPr lang="en-US" dirty="0"/>
                  <a:t>Note that controller cannot tell a difference between </a:t>
                </a:r>
                <a14:m>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and </a:t>
                </a:r>
                <a14:m>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endParaRPr lang="en-US" dirty="0"/>
              </a:p>
            </p:txBody>
          </p:sp>
        </mc:Choice>
        <mc:Fallback xmlns="">
          <p:sp>
            <p:nvSpPr>
              <p:cNvPr id="4" name="Text Placeholder 3">
                <a:extLst>
                  <a:ext uri="{FF2B5EF4-FFF2-40B4-BE49-F238E27FC236}">
                    <a16:creationId xmlns:a16="http://schemas.microsoft.com/office/drawing/2014/main" id="{421BA605-F443-C7B5-528E-76C1CD852AB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b="-4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Rectangle 56">
                <a:extLst>
                  <a:ext uri="{FF2B5EF4-FFF2-40B4-BE49-F238E27FC236}">
                    <a16:creationId xmlns:a16="http://schemas.microsoft.com/office/drawing/2014/main" id="{3B901C59-ED4C-9BDB-D018-69322AF59B56}"/>
                  </a:ext>
                </a:extLst>
              </p:cNvPr>
              <p:cNvSpPr>
                <a:spLocks noChangeAspect="1"/>
              </p:cNvSpPr>
              <p:nvPr/>
            </p:nvSpPr>
            <p:spPr>
              <a:xfrm>
                <a:off x="7141458"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PI Controller</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𝐷</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7" name="Rectangle 56">
                <a:extLst>
                  <a:ext uri="{FF2B5EF4-FFF2-40B4-BE49-F238E27FC236}">
                    <a16:creationId xmlns:a16="http://schemas.microsoft.com/office/drawing/2014/main" id="{3B901C59-ED4C-9BDB-D018-69322AF59B56}"/>
                  </a:ext>
                </a:extLst>
              </p:cNvPr>
              <p:cNvSpPr>
                <a:spLocks noRot="1" noChangeAspect="1" noMove="1" noResize="1" noEditPoints="1" noAdjustHandles="1" noChangeArrowheads="1" noChangeShapeType="1" noTextEdit="1"/>
              </p:cNvSpPr>
              <p:nvPr/>
            </p:nvSpPr>
            <p:spPr>
              <a:xfrm>
                <a:off x="7141458" y="1586124"/>
                <a:ext cx="898976" cy="548640"/>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Rectangle 57">
                <a:extLst>
                  <a:ext uri="{FF2B5EF4-FFF2-40B4-BE49-F238E27FC236}">
                    <a16:creationId xmlns:a16="http://schemas.microsoft.com/office/drawing/2014/main" id="{5CDB8F4D-D87C-2C54-D0F8-20A91E1B851A}"/>
                  </a:ext>
                </a:extLst>
              </p:cNvPr>
              <p:cNvSpPr>
                <a:spLocks noChangeAspect="1"/>
              </p:cNvSpPr>
              <p:nvPr/>
            </p:nvSpPr>
            <p:spPr>
              <a:xfrm>
                <a:off x="8734831" y="1586124"/>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Plant</a:t>
                </a:r>
              </a:p>
              <a:p>
                <a:pPr algn="ct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𝐺</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oMath>
                  </m:oMathPara>
                </a14:m>
                <a:endParaRPr lang="en-US" sz="1600" dirty="0"/>
              </a:p>
            </p:txBody>
          </p:sp>
        </mc:Choice>
        <mc:Fallback xmlns="">
          <p:sp>
            <p:nvSpPr>
              <p:cNvPr id="58" name="Rectangle 57">
                <a:extLst>
                  <a:ext uri="{FF2B5EF4-FFF2-40B4-BE49-F238E27FC236}">
                    <a16:creationId xmlns:a16="http://schemas.microsoft.com/office/drawing/2014/main" id="{5CDB8F4D-D87C-2C54-D0F8-20A91E1B851A}"/>
                  </a:ext>
                </a:extLst>
              </p:cNvPr>
              <p:cNvSpPr>
                <a:spLocks noRot="1" noChangeAspect="1" noMove="1" noResize="1" noEditPoints="1" noAdjustHandles="1" noChangeArrowheads="1" noChangeShapeType="1" noTextEdit="1"/>
              </p:cNvSpPr>
              <p:nvPr/>
            </p:nvSpPr>
            <p:spPr>
              <a:xfrm>
                <a:off x="8734831" y="1586124"/>
                <a:ext cx="898976" cy="548640"/>
              </a:xfrm>
              <a:prstGeom prst="rect">
                <a:avLst/>
              </a:prstGeom>
              <a:blipFill>
                <a:blip r:embed="rId4"/>
                <a:stretch>
                  <a:fillRect/>
                </a:stretch>
              </a:blipFill>
              <a:ln>
                <a:solidFill>
                  <a:schemeClr val="tx1"/>
                </a:solidFill>
              </a:ln>
            </p:spPr>
            <p:txBody>
              <a:bodyPr/>
              <a:lstStyle/>
              <a:p>
                <a:r>
                  <a:rPr lang="en-US">
                    <a:noFill/>
                  </a:rPr>
                  <a:t> </a:t>
                </a:r>
              </a:p>
            </p:txBody>
          </p:sp>
        </mc:Fallback>
      </mc:AlternateContent>
      <p:sp>
        <p:nvSpPr>
          <p:cNvPr id="63" name="Oval 62">
            <a:extLst>
              <a:ext uri="{FF2B5EF4-FFF2-40B4-BE49-F238E27FC236}">
                <a16:creationId xmlns:a16="http://schemas.microsoft.com/office/drawing/2014/main" id="{9500A023-CA1F-076B-CBA2-0DDD584DDDA3}"/>
              </a:ext>
            </a:extLst>
          </p:cNvPr>
          <p:cNvSpPr/>
          <p:nvPr/>
        </p:nvSpPr>
        <p:spPr>
          <a:xfrm>
            <a:off x="10153845"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5" name="Oval 64">
            <a:extLst>
              <a:ext uri="{FF2B5EF4-FFF2-40B4-BE49-F238E27FC236}">
                <a16:creationId xmlns:a16="http://schemas.microsoft.com/office/drawing/2014/main" id="{3B0364C5-9ECB-149F-BDEF-649CC1F789C7}"/>
              </a:ext>
            </a:extLst>
          </p:cNvPr>
          <p:cNvSpPr/>
          <p:nvPr/>
        </p:nvSpPr>
        <p:spPr>
          <a:xfrm>
            <a:off x="6279111" y="179403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67" name="Rectangle 66">
                <a:extLst>
                  <a:ext uri="{FF2B5EF4-FFF2-40B4-BE49-F238E27FC236}">
                    <a16:creationId xmlns:a16="http://schemas.microsoft.com/office/drawing/2014/main" id="{7A003053-FA8C-5DBC-2BBD-4B31A1464241}"/>
                  </a:ext>
                </a:extLst>
              </p:cNvPr>
              <p:cNvSpPr>
                <a:spLocks noChangeAspect="1"/>
              </p:cNvSpPr>
              <p:nvPr/>
            </p:nvSpPr>
            <p:spPr>
              <a:xfrm>
                <a:off x="8734831"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0" dirty="0"/>
                  <a:t>Sensor gain</a:t>
                </a:r>
              </a:p>
              <a:p>
                <a:pPr algn="ctr"/>
                <a14:m>
                  <m:oMathPara xmlns:m="http://schemas.openxmlformats.org/officeDocument/2006/math">
                    <m:oMathParaPr>
                      <m:jc m:val="centerGroup"/>
                    </m:oMathParaPr>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𝐻</m:t>
                          </m:r>
                        </m:e>
                        <m:sup>
                          <m:r>
                            <a:rPr lang="en-US" sz="1400" b="0" i="1" smtClean="0">
                              <a:latin typeface="Cambria Math" panose="02040503050406030204" pitchFamily="18" charset="0"/>
                            </a:rPr>
                            <m:t>−1</m:t>
                          </m:r>
                        </m:sup>
                      </m:sSup>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67" name="Rectangle 66">
                <a:extLst>
                  <a:ext uri="{FF2B5EF4-FFF2-40B4-BE49-F238E27FC236}">
                    <a16:creationId xmlns:a16="http://schemas.microsoft.com/office/drawing/2014/main" id="{7A003053-FA8C-5DBC-2BBD-4B31A1464241}"/>
                  </a:ext>
                </a:extLst>
              </p:cNvPr>
              <p:cNvSpPr>
                <a:spLocks noRot="1" noChangeAspect="1" noMove="1" noResize="1" noEditPoints="1" noAdjustHandles="1" noChangeArrowheads="1" noChangeShapeType="1" noTextEdit="1"/>
              </p:cNvSpPr>
              <p:nvPr/>
            </p:nvSpPr>
            <p:spPr>
              <a:xfrm>
                <a:off x="8734831" y="2338241"/>
                <a:ext cx="898976" cy="548640"/>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1255CCA-5464-6F66-6C21-BAA0C735D8AB}"/>
                  </a:ext>
                </a:extLst>
              </p:cNvPr>
              <p:cNvSpPr txBox="1"/>
              <p:nvPr/>
            </p:nvSpPr>
            <p:spPr>
              <a:xfrm>
                <a:off x="6096000" y="1444267"/>
                <a:ext cx="5052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1" name="TextBox 70">
                <a:extLst>
                  <a:ext uri="{FF2B5EF4-FFF2-40B4-BE49-F238E27FC236}">
                    <a16:creationId xmlns:a16="http://schemas.microsoft.com/office/drawing/2014/main" id="{21255CCA-5464-6F66-6C21-BAA0C735D8AB}"/>
                  </a:ext>
                </a:extLst>
              </p:cNvPr>
              <p:cNvSpPr txBox="1">
                <a:spLocks noRot="1" noChangeAspect="1" noMove="1" noResize="1" noEditPoints="1" noAdjustHandles="1" noChangeArrowheads="1" noChangeShapeType="1" noTextEdit="1"/>
              </p:cNvSpPr>
              <p:nvPr/>
            </p:nvSpPr>
            <p:spPr>
              <a:xfrm>
                <a:off x="6096000" y="1444267"/>
                <a:ext cx="505203" cy="276999"/>
              </a:xfrm>
              <a:prstGeom prst="rect">
                <a:avLst/>
              </a:prstGeom>
              <a:blipFill>
                <a:blip r:embed="rId6"/>
                <a:stretch>
                  <a:fillRect l="-10843" t="-2222" r="-1686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D58D3182-A052-C19C-391C-BCA4D3D819A9}"/>
                  </a:ext>
                </a:extLst>
              </p:cNvPr>
              <p:cNvSpPr txBox="1"/>
              <p:nvPr/>
            </p:nvSpPr>
            <p:spPr>
              <a:xfrm>
                <a:off x="9970734" y="1444267"/>
                <a:ext cx="49609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2" name="TextBox 71">
                <a:extLst>
                  <a:ext uri="{FF2B5EF4-FFF2-40B4-BE49-F238E27FC236}">
                    <a16:creationId xmlns:a16="http://schemas.microsoft.com/office/drawing/2014/main" id="{D58D3182-A052-C19C-391C-BCA4D3D819A9}"/>
                  </a:ext>
                </a:extLst>
              </p:cNvPr>
              <p:cNvSpPr txBox="1">
                <a:spLocks noRot="1" noChangeAspect="1" noMove="1" noResize="1" noEditPoints="1" noAdjustHandles="1" noChangeArrowheads="1" noChangeShapeType="1" noTextEdit="1"/>
              </p:cNvSpPr>
              <p:nvPr/>
            </p:nvSpPr>
            <p:spPr>
              <a:xfrm>
                <a:off x="9970734" y="1444267"/>
                <a:ext cx="496098" cy="276999"/>
              </a:xfrm>
              <a:prstGeom prst="rect">
                <a:avLst/>
              </a:prstGeom>
              <a:blipFill>
                <a:blip r:embed="rId7"/>
                <a:stretch>
                  <a:fillRect l="-12346" t="-2222" r="-18519" b="-35556"/>
                </a:stretch>
              </a:blipFill>
            </p:spPr>
            <p:txBody>
              <a:bodyPr/>
              <a:lstStyle/>
              <a:p>
                <a:r>
                  <a:rPr lang="en-US">
                    <a:noFill/>
                  </a:rPr>
                  <a:t> </a:t>
                </a:r>
              </a:p>
            </p:txBody>
          </p:sp>
        </mc:Fallback>
      </mc:AlternateContent>
      <p:sp>
        <p:nvSpPr>
          <p:cNvPr id="73" name="Rectangle: Rounded Corners 72">
            <a:extLst>
              <a:ext uri="{FF2B5EF4-FFF2-40B4-BE49-F238E27FC236}">
                <a16:creationId xmlns:a16="http://schemas.microsoft.com/office/drawing/2014/main" id="{6462E26C-B9E9-3763-9522-956B88B3F7CE}"/>
              </a:ext>
            </a:extLst>
          </p:cNvPr>
          <p:cNvSpPr/>
          <p:nvPr/>
        </p:nvSpPr>
        <p:spPr>
          <a:xfrm>
            <a:off x="5424889" y="88886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TextBox 73">
            <a:extLst>
              <a:ext uri="{FF2B5EF4-FFF2-40B4-BE49-F238E27FC236}">
                <a16:creationId xmlns:a16="http://schemas.microsoft.com/office/drawing/2014/main" id="{CCB06293-8815-9D4D-8293-E5A5803318B5}"/>
              </a:ext>
            </a:extLst>
          </p:cNvPr>
          <p:cNvSpPr txBox="1"/>
          <p:nvPr/>
        </p:nvSpPr>
        <p:spPr>
          <a:xfrm>
            <a:off x="8684539" y="881287"/>
            <a:ext cx="2566665" cy="338554"/>
          </a:xfrm>
          <a:prstGeom prst="rect">
            <a:avLst/>
          </a:prstGeom>
          <a:noFill/>
        </p:spPr>
        <p:txBody>
          <a:bodyPr wrap="none" rtlCol="0">
            <a:spAutoFit/>
          </a:bodyPr>
          <a:lstStyle/>
          <a:p>
            <a:pPr algn="r"/>
            <a:r>
              <a:rPr lang="en-US" sz="1600" b="1" dirty="0"/>
              <a:t>Linear System With Noise</a:t>
            </a:r>
          </a:p>
        </p:txBody>
      </p:sp>
      <p:sp>
        <p:nvSpPr>
          <p:cNvPr id="78" name="Oval 77">
            <a:extLst>
              <a:ext uri="{FF2B5EF4-FFF2-40B4-BE49-F238E27FC236}">
                <a16:creationId xmlns:a16="http://schemas.microsoft.com/office/drawing/2014/main" id="{95B2F011-7564-56C8-F6E7-01FF2784C5B5}"/>
              </a:ext>
            </a:extLst>
          </p:cNvPr>
          <p:cNvSpPr/>
          <p:nvPr/>
        </p:nvSpPr>
        <p:spPr>
          <a:xfrm>
            <a:off x="6652478"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88" name="Oval 87">
            <a:extLst>
              <a:ext uri="{FF2B5EF4-FFF2-40B4-BE49-F238E27FC236}">
                <a16:creationId xmlns:a16="http://schemas.microsoft.com/office/drawing/2014/main" id="{91D0D38A-5CAD-F86C-5972-82732F853A6C}"/>
              </a:ext>
            </a:extLst>
          </p:cNvPr>
          <p:cNvSpPr/>
          <p:nvPr/>
        </p:nvSpPr>
        <p:spPr>
          <a:xfrm>
            <a:off x="8240811" y="1711541"/>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mc:AlternateContent xmlns:mc="http://schemas.openxmlformats.org/markup-compatibility/2006" xmlns:a14="http://schemas.microsoft.com/office/drawing/2010/main">
        <mc:Choice Requires="a14">
          <p:sp>
            <p:nvSpPr>
              <p:cNvPr id="100" name="Rectangle 99">
                <a:extLst>
                  <a:ext uri="{FF2B5EF4-FFF2-40B4-BE49-F238E27FC236}">
                    <a16:creationId xmlns:a16="http://schemas.microsoft.com/office/drawing/2014/main" id="{F63FE3A8-3379-936B-9077-1D4ACED496EE}"/>
                  </a:ext>
                </a:extLst>
              </p:cNvPr>
              <p:cNvSpPr>
                <a:spLocks noChangeAspect="1"/>
              </p:cNvSpPr>
              <p:nvPr/>
            </p:nvSpPr>
            <p:spPr>
              <a:xfrm>
                <a:off x="7141458" y="2338241"/>
                <a:ext cx="898976" cy="54864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a:t>
                </a:r>
                <a:r>
                  <a:rPr lang="en-US" sz="1000" b="0" dirty="0"/>
                  <a:t>caling</a:t>
                </a:r>
              </a:p>
              <a:p>
                <a:pPr algn="ct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𝐻</m:t>
                      </m:r>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m:oMathPara>
                </a14:m>
                <a:endParaRPr lang="en-US" sz="1400" dirty="0"/>
              </a:p>
            </p:txBody>
          </p:sp>
        </mc:Choice>
        <mc:Fallback xmlns="">
          <p:sp>
            <p:nvSpPr>
              <p:cNvPr id="100" name="Rectangle 99">
                <a:extLst>
                  <a:ext uri="{FF2B5EF4-FFF2-40B4-BE49-F238E27FC236}">
                    <a16:creationId xmlns:a16="http://schemas.microsoft.com/office/drawing/2014/main" id="{F63FE3A8-3379-936B-9077-1D4ACED496EE}"/>
                  </a:ext>
                </a:extLst>
              </p:cNvPr>
              <p:cNvSpPr>
                <a:spLocks noRot="1" noChangeAspect="1" noMove="1" noResize="1" noEditPoints="1" noAdjustHandles="1" noChangeArrowheads="1" noChangeShapeType="1" noTextEdit="1"/>
              </p:cNvSpPr>
              <p:nvPr/>
            </p:nvSpPr>
            <p:spPr>
              <a:xfrm>
                <a:off x="7141458" y="2338241"/>
                <a:ext cx="898976" cy="548640"/>
              </a:xfrm>
              <a:prstGeom prst="rect">
                <a:avLst/>
              </a:prstGeom>
              <a:blipFill>
                <a:blip r:embed="rId8"/>
                <a:stretch>
                  <a:fillRect/>
                </a:stretch>
              </a:blipFill>
              <a:ln>
                <a:solidFill>
                  <a:schemeClr val="tx1"/>
                </a:solidFill>
              </a:ln>
            </p:spPr>
            <p:txBody>
              <a:bodyPr/>
              <a:lstStyle/>
              <a:p>
                <a:r>
                  <a:rPr lang="en-US">
                    <a:noFill/>
                  </a:rPr>
                  <a:t> </a:t>
                </a:r>
              </a:p>
            </p:txBody>
          </p:sp>
        </mc:Fallback>
      </mc:AlternateContent>
      <p:cxnSp>
        <p:nvCxnSpPr>
          <p:cNvPr id="102" name="Straight Arrow Connector 101">
            <a:extLst>
              <a:ext uri="{FF2B5EF4-FFF2-40B4-BE49-F238E27FC236}">
                <a16:creationId xmlns:a16="http://schemas.microsoft.com/office/drawing/2014/main" id="{EDCA5920-0FFD-FF68-446C-82B6A5937AF8}"/>
              </a:ext>
            </a:extLst>
          </p:cNvPr>
          <p:cNvCxnSpPr>
            <a:stCxn id="65" idx="6"/>
            <a:endCxn id="78" idx="2"/>
          </p:cNvCxnSpPr>
          <p:nvPr/>
        </p:nvCxnSpPr>
        <p:spPr>
          <a:xfrm>
            <a:off x="6411937" y="1860444"/>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676909D-8BFD-9C95-45B9-D6E8622FE82D}"/>
              </a:ext>
            </a:extLst>
          </p:cNvPr>
          <p:cNvCxnSpPr>
            <a:stCxn id="78" idx="6"/>
            <a:endCxn id="57" idx="1"/>
          </p:cNvCxnSpPr>
          <p:nvPr/>
        </p:nvCxnSpPr>
        <p:spPr>
          <a:xfrm flipV="1">
            <a:off x="6950285" y="1860444"/>
            <a:ext cx="19117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048FB91A-963F-7AB8-CAC6-A67C06573C78}"/>
              </a:ext>
            </a:extLst>
          </p:cNvPr>
          <p:cNvCxnSpPr>
            <a:stCxn id="57" idx="3"/>
            <a:endCxn id="88" idx="2"/>
          </p:cNvCxnSpPr>
          <p:nvPr/>
        </p:nvCxnSpPr>
        <p:spPr>
          <a:xfrm>
            <a:off x="8040434" y="1860444"/>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8" name="Straight Arrow Connector 107">
            <a:extLst>
              <a:ext uri="{FF2B5EF4-FFF2-40B4-BE49-F238E27FC236}">
                <a16:creationId xmlns:a16="http://schemas.microsoft.com/office/drawing/2014/main" id="{3ED26A34-269C-CA07-2685-2E32B74D5B63}"/>
              </a:ext>
            </a:extLst>
          </p:cNvPr>
          <p:cNvCxnSpPr>
            <a:cxnSpLocks/>
            <a:stCxn id="88" idx="6"/>
            <a:endCxn id="58" idx="1"/>
          </p:cNvCxnSpPr>
          <p:nvPr/>
        </p:nvCxnSpPr>
        <p:spPr>
          <a:xfrm flipV="1">
            <a:off x="8538618" y="1860444"/>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1" name="Straight Arrow Connector 110">
            <a:extLst>
              <a:ext uri="{FF2B5EF4-FFF2-40B4-BE49-F238E27FC236}">
                <a16:creationId xmlns:a16="http://schemas.microsoft.com/office/drawing/2014/main" id="{0A66E180-EECD-F9ED-F670-3BD5C5C8CBF9}"/>
              </a:ext>
            </a:extLst>
          </p:cNvPr>
          <p:cNvCxnSpPr>
            <a:cxnSpLocks/>
            <a:stCxn id="58" idx="3"/>
            <a:endCxn id="63" idx="2"/>
          </p:cNvCxnSpPr>
          <p:nvPr/>
        </p:nvCxnSpPr>
        <p:spPr>
          <a:xfrm>
            <a:off x="9633807" y="1860444"/>
            <a:ext cx="52003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3" name="Oval 112">
            <a:extLst>
              <a:ext uri="{FF2B5EF4-FFF2-40B4-BE49-F238E27FC236}">
                <a16:creationId xmlns:a16="http://schemas.microsoft.com/office/drawing/2014/main" id="{87D65611-AD3F-C367-389D-CFF691C82E8F}"/>
              </a:ext>
            </a:extLst>
          </p:cNvPr>
          <p:cNvSpPr/>
          <p:nvPr/>
        </p:nvSpPr>
        <p:spPr>
          <a:xfrm>
            <a:off x="8240811" y="2463658"/>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15" name="Straight Arrow Connector 114">
            <a:extLst>
              <a:ext uri="{FF2B5EF4-FFF2-40B4-BE49-F238E27FC236}">
                <a16:creationId xmlns:a16="http://schemas.microsoft.com/office/drawing/2014/main" id="{F98DB517-AF4F-4C4E-B3F4-6C591E71CA5E}"/>
              </a:ext>
            </a:extLst>
          </p:cNvPr>
          <p:cNvCxnSpPr>
            <a:stCxn id="67" idx="1"/>
            <a:endCxn id="113" idx="6"/>
          </p:cNvCxnSpPr>
          <p:nvPr/>
        </p:nvCxnSpPr>
        <p:spPr>
          <a:xfrm flipH="1">
            <a:off x="8538618" y="2612561"/>
            <a:ext cx="196213"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3D92330E-811F-6BB4-7617-69A39F0E8E7F}"/>
              </a:ext>
            </a:extLst>
          </p:cNvPr>
          <p:cNvCxnSpPr>
            <a:cxnSpLocks/>
            <a:stCxn id="113" idx="2"/>
            <a:endCxn id="100" idx="3"/>
          </p:cNvCxnSpPr>
          <p:nvPr/>
        </p:nvCxnSpPr>
        <p:spPr>
          <a:xfrm flipH="1" flipV="1">
            <a:off x="8040434" y="2612561"/>
            <a:ext cx="200377"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C8144167-C235-8AE9-875C-368D73FD3BA4}"/>
              </a:ext>
            </a:extLst>
          </p:cNvPr>
          <p:cNvCxnSpPr>
            <a:cxnSpLocks/>
            <a:stCxn id="78" idx="4"/>
            <a:endCxn id="145" idx="0"/>
          </p:cNvCxnSpPr>
          <p:nvPr/>
        </p:nvCxnSpPr>
        <p:spPr>
          <a:xfrm flipH="1">
            <a:off x="6797900" y="2009348"/>
            <a:ext cx="3482" cy="449662"/>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7971F5B-A441-B6D8-2CA6-996CB48544B1}"/>
              </a:ext>
            </a:extLst>
          </p:cNvPr>
          <p:cNvCxnSpPr>
            <a:cxnSpLocks/>
            <a:stCxn id="100" idx="1"/>
            <a:endCxn id="145" idx="6"/>
          </p:cNvCxnSpPr>
          <p:nvPr/>
        </p:nvCxnSpPr>
        <p:spPr>
          <a:xfrm flipH="1" flipV="1">
            <a:off x="6946803" y="2607914"/>
            <a:ext cx="194655" cy="4647"/>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5BC5E966-8166-3D03-2D6D-67AA290C1A2B}"/>
              </a:ext>
            </a:extLst>
          </p:cNvPr>
          <p:cNvCxnSpPr>
            <a:cxnSpLocks/>
          </p:cNvCxnSpPr>
          <p:nvPr/>
        </p:nvCxnSpPr>
        <p:spPr>
          <a:xfrm>
            <a:off x="9893826" y="1860444"/>
            <a:ext cx="0" cy="75211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607B9DEE-1439-43F8-9D2F-85184C2907C5}"/>
              </a:ext>
            </a:extLst>
          </p:cNvPr>
          <p:cNvCxnSpPr>
            <a:stCxn id="67" idx="3"/>
          </p:cNvCxnSpPr>
          <p:nvPr/>
        </p:nvCxnSpPr>
        <p:spPr>
          <a:xfrm>
            <a:off x="9633807" y="2612561"/>
            <a:ext cx="260019" cy="0"/>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33" name="Oval 132">
            <a:extLst>
              <a:ext uri="{FF2B5EF4-FFF2-40B4-BE49-F238E27FC236}">
                <a16:creationId xmlns:a16="http://schemas.microsoft.com/office/drawing/2014/main" id="{7D7AC1B2-A02F-91A3-9243-A3300EA87AFE}"/>
              </a:ext>
            </a:extLst>
          </p:cNvPr>
          <p:cNvSpPr/>
          <p:nvPr/>
        </p:nvSpPr>
        <p:spPr>
          <a:xfrm>
            <a:off x="8323301" y="138223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4" name="Oval 133">
            <a:extLst>
              <a:ext uri="{FF2B5EF4-FFF2-40B4-BE49-F238E27FC236}">
                <a16:creationId xmlns:a16="http://schemas.microsoft.com/office/drawing/2014/main" id="{E09CCCCE-40D0-AD17-9461-12175B06AE4D}"/>
              </a:ext>
            </a:extLst>
          </p:cNvPr>
          <p:cNvSpPr/>
          <p:nvPr/>
        </p:nvSpPr>
        <p:spPr>
          <a:xfrm>
            <a:off x="8323301"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6" name="TextBox 135">
            <a:extLst>
              <a:ext uri="{FF2B5EF4-FFF2-40B4-BE49-F238E27FC236}">
                <a16:creationId xmlns:a16="http://schemas.microsoft.com/office/drawing/2014/main" id="{8E319789-7828-287F-44A7-781045B29674}"/>
              </a:ext>
            </a:extLst>
          </p:cNvPr>
          <p:cNvSpPr txBox="1"/>
          <p:nvPr/>
        </p:nvSpPr>
        <p:spPr>
          <a:xfrm>
            <a:off x="6797899" y="1868023"/>
            <a:ext cx="288862" cy="461665"/>
          </a:xfrm>
          <a:prstGeom prst="rect">
            <a:avLst/>
          </a:prstGeom>
          <a:noFill/>
        </p:spPr>
        <p:txBody>
          <a:bodyPr wrap="none" rtlCol="0">
            <a:spAutoFit/>
          </a:bodyPr>
          <a:lstStyle/>
          <a:p>
            <a:r>
              <a:rPr lang="en-US" sz="2400" dirty="0"/>
              <a:t>-</a:t>
            </a:r>
          </a:p>
        </p:txBody>
      </p:sp>
      <p:cxnSp>
        <p:nvCxnSpPr>
          <p:cNvPr id="138" name="Straight Arrow Connector 137">
            <a:extLst>
              <a:ext uri="{FF2B5EF4-FFF2-40B4-BE49-F238E27FC236}">
                <a16:creationId xmlns:a16="http://schemas.microsoft.com/office/drawing/2014/main" id="{8C419B51-AE0D-76B3-B70D-85C8C756B2B4}"/>
              </a:ext>
            </a:extLst>
          </p:cNvPr>
          <p:cNvCxnSpPr>
            <a:stCxn id="133" idx="4"/>
            <a:endCxn id="88" idx="0"/>
          </p:cNvCxnSpPr>
          <p:nvPr/>
        </p:nvCxnSpPr>
        <p:spPr>
          <a:xfrm>
            <a:off x="8389714" y="1515060"/>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5A82BE48-D2BD-2D9A-1812-9CBADD01FF84}"/>
              </a:ext>
            </a:extLst>
          </p:cNvPr>
          <p:cNvCxnSpPr>
            <a:stCxn id="134" idx="0"/>
            <a:endCxn id="113" idx="4"/>
          </p:cNvCxnSpPr>
          <p:nvPr/>
        </p:nvCxnSpPr>
        <p:spPr>
          <a:xfrm flipV="1">
            <a:off x="8389714"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A492E464-54E7-AACC-A80B-32A256360361}"/>
                  </a:ext>
                </a:extLst>
              </p:cNvPr>
              <p:cNvSpPr txBox="1"/>
              <p:nvPr/>
            </p:nvSpPr>
            <p:spPr>
              <a:xfrm>
                <a:off x="8107457" y="1046058"/>
                <a:ext cx="57964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1" name="TextBox 140">
                <a:extLst>
                  <a:ext uri="{FF2B5EF4-FFF2-40B4-BE49-F238E27FC236}">
                    <a16:creationId xmlns:a16="http://schemas.microsoft.com/office/drawing/2014/main" id="{A492E464-54E7-AACC-A80B-32A256360361}"/>
                  </a:ext>
                </a:extLst>
              </p:cNvPr>
              <p:cNvSpPr txBox="1">
                <a:spLocks noRot="1" noChangeAspect="1" noMove="1" noResize="1" noEditPoints="1" noAdjustHandles="1" noChangeArrowheads="1" noChangeShapeType="1" noTextEdit="1"/>
              </p:cNvSpPr>
              <p:nvPr/>
            </p:nvSpPr>
            <p:spPr>
              <a:xfrm>
                <a:off x="8107457" y="1046058"/>
                <a:ext cx="579646" cy="276999"/>
              </a:xfrm>
              <a:prstGeom prst="rect">
                <a:avLst/>
              </a:prstGeom>
              <a:blipFill>
                <a:blip r:embed="rId9"/>
                <a:stretch>
                  <a:fillRect l="-10526" t="-4444"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A254AD96-64FE-2365-C398-0B541C78B4CD}"/>
                  </a:ext>
                </a:extLst>
              </p:cNvPr>
              <p:cNvSpPr txBox="1"/>
              <p:nvPr/>
            </p:nvSpPr>
            <p:spPr>
              <a:xfrm>
                <a:off x="8134804" y="3100846"/>
                <a:ext cx="5249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42" name="TextBox 141">
                <a:extLst>
                  <a:ext uri="{FF2B5EF4-FFF2-40B4-BE49-F238E27FC236}">
                    <a16:creationId xmlns:a16="http://schemas.microsoft.com/office/drawing/2014/main" id="{A254AD96-64FE-2365-C398-0B541C78B4CD}"/>
                  </a:ext>
                </a:extLst>
              </p:cNvPr>
              <p:cNvSpPr txBox="1">
                <a:spLocks noRot="1" noChangeAspect="1" noMove="1" noResize="1" noEditPoints="1" noAdjustHandles="1" noChangeArrowheads="1" noChangeShapeType="1" noTextEdit="1"/>
              </p:cNvSpPr>
              <p:nvPr/>
            </p:nvSpPr>
            <p:spPr>
              <a:xfrm>
                <a:off x="8134804" y="3100846"/>
                <a:ext cx="524952" cy="276999"/>
              </a:xfrm>
              <a:prstGeom prst="rect">
                <a:avLst/>
              </a:prstGeom>
              <a:blipFill>
                <a:blip r:embed="rId10"/>
                <a:stretch>
                  <a:fillRect l="-10345" t="-4444" r="-14943" b="-35556"/>
                </a:stretch>
              </a:blipFill>
            </p:spPr>
            <p:txBody>
              <a:bodyPr/>
              <a:lstStyle/>
              <a:p>
                <a:r>
                  <a:rPr lang="en-US">
                    <a:noFill/>
                  </a:rPr>
                  <a:t> </a:t>
                </a:r>
              </a:p>
            </p:txBody>
          </p:sp>
        </mc:Fallback>
      </mc:AlternateContent>
      <p:sp>
        <p:nvSpPr>
          <p:cNvPr id="145" name="Oval 144">
            <a:extLst>
              <a:ext uri="{FF2B5EF4-FFF2-40B4-BE49-F238E27FC236}">
                <a16:creationId xmlns:a16="http://schemas.microsoft.com/office/drawing/2014/main" id="{66D705F8-5FFF-34FC-C3F5-A28AFED0A422}"/>
              </a:ext>
            </a:extLst>
          </p:cNvPr>
          <p:cNvSpPr/>
          <p:nvPr/>
        </p:nvSpPr>
        <p:spPr>
          <a:xfrm>
            <a:off x="6648996" y="2459010"/>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48" name="Oval 147">
            <a:extLst>
              <a:ext uri="{FF2B5EF4-FFF2-40B4-BE49-F238E27FC236}">
                <a16:creationId xmlns:a16="http://schemas.microsoft.com/office/drawing/2014/main" id="{B075468F-553D-9C11-73A4-8AE389AE3F17}"/>
              </a:ext>
            </a:extLst>
          </p:cNvPr>
          <p:cNvSpPr/>
          <p:nvPr/>
        </p:nvSpPr>
        <p:spPr>
          <a:xfrm>
            <a:off x="6725765" y="2960443"/>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9" name="Straight Arrow Connector 148">
            <a:extLst>
              <a:ext uri="{FF2B5EF4-FFF2-40B4-BE49-F238E27FC236}">
                <a16:creationId xmlns:a16="http://schemas.microsoft.com/office/drawing/2014/main" id="{3C5A5EB7-F930-F1FD-77EC-5DC181C521CA}"/>
              </a:ext>
            </a:extLst>
          </p:cNvPr>
          <p:cNvCxnSpPr>
            <a:stCxn id="148" idx="0"/>
          </p:cNvCxnSpPr>
          <p:nvPr/>
        </p:nvCxnSpPr>
        <p:spPr>
          <a:xfrm flipV="1">
            <a:off x="6792178" y="2761465"/>
            <a:ext cx="1" cy="1989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1AFFF70A-4AA4-CD70-CB01-4A46FABECDDC}"/>
                  </a:ext>
                </a:extLst>
              </p:cNvPr>
              <p:cNvSpPr txBox="1"/>
              <p:nvPr/>
            </p:nvSpPr>
            <p:spPr>
              <a:xfrm>
                <a:off x="6532207" y="3094741"/>
                <a:ext cx="51802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0" name="TextBox 149">
                <a:extLst>
                  <a:ext uri="{FF2B5EF4-FFF2-40B4-BE49-F238E27FC236}">
                    <a16:creationId xmlns:a16="http://schemas.microsoft.com/office/drawing/2014/main" id="{1AFFF70A-4AA4-CD70-CB01-4A46FABECDDC}"/>
                  </a:ext>
                </a:extLst>
              </p:cNvPr>
              <p:cNvSpPr txBox="1">
                <a:spLocks noRot="1" noChangeAspect="1" noMove="1" noResize="1" noEditPoints="1" noAdjustHandles="1" noChangeArrowheads="1" noChangeShapeType="1" noTextEdit="1"/>
              </p:cNvSpPr>
              <p:nvPr/>
            </p:nvSpPr>
            <p:spPr>
              <a:xfrm>
                <a:off x="6532207" y="3094741"/>
                <a:ext cx="518027" cy="276999"/>
              </a:xfrm>
              <a:prstGeom prst="rect">
                <a:avLst/>
              </a:prstGeom>
              <a:blipFill>
                <a:blip r:embed="rId11"/>
                <a:stretch>
                  <a:fillRect l="-11765" t="-4444" r="-16471"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1" name="Rectangle 150">
                <a:extLst>
                  <a:ext uri="{FF2B5EF4-FFF2-40B4-BE49-F238E27FC236}">
                    <a16:creationId xmlns:a16="http://schemas.microsoft.com/office/drawing/2014/main" id="{DDB1BDA9-B554-B37E-2B4E-0C18CDC3EA6F}"/>
                  </a:ext>
                </a:extLst>
              </p:cNvPr>
              <p:cNvSpPr>
                <a:spLocks noChangeAspect="1"/>
              </p:cNvSpPr>
              <p:nvPr/>
            </p:nvSpPr>
            <p:spPr>
              <a:xfrm>
                <a:off x="6623164" y="440235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1" name="Rectangle 150">
                <a:extLst>
                  <a:ext uri="{FF2B5EF4-FFF2-40B4-BE49-F238E27FC236}">
                    <a16:creationId xmlns:a16="http://schemas.microsoft.com/office/drawing/2014/main" id="{DDB1BDA9-B554-B37E-2B4E-0C18CDC3EA6F}"/>
                  </a:ext>
                </a:extLst>
              </p:cNvPr>
              <p:cNvSpPr>
                <a:spLocks noRot="1" noChangeAspect="1" noMove="1" noResize="1" noEditPoints="1" noAdjustHandles="1" noChangeArrowheads="1" noChangeShapeType="1" noTextEdit="1"/>
              </p:cNvSpPr>
              <p:nvPr/>
            </p:nvSpPr>
            <p:spPr>
              <a:xfrm>
                <a:off x="6623164" y="4402359"/>
                <a:ext cx="1348464" cy="822960"/>
              </a:xfrm>
              <a:prstGeom prst="rect">
                <a:avLst/>
              </a:prstGeom>
              <a:blipFill>
                <a:blip r:embed="rId1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2" name="Rectangle 151">
                <a:extLst>
                  <a:ext uri="{FF2B5EF4-FFF2-40B4-BE49-F238E27FC236}">
                    <a16:creationId xmlns:a16="http://schemas.microsoft.com/office/drawing/2014/main" id="{174AFEAF-F7AD-A58C-74D4-C8EE98BFBE4F}"/>
                  </a:ext>
                </a:extLst>
              </p:cNvPr>
              <p:cNvSpPr>
                <a:spLocks noChangeAspect="1"/>
              </p:cNvSpPr>
              <p:nvPr/>
            </p:nvSpPr>
            <p:spPr>
              <a:xfrm>
                <a:off x="8720085" y="4398469"/>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𝐺</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52" name="Rectangle 151">
                <a:extLst>
                  <a:ext uri="{FF2B5EF4-FFF2-40B4-BE49-F238E27FC236}">
                    <a16:creationId xmlns:a16="http://schemas.microsoft.com/office/drawing/2014/main" id="{174AFEAF-F7AD-A58C-74D4-C8EE98BFBE4F}"/>
                  </a:ext>
                </a:extLst>
              </p:cNvPr>
              <p:cNvSpPr>
                <a:spLocks noRot="1" noChangeAspect="1" noMove="1" noResize="1" noEditPoints="1" noAdjustHandles="1" noChangeArrowheads="1" noChangeShapeType="1" noTextEdit="1"/>
              </p:cNvSpPr>
              <p:nvPr/>
            </p:nvSpPr>
            <p:spPr>
              <a:xfrm>
                <a:off x="8720085" y="4398469"/>
                <a:ext cx="1348464" cy="822960"/>
              </a:xfrm>
              <a:prstGeom prst="rect">
                <a:avLst/>
              </a:prstGeom>
              <a:blipFill>
                <a:blip r:embed="rId13"/>
                <a:stretch>
                  <a:fillRect/>
                </a:stretch>
              </a:blipFill>
              <a:ln>
                <a:solidFill>
                  <a:schemeClr val="tx1"/>
                </a:solidFill>
              </a:ln>
            </p:spPr>
            <p:txBody>
              <a:bodyPr/>
              <a:lstStyle/>
              <a:p>
                <a:r>
                  <a:rPr lang="en-US">
                    <a:noFill/>
                  </a:rPr>
                  <a:t> </a:t>
                </a:r>
              </a:p>
            </p:txBody>
          </p:sp>
        </mc:Fallback>
      </mc:AlternateContent>
      <p:sp>
        <p:nvSpPr>
          <p:cNvPr id="153" name="Oval 152">
            <a:extLst>
              <a:ext uri="{FF2B5EF4-FFF2-40B4-BE49-F238E27FC236}">
                <a16:creationId xmlns:a16="http://schemas.microsoft.com/office/drawing/2014/main" id="{864C6BA1-181B-567E-8E29-7E622455E0A1}"/>
              </a:ext>
            </a:extLst>
          </p:cNvPr>
          <p:cNvSpPr/>
          <p:nvPr/>
        </p:nvSpPr>
        <p:spPr>
          <a:xfrm>
            <a:off x="10641729"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4" name="Oval 153">
            <a:extLst>
              <a:ext uri="{FF2B5EF4-FFF2-40B4-BE49-F238E27FC236}">
                <a16:creationId xmlns:a16="http://schemas.microsoft.com/office/drawing/2014/main" id="{0CE76D0D-C02B-DF33-6B68-AAEBDF9A3819}"/>
              </a:ext>
            </a:extLst>
          </p:cNvPr>
          <p:cNvSpPr/>
          <p:nvPr/>
        </p:nvSpPr>
        <p:spPr>
          <a:xfrm>
            <a:off x="5748720" y="473964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id="{74F178E9-8040-E112-AE72-B2C5F2EE7CE1}"/>
                  </a:ext>
                </a:extLst>
              </p:cNvPr>
              <p:cNvSpPr txBox="1"/>
              <p:nvPr/>
            </p:nvSpPr>
            <p:spPr>
              <a:xfrm>
                <a:off x="5565609" y="4389881"/>
                <a:ext cx="50520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6" name="TextBox 155">
                <a:extLst>
                  <a:ext uri="{FF2B5EF4-FFF2-40B4-BE49-F238E27FC236}">
                    <a16:creationId xmlns:a16="http://schemas.microsoft.com/office/drawing/2014/main" id="{74F178E9-8040-E112-AE72-B2C5F2EE7CE1}"/>
                  </a:ext>
                </a:extLst>
              </p:cNvPr>
              <p:cNvSpPr txBox="1">
                <a:spLocks noRot="1" noChangeAspect="1" noMove="1" noResize="1" noEditPoints="1" noAdjustHandles="1" noChangeArrowheads="1" noChangeShapeType="1" noTextEdit="1"/>
              </p:cNvSpPr>
              <p:nvPr/>
            </p:nvSpPr>
            <p:spPr>
              <a:xfrm>
                <a:off x="5565609" y="4389881"/>
                <a:ext cx="505203" cy="276999"/>
              </a:xfrm>
              <a:prstGeom prst="rect">
                <a:avLst/>
              </a:prstGeom>
              <a:blipFill>
                <a:blip r:embed="rId14"/>
                <a:stretch>
                  <a:fillRect l="-12048" t="-2174" r="-168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7" name="TextBox 156">
                <a:extLst>
                  <a:ext uri="{FF2B5EF4-FFF2-40B4-BE49-F238E27FC236}">
                    <a16:creationId xmlns:a16="http://schemas.microsoft.com/office/drawing/2014/main" id="{02D1097C-56C0-89F7-9E98-69165212F0C7}"/>
                  </a:ext>
                </a:extLst>
              </p:cNvPr>
              <p:cNvSpPr txBox="1"/>
              <p:nvPr/>
            </p:nvSpPr>
            <p:spPr>
              <a:xfrm>
                <a:off x="10458618" y="4389881"/>
                <a:ext cx="49609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57" name="TextBox 156">
                <a:extLst>
                  <a:ext uri="{FF2B5EF4-FFF2-40B4-BE49-F238E27FC236}">
                    <a16:creationId xmlns:a16="http://schemas.microsoft.com/office/drawing/2014/main" id="{02D1097C-56C0-89F7-9E98-69165212F0C7}"/>
                  </a:ext>
                </a:extLst>
              </p:cNvPr>
              <p:cNvSpPr txBox="1">
                <a:spLocks noRot="1" noChangeAspect="1" noMove="1" noResize="1" noEditPoints="1" noAdjustHandles="1" noChangeArrowheads="1" noChangeShapeType="1" noTextEdit="1"/>
              </p:cNvSpPr>
              <p:nvPr/>
            </p:nvSpPr>
            <p:spPr>
              <a:xfrm>
                <a:off x="10458618" y="4389881"/>
                <a:ext cx="496098" cy="276999"/>
              </a:xfrm>
              <a:prstGeom prst="rect">
                <a:avLst/>
              </a:prstGeom>
              <a:blipFill>
                <a:blip r:embed="rId15"/>
                <a:stretch>
                  <a:fillRect l="-12346" t="-2174" r="-18519" b="-32609"/>
                </a:stretch>
              </a:blipFill>
            </p:spPr>
            <p:txBody>
              <a:bodyPr/>
              <a:lstStyle/>
              <a:p>
                <a:r>
                  <a:rPr lang="en-US">
                    <a:noFill/>
                  </a:rPr>
                  <a:t> </a:t>
                </a:r>
              </a:p>
            </p:txBody>
          </p:sp>
        </mc:Fallback>
      </mc:AlternateContent>
      <p:sp>
        <p:nvSpPr>
          <p:cNvPr id="158" name="Rectangle: Rounded Corners 157">
            <a:extLst>
              <a:ext uri="{FF2B5EF4-FFF2-40B4-BE49-F238E27FC236}">
                <a16:creationId xmlns:a16="http://schemas.microsoft.com/office/drawing/2014/main" id="{0CCBA996-EF7E-D93A-8E80-BAABE781E31B}"/>
              </a:ext>
            </a:extLst>
          </p:cNvPr>
          <p:cNvSpPr/>
          <p:nvPr/>
        </p:nvSpPr>
        <p:spPr>
          <a:xfrm>
            <a:off x="5410143" y="3640474"/>
            <a:ext cx="5826315" cy="259288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TextBox 158">
            <a:extLst>
              <a:ext uri="{FF2B5EF4-FFF2-40B4-BE49-F238E27FC236}">
                <a16:creationId xmlns:a16="http://schemas.microsoft.com/office/drawing/2014/main" id="{A9B0ABC3-7A97-EAF3-AB80-ABD681618280}"/>
              </a:ext>
            </a:extLst>
          </p:cNvPr>
          <p:cNvSpPr txBox="1"/>
          <p:nvPr/>
        </p:nvSpPr>
        <p:spPr>
          <a:xfrm>
            <a:off x="8939098" y="3632897"/>
            <a:ext cx="2297360" cy="338554"/>
          </a:xfrm>
          <a:prstGeom prst="rect">
            <a:avLst/>
          </a:prstGeom>
          <a:noFill/>
        </p:spPr>
        <p:txBody>
          <a:bodyPr wrap="none" rtlCol="0">
            <a:spAutoFit/>
          </a:bodyPr>
          <a:lstStyle/>
          <a:p>
            <a:pPr algn="r"/>
            <a:r>
              <a:rPr lang="en-US" sz="1600" b="1" dirty="0"/>
              <a:t>Simplified UFB System</a:t>
            </a:r>
          </a:p>
        </p:txBody>
      </p:sp>
      <p:sp>
        <p:nvSpPr>
          <p:cNvPr id="160" name="Oval 159">
            <a:extLst>
              <a:ext uri="{FF2B5EF4-FFF2-40B4-BE49-F238E27FC236}">
                <a16:creationId xmlns:a16="http://schemas.microsoft.com/office/drawing/2014/main" id="{5205F794-02AA-0021-8E84-F1FAAA9F13ED}"/>
              </a:ext>
            </a:extLst>
          </p:cNvPr>
          <p:cNvSpPr/>
          <p:nvPr/>
        </p:nvSpPr>
        <p:spPr>
          <a:xfrm>
            <a:off x="6122087"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61" name="Oval 160">
            <a:extLst>
              <a:ext uri="{FF2B5EF4-FFF2-40B4-BE49-F238E27FC236}">
                <a16:creationId xmlns:a16="http://schemas.microsoft.com/office/drawing/2014/main" id="{6AF6E5A5-5790-0B49-F12B-D5093343AD7B}"/>
              </a:ext>
            </a:extLst>
          </p:cNvPr>
          <p:cNvSpPr/>
          <p:nvPr/>
        </p:nvSpPr>
        <p:spPr>
          <a:xfrm>
            <a:off x="8226065" y="4657155"/>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63" name="Straight Arrow Connector 162">
            <a:extLst>
              <a:ext uri="{FF2B5EF4-FFF2-40B4-BE49-F238E27FC236}">
                <a16:creationId xmlns:a16="http://schemas.microsoft.com/office/drawing/2014/main" id="{66FB5A8C-7572-6288-54F5-D9F501C676D8}"/>
              </a:ext>
            </a:extLst>
          </p:cNvPr>
          <p:cNvCxnSpPr>
            <a:stCxn id="154" idx="6"/>
            <a:endCxn id="160" idx="2"/>
          </p:cNvCxnSpPr>
          <p:nvPr/>
        </p:nvCxnSpPr>
        <p:spPr>
          <a:xfrm>
            <a:off x="5881546" y="4806058"/>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Straight Arrow Connector 163">
            <a:extLst>
              <a:ext uri="{FF2B5EF4-FFF2-40B4-BE49-F238E27FC236}">
                <a16:creationId xmlns:a16="http://schemas.microsoft.com/office/drawing/2014/main" id="{4F6BA6F0-284A-51EC-F3AB-808D53F137ED}"/>
              </a:ext>
            </a:extLst>
          </p:cNvPr>
          <p:cNvCxnSpPr>
            <a:stCxn id="160" idx="6"/>
            <a:endCxn id="151" idx="1"/>
          </p:cNvCxnSpPr>
          <p:nvPr/>
        </p:nvCxnSpPr>
        <p:spPr>
          <a:xfrm>
            <a:off x="6419894" y="4806059"/>
            <a:ext cx="203270"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164">
            <a:extLst>
              <a:ext uri="{FF2B5EF4-FFF2-40B4-BE49-F238E27FC236}">
                <a16:creationId xmlns:a16="http://schemas.microsoft.com/office/drawing/2014/main" id="{49822AD9-DABF-710D-BD72-693659FE891E}"/>
              </a:ext>
            </a:extLst>
          </p:cNvPr>
          <p:cNvCxnSpPr>
            <a:stCxn id="151" idx="3"/>
            <a:endCxn id="161" idx="2"/>
          </p:cNvCxnSpPr>
          <p:nvPr/>
        </p:nvCxnSpPr>
        <p:spPr>
          <a:xfrm flipV="1">
            <a:off x="7971628" y="4806059"/>
            <a:ext cx="254437"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165">
            <a:extLst>
              <a:ext uri="{FF2B5EF4-FFF2-40B4-BE49-F238E27FC236}">
                <a16:creationId xmlns:a16="http://schemas.microsoft.com/office/drawing/2014/main" id="{4AE083C0-09F7-799D-D6FF-7CFE8C9743D0}"/>
              </a:ext>
            </a:extLst>
          </p:cNvPr>
          <p:cNvCxnSpPr>
            <a:cxnSpLocks/>
            <a:stCxn id="161" idx="6"/>
            <a:endCxn id="152" idx="1"/>
          </p:cNvCxnSpPr>
          <p:nvPr/>
        </p:nvCxnSpPr>
        <p:spPr>
          <a:xfrm>
            <a:off x="8523872" y="4806059"/>
            <a:ext cx="196213" cy="38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67" name="Straight Arrow Connector 166">
            <a:extLst>
              <a:ext uri="{FF2B5EF4-FFF2-40B4-BE49-F238E27FC236}">
                <a16:creationId xmlns:a16="http://schemas.microsoft.com/office/drawing/2014/main" id="{602A6753-4534-E0B6-C421-89A752840221}"/>
              </a:ext>
            </a:extLst>
          </p:cNvPr>
          <p:cNvCxnSpPr>
            <a:cxnSpLocks/>
            <a:stCxn id="152" idx="3"/>
            <a:endCxn id="153" idx="2"/>
          </p:cNvCxnSpPr>
          <p:nvPr/>
        </p:nvCxnSpPr>
        <p:spPr>
          <a:xfrm flipV="1">
            <a:off x="10068549" y="4806058"/>
            <a:ext cx="573180" cy="389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8" name="Oval 167">
            <a:extLst>
              <a:ext uri="{FF2B5EF4-FFF2-40B4-BE49-F238E27FC236}">
                <a16:creationId xmlns:a16="http://schemas.microsoft.com/office/drawing/2014/main" id="{D08B16FD-E3BE-0C76-073B-0B6A98764468}"/>
              </a:ext>
            </a:extLst>
          </p:cNvPr>
          <p:cNvSpPr/>
          <p:nvPr/>
        </p:nvSpPr>
        <p:spPr>
          <a:xfrm>
            <a:off x="10150196" y="540462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70" name="Straight Arrow Connector 169">
            <a:extLst>
              <a:ext uri="{FF2B5EF4-FFF2-40B4-BE49-F238E27FC236}">
                <a16:creationId xmlns:a16="http://schemas.microsoft.com/office/drawing/2014/main" id="{77AF8C67-CF82-1246-27B1-B2654386C486}"/>
              </a:ext>
            </a:extLst>
          </p:cNvPr>
          <p:cNvCxnSpPr>
            <a:cxnSpLocks/>
            <a:stCxn id="168" idx="2"/>
          </p:cNvCxnSpPr>
          <p:nvPr/>
        </p:nvCxnSpPr>
        <p:spPr>
          <a:xfrm flipH="1">
            <a:off x="6279111" y="5553528"/>
            <a:ext cx="3871085" cy="0"/>
          </a:xfrm>
          <a:prstGeom prst="straightConnector1">
            <a:avLst/>
          </a:prstGeom>
          <a:ln>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1" name="Straight Connector 170">
            <a:extLst>
              <a:ext uri="{FF2B5EF4-FFF2-40B4-BE49-F238E27FC236}">
                <a16:creationId xmlns:a16="http://schemas.microsoft.com/office/drawing/2014/main" id="{AB28DCB9-294C-F34B-254B-3F601E38C58C}"/>
              </a:ext>
            </a:extLst>
          </p:cNvPr>
          <p:cNvCxnSpPr>
            <a:cxnSpLocks/>
            <a:stCxn id="160" idx="4"/>
          </p:cNvCxnSpPr>
          <p:nvPr/>
        </p:nvCxnSpPr>
        <p:spPr>
          <a:xfrm>
            <a:off x="6270991" y="4954962"/>
            <a:ext cx="0" cy="598565"/>
          </a:xfrm>
          <a:prstGeom prst="line">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3" name="Straight Connector 172">
            <a:extLst>
              <a:ext uri="{FF2B5EF4-FFF2-40B4-BE49-F238E27FC236}">
                <a16:creationId xmlns:a16="http://schemas.microsoft.com/office/drawing/2014/main" id="{02E77825-1B35-891F-4F8B-F3791BB38ADC}"/>
              </a:ext>
            </a:extLst>
          </p:cNvPr>
          <p:cNvCxnSpPr>
            <a:cxnSpLocks/>
            <a:endCxn id="168" idx="0"/>
          </p:cNvCxnSpPr>
          <p:nvPr/>
        </p:nvCxnSpPr>
        <p:spPr>
          <a:xfrm flipH="1">
            <a:off x="10299100" y="4801410"/>
            <a:ext cx="4216" cy="603214"/>
          </a:xfrm>
          <a:prstGeom prst="line">
            <a:avLst/>
          </a:prstGeom>
          <a:ln>
            <a:solidFill>
              <a:schemeClr val="tx1"/>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75" name="Oval 174">
            <a:extLst>
              <a:ext uri="{FF2B5EF4-FFF2-40B4-BE49-F238E27FC236}">
                <a16:creationId xmlns:a16="http://schemas.microsoft.com/office/drawing/2014/main" id="{68E8D862-FEBA-8A44-8A6E-89F010E306E1}"/>
              </a:ext>
            </a:extLst>
          </p:cNvPr>
          <p:cNvSpPr/>
          <p:nvPr/>
        </p:nvSpPr>
        <p:spPr>
          <a:xfrm>
            <a:off x="8308555" y="4327848"/>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a:extLst>
              <a:ext uri="{FF2B5EF4-FFF2-40B4-BE49-F238E27FC236}">
                <a16:creationId xmlns:a16="http://schemas.microsoft.com/office/drawing/2014/main" id="{A8E1D2C4-9995-17A0-A0E1-AD43E97DA5FE}"/>
              </a:ext>
            </a:extLst>
          </p:cNvPr>
          <p:cNvSpPr/>
          <p:nvPr/>
        </p:nvSpPr>
        <p:spPr>
          <a:xfrm>
            <a:off x="10232686" y="5888067"/>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7" name="TextBox 176">
            <a:extLst>
              <a:ext uri="{FF2B5EF4-FFF2-40B4-BE49-F238E27FC236}">
                <a16:creationId xmlns:a16="http://schemas.microsoft.com/office/drawing/2014/main" id="{7AD87B55-63C7-179F-0C0A-BA3594160C2D}"/>
              </a:ext>
            </a:extLst>
          </p:cNvPr>
          <p:cNvSpPr txBox="1"/>
          <p:nvPr/>
        </p:nvSpPr>
        <p:spPr>
          <a:xfrm>
            <a:off x="6267508" y="4813637"/>
            <a:ext cx="288862" cy="461665"/>
          </a:xfrm>
          <a:prstGeom prst="rect">
            <a:avLst/>
          </a:prstGeom>
          <a:noFill/>
        </p:spPr>
        <p:txBody>
          <a:bodyPr wrap="none" rtlCol="0">
            <a:spAutoFit/>
          </a:bodyPr>
          <a:lstStyle/>
          <a:p>
            <a:r>
              <a:rPr lang="en-US" sz="2400" dirty="0"/>
              <a:t>-</a:t>
            </a:r>
          </a:p>
        </p:txBody>
      </p:sp>
      <p:cxnSp>
        <p:nvCxnSpPr>
          <p:cNvPr id="178" name="Straight Arrow Connector 177">
            <a:extLst>
              <a:ext uri="{FF2B5EF4-FFF2-40B4-BE49-F238E27FC236}">
                <a16:creationId xmlns:a16="http://schemas.microsoft.com/office/drawing/2014/main" id="{C3E5E7D1-B38C-3A67-5FB7-C6A4048C53EA}"/>
              </a:ext>
            </a:extLst>
          </p:cNvPr>
          <p:cNvCxnSpPr>
            <a:stCxn id="175" idx="4"/>
            <a:endCxn id="161" idx="0"/>
          </p:cNvCxnSpPr>
          <p:nvPr/>
        </p:nvCxnSpPr>
        <p:spPr>
          <a:xfrm>
            <a:off x="8374968" y="4460674"/>
            <a:ext cx="1" cy="1964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0" name="TextBox 179">
                <a:extLst>
                  <a:ext uri="{FF2B5EF4-FFF2-40B4-BE49-F238E27FC236}">
                    <a16:creationId xmlns:a16="http://schemas.microsoft.com/office/drawing/2014/main" id="{019785C1-E7EE-8FE4-7D7D-A7B814C36BDE}"/>
                  </a:ext>
                </a:extLst>
              </p:cNvPr>
              <p:cNvSpPr txBox="1"/>
              <p:nvPr/>
            </p:nvSpPr>
            <p:spPr>
              <a:xfrm>
                <a:off x="8092711" y="3991672"/>
                <a:ext cx="57964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0" name="TextBox 179">
                <a:extLst>
                  <a:ext uri="{FF2B5EF4-FFF2-40B4-BE49-F238E27FC236}">
                    <a16:creationId xmlns:a16="http://schemas.microsoft.com/office/drawing/2014/main" id="{019785C1-E7EE-8FE4-7D7D-A7B814C36BDE}"/>
                  </a:ext>
                </a:extLst>
              </p:cNvPr>
              <p:cNvSpPr txBox="1">
                <a:spLocks noRot="1" noChangeAspect="1" noMove="1" noResize="1" noEditPoints="1" noAdjustHandles="1" noChangeArrowheads="1" noChangeShapeType="1" noTextEdit="1"/>
              </p:cNvSpPr>
              <p:nvPr/>
            </p:nvSpPr>
            <p:spPr>
              <a:xfrm>
                <a:off x="8092711" y="3991672"/>
                <a:ext cx="579646" cy="276999"/>
              </a:xfrm>
              <a:prstGeom prst="rect">
                <a:avLst/>
              </a:prstGeom>
              <a:blipFill>
                <a:blip r:embed="rId16"/>
                <a:stretch>
                  <a:fillRect l="-10526" t="-2222" r="-14737" b="-3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1" name="TextBox 180">
                <a:extLst>
                  <a:ext uri="{FF2B5EF4-FFF2-40B4-BE49-F238E27FC236}">
                    <a16:creationId xmlns:a16="http://schemas.microsoft.com/office/drawing/2014/main" id="{DD38B8DA-6CBD-5C0E-C8E4-9AC74A6276D9}"/>
                  </a:ext>
                </a:extLst>
              </p:cNvPr>
              <p:cNvSpPr txBox="1"/>
              <p:nvPr/>
            </p:nvSpPr>
            <p:spPr>
              <a:xfrm>
                <a:off x="9000244" y="5822037"/>
                <a:ext cx="1218539" cy="276999"/>
              </a:xfrm>
              <a:prstGeom prst="rect">
                <a:avLst/>
              </a:prstGeom>
              <a:noFill/>
            </p:spPr>
            <p:txBody>
              <a:bodyPr wrap="none" lIns="0" tIns="0" rIns="0" bIns="0" rtlCol="0">
                <a:spAutoFit/>
              </a:bodyPr>
              <a:lstStyle/>
              <a:p>
                <a:pPr/>
                <a14:m>
                  <m:oMathPara xmlns:m="http://schemas.openxmlformats.org/officeDocument/2006/math">
                    <m:oMathParaPr>
                      <m:jc m:val="righ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181" name="TextBox 180">
                <a:extLst>
                  <a:ext uri="{FF2B5EF4-FFF2-40B4-BE49-F238E27FC236}">
                    <a16:creationId xmlns:a16="http://schemas.microsoft.com/office/drawing/2014/main" id="{DD38B8DA-6CBD-5C0E-C8E4-9AC74A6276D9}"/>
                  </a:ext>
                </a:extLst>
              </p:cNvPr>
              <p:cNvSpPr txBox="1">
                <a:spLocks noRot="1" noChangeAspect="1" noMove="1" noResize="1" noEditPoints="1" noAdjustHandles="1" noChangeArrowheads="1" noChangeShapeType="1" noTextEdit="1"/>
              </p:cNvSpPr>
              <p:nvPr/>
            </p:nvSpPr>
            <p:spPr>
              <a:xfrm>
                <a:off x="9000244" y="5822037"/>
                <a:ext cx="1218539" cy="276999"/>
              </a:xfrm>
              <a:prstGeom prst="rect">
                <a:avLst/>
              </a:prstGeom>
              <a:blipFill>
                <a:blip r:embed="rId17"/>
                <a:stretch>
                  <a:fillRect l="-2000" t="-2222" r="-9000" b="-35556"/>
                </a:stretch>
              </a:blipFill>
            </p:spPr>
            <p:txBody>
              <a:bodyPr/>
              <a:lstStyle/>
              <a:p>
                <a:r>
                  <a:rPr lang="en-US">
                    <a:noFill/>
                  </a:rPr>
                  <a:t> </a:t>
                </a:r>
              </a:p>
            </p:txBody>
          </p:sp>
        </mc:Fallback>
      </mc:AlternateContent>
      <p:cxnSp>
        <p:nvCxnSpPr>
          <p:cNvPr id="207" name="Straight Arrow Connector 206">
            <a:extLst>
              <a:ext uri="{FF2B5EF4-FFF2-40B4-BE49-F238E27FC236}">
                <a16:creationId xmlns:a16="http://schemas.microsoft.com/office/drawing/2014/main" id="{934E9EEE-B48E-CEFA-19D5-683679E38081}"/>
              </a:ext>
            </a:extLst>
          </p:cNvPr>
          <p:cNvCxnSpPr>
            <a:stCxn id="176" idx="0"/>
            <a:endCxn id="168" idx="4"/>
          </p:cNvCxnSpPr>
          <p:nvPr/>
        </p:nvCxnSpPr>
        <p:spPr>
          <a:xfrm flipV="1">
            <a:off x="10299099" y="5702431"/>
            <a:ext cx="1" cy="1856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923503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762DD9-9933-602E-E1B2-64D8A5FA8DBA}"/>
              </a:ext>
            </a:extLst>
          </p:cNvPr>
          <p:cNvSpPr>
            <a:spLocks noGrp="1"/>
          </p:cNvSpPr>
          <p:nvPr>
            <p:ph type="title"/>
          </p:nvPr>
        </p:nvSpPr>
        <p:spPr/>
        <p:txBody>
          <a:bodyPr/>
          <a:lstStyle/>
          <a:p>
            <a:r>
              <a:rPr lang="en-US" dirty="0"/>
              <a:t>Disturbance Rejection – Full Model</a:t>
            </a:r>
          </a:p>
        </p:txBody>
      </p:sp>
      <p:grpSp>
        <p:nvGrpSpPr>
          <p:cNvPr id="71" name="Group 70">
            <a:extLst>
              <a:ext uri="{FF2B5EF4-FFF2-40B4-BE49-F238E27FC236}">
                <a16:creationId xmlns:a16="http://schemas.microsoft.com/office/drawing/2014/main" id="{F426E0EA-BCBA-9AA1-2862-B7E2859F122C}"/>
              </a:ext>
            </a:extLst>
          </p:cNvPr>
          <p:cNvGrpSpPr/>
          <p:nvPr/>
        </p:nvGrpSpPr>
        <p:grpSpPr>
          <a:xfrm>
            <a:off x="1177437" y="1777719"/>
            <a:ext cx="9837127" cy="3396555"/>
            <a:chOff x="1516673" y="1777719"/>
            <a:chExt cx="9837127" cy="3396555"/>
          </a:xfrm>
        </p:grpSpPr>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495CEB50-BA68-02D9-32B0-F8726E2580F9}"/>
                    </a:ext>
                  </a:extLst>
                </p:cNvPr>
                <p:cNvSpPr>
                  <a:spLocks noChangeAspect="1"/>
                </p:cNvSpPr>
                <p:nvPr/>
              </p:nvSpPr>
              <p:spPr>
                <a:xfrm>
                  <a:off x="3439041" y="2638268"/>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PI Controller</a:t>
                  </a:r>
                </a:p>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3" name="Rectangle 2">
                  <a:extLst>
                    <a:ext uri="{FF2B5EF4-FFF2-40B4-BE49-F238E27FC236}">
                      <a16:creationId xmlns:a16="http://schemas.microsoft.com/office/drawing/2014/main" id="{495CEB50-BA68-02D9-32B0-F8726E2580F9}"/>
                    </a:ext>
                  </a:extLst>
                </p:cNvPr>
                <p:cNvSpPr>
                  <a:spLocks noRot="1" noChangeAspect="1" noMove="1" noResize="1" noEditPoints="1" noAdjustHandles="1" noChangeArrowheads="1" noChangeShapeType="1" noTextEdit="1"/>
                </p:cNvSpPr>
                <p:nvPr/>
              </p:nvSpPr>
              <p:spPr>
                <a:xfrm>
                  <a:off x="3439041" y="2638268"/>
                  <a:ext cx="1348464" cy="822960"/>
                </a:xfrm>
                <a:prstGeom prst="rect">
                  <a:avLst/>
                </a:prstGeom>
                <a:blipFill>
                  <a:blip r:embed="rId2"/>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0DEB021-FE84-39B4-3511-2C8CF63EAB12}"/>
                    </a:ext>
                  </a:extLst>
                </p:cNvPr>
                <p:cNvSpPr>
                  <a:spLocks noChangeAspect="1"/>
                </p:cNvSpPr>
                <p:nvPr/>
              </p:nvSpPr>
              <p:spPr>
                <a:xfrm>
                  <a:off x="7678136" y="2631994"/>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Plant</a:t>
                  </a:r>
                </a:p>
                <a:p>
                  <a:pPr algn="ct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𝐺</m:t>
                            </m:r>
                          </m:e>
                          <m:sub>
                            <m:r>
                              <a:rPr lang="en-US" sz="2400" b="0" i="1" smtClean="0">
                                <a:latin typeface="Cambria Math" panose="02040503050406030204" pitchFamily="18" charset="0"/>
                              </a:rPr>
                              <m:t>𝑖𝑀</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US" sz="2400" dirty="0"/>
                </a:p>
              </p:txBody>
            </p:sp>
          </mc:Choice>
          <mc:Fallback xmlns="">
            <p:sp>
              <p:nvSpPr>
                <p:cNvPr id="4" name="Rectangle 3">
                  <a:extLst>
                    <a:ext uri="{FF2B5EF4-FFF2-40B4-BE49-F238E27FC236}">
                      <a16:creationId xmlns:a16="http://schemas.microsoft.com/office/drawing/2014/main" id="{D0DEB021-FE84-39B4-3511-2C8CF63EAB12}"/>
                    </a:ext>
                  </a:extLst>
                </p:cNvPr>
                <p:cNvSpPr>
                  <a:spLocks noRot="1" noChangeAspect="1" noMove="1" noResize="1" noEditPoints="1" noAdjustHandles="1" noChangeArrowheads="1" noChangeShapeType="1" noTextEdit="1"/>
                </p:cNvSpPr>
                <p:nvPr/>
              </p:nvSpPr>
              <p:spPr>
                <a:xfrm>
                  <a:off x="7678136" y="2631994"/>
                  <a:ext cx="1348464" cy="822960"/>
                </a:xfrm>
                <a:prstGeom prst="rect">
                  <a:avLst/>
                </a:prstGeom>
                <a:blipFill>
                  <a:blip r:embed="rId3"/>
                  <a:stretch>
                    <a:fillRect/>
                  </a:stretch>
                </a:blipFill>
                <a:ln>
                  <a:solidFill>
                    <a:schemeClr val="tx1"/>
                  </a:solidFill>
                </a:ln>
              </p:spPr>
              <p:txBody>
                <a:bodyPr/>
                <a:lstStyle/>
                <a:p>
                  <a:r>
                    <a:rPr lang="en-US">
                      <a:noFill/>
                    </a:rPr>
                    <a:t> </a:t>
                  </a:r>
                </a:p>
              </p:txBody>
            </p:sp>
          </mc:Fallback>
        </mc:AlternateContent>
        <p:sp>
          <p:nvSpPr>
            <p:cNvPr id="5" name="Oval 4">
              <a:extLst>
                <a:ext uri="{FF2B5EF4-FFF2-40B4-BE49-F238E27FC236}">
                  <a16:creationId xmlns:a16="http://schemas.microsoft.com/office/drawing/2014/main" id="{CB145F1E-C258-AC17-1F1F-4C8AFC085934}"/>
                </a:ext>
              </a:extLst>
            </p:cNvPr>
            <p:cNvSpPr/>
            <p:nvPr/>
          </p:nvSpPr>
          <p:spPr>
            <a:xfrm>
              <a:off x="9682224" y="2977061"/>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5229110F-5CE7-DE7C-E8DF-8E2C0ACE722B}"/>
                </a:ext>
              </a:extLst>
            </p:cNvPr>
            <p:cNvSpPr/>
            <p:nvPr/>
          </p:nvSpPr>
          <p:spPr>
            <a:xfrm>
              <a:off x="2363851" y="2975554"/>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D9D43C-44D5-5AD1-3827-FE3011C08D3B}"/>
                    </a:ext>
                  </a:extLst>
                </p:cNvPr>
                <p:cNvSpPr txBox="1"/>
                <p:nvPr/>
              </p:nvSpPr>
              <p:spPr>
                <a:xfrm>
                  <a:off x="1643654" y="2874056"/>
                  <a:ext cx="721800" cy="29924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𝑟𝑒𝑓</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51D9D43C-44D5-5AD1-3827-FE3011C08D3B}"/>
                    </a:ext>
                  </a:extLst>
                </p:cNvPr>
                <p:cNvSpPr txBox="1">
                  <a:spLocks noRot="1" noChangeAspect="1" noMove="1" noResize="1" noEditPoints="1" noAdjustHandles="1" noChangeArrowheads="1" noChangeShapeType="1" noTextEdit="1"/>
                </p:cNvSpPr>
                <p:nvPr/>
              </p:nvSpPr>
              <p:spPr>
                <a:xfrm>
                  <a:off x="1643654" y="2874056"/>
                  <a:ext cx="721800" cy="299249"/>
                </a:xfrm>
                <a:prstGeom prst="rect">
                  <a:avLst/>
                </a:prstGeom>
                <a:blipFill>
                  <a:blip r:embed="rId4"/>
                  <a:stretch>
                    <a:fillRect l="-8475" r="-12712" b="-2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3E43D3E-DCCA-40EB-6BB9-A9D5254B3936}"/>
                    </a:ext>
                  </a:extLst>
                </p:cNvPr>
                <p:cNvSpPr txBox="1"/>
                <p:nvPr/>
              </p:nvSpPr>
              <p:spPr>
                <a:xfrm>
                  <a:off x="9815050" y="2904975"/>
                  <a:ext cx="72019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83E43D3E-DCCA-40EB-6BB9-A9D5254B3936}"/>
                    </a:ext>
                  </a:extLst>
                </p:cNvPr>
                <p:cNvSpPr txBox="1">
                  <a:spLocks noRot="1" noChangeAspect="1" noMove="1" noResize="1" noEditPoints="1" noAdjustHandles="1" noChangeArrowheads="1" noChangeShapeType="1" noTextEdit="1"/>
                </p:cNvSpPr>
                <p:nvPr/>
              </p:nvSpPr>
              <p:spPr>
                <a:xfrm>
                  <a:off x="9815050" y="2904975"/>
                  <a:ext cx="720197" cy="276999"/>
                </a:xfrm>
                <a:prstGeom prst="rect">
                  <a:avLst/>
                </a:prstGeom>
                <a:blipFill>
                  <a:blip r:embed="rId5"/>
                  <a:stretch>
                    <a:fillRect l="-7563" t="-4444" r="-10924" b="-35556"/>
                  </a:stretch>
                </a:blipFill>
              </p:spPr>
              <p:txBody>
                <a:bodyPr/>
                <a:lstStyle/>
                <a:p>
                  <a:r>
                    <a:rPr lang="en-US">
                      <a:noFill/>
                    </a:rPr>
                    <a:t> </a:t>
                  </a:r>
                </a:p>
              </p:txBody>
            </p:sp>
          </mc:Fallback>
        </mc:AlternateContent>
        <p:sp>
          <p:nvSpPr>
            <p:cNvPr id="9" name="Rectangle: Rounded Corners 8">
              <a:extLst>
                <a:ext uri="{FF2B5EF4-FFF2-40B4-BE49-F238E27FC236}">
                  <a16:creationId xmlns:a16="http://schemas.microsoft.com/office/drawing/2014/main" id="{F55E866F-E78C-1F51-B14C-F980CE6AC3A8}"/>
                </a:ext>
              </a:extLst>
            </p:cNvPr>
            <p:cNvSpPr/>
            <p:nvPr/>
          </p:nvSpPr>
          <p:spPr>
            <a:xfrm>
              <a:off x="1516673" y="1785296"/>
              <a:ext cx="9837127" cy="338897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5C2BAEE-BE0A-127F-D133-6E6ED6E0A3CE}"/>
                </a:ext>
              </a:extLst>
            </p:cNvPr>
            <p:cNvSpPr txBox="1"/>
            <p:nvPr/>
          </p:nvSpPr>
          <p:spPr>
            <a:xfrm>
              <a:off x="9660195" y="1777719"/>
              <a:ext cx="1693605" cy="338554"/>
            </a:xfrm>
            <a:prstGeom prst="rect">
              <a:avLst/>
            </a:prstGeom>
            <a:noFill/>
          </p:spPr>
          <p:txBody>
            <a:bodyPr wrap="none" rtlCol="0">
              <a:spAutoFit/>
            </a:bodyPr>
            <a:lstStyle/>
            <a:p>
              <a:pPr algn="r"/>
              <a:r>
                <a:rPr lang="en-US" sz="1600" b="1" dirty="0"/>
                <a:t>Full UFB System</a:t>
              </a:r>
            </a:p>
          </p:txBody>
        </p:sp>
        <p:sp>
          <p:nvSpPr>
            <p:cNvPr id="11" name="Oval 10">
              <a:extLst>
                <a:ext uri="{FF2B5EF4-FFF2-40B4-BE49-F238E27FC236}">
                  <a16:creationId xmlns:a16="http://schemas.microsoft.com/office/drawing/2014/main" id="{07DA3416-7209-6061-F609-B260818DDA38}"/>
                </a:ext>
              </a:extLst>
            </p:cNvPr>
            <p:cNvSpPr/>
            <p:nvPr/>
          </p:nvSpPr>
          <p:spPr>
            <a:xfrm>
              <a:off x="2737218"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sp>
          <p:nvSpPr>
            <p:cNvPr id="12" name="Oval 11">
              <a:extLst>
                <a:ext uri="{FF2B5EF4-FFF2-40B4-BE49-F238E27FC236}">
                  <a16:creationId xmlns:a16="http://schemas.microsoft.com/office/drawing/2014/main" id="{9682CED1-3C7C-CC7C-C8F3-BB29F539B196}"/>
                </a:ext>
              </a:extLst>
            </p:cNvPr>
            <p:cNvSpPr/>
            <p:nvPr/>
          </p:nvSpPr>
          <p:spPr>
            <a:xfrm>
              <a:off x="7153713" y="289306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13" name="Straight Arrow Connector 12">
              <a:extLst>
                <a:ext uri="{FF2B5EF4-FFF2-40B4-BE49-F238E27FC236}">
                  <a16:creationId xmlns:a16="http://schemas.microsoft.com/office/drawing/2014/main" id="{4EC6D35A-BF30-D0D0-BB58-1DA42C3F9726}"/>
                </a:ext>
              </a:extLst>
            </p:cNvPr>
            <p:cNvCxnSpPr>
              <a:stCxn id="6" idx="6"/>
              <a:endCxn id="11" idx="2"/>
            </p:cNvCxnSpPr>
            <p:nvPr/>
          </p:nvCxnSpPr>
          <p:spPr>
            <a:xfrm>
              <a:off x="2496677" y="3041967"/>
              <a:ext cx="240541" cy="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710F878-270E-B5AD-D4F7-79B5FAEF5767}"/>
                </a:ext>
              </a:extLst>
            </p:cNvPr>
            <p:cNvCxnSpPr>
              <a:stCxn id="11" idx="6"/>
              <a:endCxn id="3" idx="1"/>
            </p:cNvCxnSpPr>
            <p:nvPr/>
          </p:nvCxnSpPr>
          <p:spPr>
            <a:xfrm>
              <a:off x="3035025" y="3041968"/>
              <a:ext cx="404016" cy="77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309675BE-C45A-390E-098C-FB82367E79F3}"/>
                </a:ext>
              </a:extLst>
            </p:cNvPr>
            <p:cNvSpPr/>
            <p:nvPr/>
          </p:nvSpPr>
          <p:spPr>
            <a:xfrm>
              <a:off x="7236203" y="233079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4E157BFF-B883-AA56-2832-FA6432FEF965}"/>
                </a:ext>
              </a:extLst>
            </p:cNvPr>
            <p:cNvSpPr/>
            <p:nvPr/>
          </p:nvSpPr>
          <p:spPr>
            <a:xfrm>
              <a:off x="9815050" y="4645435"/>
              <a:ext cx="132826" cy="132826"/>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Box 23">
              <a:extLst>
                <a:ext uri="{FF2B5EF4-FFF2-40B4-BE49-F238E27FC236}">
                  <a16:creationId xmlns:a16="http://schemas.microsoft.com/office/drawing/2014/main" id="{0A22B27C-EAF6-0648-0649-323E73386121}"/>
                </a:ext>
              </a:extLst>
            </p:cNvPr>
            <p:cNvSpPr txBox="1"/>
            <p:nvPr/>
          </p:nvSpPr>
          <p:spPr>
            <a:xfrm>
              <a:off x="2882639" y="3049546"/>
              <a:ext cx="288862" cy="461665"/>
            </a:xfrm>
            <a:prstGeom prst="rect">
              <a:avLst/>
            </a:prstGeom>
            <a:noFill/>
          </p:spPr>
          <p:txBody>
            <a:bodyPr wrap="none" rtlCol="0">
              <a:spAutoFit/>
            </a:bodyPr>
            <a:lstStyle/>
            <a:p>
              <a:r>
                <a:rPr lang="en-US" sz="2400" dirty="0"/>
                <a:t>-</a:t>
              </a:r>
            </a:p>
          </p:txBody>
        </p:sp>
        <p:cxnSp>
          <p:nvCxnSpPr>
            <p:cNvPr id="25" name="Straight Arrow Connector 24">
              <a:extLst>
                <a:ext uri="{FF2B5EF4-FFF2-40B4-BE49-F238E27FC236}">
                  <a16:creationId xmlns:a16="http://schemas.microsoft.com/office/drawing/2014/main" id="{31DCA8E0-AC94-083D-5031-C8EAB176A31E}"/>
                </a:ext>
              </a:extLst>
            </p:cNvPr>
            <p:cNvCxnSpPr>
              <a:stCxn id="22" idx="4"/>
              <a:endCxn id="12" idx="0"/>
            </p:cNvCxnSpPr>
            <p:nvPr/>
          </p:nvCxnSpPr>
          <p:spPr>
            <a:xfrm>
              <a:off x="7302616" y="2463621"/>
              <a:ext cx="1" cy="42944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EF5BA2D8-656D-31BC-EE3C-B9F98F9AC7B7}"/>
                    </a:ext>
                  </a:extLst>
                </p:cNvPr>
                <p:cNvSpPr txBox="1"/>
                <p:nvPr/>
              </p:nvSpPr>
              <p:spPr>
                <a:xfrm>
                  <a:off x="7020359" y="1994619"/>
                  <a:ext cx="51251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p:txBody>
            </p:sp>
          </mc:Choice>
          <mc:Fallback xmlns="">
            <p:sp>
              <p:nvSpPr>
                <p:cNvPr id="26" name="TextBox 25">
                  <a:extLst>
                    <a:ext uri="{FF2B5EF4-FFF2-40B4-BE49-F238E27FC236}">
                      <a16:creationId xmlns:a16="http://schemas.microsoft.com/office/drawing/2014/main" id="{EF5BA2D8-656D-31BC-EE3C-B9F98F9AC7B7}"/>
                    </a:ext>
                  </a:extLst>
                </p:cNvPr>
                <p:cNvSpPr txBox="1">
                  <a:spLocks noRot="1" noChangeAspect="1" noMove="1" noResize="1" noEditPoints="1" noAdjustHandles="1" noChangeArrowheads="1" noChangeShapeType="1" noTextEdit="1"/>
                </p:cNvSpPr>
                <p:nvPr/>
              </p:nvSpPr>
              <p:spPr>
                <a:xfrm>
                  <a:off x="7020359" y="1994619"/>
                  <a:ext cx="512513" cy="276999"/>
                </a:xfrm>
                <a:prstGeom prst="rect">
                  <a:avLst/>
                </a:prstGeom>
                <a:blipFill>
                  <a:blip r:embed="rId6"/>
                  <a:stretch>
                    <a:fillRect l="-7143" t="-2174" r="-16667" b="-326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8946CF86-8FCB-4186-B420-8AC2788510EA}"/>
                    </a:ext>
                  </a:extLst>
                </p:cNvPr>
                <p:cNvSpPr txBox="1"/>
                <p:nvPr/>
              </p:nvSpPr>
              <p:spPr>
                <a:xfrm>
                  <a:off x="9991838" y="4573349"/>
                  <a:ext cx="1218539" cy="276999"/>
                </a:xfrm>
                <a:prstGeom prst="rect">
                  <a:avLst/>
                </a:prstGeom>
                <a:noFill/>
              </p:spPr>
              <p:txBody>
                <a:bodyPr wrap="square" lIns="0" tIns="0" rIns="0" bIns="0" rtlCol="0">
                  <a:spAutoFit/>
                </a:bodyPr>
                <a:lstStyle/>
                <a:p>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𝐻</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27" name="TextBox 26">
                  <a:extLst>
                    <a:ext uri="{FF2B5EF4-FFF2-40B4-BE49-F238E27FC236}">
                      <a16:creationId xmlns:a16="http://schemas.microsoft.com/office/drawing/2014/main" id="{8946CF86-8FCB-4186-B420-8AC2788510EA}"/>
                    </a:ext>
                  </a:extLst>
                </p:cNvPr>
                <p:cNvSpPr txBox="1">
                  <a:spLocks noRot="1" noChangeAspect="1" noMove="1" noResize="1" noEditPoints="1" noAdjustHandles="1" noChangeArrowheads="1" noChangeShapeType="1" noTextEdit="1"/>
                </p:cNvSpPr>
                <p:nvPr/>
              </p:nvSpPr>
              <p:spPr>
                <a:xfrm>
                  <a:off x="9991838" y="4573349"/>
                  <a:ext cx="1218539" cy="276999"/>
                </a:xfrm>
                <a:prstGeom prst="rect">
                  <a:avLst/>
                </a:prstGeom>
                <a:blipFill>
                  <a:blip r:embed="rId7"/>
                  <a:stretch>
                    <a:fillRect l="-6500" t="-2174" r="-4500" b="-32609"/>
                  </a:stretch>
                </a:blipFill>
              </p:spPr>
              <p:txBody>
                <a:bodyPr/>
                <a:lstStyle/>
                <a:p>
                  <a:r>
                    <a:rPr lang="en-US">
                      <a:noFill/>
                    </a:rPr>
                    <a:t> </a:t>
                  </a:r>
                </a:p>
              </p:txBody>
            </p:sp>
          </mc:Fallback>
        </mc:AlternateContent>
        <p:sp>
          <p:nvSpPr>
            <p:cNvPr id="30" name="Rectangle 29">
              <a:extLst>
                <a:ext uri="{FF2B5EF4-FFF2-40B4-BE49-F238E27FC236}">
                  <a16:creationId xmlns:a16="http://schemas.microsoft.com/office/drawing/2014/main" id="{0E88F316-A041-110F-6D5E-ABD925A7BF31}"/>
                </a:ext>
              </a:extLst>
            </p:cNvPr>
            <p:cNvSpPr/>
            <p:nvPr/>
          </p:nvSpPr>
          <p:spPr>
            <a:xfrm>
              <a:off x="5281269" y="2553422"/>
              <a:ext cx="3831958" cy="1889857"/>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id="{0C09C1E0-24F9-D06F-9EC6-4B141E0D97B4}"/>
                    </a:ext>
                  </a:extLst>
                </p:cNvPr>
                <p:cNvSpPr>
                  <a:spLocks noChangeAspect="1"/>
                </p:cNvSpPr>
                <p:nvPr/>
              </p:nvSpPr>
              <p:spPr>
                <a:xfrm>
                  <a:off x="5415526" y="2640076"/>
                  <a:ext cx="1348464" cy="82296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0" dirty="0"/>
                    <a:t>Linearization</a:t>
                  </a:r>
                </a:p>
                <a:p>
                  <a:pPr algn="ctr"/>
                  <a14:m>
                    <m:oMathPara xmlns:m="http://schemas.openxmlformats.org/officeDocument/2006/math">
                      <m:oMathParaPr>
                        <m:jc m:val="centerGroup"/>
                      </m:oMathParaPr>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𝑀</m:t>
                            </m:r>
                          </m:e>
                          <m:sub>
                            <m:r>
                              <a:rPr lang="en-US" sz="1400" b="0" i="1" smtClean="0">
                                <a:latin typeface="Cambria Math" panose="02040503050406030204" pitchFamily="18" charset="0"/>
                              </a:rPr>
                              <m:t>𝑇</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𝑀</m:t>
                        </m:r>
                        <m:r>
                          <a:rPr lang="en-US" sz="1400" b="0" i="1" smtClean="0">
                            <a:latin typeface="Cambria Math" panose="02040503050406030204" pitchFamily="18" charset="0"/>
                            <a:ea typeface="Cambria Math" panose="02040503050406030204" pitchFamily="18" charset="0"/>
                          </a:rPr>
                          <m:t>(</m:t>
                        </m:r>
                        <m:r>
                          <a:rPr lang="en-US" sz="1400" b="0" i="1" smtClean="0">
                            <a:latin typeface="Cambria Math" panose="02040503050406030204" pitchFamily="18" charset="0"/>
                            <a:ea typeface="Cambria Math" panose="02040503050406030204" pitchFamily="18" charset="0"/>
                          </a:rPr>
                          <m:t>𝑡</m:t>
                        </m:r>
                        <m:r>
                          <a:rPr lang="en-US" sz="1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31" name="Rectangle 30">
                  <a:extLst>
                    <a:ext uri="{FF2B5EF4-FFF2-40B4-BE49-F238E27FC236}">
                      <a16:creationId xmlns:a16="http://schemas.microsoft.com/office/drawing/2014/main" id="{0C09C1E0-24F9-D06F-9EC6-4B141E0D97B4}"/>
                    </a:ext>
                  </a:extLst>
                </p:cNvPr>
                <p:cNvSpPr>
                  <a:spLocks noRot="1" noChangeAspect="1" noMove="1" noResize="1" noEditPoints="1" noAdjustHandles="1" noChangeArrowheads="1" noChangeShapeType="1" noTextEdit="1"/>
                </p:cNvSpPr>
                <p:nvPr/>
              </p:nvSpPr>
              <p:spPr>
                <a:xfrm>
                  <a:off x="5415526" y="2640076"/>
                  <a:ext cx="1348464" cy="822960"/>
                </a:xfrm>
                <a:prstGeom prst="rect">
                  <a:avLst/>
                </a:prstGeom>
                <a:blipFill>
                  <a:blip r:embed="rId8"/>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7CE3631-DD44-965C-02C7-58249D71EE8C}"/>
                    </a:ext>
                  </a:extLst>
                </p:cNvPr>
                <p:cNvSpPr txBox="1"/>
                <p:nvPr/>
              </p:nvSpPr>
              <p:spPr>
                <a:xfrm>
                  <a:off x="5281269" y="3462530"/>
                  <a:ext cx="3831958" cy="940194"/>
                </a:xfrm>
                <a:prstGeom prst="rect">
                  <a:avLst/>
                </a:prstGeom>
                <a:noFill/>
              </p:spPr>
              <p:txBody>
                <a:bodyPr wrap="square">
                  <a:spAutoFit/>
                </a:bodyPr>
                <a:lstStyle/>
                <a:p>
                  <a:pPr algn="ctr"/>
                  <a:r>
                    <a:rPr lang="en-US" sz="1600" b="0" dirty="0">
                      <a:latin typeface="Cambria Math" panose="02040503050406030204" pitchFamily="18" charset="0"/>
                    </a:rPr>
                    <a:t>Linearized Plant</a:t>
                  </a:r>
                </a:p>
                <a:p>
                  <a:pPr algn="ct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𝐺</m:t>
                            </m:r>
                          </m:e>
                          <m:sub>
                            <m:r>
                              <a:rPr lang="en-US" sz="3600" b="0" i="1" smtClean="0">
                                <a:latin typeface="Cambria Math" panose="02040503050406030204" pitchFamily="18" charset="0"/>
                              </a:rPr>
                              <m:t>𝑖</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𝑀</m:t>
                                </m:r>
                              </m:e>
                              <m:sub>
                                <m:r>
                                  <a:rPr lang="en-US" sz="3600" b="0" i="1" smtClean="0">
                                    <a:latin typeface="Cambria Math" panose="02040503050406030204" pitchFamily="18" charset="0"/>
                                  </a:rPr>
                                  <m:t>𝑇</m:t>
                                </m:r>
                              </m:sub>
                            </m:sSub>
                          </m:sub>
                        </m:sSub>
                        <m:r>
                          <a:rPr lang="en-US" sz="3600" b="0" i="1" smtClean="0">
                            <a:latin typeface="Cambria Math" panose="02040503050406030204" pitchFamily="18" charset="0"/>
                          </a:rPr>
                          <m:t>(</m:t>
                        </m:r>
                        <m:r>
                          <a:rPr lang="en-US" sz="3600" b="0" i="1" smtClean="0">
                            <a:latin typeface="Cambria Math" panose="02040503050406030204" pitchFamily="18" charset="0"/>
                          </a:rPr>
                          <m:t>𝑠</m:t>
                        </m:r>
                        <m:r>
                          <a:rPr lang="en-US" sz="3600" b="0" i="1" smtClean="0">
                            <a:latin typeface="Cambria Math" panose="02040503050406030204" pitchFamily="18" charset="0"/>
                          </a:rPr>
                          <m:t>)</m:t>
                        </m:r>
                      </m:oMath>
                    </m:oMathPara>
                  </a14:m>
                  <a:endParaRPr lang="en-US" sz="3600" dirty="0"/>
                </a:p>
              </p:txBody>
            </p:sp>
          </mc:Choice>
          <mc:Fallback xmlns="">
            <p:sp>
              <p:nvSpPr>
                <p:cNvPr id="35" name="TextBox 34">
                  <a:extLst>
                    <a:ext uri="{FF2B5EF4-FFF2-40B4-BE49-F238E27FC236}">
                      <a16:creationId xmlns:a16="http://schemas.microsoft.com/office/drawing/2014/main" id="{87CE3631-DD44-965C-02C7-58249D71EE8C}"/>
                    </a:ext>
                  </a:extLst>
                </p:cNvPr>
                <p:cNvSpPr txBox="1">
                  <a:spLocks noRot="1" noChangeAspect="1" noMove="1" noResize="1" noEditPoints="1" noAdjustHandles="1" noChangeArrowheads="1" noChangeShapeType="1" noTextEdit="1"/>
                </p:cNvSpPr>
                <p:nvPr/>
              </p:nvSpPr>
              <p:spPr>
                <a:xfrm>
                  <a:off x="5281269" y="3462530"/>
                  <a:ext cx="3831958" cy="940194"/>
                </a:xfrm>
                <a:prstGeom prst="rect">
                  <a:avLst/>
                </a:prstGeom>
                <a:blipFill>
                  <a:blip r:embed="rId9"/>
                  <a:stretch>
                    <a:fillRect t="-2597"/>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32590D8-A6E6-DE0B-3C28-4B016AA110E4}"/>
                </a:ext>
              </a:extLst>
            </p:cNvPr>
            <p:cNvCxnSpPr>
              <a:stCxn id="3" idx="3"/>
              <a:endCxn id="31" idx="1"/>
            </p:cNvCxnSpPr>
            <p:nvPr/>
          </p:nvCxnSpPr>
          <p:spPr>
            <a:xfrm>
              <a:off x="4787505" y="3049748"/>
              <a:ext cx="628021" cy="180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BE5F46AE-02DA-9F58-D987-26CD46FAB4DC}"/>
                </a:ext>
              </a:extLst>
            </p:cNvPr>
            <p:cNvCxnSpPr>
              <a:stCxn id="31" idx="3"/>
              <a:endCxn id="12" idx="2"/>
            </p:cNvCxnSpPr>
            <p:nvPr/>
          </p:nvCxnSpPr>
          <p:spPr>
            <a:xfrm flipV="1">
              <a:off x="6763990" y="3041968"/>
              <a:ext cx="389723" cy="958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DFC7F002-A69B-7C8C-172A-C9C4CAADB1D9}"/>
                </a:ext>
              </a:extLst>
            </p:cNvPr>
            <p:cNvCxnSpPr>
              <a:stCxn id="12" idx="6"/>
              <a:endCxn id="4" idx="1"/>
            </p:cNvCxnSpPr>
            <p:nvPr/>
          </p:nvCxnSpPr>
          <p:spPr>
            <a:xfrm>
              <a:off x="7451520" y="3041968"/>
              <a:ext cx="226616" cy="150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A1F43624-2CD8-3CEB-BEA2-144C2433DC5A}"/>
                </a:ext>
              </a:extLst>
            </p:cNvPr>
            <p:cNvCxnSpPr>
              <a:stCxn id="4" idx="3"/>
              <a:endCxn id="5" idx="2"/>
            </p:cNvCxnSpPr>
            <p:nvPr/>
          </p:nvCxnSpPr>
          <p:spPr>
            <a:xfrm>
              <a:off x="9026600" y="3043474"/>
              <a:ext cx="65562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8" name="Oval 47">
              <a:extLst>
                <a:ext uri="{FF2B5EF4-FFF2-40B4-BE49-F238E27FC236}">
                  <a16:creationId xmlns:a16="http://schemas.microsoft.com/office/drawing/2014/main" id="{D5D34AD9-9F0B-1A60-E37C-6AB3CDBE1F20}"/>
                </a:ext>
              </a:extLst>
            </p:cNvPr>
            <p:cNvSpPr/>
            <p:nvPr/>
          </p:nvSpPr>
          <p:spPr>
            <a:xfrm>
              <a:off x="9259107" y="4562944"/>
              <a:ext cx="297807" cy="297807"/>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a:t>
              </a:r>
              <a:endParaRPr lang="en-US" sz="1050" dirty="0"/>
            </a:p>
          </p:txBody>
        </p:sp>
        <p:cxnSp>
          <p:nvCxnSpPr>
            <p:cNvPr id="50" name="Straight Arrow Connector 49">
              <a:extLst>
                <a:ext uri="{FF2B5EF4-FFF2-40B4-BE49-F238E27FC236}">
                  <a16:creationId xmlns:a16="http://schemas.microsoft.com/office/drawing/2014/main" id="{66004081-641F-8CFD-D10B-0B819013A2BC}"/>
                </a:ext>
              </a:extLst>
            </p:cNvPr>
            <p:cNvCxnSpPr>
              <a:cxnSpLocks/>
              <a:stCxn id="48" idx="0"/>
            </p:cNvCxnSpPr>
            <p:nvPr/>
          </p:nvCxnSpPr>
          <p:spPr>
            <a:xfrm flipV="1">
              <a:off x="9408011" y="3049546"/>
              <a:ext cx="0" cy="1513398"/>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A5EFAB6D-EDD1-14EE-A444-3CF8BA4584BB}"/>
                </a:ext>
              </a:extLst>
            </p:cNvPr>
            <p:cNvCxnSpPr>
              <a:stCxn id="23" idx="2"/>
              <a:endCxn id="48" idx="6"/>
            </p:cNvCxnSpPr>
            <p:nvPr/>
          </p:nvCxnSpPr>
          <p:spPr>
            <a:xfrm flipH="1">
              <a:off x="9556914" y="4711848"/>
              <a:ext cx="258136"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06A10E48-5998-0FEA-B5EF-F79AC587B414}"/>
                </a:ext>
              </a:extLst>
            </p:cNvPr>
            <p:cNvCxnSpPr>
              <a:cxnSpLocks/>
              <a:stCxn id="48" idx="2"/>
            </p:cNvCxnSpPr>
            <p:nvPr/>
          </p:nvCxnSpPr>
          <p:spPr>
            <a:xfrm flipH="1">
              <a:off x="2882639" y="4711848"/>
              <a:ext cx="637646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B2E056E-184A-3058-6AD4-2527BF191C5D}"/>
                </a:ext>
              </a:extLst>
            </p:cNvPr>
            <p:cNvCxnSpPr>
              <a:cxnSpLocks/>
              <a:stCxn id="11" idx="4"/>
            </p:cNvCxnSpPr>
            <p:nvPr/>
          </p:nvCxnSpPr>
          <p:spPr>
            <a:xfrm>
              <a:off x="2886122" y="3190871"/>
              <a:ext cx="0" cy="1520977"/>
            </a:xfrm>
            <a:prstGeom prst="straightConnector1">
              <a:avLst/>
            </a:prstGeom>
            <a:ln>
              <a:solidFill>
                <a:schemeClr val="tx1"/>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7154DBB8-1150-3149-7C86-5E65FBAB3410}"/>
                    </a:ext>
                  </a:extLst>
                </p:cNvPr>
                <p:cNvSpPr txBox="1"/>
                <p:nvPr/>
              </p:nvSpPr>
              <p:spPr>
                <a:xfrm>
                  <a:off x="3065540" y="2808311"/>
                  <a:ext cx="31431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𝑒</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0" name="TextBox 59">
                  <a:extLst>
                    <a:ext uri="{FF2B5EF4-FFF2-40B4-BE49-F238E27FC236}">
                      <a16:creationId xmlns:a16="http://schemas.microsoft.com/office/drawing/2014/main" id="{7154DBB8-1150-3149-7C86-5E65FBAB3410}"/>
                    </a:ext>
                  </a:extLst>
                </p:cNvPr>
                <p:cNvSpPr txBox="1">
                  <a:spLocks noRot="1" noChangeAspect="1" noMove="1" noResize="1" noEditPoints="1" noAdjustHandles="1" noChangeArrowheads="1" noChangeShapeType="1" noTextEdit="1"/>
                </p:cNvSpPr>
                <p:nvPr/>
              </p:nvSpPr>
              <p:spPr>
                <a:xfrm>
                  <a:off x="3065540" y="2808311"/>
                  <a:ext cx="314317" cy="184666"/>
                </a:xfrm>
                <a:prstGeom prst="rect">
                  <a:avLst/>
                </a:prstGeom>
                <a:blipFill>
                  <a:blip r:embed="rId10"/>
                  <a:stretch>
                    <a:fillRect l="-5769" t="-6667" r="-17308" b="-3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DC523082-32D9-0AFA-54CD-66A0965C1AAE}"/>
                    </a:ext>
                  </a:extLst>
                </p:cNvPr>
                <p:cNvSpPr txBox="1"/>
                <p:nvPr/>
              </p:nvSpPr>
              <p:spPr>
                <a:xfrm>
                  <a:off x="2974842" y="3739754"/>
                  <a:ext cx="810030" cy="19287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r>
                              <a:rPr lang="en-US" sz="1200" b="0" i="1" smtClean="0">
                                <a:latin typeface="Cambria Math" panose="02040503050406030204" pitchFamily="18" charset="0"/>
                              </a:rPr>
                              <m:t>,</m:t>
                            </m:r>
                            <m:r>
                              <a:rPr lang="en-US" sz="1200" b="0" i="1" smtClean="0">
                                <a:latin typeface="Cambria Math" panose="02040503050406030204" pitchFamily="18" charset="0"/>
                              </a:rPr>
                              <m:t>𝑠𝑒𝑛𝑠𝑒</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1" name="TextBox 60">
                  <a:extLst>
                    <a:ext uri="{FF2B5EF4-FFF2-40B4-BE49-F238E27FC236}">
                      <a16:creationId xmlns:a16="http://schemas.microsoft.com/office/drawing/2014/main" id="{DC523082-32D9-0AFA-54CD-66A0965C1AAE}"/>
                    </a:ext>
                  </a:extLst>
                </p:cNvPr>
                <p:cNvSpPr txBox="1">
                  <a:spLocks noRot="1" noChangeAspect="1" noMove="1" noResize="1" noEditPoints="1" noAdjustHandles="1" noChangeArrowheads="1" noChangeShapeType="1" noTextEdit="1"/>
                </p:cNvSpPr>
                <p:nvPr/>
              </p:nvSpPr>
              <p:spPr>
                <a:xfrm>
                  <a:off x="2974842" y="3739754"/>
                  <a:ext cx="810030" cy="192873"/>
                </a:xfrm>
                <a:prstGeom prst="rect">
                  <a:avLst/>
                </a:prstGeom>
                <a:blipFill>
                  <a:blip r:embed="rId11"/>
                  <a:stretch>
                    <a:fillRect l="-4511" r="-6767"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CF2AF608-7F5B-7FD1-676D-E1F8F97D4F9E}"/>
                    </a:ext>
                  </a:extLst>
                </p:cNvPr>
                <p:cNvSpPr txBox="1"/>
                <p:nvPr/>
              </p:nvSpPr>
              <p:spPr>
                <a:xfrm>
                  <a:off x="4814102" y="2848106"/>
                  <a:ext cx="440570"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𝑀</m:t>
                            </m:r>
                          </m:e>
                          <m:sub>
                            <m:r>
                              <a:rPr lang="en-US" sz="1200" b="0" i="1" smtClean="0">
                                <a:latin typeface="Cambria Math" panose="02040503050406030204" pitchFamily="18" charset="0"/>
                              </a:rPr>
                              <m:t>𝑇</m:t>
                            </m:r>
                          </m:sub>
                        </m:sSub>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m:oMathPara>
                  </a14:m>
                  <a:endParaRPr lang="en-US" sz="1200" dirty="0"/>
                </a:p>
              </p:txBody>
            </p:sp>
          </mc:Choice>
          <mc:Fallback xmlns="">
            <p:sp>
              <p:nvSpPr>
                <p:cNvPr id="64" name="TextBox 63">
                  <a:extLst>
                    <a:ext uri="{FF2B5EF4-FFF2-40B4-BE49-F238E27FC236}">
                      <a16:creationId xmlns:a16="http://schemas.microsoft.com/office/drawing/2014/main" id="{CF2AF608-7F5B-7FD1-676D-E1F8F97D4F9E}"/>
                    </a:ext>
                  </a:extLst>
                </p:cNvPr>
                <p:cNvSpPr txBox="1">
                  <a:spLocks noRot="1" noChangeAspect="1" noMove="1" noResize="1" noEditPoints="1" noAdjustHandles="1" noChangeArrowheads="1" noChangeShapeType="1" noTextEdit="1"/>
                </p:cNvSpPr>
                <p:nvPr/>
              </p:nvSpPr>
              <p:spPr>
                <a:xfrm>
                  <a:off x="4814102" y="2848106"/>
                  <a:ext cx="440570" cy="184666"/>
                </a:xfrm>
                <a:prstGeom prst="rect">
                  <a:avLst/>
                </a:prstGeom>
                <a:blipFill>
                  <a:blip r:embed="rId12"/>
                  <a:stretch>
                    <a:fillRect l="-8333" t="-3226" r="-13889" b="-354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17271F0-142E-044E-C4D3-48F661C7646B}"/>
                    </a:ext>
                  </a:extLst>
                </p:cNvPr>
                <p:cNvSpPr txBox="1"/>
                <p:nvPr/>
              </p:nvSpPr>
              <p:spPr>
                <a:xfrm>
                  <a:off x="6778447" y="2839015"/>
                  <a:ext cx="360227" cy="18466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oMath>
                    </m:oMathPara>
                  </a14:m>
                  <a:endParaRPr lang="en-US" sz="1200" dirty="0"/>
                </a:p>
              </p:txBody>
            </p:sp>
          </mc:Choice>
          <mc:Fallback xmlns="">
            <p:sp>
              <p:nvSpPr>
                <p:cNvPr id="67" name="TextBox 66">
                  <a:extLst>
                    <a:ext uri="{FF2B5EF4-FFF2-40B4-BE49-F238E27FC236}">
                      <a16:creationId xmlns:a16="http://schemas.microsoft.com/office/drawing/2014/main" id="{817271F0-142E-044E-C4D3-48F661C7646B}"/>
                    </a:ext>
                  </a:extLst>
                </p:cNvPr>
                <p:cNvSpPr txBox="1">
                  <a:spLocks noRot="1" noChangeAspect="1" noMove="1" noResize="1" noEditPoints="1" noAdjustHandles="1" noChangeArrowheads="1" noChangeShapeType="1" noTextEdit="1"/>
                </p:cNvSpPr>
                <p:nvPr/>
              </p:nvSpPr>
              <p:spPr>
                <a:xfrm>
                  <a:off x="6778447" y="2839015"/>
                  <a:ext cx="360227" cy="184666"/>
                </a:xfrm>
                <a:prstGeom prst="rect">
                  <a:avLst/>
                </a:prstGeom>
                <a:blipFill>
                  <a:blip r:embed="rId13"/>
                  <a:stretch>
                    <a:fillRect l="-10169" t="-6667" r="-16949" b="-3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3051E59-1389-5DCF-54CC-E02283CAF2A0}"/>
                  </a:ext>
                </a:extLst>
              </p:cNvPr>
              <p:cNvSpPr txBox="1"/>
              <p:nvPr/>
            </p:nvSpPr>
            <p:spPr>
              <a:xfrm>
                <a:off x="1177438" y="5315884"/>
                <a:ext cx="9837126" cy="1165063"/>
              </a:xfrm>
              <a:prstGeom prst="rect">
                <a:avLst/>
              </a:prstGeom>
              <a:noFill/>
            </p:spPr>
            <p:txBody>
              <a:bodyPr wrap="square" rtlCol="0">
                <a:spAutoFit/>
              </a:bodyPr>
              <a:lstStyle/>
              <a:p>
                <a:r>
                  <a:rPr lang="en-US" b="1" dirty="0"/>
                  <a:t>Key Takeaway: </a:t>
                </a:r>
                <a:r>
                  <a:rPr lang="en-US" dirty="0"/>
                  <a:t>Disturbance </a:t>
                </a:r>
                <a14:m>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is inserted into the nonlinear control signal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and cannot be analyzed using typical tools</a:t>
                </a:r>
              </a:p>
              <a:p>
                <a:r>
                  <a:rPr lang="en-US" dirty="0"/>
                  <a:t>Can trivially calculate transfer function </a:t>
                </a:r>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den>
                    </m:f>
                    <m:r>
                      <a:rPr lang="en-US" b="0" i="1" smtClean="0">
                        <a:latin typeface="Cambria Math" panose="02040503050406030204" pitchFamily="18" charset="0"/>
                      </a:rPr>
                      <m:t>=</m:t>
                    </m:r>
                    <m:r>
                      <a:rPr lang="en-US" b="0" i="1" smtClean="0">
                        <a:latin typeface="Cambria Math" panose="02040503050406030204" pitchFamily="18" charset="0"/>
                      </a:rPr>
                      <m:t>𝐻</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𝐷</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𝑖</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num>
                      <m:den>
                        <m:r>
                          <a:rPr lang="en-US" b="0" i="1" smtClean="0">
                            <a:latin typeface="Cambria Math" panose="02040503050406030204" pitchFamily="18" charset="0"/>
                          </a:rPr>
                          <m:t>1+</m:t>
                        </m:r>
                        <m:r>
                          <a:rPr lang="en-US" i="1">
                            <a:latin typeface="Cambria Math" panose="02040503050406030204" pitchFamily="18" charset="0"/>
                          </a:rPr>
                          <m:t>𝐷</m:t>
                        </m:r>
                        <m:d>
                          <m:dPr>
                            <m:ctrlPr>
                              <a:rPr lang="en-US" i="1">
                                <a:latin typeface="Cambria Math" panose="02040503050406030204" pitchFamily="18" charset="0"/>
                              </a:rPr>
                            </m:ctrlPr>
                          </m:dPr>
                          <m:e>
                            <m:r>
                              <a:rPr lang="en-US" i="1">
                                <a:latin typeface="Cambria Math" panose="02040503050406030204" pitchFamily="18" charset="0"/>
                              </a:rPr>
                              <m:t>𝑠</m:t>
                            </m:r>
                          </m:e>
                        </m:d>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𝑖</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den>
                    </m:f>
                  </m:oMath>
                </a14:m>
                <a:endParaRPr lang="en-US" dirty="0"/>
              </a:p>
            </p:txBody>
          </p:sp>
        </mc:Choice>
        <mc:Fallback xmlns="">
          <p:sp>
            <p:nvSpPr>
              <p:cNvPr id="70" name="TextBox 69">
                <a:extLst>
                  <a:ext uri="{FF2B5EF4-FFF2-40B4-BE49-F238E27FC236}">
                    <a16:creationId xmlns:a16="http://schemas.microsoft.com/office/drawing/2014/main" id="{33051E59-1389-5DCF-54CC-E02283CAF2A0}"/>
                  </a:ext>
                </a:extLst>
              </p:cNvPr>
              <p:cNvSpPr txBox="1">
                <a:spLocks noRot="1" noChangeAspect="1" noMove="1" noResize="1" noEditPoints="1" noAdjustHandles="1" noChangeArrowheads="1" noChangeShapeType="1" noTextEdit="1"/>
              </p:cNvSpPr>
              <p:nvPr/>
            </p:nvSpPr>
            <p:spPr>
              <a:xfrm>
                <a:off x="1177438" y="5315884"/>
                <a:ext cx="9837126" cy="1165063"/>
              </a:xfrm>
              <a:prstGeom prst="rect">
                <a:avLst/>
              </a:prstGeom>
              <a:blipFill>
                <a:blip r:embed="rId14"/>
                <a:stretch>
                  <a:fillRect l="-496" t="-2094"/>
                </a:stretch>
              </a:blipFill>
            </p:spPr>
            <p:txBody>
              <a:bodyPr/>
              <a:lstStyle/>
              <a:p>
                <a:r>
                  <a:rPr lang="en-US">
                    <a:noFill/>
                  </a:rPr>
                  <a:t> </a:t>
                </a:r>
              </a:p>
            </p:txBody>
          </p:sp>
        </mc:Fallback>
      </mc:AlternateContent>
    </p:spTree>
    <p:extLst>
      <p:ext uri="{BB962C8B-B14F-4D97-AF65-F5344CB8AC3E}">
        <p14:creationId xmlns:p14="http://schemas.microsoft.com/office/powerpoint/2010/main" val="13119434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0322E-72FA-7113-41DA-C6F3A8E79DB3}"/>
              </a:ext>
            </a:extLst>
          </p:cNvPr>
          <p:cNvSpPr>
            <a:spLocks noGrp="1"/>
          </p:cNvSpPr>
          <p:nvPr>
            <p:ph type="title"/>
          </p:nvPr>
        </p:nvSpPr>
        <p:spPr/>
        <p:txBody>
          <a:bodyPr/>
          <a:lstStyle/>
          <a:p>
            <a:r>
              <a:rPr lang="en-US" dirty="0"/>
              <a:t>Model Robustness - Sensitivity</a:t>
            </a:r>
          </a:p>
        </p:txBody>
      </p:sp>
      <p:sp>
        <p:nvSpPr>
          <p:cNvPr id="5" name="Text Placeholder 4">
            <a:extLst>
              <a:ext uri="{FF2B5EF4-FFF2-40B4-BE49-F238E27FC236}">
                <a16:creationId xmlns:a16="http://schemas.microsoft.com/office/drawing/2014/main" id="{2271D8C9-DE82-2DA0-7FDA-C736C878C674}"/>
              </a:ext>
            </a:extLst>
          </p:cNvPr>
          <p:cNvSpPr>
            <a:spLocks noGrp="1"/>
          </p:cNvSpPr>
          <p:nvPr>
            <p:ph type="body" sz="half" idx="2"/>
          </p:nvPr>
        </p:nvSpPr>
        <p:spPr/>
        <p:txBody>
          <a:bodyPr/>
          <a:lstStyle/>
          <a:p>
            <a:r>
              <a:rPr lang="en-US" dirty="0"/>
              <a:t>Definition: Change in output behavior of a system relative to change in parameter</a:t>
            </a:r>
          </a:p>
          <a:p>
            <a:pPr marL="285750" indent="-285750">
              <a:buFont typeface="Arial" panose="020B0604020202020204" pitchFamily="34" charset="0"/>
              <a:buChar char="•"/>
            </a:pPr>
            <a:r>
              <a:rPr lang="en-US" dirty="0"/>
              <a:t>Relative change determined in proportion to parameter size</a:t>
            </a:r>
          </a:p>
          <a:p>
            <a:pPr marL="285750" indent="-285750">
              <a:buFont typeface="Arial" panose="020B0604020202020204" pitchFamily="34" charset="0"/>
              <a:buChar char="•"/>
            </a:pPr>
            <a:r>
              <a:rPr lang="en-US" dirty="0"/>
              <a:t>Can use simple calculus and algebra</a:t>
            </a:r>
          </a:p>
          <a:p>
            <a:r>
              <a:rPr lang="en-US" dirty="0"/>
              <a:t>Very useful metric to evaluate robustness of closed-loop control systems</a:t>
            </a:r>
          </a:p>
          <a:p>
            <a:pPr marL="285750" indent="-285750">
              <a:buFont typeface="Arial" panose="020B0604020202020204" pitchFamily="34" charset="0"/>
              <a:buChar char="•"/>
            </a:pPr>
            <a:r>
              <a:rPr lang="en-US" dirty="0"/>
              <a:t>Accounts for numerical stability issues like small-difference-of-large-numbers and division by small numbers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4A0FE4-182F-50BD-EFF1-3F64465B626B}"/>
                  </a:ext>
                </a:extLst>
              </p:cNvPr>
              <p:cNvSpPr txBox="1"/>
              <p:nvPr/>
            </p:nvSpPr>
            <p:spPr>
              <a:xfrm>
                <a:off x="5656385" y="905136"/>
                <a:ext cx="2639633" cy="46783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a:rPr lang="en-US" sz="3600" b="0" i="1" smtClean="0">
                                  <a:latin typeface="Cambria Math" panose="02040503050406030204" pitchFamily="18" charset="0"/>
                                </a:rPr>
                                <m:t>𝑇</m:t>
                              </m:r>
                            </m:den>
                          </m:f>
                        </m:num>
                        <m:den>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num>
                            <m:den>
                              <m:r>
                                <a:rPr lang="en-US" sz="3600" b="0" i="1" smtClean="0">
                                  <a:latin typeface="Cambria Math" panose="02040503050406030204" pitchFamily="18" charset="0"/>
                                </a:rPr>
                                <m:t>𝐺</m:t>
                              </m:r>
                            </m:den>
                          </m:f>
                        </m:den>
                      </m:f>
                    </m:oMath>
                  </m:oMathPara>
                </a14:m>
                <a:endParaRPr lang="en-US" sz="3600" b="0" dirty="0"/>
              </a:p>
              <a:p>
                <a:endParaRPr lang="en-US" sz="2400"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en-US" sz="3600" b="0" i="1" smtClean="0">
                              <a:latin typeface="Cambria Math" panose="02040503050406030204" pitchFamily="18" charset="0"/>
                            </a:rPr>
                          </m:ctrlPr>
                        </m:sSubSupPr>
                        <m:e>
                          <m:r>
                            <a:rPr lang="en-US" sz="3600" b="0" i="1" smtClean="0">
                              <a:latin typeface="Cambria Math" panose="02040503050406030204" pitchFamily="18" charset="0"/>
                            </a:rPr>
                            <m:t>𝑆</m:t>
                          </m:r>
                        </m:e>
                        <m:sub>
                          <m:r>
                            <a:rPr lang="en-US" sz="3600" b="0" i="1" smtClean="0">
                              <a:latin typeface="Cambria Math" panose="02040503050406030204" pitchFamily="18" charset="0"/>
                            </a:rPr>
                            <m:t>𝐺</m:t>
                          </m:r>
                        </m:sub>
                        <m:sup>
                          <m:r>
                            <a:rPr lang="en-US" sz="3600" b="0" i="1" smtClean="0">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𝑇</m:t>
                          </m:r>
                        </m:num>
                        <m:den>
                          <m:r>
                            <m:rPr>
                              <m:sty m:val="p"/>
                            </m:rPr>
                            <a:rPr lang="el-GR" sz="3600" b="0" i="1" smtClean="0">
                              <a:latin typeface="Cambria Math" panose="02040503050406030204" pitchFamily="18" charset="0"/>
                              <a:ea typeface="Cambria Math" panose="02040503050406030204" pitchFamily="18" charset="0"/>
                            </a:rPr>
                            <m:t>Δ</m:t>
                          </m:r>
                          <m:r>
                            <a:rPr lang="en-US" sz="3600" b="0" i="1" smtClean="0">
                              <a:latin typeface="Cambria Math" panose="02040503050406030204" pitchFamily="18" charset="0"/>
                              <a:ea typeface="Cambria Math" panose="02040503050406030204" pitchFamily="18" charset="0"/>
                            </a:rPr>
                            <m:t>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b="0" dirty="0"/>
              </a:p>
              <a:p>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Sup>
                        <m:sSubSupPr>
                          <m:ctrlPr>
                            <a:rPr lang="en-US" sz="3600" i="1">
                              <a:latin typeface="Cambria Math" panose="02040503050406030204" pitchFamily="18" charset="0"/>
                            </a:rPr>
                          </m:ctrlPr>
                        </m:sSubSupPr>
                        <m:e>
                          <m:r>
                            <a:rPr lang="en-US" sz="3600" i="1">
                              <a:latin typeface="Cambria Math" panose="02040503050406030204" pitchFamily="18" charset="0"/>
                            </a:rPr>
                            <m:t>𝑆</m:t>
                          </m:r>
                        </m:e>
                        <m:sub>
                          <m:r>
                            <a:rPr lang="en-US" sz="3600" i="1">
                              <a:latin typeface="Cambria Math" panose="02040503050406030204" pitchFamily="18" charset="0"/>
                            </a:rPr>
                            <m:t>𝐺</m:t>
                          </m:r>
                        </m:sub>
                        <m:sup>
                          <m:r>
                            <a:rPr lang="en-US" sz="3600" i="1">
                              <a:latin typeface="Cambria Math" panose="02040503050406030204" pitchFamily="18" charset="0"/>
                            </a:rPr>
                            <m:t>𝑇</m:t>
                          </m:r>
                        </m:sup>
                      </m:sSubSup>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𝑑𝑇</m:t>
                          </m:r>
                        </m:num>
                        <m:den>
                          <m:r>
                            <a:rPr lang="en-US" sz="3600" b="0" i="1" smtClean="0">
                              <a:latin typeface="Cambria Math" panose="02040503050406030204" pitchFamily="18" charset="0"/>
                            </a:rPr>
                            <m:t>𝑑𝐺</m:t>
                          </m:r>
                        </m:den>
                      </m:f>
                      <m:r>
                        <a:rPr lang="en-US" sz="3600" b="0" i="1" smtClean="0">
                          <a:latin typeface="Cambria Math" panose="02040503050406030204" pitchFamily="18" charset="0"/>
                        </a:rPr>
                        <m:t>∗</m:t>
                      </m:r>
                      <m:f>
                        <m:fPr>
                          <m:ctrlPr>
                            <a:rPr lang="en-US" sz="3600" b="0" i="1" smtClean="0">
                              <a:latin typeface="Cambria Math" panose="02040503050406030204" pitchFamily="18" charset="0"/>
                            </a:rPr>
                          </m:ctrlPr>
                        </m:fPr>
                        <m:num>
                          <m:r>
                            <a:rPr lang="en-US" sz="3600" b="0" i="1" smtClean="0">
                              <a:latin typeface="Cambria Math" panose="02040503050406030204" pitchFamily="18" charset="0"/>
                            </a:rPr>
                            <m:t>𝐺</m:t>
                          </m:r>
                        </m:num>
                        <m:den>
                          <m:r>
                            <a:rPr lang="en-US" sz="3600" b="0" i="1" smtClean="0">
                              <a:latin typeface="Cambria Math" panose="02040503050406030204" pitchFamily="18" charset="0"/>
                            </a:rPr>
                            <m:t>𝑇</m:t>
                          </m:r>
                        </m:den>
                      </m:f>
                    </m:oMath>
                  </m:oMathPara>
                </a14:m>
                <a:endParaRPr lang="en-US" sz="3600" dirty="0"/>
              </a:p>
            </p:txBody>
          </p:sp>
        </mc:Choice>
        <mc:Fallback xmlns="">
          <p:sp>
            <p:nvSpPr>
              <p:cNvPr id="3" name="TextBox 2">
                <a:extLst>
                  <a:ext uri="{FF2B5EF4-FFF2-40B4-BE49-F238E27FC236}">
                    <a16:creationId xmlns:a16="http://schemas.microsoft.com/office/drawing/2014/main" id="{954A0FE4-182F-50BD-EFF1-3F64465B626B}"/>
                  </a:ext>
                </a:extLst>
              </p:cNvPr>
              <p:cNvSpPr txBox="1">
                <a:spLocks noRot="1" noChangeAspect="1" noMove="1" noResize="1" noEditPoints="1" noAdjustHandles="1" noChangeArrowheads="1" noChangeShapeType="1" noTextEdit="1"/>
              </p:cNvSpPr>
              <p:nvPr/>
            </p:nvSpPr>
            <p:spPr>
              <a:xfrm>
                <a:off x="5656385" y="905136"/>
                <a:ext cx="2639633" cy="4678397"/>
              </a:xfrm>
              <a:prstGeom prst="rect">
                <a:avLst/>
              </a:prstGeom>
              <a:blipFill>
                <a:blip r:embed="rId2"/>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57817604-C21E-2196-5283-A8A5C3854317}"/>
              </a:ext>
            </a:extLst>
          </p:cNvPr>
          <p:cNvSpPr txBox="1"/>
          <p:nvPr/>
        </p:nvSpPr>
        <p:spPr>
          <a:xfrm>
            <a:off x="8822683" y="1457235"/>
            <a:ext cx="2409491" cy="1200329"/>
          </a:xfrm>
          <a:prstGeom prst="rect">
            <a:avLst/>
          </a:prstGeom>
          <a:noFill/>
        </p:spPr>
        <p:txBody>
          <a:bodyPr wrap="square" rtlCol="0">
            <a:spAutoFit/>
          </a:bodyPr>
          <a:lstStyle/>
          <a:p>
            <a:r>
              <a:rPr lang="en-US" sz="3600" dirty="0"/>
              <a:t>“Sensitivity of T to 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43BB62-3D35-F3FD-2600-0126311C1A7D}"/>
                  </a:ext>
                </a:extLst>
              </p:cNvPr>
              <p:cNvSpPr txBox="1"/>
              <p:nvPr/>
            </p:nvSpPr>
            <p:spPr>
              <a:xfrm>
                <a:off x="8695393" y="3644412"/>
                <a:ext cx="2664069" cy="1200329"/>
              </a:xfrm>
              <a:prstGeom prst="rect">
                <a:avLst/>
              </a:prstGeom>
              <a:noFill/>
              <a:ln>
                <a:solidFill>
                  <a:schemeClr val="tx1"/>
                </a:solidFill>
              </a:ln>
            </p:spPr>
            <p:txBody>
              <a:bodyPr wrap="square" rtlCol="0">
                <a:spAutoFit/>
              </a:bodyPr>
              <a:lstStyle/>
              <a:p>
                <a:r>
                  <a:rPr lang="en-US" dirty="0"/>
                  <a:t>Can be done relative to the entire plant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or to specific parameters in the closed-loop system</a:t>
                </a:r>
              </a:p>
            </p:txBody>
          </p:sp>
        </mc:Choice>
        <mc:Fallback xmlns="">
          <p:sp>
            <p:nvSpPr>
              <p:cNvPr id="7" name="TextBox 6">
                <a:extLst>
                  <a:ext uri="{FF2B5EF4-FFF2-40B4-BE49-F238E27FC236}">
                    <a16:creationId xmlns:a16="http://schemas.microsoft.com/office/drawing/2014/main" id="{FF43BB62-3D35-F3FD-2600-0126311C1A7D}"/>
                  </a:ext>
                </a:extLst>
              </p:cNvPr>
              <p:cNvSpPr txBox="1">
                <a:spLocks noRot="1" noChangeAspect="1" noMove="1" noResize="1" noEditPoints="1" noAdjustHandles="1" noChangeArrowheads="1" noChangeShapeType="1" noTextEdit="1"/>
              </p:cNvSpPr>
              <p:nvPr/>
            </p:nvSpPr>
            <p:spPr>
              <a:xfrm>
                <a:off x="8695393" y="3644412"/>
                <a:ext cx="2664069" cy="1200329"/>
              </a:xfrm>
              <a:prstGeom prst="rect">
                <a:avLst/>
              </a:prstGeom>
              <a:blipFill>
                <a:blip r:embed="rId3"/>
                <a:stretch>
                  <a:fillRect l="-1595" t="-2010" r="-1595" b="-7035"/>
                </a:stretch>
              </a:blipFill>
              <a:ln>
                <a:solidFill>
                  <a:schemeClr val="tx1"/>
                </a:solidFill>
              </a:ln>
            </p:spPr>
            <p:txBody>
              <a:bodyPr/>
              <a:lstStyle/>
              <a:p>
                <a:r>
                  <a:rPr lang="en-US">
                    <a:noFill/>
                  </a:rPr>
                  <a:t> </a:t>
                </a:r>
              </a:p>
            </p:txBody>
          </p:sp>
        </mc:Fallback>
      </mc:AlternateContent>
    </p:spTree>
    <p:extLst>
      <p:ext uri="{BB962C8B-B14F-4D97-AF65-F5344CB8AC3E}">
        <p14:creationId xmlns:p14="http://schemas.microsoft.com/office/powerpoint/2010/main" val="34940411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15647E8-D01B-281C-8874-A75244FA0AD1}"/>
              </a:ext>
            </a:extLst>
          </p:cNvPr>
          <p:cNvSpPr>
            <a:spLocks noGrp="1"/>
          </p:cNvSpPr>
          <p:nvPr>
            <p:ph type="title"/>
          </p:nvPr>
        </p:nvSpPr>
        <p:spPr/>
        <p:txBody>
          <a:bodyPr/>
          <a:lstStyle/>
          <a:p>
            <a:r>
              <a:rPr lang="en-US" dirty="0"/>
              <a:t>Sensitivity</a:t>
            </a:r>
          </a:p>
        </p:txBody>
      </p:sp>
      <p:sp>
        <p:nvSpPr>
          <p:cNvPr id="2" name="TextBox 1">
            <a:extLst>
              <a:ext uri="{FF2B5EF4-FFF2-40B4-BE49-F238E27FC236}">
                <a16:creationId xmlns:a16="http://schemas.microsoft.com/office/drawing/2014/main" id="{5D260C9A-99D7-DD80-1DC0-1A1F58A5D09E}"/>
              </a:ext>
            </a:extLst>
          </p:cNvPr>
          <p:cNvSpPr txBox="1"/>
          <p:nvPr/>
        </p:nvSpPr>
        <p:spPr>
          <a:xfrm>
            <a:off x="563727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9A7CD1F-D119-28C8-0094-4E82911D867E}"/>
                  </a:ext>
                </a:extLst>
              </p:cNvPr>
              <p:cNvSpPr txBox="1"/>
              <p:nvPr/>
            </p:nvSpPr>
            <p:spPr>
              <a:xfrm>
                <a:off x="-1003554" y="1546987"/>
                <a:ext cx="6243066" cy="284962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𝑅</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𝑆</m:t>
                          </m:r>
                        </m:e>
                        <m:sub>
                          <m:r>
                            <a:rPr lang="en-US" sz="2400" b="0" i="1" smtClean="0">
                              <a:latin typeface="Cambria Math" panose="02040503050406030204" pitchFamily="18" charset="0"/>
                            </a:rPr>
                            <m:t>𝐿</m:t>
                          </m:r>
                        </m:sub>
                        <m:sup>
                          <m:r>
                            <a:rPr lang="en-US" sz="2400" b="0" i="1" smtClean="0">
                              <a:latin typeface="Cambria Math" panose="02040503050406030204" pitchFamily="18" charset="0"/>
                            </a:rPr>
                            <m:t>𝑇</m:t>
                          </m:r>
                        </m:sup>
                      </m:sSubSup>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𝑠𝐿</m:t>
                          </m:r>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𝐷</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endParaRPr lang="en-US" sz="2400" dirty="0"/>
              </a:p>
            </p:txBody>
          </p:sp>
        </mc:Choice>
        <mc:Fallback xmlns="">
          <p:sp>
            <p:nvSpPr>
              <p:cNvPr id="4" name="TextBox 3">
                <a:extLst>
                  <a:ext uri="{FF2B5EF4-FFF2-40B4-BE49-F238E27FC236}">
                    <a16:creationId xmlns:a16="http://schemas.microsoft.com/office/drawing/2014/main" id="{D9A7CD1F-D119-28C8-0094-4E82911D867E}"/>
                  </a:ext>
                </a:extLst>
              </p:cNvPr>
              <p:cNvSpPr txBox="1">
                <a:spLocks noRot="1" noChangeAspect="1" noMove="1" noResize="1" noEditPoints="1" noAdjustHandles="1" noChangeArrowheads="1" noChangeShapeType="1" noTextEdit="1"/>
              </p:cNvSpPr>
              <p:nvPr/>
            </p:nvSpPr>
            <p:spPr>
              <a:xfrm>
                <a:off x="-1003554" y="1546987"/>
                <a:ext cx="6243066" cy="284962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681706-545C-F9C4-0738-F05EF11F5B56}"/>
                  </a:ext>
                </a:extLst>
              </p:cNvPr>
              <p:cNvSpPr txBox="1"/>
              <p:nvPr/>
            </p:nvSpPr>
            <p:spPr>
              <a:xfrm>
                <a:off x="838200" y="4330360"/>
                <a:ext cx="1395603" cy="196130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𝑅</m:t>
                          </m:r>
                        </m:num>
                        <m:den>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den>
                      </m:f>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p:txBody>
          </p:sp>
        </mc:Choice>
        <mc:Fallback xmlns="">
          <p:sp>
            <p:nvSpPr>
              <p:cNvPr id="6" name="TextBox 5">
                <a:extLst>
                  <a:ext uri="{FF2B5EF4-FFF2-40B4-BE49-F238E27FC236}">
                    <a16:creationId xmlns:a16="http://schemas.microsoft.com/office/drawing/2014/main" id="{25681706-545C-F9C4-0738-F05EF11F5B56}"/>
                  </a:ext>
                </a:extLst>
              </p:cNvPr>
              <p:cNvSpPr txBox="1">
                <a:spLocks noRot="1" noChangeAspect="1" noMove="1" noResize="1" noEditPoints="1" noAdjustHandles="1" noChangeArrowheads="1" noChangeShapeType="1" noTextEdit="1"/>
              </p:cNvSpPr>
              <p:nvPr/>
            </p:nvSpPr>
            <p:spPr>
              <a:xfrm>
                <a:off x="838200" y="4330360"/>
                <a:ext cx="1395603" cy="1961306"/>
              </a:xfrm>
              <a:prstGeom prst="rect">
                <a:avLst/>
              </a:prstGeom>
              <a:blipFill>
                <a:blip r:embed="rId3"/>
                <a:stretch>
                  <a:fillRect b="-15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45B785C-3E7E-47DB-B436-8AAC17C038FE}"/>
                  </a:ext>
                </a:extLst>
              </p:cNvPr>
              <p:cNvSpPr txBox="1"/>
              <p:nvPr/>
            </p:nvSpPr>
            <p:spPr>
              <a:xfrm>
                <a:off x="5637276" y="1690688"/>
                <a:ext cx="1957715" cy="22745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𝑅</m:t>
                      </m:r>
                      <m:r>
                        <a:rPr lang="en-US" sz="2400" b="0" i="1" smtClean="0">
                          <a:latin typeface="Cambria Math" panose="02040503050406030204" pitchFamily="18" charset="0"/>
                        </a:rPr>
                        <m:t>=0.08233</m:t>
                      </m:r>
                      <m:r>
                        <m:rPr>
                          <m:sty m:val="p"/>
                        </m:rPr>
                        <a:rPr lang="el-GR" sz="2400" b="0" i="1" smtClean="0">
                          <a:latin typeface="Cambria Math" panose="02040503050406030204" pitchFamily="18" charset="0"/>
                          <a:ea typeface="Cambria Math" panose="02040503050406030204" pitchFamily="18" charset="0"/>
                        </a:rPr>
                        <m:t>Ω</m:t>
                      </m:r>
                    </m:oMath>
                  </m:oMathPara>
                </a14:m>
                <a:endParaRPr lang="en-US" sz="2400" b="0"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r>
                        <a:rPr lang="en-US" sz="2400" b="0" i="1" smtClean="0">
                          <a:latin typeface="Cambria Math" panose="02040503050406030204" pitchFamily="18" charset="0"/>
                        </a:rPr>
                        <m:t>=24</m:t>
                      </m:r>
                      <m:r>
                        <a:rPr lang="en-US" sz="2400" b="0" i="1" smtClean="0">
                          <a:latin typeface="Cambria Math" panose="02040503050406030204" pitchFamily="18" charset="0"/>
                        </a:rPr>
                        <m:t>𝑉</m:t>
                      </m:r>
                    </m:oMath>
                  </m:oMathPara>
                </a14:m>
                <a:endParaRPr lang="en-US" sz="2400" b="0" dirty="0"/>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𝐿</m:t>
                      </m:r>
                      <m:r>
                        <a:rPr lang="en-US" sz="2400" b="0" i="1" smtClean="0">
                          <a:latin typeface="Cambria Math" panose="02040503050406030204" pitchFamily="18" charset="0"/>
                        </a:rPr>
                        <m:t>=28.306</m:t>
                      </m:r>
                      <m:r>
                        <a:rPr lang="en-US" sz="2400" b="0" i="1" smtClean="0">
                          <a:latin typeface="Cambria Math" panose="02040503050406030204" pitchFamily="18" charset="0"/>
                          <a:ea typeface="Cambria Math" panose="02040503050406030204" pitchFamily="18" charset="0"/>
                        </a:rPr>
                        <m:t>𝜇</m:t>
                      </m:r>
                      <m:r>
                        <a:rPr lang="en-US" sz="2400" b="0" i="1" smtClean="0">
                          <a:latin typeface="Cambria Math" panose="02040503050406030204" pitchFamily="18" charset="0"/>
                          <a:ea typeface="Cambria Math" panose="02040503050406030204" pitchFamily="18" charset="0"/>
                        </a:rPr>
                        <m:t>𝐹</m:t>
                      </m:r>
                    </m:oMath>
                  </m:oMathPara>
                </a14:m>
                <a:endParaRPr lang="en-US" sz="2400" b="0"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𝑝</m:t>
                          </m:r>
                        </m:sub>
                      </m:sSub>
                      <m:r>
                        <a:rPr lang="en-US" sz="2400" b="0" i="1" smtClean="0">
                          <a:latin typeface="Cambria Math" panose="02040503050406030204" pitchFamily="18" charset="0"/>
                        </a:rPr>
                        <m:t>=2.13422</m:t>
                      </m:r>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𝐾</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=6207.54</m:t>
                      </m:r>
                    </m:oMath>
                  </m:oMathPara>
                </a14:m>
                <a:endParaRPr lang="en-US" sz="2400" b="0" dirty="0"/>
              </a:p>
              <a:p>
                <a:endParaRPr lang="en-US" sz="2400" dirty="0"/>
              </a:p>
            </p:txBody>
          </p:sp>
        </mc:Choice>
        <mc:Fallback xmlns="">
          <p:sp>
            <p:nvSpPr>
              <p:cNvPr id="7" name="TextBox 6">
                <a:extLst>
                  <a:ext uri="{FF2B5EF4-FFF2-40B4-BE49-F238E27FC236}">
                    <a16:creationId xmlns:a16="http://schemas.microsoft.com/office/drawing/2014/main" id="{B45B785C-3E7E-47DB-B436-8AAC17C038FE}"/>
                  </a:ext>
                </a:extLst>
              </p:cNvPr>
              <p:cNvSpPr txBox="1">
                <a:spLocks noRot="1" noChangeAspect="1" noMove="1" noResize="1" noEditPoints="1" noAdjustHandles="1" noChangeArrowheads="1" noChangeShapeType="1" noTextEdit="1"/>
              </p:cNvSpPr>
              <p:nvPr/>
            </p:nvSpPr>
            <p:spPr>
              <a:xfrm>
                <a:off x="5637276" y="1690688"/>
                <a:ext cx="1957715" cy="2274597"/>
              </a:xfrm>
              <a:prstGeom prst="rect">
                <a:avLst/>
              </a:prstGeom>
              <a:blipFill>
                <a:blip r:embed="rId4"/>
                <a:stretch>
                  <a:fillRect l="-3427" r="-3427"/>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11A48824-CAE8-9513-0163-F478020AC08D}"/>
              </a:ext>
            </a:extLst>
          </p:cNvPr>
          <p:cNvSpPr txBox="1"/>
          <p:nvPr/>
        </p:nvSpPr>
        <p:spPr>
          <a:xfrm>
            <a:off x="5134356" y="2971800"/>
            <a:ext cx="65" cy="276999"/>
          </a:xfrm>
          <a:prstGeom prst="rect">
            <a:avLst/>
          </a:prstGeom>
          <a:noFill/>
        </p:spPr>
        <p:txBody>
          <a:bodyPr wrap="none" lIns="0" tIns="0" rIns="0" bIns="0" rtlCol="0">
            <a:spAutoFit/>
          </a:bodyPr>
          <a:lstStyle/>
          <a:p>
            <a:endParaRPr 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394ADEE-F7B5-EAFC-D0F3-8DD32E5FD6A5}"/>
                  </a:ext>
                </a:extLst>
              </p:cNvPr>
              <p:cNvSpPr txBox="1"/>
              <p:nvPr/>
            </p:nvSpPr>
            <p:spPr>
              <a:xfrm>
                <a:off x="3425381" y="4330360"/>
                <a:ext cx="6633972" cy="164865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𝑉</m:t>
                              </m:r>
                            </m:e>
                            <m:sub>
                              <m:r>
                                <a:rPr lang="en-US" sz="2400" b="0" i="1" smtClean="0">
                                  <a:latin typeface="Cambria Math" panose="02040503050406030204" pitchFamily="18" charset="0"/>
                                </a:rPr>
                                <m:t>𝑔</m:t>
                              </m:r>
                            </m:sub>
                          </m:sSub>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𝑅</m:t>
                          </m:r>
                        </m:sub>
                      </m:sSub>
                      <m:r>
                        <a:rPr lang="en-US" sz="2400" b="0" i="1" smtClean="0">
                          <a:latin typeface="Cambria Math" panose="02040503050406030204" pitchFamily="18" charset="0"/>
                        </a:rPr>
                        <m:t>=0.55262∗</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m:oMathPara>
                </a14:m>
                <a:endParaRPr lang="en-US" sz="2400" b="0" dirty="0"/>
              </a:p>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𝐸</m:t>
                          </m:r>
                        </m:e>
                        <m:sub>
                          <m:r>
                            <a:rPr lang="en-US" sz="2400" b="0" i="1" smtClean="0">
                              <a:latin typeface="Cambria Math" panose="02040503050406030204" pitchFamily="18" charset="0"/>
                            </a:rPr>
                            <m:t>𝐿</m:t>
                          </m:r>
                        </m:sub>
                      </m:sSub>
                      <m:r>
                        <a:rPr lang="en-US" sz="2400" b="0" i="1" smtClean="0">
                          <a:latin typeface="Cambria Math" panose="02040503050406030204" pitchFamily="18" charset="0"/>
                        </a:rPr>
                        <m:t>=0</m:t>
                      </m:r>
                    </m:oMath>
                  </m:oMathPara>
                </a14:m>
                <a:endParaRPr lang="en-US" sz="2400" b="0" dirty="0"/>
              </a:p>
              <a:p>
                <a:endParaRPr lang="en-US" sz="2400" dirty="0"/>
              </a:p>
            </p:txBody>
          </p:sp>
        </mc:Choice>
        <mc:Fallback xmlns="">
          <p:sp>
            <p:nvSpPr>
              <p:cNvPr id="10" name="TextBox 9">
                <a:extLst>
                  <a:ext uri="{FF2B5EF4-FFF2-40B4-BE49-F238E27FC236}">
                    <a16:creationId xmlns:a16="http://schemas.microsoft.com/office/drawing/2014/main" id="{0394ADEE-F7B5-EAFC-D0F3-8DD32E5FD6A5}"/>
                  </a:ext>
                </a:extLst>
              </p:cNvPr>
              <p:cNvSpPr txBox="1">
                <a:spLocks noRot="1" noChangeAspect="1" noMove="1" noResize="1" noEditPoints="1" noAdjustHandles="1" noChangeArrowheads="1" noChangeShapeType="1" noTextEdit="1"/>
              </p:cNvSpPr>
              <p:nvPr/>
            </p:nvSpPr>
            <p:spPr>
              <a:xfrm>
                <a:off x="3425381" y="4330360"/>
                <a:ext cx="6633972" cy="164865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7820437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4">
            <a:extLst>
              <a:ext uri="{FF2B5EF4-FFF2-40B4-BE49-F238E27FC236}">
                <a16:creationId xmlns:a16="http://schemas.microsoft.com/office/drawing/2014/main" id="{DE4739F1-6FA1-044B-350E-5337769C1EA3}"/>
              </a:ext>
            </a:extLst>
          </p:cNvPr>
          <p:cNvSpPr>
            <a:spLocks noGrp="1"/>
          </p:cNvSpPr>
          <p:nvPr>
            <p:ph type="title"/>
          </p:nvPr>
        </p:nvSpPr>
        <p:spPr>
          <a:xfrm>
            <a:off x="838200" y="365125"/>
            <a:ext cx="10515600" cy="1325563"/>
          </a:xfrm>
        </p:spPr>
        <p:txBody>
          <a:bodyPr/>
          <a:lstStyle/>
          <a:p>
            <a:r>
              <a:rPr lang="en-US" dirty="0"/>
              <a:t>Sensor White Noise Noise</a:t>
            </a:r>
          </a:p>
        </p:txBody>
      </p:sp>
      <p:sp>
        <p:nvSpPr>
          <p:cNvPr id="4" name="TextBox 3">
            <a:extLst>
              <a:ext uri="{FF2B5EF4-FFF2-40B4-BE49-F238E27FC236}">
                <a16:creationId xmlns:a16="http://schemas.microsoft.com/office/drawing/2014/main" id="{019A21D5-DEBD-8323-DAE5-52F324203A55}"/>
              </a:ext>
            </a:extLst>
          </p:cNvPr>
          <p:cNvSpPr txBox="1"/>
          <p:nvPr/>
        </p:nvSpPr>
        <p:spPr>
          <a:xfrm>
            <a:off x="838200" y="1472184"/>
            <a:ext cx="5824728" cy="646331"/>
          </a:xfrm>
          <a:prstGeom prst="rect">
            <a:avLst/>
          </a:prstGeom>
          <a:noFill/>
        </p:spPr>
        <p:txBody>
          <a:bodyPr wrap="square" rtlCol="0">
            <a:spAutoFit/>
          </a:bodyPr>
          <a:lstStyle/>
          <a:p>
            <a:r>
              <a:rPr lang="en-US" dirty="0"/>
              <a:t>It was empirically found that the MSPM0-G3507 12-bit ADC’s error has SD of 14 (decimal).</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1C19354B-340F-BB69-2C4A-4EF8E4414CA4}"/>
                  </a:ext>
                </a:extLst>
              </p:cNvPr>
              <p:cNvSpPr txBox="1"/>
              <p:nvPr/>
            </p:nvSpPr>
            <p:spPr>
              <a:xfrm>
                <a:off x="838200" y="2118515"/>
                <a:ext cx="4950330" cy="75866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𝐸</m:t>
                              </m:r>
                            </m:sub>
                          </m:sSub>
                        </m:e>
                        <m:sub>
                          <m:r>
                            <a:rPr lang="en-US" sz="2400" b="0" i="1" smtClean="0">
                              <a:latin typeface="Cambria Math" panose="02040503050406030204" pitchFamily="18" charset="0"/>
                            </a:rPr>
                            <m:t>𝑟𝑒𝑎𝑑𝑖𝑛𝑔</m:t>
                          </m:r>
                          <m:r>
                            <a:rPr lang="en-US" sz="2400" b="0" i="1" smtClean="0">
                              <a:latin typeface="Cambria Math" panose="02040503050406030204" pitchFamily="18" charset="0"/>
                            </a:rPr>
                            <m:t> </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𝑔𝑎𝑖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𝑠𝑒𝑛𝑠𝑜𝑟</m:t>
                              </m:r>
                            </m:sub>
                          </m:sSub>
                        </m:den>
                      </m:f>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3.3</m:t>
                          </m:r>
                        </m:num>
                        <m:den>
                          <m:r>
                            <a:rPr lang="en-US" sz="2400" b="0" i="1" smtClean="0">
                              <a:latin typeface="Cambria Math" panose="02040503050406030204" pitchFamily="18" charset="0"/>
                            </a:rPr>
                            <m:t>4095</m:t>
                          </m:r>
                        </m:den>
                      </m:f>
                      <m:r>
                        <a:rPr lang="en-US" sz="2400" b="0" i="1" smtClean="0">
                          <a:latin typeface="Cambria Math" panose="02040503050406030204" pitchFamily="18" charset="0"/>
                        </a:rPr>
                        <m:t>∗14</m:t>
                      </m:r>
                    </m:oMath>
                  </m:oMathPara>
                </a14:m>
                <a:endParaRPr lang="en-US" sz="2400" dirty="0"/>
              </a:p>
            </p:txBody>
          </p:sp>
        </mc:Choice>
        <mc:Fallback>
          <p:sp>
            <p:nvSpPr>
              <p:cNvPr id="5" name="TextBox 4">
                <a:extLst>
                  <a:ext uri="{FF2B5EF4-FFF2-40B4-BE49-F238E27FC236}">
                    <a16:creationId xmlns:a16="http://schemas.microsoft.com/office/drawing/2014/main" id="{1C19354B-340F-BB69-2C4A-4EF8E4414CA4}"/>
                  </a:ext>
                </a:extLst>
              </p:cNvPr>
              <p:cNvSpPr txBox="1">
                <a:spLocks noRot="1" noChangeAspect="1" noMove="1" noResize="1" noEditPoints="1" noAdjustHandles="1" noChangeArrowheads="1" noChangeShapeType="1" noTextEdit="1"/>
              </p:cNvSpPr>
              <p:nvPr/>
            </p:nvSpPr>
            <p:spPr>
              <a:xfrm>
                <a:off x="838200" y="2118515"/>
                <a:ext cx="4950330" cy="75866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8867713-DE91-A761-1995-ECF1F8329426}"/>
                  </a:ext>
                </a:extLst>
              </p:cNvPr>
              <p:cNvSpPr txBox="1"/>
              <p:nvPr/>
            </p:nvSpPr>
            <p:spPr>
              <a:xfrm>
                <a:off x="928116" y="3529584"/>
                <a:ext cx="4452309" cy="52046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𝐼𝑛𝑑𝑢𝑐𝑡𝑜𝑟</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1000 </m:t>
                          </m:r>
                          <m:r>
                            <a:rPr lang="en-US" b="0" i="1" smtClean="0">
                              <a:latin typeface="Cambria Math" panose="02040503050406030204" pitchFamily="18" charset="0"/>
                            </a:rPr>
                            <m:t>𝐴</m:t>
                          </m:r>
                        </m:num>
                        <m:den>
                          <m:r>
                            <a:rPr lang="en-US" b="0" i="1" smtClean="0">
                              <a:latin typeface="Cambria Math" panose="02040503050406030204" pitchFamily="18" charset="0"/>
                            </a:rPr>
                            <m:t>80 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∗14=0.141 </m:t>
                      </m:r>
                      <m:r>
                        <a:rPr lang="en-US" b="0" i="1" smtClean="0">
                          <a:latin typeface="Cambria Math" panose="02040503050406030204" pitchFamily="18" charset="0"/>
                        </a:rPr>
                        <m:t>𝐴</m:t>
                      </m:r>
                    </m:oMath>
                  </m:oMathPara>
                </a14:m>
                <a:endParaRPr lang="en-US" dirty="0"/>
              </a:p>
            </p:txBody>
          </p:sp>
        </mc:Choice>
        <mc:Fallback>
          <p:sp>
            <p:nvSpPr>
              <p:cNvPr id="6" name="TextBox 5">
                <a:extLst>
                  <a:ext uri="{FF2B5EF4-FFF2-40B4-BE49-F238E27FC236}">
                    <a16:creationId xmlns:a16="http://schemas.microsoft.com/office/drawing/2014/main" id="{18867713-DE91-A761-1995-ECF1F8329426}"/>
                  </a:ext>
                </a:extLst>
              </p:cNvPr>
              <p:cNvSpPr txBox="1">
                <a:spLocks noRot="1" noChangeAspect="1" noMove="1" noResize="1" noEditPoints="1" noAdjustHandles="1" noChangeArrowheads="1" noChangeShapeType="1" noTextEdit="1"/>
              </p:cNvSpPr>
              <p:nvPr/>
            </p:nvSpPr>
            <p:spPr>
              <a:xfrm>
                <a:off x="928116" y="3529584"/>
                <a:ext cx="4452309" cy="52046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93E622B5-E517-13D6-2F2A-3D05F0662FF9}"/>
                  </a:ext>
                </a:extLst>
              </p:cNvPr>
              <p:cNvSpPr txBox="1"/>
              <p:nvPr/>
            </p:nvSpPr>
            <p:spPr>
              <a:xfrm>
                <a:off x="928116" y="4181984"/>
                <a:ext cx="4508414" cy="52046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𝐵𝑎𝑡𝑡𝑒𝑟𝑦</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1000 </m:t>
                          </m:r>
                          <m:r>
                            <a:rPr lang="en-US" b="0" i="1" smtClean="0">
                              <a:latin typeface="Cambria Math" panose="02040503050406030204" pitchFamily="18" charset="0"/>
                            </a:rPr>
                            <m:t>𝐴</m:t>
                          </m:r>
                        </m:num>
                        <m:den>
                          <m:r>
                            <a:rPr lang="en-US" b="0" i="1" smtClean="0">
                              <a:latin typeface="Cambria Math" panose="02040503050406030204" pitchFamily="18" charset="0"/>
                            </a:rPr>
                            <m:t>132 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∗14=0.0855 </m:t>
                      </m:r>
                      <m:r>
                        <a:rPr lang="en-US" b="0" i="1" smtClean="0">
                          <a:latin typeface="Cambria Math" panose="02040503050406030204" pitchFamily="18" charset="0"/>
                        </a:rPr>
                        <m:t>𝐴</m:t>
                      </m:r>
                    </m:oMath>
                  </m:oMathPara>
                </a14:m>
                <a:endParaRPr lang="en-US" dirty="0"/>
              </a:p>
            </p:txBody>
          </p:sp>
        </mc:Choice>
        <mc:Fallback>
          <p:sp>
            <p:nvSpPr>
              <p:cNvPr id="7" name="TextBox 6">
                <a:extLst>
                  <a:ext uri="{FF2B5EF4-FFF2-40B4-BE49-F238E27FC236}">
                    <a16:creationId xmlns:a16="http://schemas.microsoft.com/office/drawing/2014/main" id="{93E622B5-E517-13D6-2F2A-3D05F0662FF9}"/>
                  </a:ext>
                </a:extLst>
              </p:cNvPr>
              <p:cNvSpPr txBox="1">
                <a:spLocks noRot="1" noChangeAspect="1" noMove="1" noResize="1" noEditPoints="1" noAdjustHandles="1" noChangeArrowheads="1" noChangeShapeType="1" noTextEdit="1"/>
              </p:cNvSpPr>
              <p:nvPr/>
            </p:nvSpPr>
            <p:spPr>
              <a:xfrm>
                <a:off x="928116" y="4181984"/>
                <a:ext cx="4508414" cy="52046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77FAEE5F-65E7-902E-F2C3-73D031A359C6}"/>
                  </a:ext>
                </a:extLst>
              </p:cNvPr>
              <p:cNvSpPr txBox="1"/>
              <p:nvPr/>
            </p:nvSpPr>
            <p:spPr>
              <a:xfrm>
                <a:off x="928116" y="4834384"/>
                <a:ext cx="4433586" cy="52046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𝐶𝑎𝑝𝑎𝑐𝑖𝑡𝑜𝑟</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10 </m:t>
                          </m:r>
                          <m:r>
                            <a:rPr lang="en-US" b="0" i="1" smtClean="0">
                              <a:latin typeface="Cambria Math" panose="02040503050406030204" pitchFamily="18" charset="0"/>
                            </a:rPr>
                            <m:t>𝑉</m:t>
                          </m:r>
                        </m:num>
                        <m:den>
                          <m:r>
                            <a:rPr lang="en-US" b="0" i="1" smtClean="0">
                              <a:latin typeface="Cambria Math" panose="02040503050406030204" pitchFamily="18" charset="0"/>
                            </a:rPr>
                            <m:t>11 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∗14=0.0103 </m:t>
                      </m:r>
                      <m:r>
                        <a:rPr lang="en-US" b="0" i="1" smtClean="0">
                          <a:latin typeface="Cambria Math" panose="02040503050406030204" pitchFamily="18" charset="0"/>
                        </a:rPr>
                        <m:t>𝑉</m:t>
                      </m:r>
                    </m:oMath>
                  </m:oMathPara>
                </a14:m>
                <a:endParaRPr lang="en-US" dirty="0"/>
              </a:p>
            </p:txBody>
          </p:sp>
        </mc:Choice>
        <mc:Fallback>
          <p:sp>
            <p:nvSpPr>
              <p:cNvPr id="8" name="TextBox 7">
                <a:extLst>
                  <a:ext uri="{FF2B5EF4-FFF2-40B4-BE49-F238E27FC236}">
                    <a16:creationId xmlns:a16="http://schemas.microsoft.com/office/drawing/2014/main" id="{77FAEE5F-65E7-902E-F2C3-73D031A359C6}"/>
                  </a:ext>
                </a:extLst>
              </p:cNvPr>
              <p:cNvSpPr txBox="1">
                <a:spLocks noRot="1" noChangeAspect="1" noMove="1" noResize="1" noEditPoints="1" noAdjustHandles="1" noChangeArrowheads="1" noChangeShapeType="1" noTextEdit="1"/>
              </p:cNvSpPr>
              <p:nvPr/>
            </p:nvSpPr>
            <p:spPr>
              <a:xfrm>
                <a:off x="928116" y="4834384"/>
                <a:ext cx="4433586" cy="52046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E2491624-E69F-3EA5-2CD4-EC2C0B4F562D}"/>
                  </a:ext>
                </a:extLst>
              </p:cNvPr>
              <p:cNvSpPr txBox="1"/>
              <p:nvPr/>
            </p:nvSpPr>
            <p:spPr>
              <a:xfrm>
                <a:off x="928116" y="5486784"/>
                <a:ext cx="4159472" cy="52046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𝑆</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𝑣</m:t>
                              </m:r>
                              <m:r>
                                <a:rPr lang="en-US" b="0" i="1" smtClean="0">
                                  <a:latin typeface="Cambria Math" panose="02040503050406030204" pitchFamily="18" charset="0"/>
                                </a:rPr>
                                <m:t>,</m:t>
                              </m:r>
                              <m:r>
                                <a:rPr lang="en-US" b="0" i="1" smtClean="0">
                                  <a:latin typeface="Cambria Math" panose="02040503050406030204" pitchFamily="18" charset="0"/>
                                </a:rPr>
                                <m:t>𝐵𝑎𝑡𝑡𝑒𝑟𝑦</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8 </m:t>
                          </m:r>
                          <m:r>
                            <a:rPr lang="en-US" b="0" i="1" smtClean="0">
                              <a:latin typeface="Cambria Math" panose="02040503050406030204" pitchFamily="18" charset="0"/>
                            </a:rPr>
                            <m:t>𝑉</m:t>
                          </m:r>
                        </m:num>
                        <m:den>
                          <m:r>
                            <a:rPr lang="en-US" b="0" i="1" smtClean="0">
                              <a:latin typeface="Cambria Math" panose="02040503050406030204" pitchFamily="18" charset="0"/>
                            </a:rPr>
                            <m:t>1 </m:t>
                          </m:r>
                          <m:r>
                            <a:rPr lang="en-US" b="0" i="1" smtClean="0">
                              <a:latin typeface="Cambria Math" panose="02040503050406030204" pitchFamily="18" charset="0"/>
                            </a:rPr>
                            <m:t>𝑉</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3.3 </m:t>
                          </m:r>
                          <m:r>
                            <a:rPr lang="en-US" b="0" i="1" smtClean="0">
                              <a:latin typeface="Cambria Math" panose="02040503050406030204" pitchFamily="18" charset="0"/>
                            </a:rPr>
                            <m:t>𝑉</m:t>
                          </m:r>
                        </m:num>
                        <m:den>
                          <m:r>
                            <a:rPr lang="en-US" b="0" i="1" smtClean="0">
                              <a:latin typeface="Cambria Math" panose="02040503050406030204" pitchFamily="18" charset="0"/>
                            </a:rPr>
                            <m:t>4095</m:t>
                          </m:r>
                        </m:den>
                      </m:f>
                      <m:r>
                        <a:rPr lang="en-US" b="0" i="1" smtClean="0">
                          <a:latin typeface="Cambria Math" panose="02040503050406030204" pitchFamily="18" charset="0"/>
                        </a:rPr>
                        <m:t>∗14=0.0903 </m:t>
                      </m:r>
                      <m:r>
                        <a:rPr lang="en-US" b="0" i="1" smtClean="0">
                          <a:latin typeface="Cambria Math" panose="02040503050406030204" pitchFamily="18" charset="0"/>
                        </a:rPr>
                        <m:t>𝑉</m:t>
                      </m:r>
                    </m:oMath>
                  </m:oMathPara>
                </a14:m>
                <a:endParaRPr lang="en-US" dirty="0"/>
              </a:p>
            </p:txBody>
          </p:sp>
        </mc:Choice>
        <mc:Fallback>
          <p:sp>
            <p:nvSpPr>
              <p:cNvPr id="9" name="TextBox 8">
                <a:extLst>
                  <a:ext uri="{FF2B5EF4-FFF2-40B4-BE49-F238E27FC236}">
                    <a16:creationId xmlns:a16="http://schemas.microsoft.com/office/drawing/2014/main" id="{E2491624-E69F-3EA5-2CD4-EC2C0B4F562D}"/>
                  </a:ext>
                </a:extLst>
              </p:cNvPr>
              <p:cNvSpPr txBox="1">
                <a:spLocks noRot="1" noChangeAspect="1" noMove="1" noResize="1" noEditPoints="1" noAdjustHandles="1" noChangeArrowheads="1" noChangeShapeType="1" noTextEdit="1"/>
              </p:cNvSpPr>
              <p:nvPr/>
            </p:nvSpPr>
            <p:spPr>
              <a:xfrm>
                <a:off x="928116" y="5486784"/>
                <a:ext cx="4159472" cy="520463"/>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91951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3024</TotalTime>
  <Words>2940</Words>
  <Application>Microsoft Office PowerPoint</Application>
  <PresentationFormat>Widescreen</PresentationFormat>
  <Paragraphs>355</Paragraphs>
  <Slides>29</Slides>
  <Notes>0</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29</vt:i4>
      </vt:variant>
    </vt:vector>
  </HeadingPairs>
  <TitlesOfParts>
    <vt:vector size="36" baseType="lpstr">
      <vt:lpstr>Aptos</vt:lpstr>
      <vt:lpstr>Aptos Display</vt:lpstr>
      <vt:lpstr>Arial</vt:lpstr>
      <vt:lpstr>Cambria Math</vt:lpstr>
      <vt:lpstr>Courier New</vt:lpstr>
      <vt:lpstr>Office Theme</vt:lpstr>
      <vt:lpstr>Packager Shell Object</vt:lpstr>
      <vt:lpstr>UT Robomasters – Supercap Power Stage Modeling</vt:lpstr>
      <vt:lpstr>PLECS Analysis: Toy Models</vt:lpstr>
      <vt:lpstr>List of Topics Relevant to This Presentation</vt:lpstr>
      <vt:lpstr>Section 1: Basics of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Addendum: On Feed-Forward Systems</vt:lpstr>
      <vt:lpstr>Section 2: Reverse Charging and Boost Mode</vt:lpstr>
      <vt:lpstr>Overall System Review: Reverse Charging</vt:lpstr>
      <vt:lpstr>Reverse Charging: Maximum Reverse Current</vt:lpstr>
      <vt:lpstr>Maximum Reverse Current, Continued</vt:lpstr>
      <vt:lpstr>Maximum Reverse Current, Continued</vt:lpstr>
      <vt:lpstr>Reverse Current – Control Schema</vt:lpstr>
      <vt:lpstr>Section 3: Disturbance Rejection &amp; Robustness</vt:lpstr>
      <vt:lpstr>Sources of Inaccuracies: Examples</vt:lpstr>
      <vt:lpstr>Disturbance Rejection - Noise</vt:lpstr>
      <vt:lpstr>Disturbance Rejection – Full Model</vt:lpstr>
      <vt:lpstr>Model Robustness - Sensitivity</vt:lpstr>
      <vt:lpstr>Sensitivity</vt:lpstr>
      <vt:lpstr>Sensor White Noise Noise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Yeap, Timothy D</cp:lastModifiedBy>
  <cp:revision>21</cp:revision>
  <dcterms:created xsi:type="dcterms:W3CDTF">2026-03-11T16:16:20Z</dcterms:created>
  <dcterms:modified xsi:type="dcterms:W3CDTF">2026-03-29T22:51:13Z</dcterms:modified>
</cp:coreProperties>
</file>