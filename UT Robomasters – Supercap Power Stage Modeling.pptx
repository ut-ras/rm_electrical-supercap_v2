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55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61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03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362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05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2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55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272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6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143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25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5691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D478F-B618-A8F3-2C35-06BD5544D3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UT </a:t>
            </a:r>
            <a:r>
              <a:rPr lang="en-US" dirty="0" err="1"/>
              <a:t>Robomasters</a:t>
            </a:r>
            <a:r>
              <a:rPr lang="en-US" dirty="0"/>
              <a:t> – </a:t>
            </a:r>
            <a:r>
              <a:rPr lang="en-US" dirty="0" err="1"/>
              <a:t>Supercap</a:t>
            </a:r>
            <a:r>
              <a:rPr lang="en-US" dirty="0"/>
              <a:t> Power Stage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A6C19F-7071-1C1F-0412-FB8090E6E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Egan Wang (ew23776)</a:t>
            </a:r>
          </a:p>
        </p:txBody>
      </p:sp>
    </p:spTree>
    <p:extLst>
      <p:ext uri="{BB962C8B-B14F-4D97-AF65-F5344CB8AC3E}">
        <p14:creationId xmlns:p14="http://schemas.microsoft.com/office/powerpoint/2010/main" val="3230319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5A745-7BF0-A1B6-7231-174460A9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Topology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630530-B4E1-DE36-661C-8CD0B56A1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b="1" dirty="0"/>
              <a:t>H-Bridge Converter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 switches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 half-bridges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Full-bridge analogue to buck converter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Voltage across switched nodes can be +Vg, 0, or +Vg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F0BA4D-E20B-F2DC-E856-D9099C36F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489" y="175000"/>
            <a:ext cx="6019723" cy="3059633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4A270B61-CF52-FA0E-48FD-88C2FDA36CCD}"/>
              </a:ext>
            </a:extLst>
          </p:cNvPr>
          <p:cNvGrpSpPr/>
          <p:nvPr/>
        </p:nvGrpSpPr>
        <p:grpSpPr>
          <a:xfrm>
            <a:off x="5878896" y="3690873"/>
            <a:ext cx="4926905" cy="2702023"/>
            <a:chOff x="5934734" y="3531668"/>
            <a:chExt cx="4926905" cy="2702023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B7CBCB-BE40-404D-EE09-4D39BB8ED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734" y="3584846"/>
              <a:ext cx="2170222" cy="1277897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FAEE1E0-D71F-9794-65C3-5873E2323545}"/>
                </a:ext>
              </a:extLst>
            </p:cNvPr>
            <p:cNvGrpSpPr/>
            <p:nvPr/>
          </p:nvGrpSpPr>
          <p:grpSpPr>
            <a:xfrm>
              <a:off x="6519084" y="3736366"/>
              <a:ext cx="142595" cy="490604"/>
              <a:chOff x="6320118" y="3683188"/>
              <a:chExt cx="142595" cy="490604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A60AACF8-4161-A0B9-A70B-F6449D87CF1F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ECE47650-A04B-6D70-94D8-E2E7F64E4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C0334D8-2C23-298D-043B-1F8A8AB9100C}"/>
                </a:ext>
              </a:extLst>
            </p:cNvPr>
            <p:cNvGrpSpPr/>
            <p:nvPr/>
          </p:nvGrpSpPr>
          <p:grpSpPr>
            <a:xfrm rot="10800000">
              <a:off x="7679017" y="4202033"/>
              <a:ext cx="142595" cy="490604"/>
              <a:chOff x="6320118" y="3683188"/>
              <a:chExt cx="142595" cy="49060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30780A4-D992-86E3-0C32-DB60CEF42F77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E2653BE3-787B-5D05-D1D2-90B3A65945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70A542-6C83-EDCF-C46B-D560799AC16A}"/>
                </a:ext>
              </a:extLst>
            </p:cNvPr>
            <p:cNvSpPr txBox="1"/>
            <p:nvPr/>
          </p:nvSpPr>
          <p:spPr>
            <a:xfrm>
              <a:off x="6837346" y="4331702"/>
              <a:ext cx="560218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+V</a:t>
              </a:r>
              <a:r>
                <a:rPr lang="en-US" baseline="-250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9AB4C9-6C90-B3E3-E8B2-1B17772D7E0F}"/>
                </a:ext>
              </a:extLst>
            </p:cNvPr>
            <p:cNvSpPr txBox="1"/>
            <p:nvPr/>
          </p:nvSpPr>
          <p:spPr>
            <a:xfrm>
              <a:off x="6570075" y="412636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C7FDCE-2962-8982-C6F5-9526B0EF6E3E}"/>
                </a:ext>
              </a:extLst>
            </p:cNvPr>
            <p:cNvSpPr txBox="1"/>
            <p:nvPr/>
          </p:nvSpPr>
          <p:spPr>
            <a:xfrm>
              <a:off x="7409989" y="409918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2F517F6-C492-EB58-8116-8996FA184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89057" y="3588021"/>
              <a:ext cx="2170222" cy="127789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1E2D49-ECBC-E3B4-4628-E1CA66F69AAE}"/>
                </a:ext>
              </a:extLst>
            </p:cNvPr>
            <p:cNvGrpSpPr/>
            <p:nvPr/>
          </p:nvGrpSpPr>
          <p:grpSpPr>
            <a:xfrm>
              <a:off x="9273407" y="3739541"/>
              <a:ext cx="142595" cy="490604"/>
              <a:chOff x="6320118" y="3683188"/>
              <a:chExt cx="142595" cy="490604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AAE98B0-F106-4140-7351-1B5B9EE1A4A3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7CF8AD86-E01D-D3A2-8EF6-04D0FC3941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50A0223-3BFC-DF84-6ED8-2C3338010217}"/>
                </a:ext>
              </a:extLst>
            </p:cNvPr>
            <p:cNvSpPr txBox="1"/>
            <p:nvPr/>
          </p:nvSpPr>
          <p:spPr>
            <a:xfrm>
              <a:off x="9744371" y="4331702"/>
              <a:ext cx="312906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0</a:t>
              </a:r>
              <a:endPara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54E323-AFBE-21EC-63FC-1EE164F89826}"/>
                </a:ext>
              </a:extLst>
            </p:cNvPr>
            <p:cNvSpPr txBox="1"/>
            <p:nvPr/>
          </p:nvSpPr>
          <p:spPr>
            <a:xfrm>
              <a:off x="9324398" y="412954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8EDD51E-2D00-39E4-EA40-5A8AFBBC9153}"/>
                </a:ext>
              </a:extLst>
            </p:cNvPr>
            <p:cNvSpPr txBox="1"/>
            <p:nvPr/>
          </p:nvSpPr>
          <p:spPr>
            <a:xfrm>
              <a:off x="10170218" y="409918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26C7354-E294-86E6-0213-92846B5D33C2}"/>
                </a:ext>
              </a:extLst>
            </p:cNvPr>
            <p:cNvGrpSpPr/>
            <p:nvPr/>
          </p:nvGrpSpPr>
          <p:grpSpPr>
            <a:xfrm flipH="1">
              <a:off x="10432463" y="3736366"/>
              <a:ext cx="142595" cy="490604"/>
              <a:chOff x="6320118" y="3683188"/>
              <a:chExt cx="142595" cy="490604"/>
            </a:xfrm>
          </p:grpSpPr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0B91AD5-92AA-8B8F-6111-2B864EEC47F0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7C48808-2892-C550-BF12-E454D7CED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4C3D421-D7F0-7EAE-7D95-7E86BE709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734" y="4955406"/>
              <a:ext cx="2170222" cy="1277897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3B006E2-F60B-2DA4-0CC5-EF33E8007F8B}"/>
                </a:ext>
              </a:extLst>
            </p:cNvPr>
            <p:cNvGrpSpPr/>
            <p:nvPr/>
          </p:nvGrpSpPr>
          <p:grpSpPr>
            <a:xfrm flipV="1">
              <a:off x="6519084" y="5576664"/>
              <a:ext cx="142595" cy="490604"/>
              <a:chOff x="6320118" y="3683188"/>
              <a:chExt cx="142595" cy="490604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241BCD0-ECED-1212-61CC-3673FE32DC01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0E81F802-6D9A-6D24-671E-E0C936C813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88CA125-D735-A439-9BE4-A86D87DFCCC9}"/>
                </a:ext>
              </a:extLst>
            </p:cNvPr>
            <p:cNvSpPr txBox="1"/>
            <p:nvPr/>
          </p:nvSpPr>
          <p:spPr>
            <a:xfrm>
              <a:off x="6986928" y="5702262"/>
              <a:ext cx="312906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0</a:t>
              </a:r>
              <a:endPara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57A0F5C-F5C1-12AC-A484-549CA65D87F9}"/>
                </a:ext>
              </a:extLst>
            </p:cNvPr>
            <p:cNvSpPr txBox="1"/>
            <p:nvPr/>
          </p:nvSpPr>
          <p:spPr>
            <a:xfrm>
              <a:off x="6570075" y="54969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29888B7-4E7F-AE75-083C-FE1C35FAB100}"/>
                </a:ext>
              </a:extLst>
            </p:cNvPr>
            <p:cNvSpPr txBox="1"/>
            <p:nvPr/>
          </p:nvSpPr>
          <p:spPr>
            <a:xfrm>
              <a:off x="7409989" y="545696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8C819EE-13E8-219D-3335-38FE63B3C9F9}"/>
                </a:ext>
              </a:extLst>
            </p:cNvPr>
            <p:cNvGrpSpPr/>
            <p:nvPr/>
          </p:nvGrpSpPr>
          <p:grpSpPr>
            <a:xfrm flipH="1" flipV="1">
              <a:off x="7678140" y="5573489"/>
              <a:ext cx="142595" cy="490604"/>
              <a:chOff x="6320118" y="3683188"/>
              <a:chExt cx="142595" cy="490604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1D86095-924F-ED94-5F66-046DC54479F9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3224F0B-78C6-1381-B7A5-D68B13190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1042D71C-8445-FF11-4E97-51D220DB91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91417" y="4955794"/>
              <a:ext cx="2170222" cy="1277897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2CC8D9D-5B31-3D47-1836-80647CA3A63E}"/>
                </a:ext>
              </a:extLst>
            </p:cNvPr>
            <p:cNvSpPr txBox="1"/>
            <p:nvPr/>
          </p:nvSpPr>
          <p:spPr>
            <a:xfrm>
              <a:off x="9706180" y="5694761"/>
              <a:ext cx="464038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-V</a:t>
              </a:r>
              <a:r>
                <a:rPr lang="en-US" baseline="-250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9528D70-D3B6-D3F9-5961-F0BF334E5856}"/>
                </a:ext>
              </a:extLst>
            </p:cNvPr>
            <p:cNvSpPr txBox="1"/>
            <p:nvPr/>
          </p:nvSpPr>
          <p:spPr>
            <a:xfrm>
              <a:off x="9326758" y="5497315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345ED9D-5413-6F53-8065-03EDDF4E9CC7}"/>
                </a:ext>
              </a:extLst>
            </p:cNvPr>
            <p:cNvSpPr txBox="1"/>
            <p:nvPr/>
          </p:nvSpPr>
          <p:spPr>
            <a:xfrm>
              <a:off x="10170218" y="5468575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BFFEA18-D9EC-D99D-6F38-A448BB46E757}"/>
                </a:ext>
              </a:extLst>
            </p:cNvPr>
            <p:cNvGrpSpPr/>
            <p:nvPr/>
          </p:nvGrpSpPr>
          <p:grpSpPr>
            <a:xfrm flipH="1">
              <a:off x="10434823" y="5104139"/>
              <a:ext cx="142595" cy="490604"/>
              <a:chOff x="6320118" y="3683188"/>
              <a:chExt cx="142595" cy="490604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A3DEFBF-F1DB-3792-123F-A169149D717A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2191179-57F6-7874-B6FB-AFCDB6B3B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EC833D-45AD-23D8-BBEB-9E6484DD8A97}"/>
                </a:ext>
              </a:extLst>
            </p:cNvPr>
            <p:cNvGrpSpPr/>
            <p:nvPr/>
          </p:nvGrpSpPr>
          <p:grpSpPr>
            <a:xfrm flipV="1">
              <a:off x="9271765" y="5580990"/>
              <a:ext cx="142595" cy="490604"/>
              <a:chOff x="6320118" y="3683188"/>
              <a:chExt cx="142595" cy="490604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10986DD2-75A6-5378-5505-57E52B26019A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05DC4F9-C55F-9072-5048-E9C63393E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D815993-6A74-13F5-63E7-F6533C2BFACA}"/>
                </a:ext>
              </a:extLst>
            </p:cNvPr>
            <p:cNvSpPr txBox="1"/>
            <p:nvPr/>
          </p:nvSpPr>
          <p:spPr>
            <a:xfrm>
              <a:off x="6567433" y="3531668"/>
              <a:ext cx="11415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high, 2 low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08A7626-5D19-3EFC-2E9F-DDCCFD5179CC}"/>
                </a:ext>
              </a:extLst>
            </p:cNvPr>
            <p:cNvSpPr txBox="1"/>
            <p:nvPr/>
          </p:nvSpPr>
          <p:spPr>
            <a:xfrm>
              <a:off x="9324398" y="3562038"/>
              <a:ext cx="11961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high, 2 high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49FF20B-35E3-B32A-0FC5-ECBB7631184C}"/>
                </a:ext>
              </a:extLst>
            </p:cNvPr>
            <p:cNvSpPr txBox="1"/>
            <p:nvPr/>
          </p:nvSpPr>
          <p:spPr>
            <a:xfrm>
              <a:off x="6586770" y="4950186"/>
              <a:ext cx="10765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low, 2 low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A934DE9-F1D0-F21F-52FF-F75B4F6CF95C}"/>
                </a:ext>
              </a:extLst>
            </p:cNvPr>
            <p:cNvSpPr txBox="1"/>
            <p:nvPr/>
          </p:nvSpPr>
          <p:spPr>
            <a:xfrm>
              <a:off x="9351712" y="4973943"/>
              <a:ext cx="11312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low, 2 high</a:t>
              </a:r>
            </a:p>
          </p:txBody>
        </p:sp>
      </p:grp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EACD6F68-AD31-9AE4-F895-581F2A1696C1}"/>
              </a:ext>
            </a:extLst>
          </p:cNvPr>
          <p:cNvSpPr/>
          <p:nvPr/>
        </p:nvSpPr>
        <p:spPr>
          <a:xfrm>
            <a:off x="5417116" y="3426869"/>
            <a:ext cx="5850467" cy="3230033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04703D-A5B7-85ED-E03C-28485AC29E4D}"/>
              </a:ext>
            </a:extLst>
          </p:cNvPr>
          <p:cNvSpPr txBox="1"/>
          <p:nvPr/>
        </p:nvSpPr>
        <p:spPr>
          <a:xfrm>
            <a:off x="9463522" y="3435050"/>
            <a:ext cx="1826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Possible Voltages</a:t>
            </a:r>
          </a:p>
        </p:txBody>
      </p:sp>
    </p:spTree>
    <p:extLst>
      <p:ext uri="{BB962C8B-B14F-4D97-AF65-F5344CB8AC3E}">
        <p14:creationId xmlns:p14="http://schemas.microsoft.com/office/powerpoint/2010/main" val="3789560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00598-45B1-B381-FB43-D2AB855E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6BD35-4977-9055-94F0-6AD2C61A8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Half-bridges 1 and 2 are independent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high and both low result in 0 voltage across switch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Duty ratios &lt;2.5% and &gt;97.5% are risky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H-bridge topology allows finer control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0502B-7230-5267-A45B-8DE580568134}"/>
              </a:ext>
            </a:extLst>
          </p:cNvPr>
          <p:cNvSpPr txBox="1"/>
          <p:nvPr/>
        </p:nvSpPr>
        <p:spPr>
          <a:xfrm>
            <a:off x="7634641" y="647941"/>
            <a:ext cx="1470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Half-bridge 1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Half-bridge 2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84D332-04AA-EBA6-7252-4614FD20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14" t="-685" r="514" b="1376"/>
          <a:stretch>
            <a:fillRect/>
          </a:stretch>
        </p:blipFill>
        <p:spPr>
          <a:xfrm flipH="1">
            <a:off x="6376296" y="1374895"/>
            <a:ext cx="4041935" cy="2054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8D96FD-06D4-0D03-C4A6-054A02ECA043}"/>
              </a:ext>
            </a:extLst>
          </p:cNvPr>
          <p:cNvCxnSpPr>
            <a:cxnSpLocks/>
          </p:cNvCxnSpPr>
          <p:nvPr/>
        </p:nvCxnSpPr>
        <p:spPr>
          <a:xfrm>
            <a:off x="8359163" y="1346440"/>
            <a:ext cx="0" cy="20825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CBC7C4-5DE6-ACF9-D7FA-3FB735EFFC1F}"/>
              </a:ext>
            </a:extLst>
          </p:cNvPr>
          <p:cNvCxnSpPr/>
          <p:nvPr/>
        </p:nvCxnSpPr>
        <p:spPr>
          <a:xfrm>
            <a:off x="8072967" y="2307407"/>
            <a:ext cx="28619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7AF2779-B892-5889-B791-BECC8F4C5E63}"/>
              </a:ext>
            </a:extLst>
          </p:cNvPr>
          <p:cNvCxnSpPr/>
          <p:nvPr/>
        </p:nvCxnSpPr>
        <p:spPr>
          <a:xfrm>
            <a:off x="8369714" y="2307407"/>
            <a:ext cx="28619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7C417D7-308E-F429-978A-9AAAF0E66C44}"/>
              </a:ext>
            </a:extLst>
          </p:cNvPr>
          <p:cNvSpPr txBox="1"/>
          <p:nvPr/>
        </p:nvSpPr>
        <p:spPr>
          <a:xfrm>
            <a:off x="7609296" y="188590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27AF8C-EF12-3353-4845-EE452C456BA0}"/>
              </a:ext>
            </a:extLst>
          </p:cNvPr>
          <p:cNvSpPr txBox="1"/>
          <p:nvPr/>
        </p:nvSpPr>
        <p:spPr>
          <a:xfrm>
            <a:off x="8376510" y="188590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FDF89-C29A-0C61-0D3A-19E3C092C549}"/>
              </a:ext>
            </a:extLst>
          </p:cNvPr>
          <p:cNvSpPr txBox="1"/>
          <p:nvPr/>
        </p:nvSpPr>
        <p:spPr>
          <a:xfrm>
            <a:off x="7588488" y="3672632"/>
            <a:ext cx="1556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Halfway point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B9078E-96E0-22B3-3796-BD6D983CAD90}"/>
              </a:ext>
            </a:extLst>
          </p:cNvPr>
          <p:cNvCxnSpPr>
            <a:stCxn id="20" idx="0"/>
          </p:cNvCxnSpPr>
          <p:nvPr/>
        </p:nvCxnSpPr>
        <p:spPr>
          <a:xfrm flipV="1">
            <a:off x="8366522" y="3481168"/>
            <a:ext cx="3192" cy="1914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818B73-AD0D-7A92-AD7E-8F30EB6501EE}"/>
              </a:ext>
            </a:extLst>
          </p:cNvPr>
          <p:cNvSpPr txBox="1"/>
          <p:nvPr/>
        </p:nvSpPr>
        <p:spPr>
          <a:xfrm>
            <a:off x="6087016" y="4233428"/>
            <a:ext cx="46204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Half-bridge 1 duty ratio: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0.5 + 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  <a:p>
            <a:pPr algn="ctr"/>
            <a:r>
              <a:rPr lang="en-US" dirty="0"/>
              <a:t>Half-bridge 2 duty ratio: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0.5 – 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  <a:p>
            <a:pPr algn="ctr"/>
            <a:r>
              <a:rPr lang="en-US" dirty="0">
                <a:ea typeface="Cambria Math" panose="02040503050406030204" pitchFamily="18" charset="0"/>
              </a:rPr>
              <a:t>Duty cycle “seen” by inductive tank: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2*d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</p:spTree>
    <p:extLst>
      <p:ext uri="{BB962C8B-B14F-4D97-AF65-F5344CB8AC3E}">
        <p14:creationId xmlns:p14="http://schemas.microsoft.com/office/powerpoint/2010/main" val="3662244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734B7-8CDD-AC44-5768-587FD109C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Equivalent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ACA2F-657F-8F9E-37C1-789E0A298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Use SRA analysis and derive KCL- and KVL-like equations</a:t>
            </a:r>
          </a:p>
          <a:p>
            <a:r>
              <a:rPr lang="en-US" dirty="0"/>
              <a:t>Convert into loops and create ideal transformer model of circuit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B9D04C-332B-B4D9-A43C-5CF0075FB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134" y="3494457"/>
            <a:ext cx="5173845" cy="17905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39EB99-9A3F-FC2F-4327-A2119B2B4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8900" y="1289164"/>
            <a:ext cx="5299422" cy="15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98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</TotalTime>
  <Words>185</Words>
  <Application>Microsoft Office PowerPoint</Application>
  <PresentationFormat>Widescreen</PresentationFormat>
  <Paragraphs>41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UT Robomasters – Supercap Power Stage Modeling</vt:lpstr>
      <vt:lpstr>Overview of Topology</vt:lpstr>
      <vt:lpstr>Duty Cycle Control</vt:lpstr>
      <vt:lpstr>Transformer Equivalent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dhakk</dc:creator>
  <cp:lastModifiedBy>dhakk</cp:lastModifiedBy>
  <cp:revision>1</cp:revision>
  <dcterms:created xsi:type="dcterms:W3CDTF">2026-03-11T16:16:20Z</dcterms:created>
  <dcterms:modified xsi:type="dcterms:W3CDTF">2026-03-11T17:22:39Z</dcterms:modified>
</cp:coreProperties>
</file>