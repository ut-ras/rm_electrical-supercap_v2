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3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9" autoAdjust="0"/>
    <p:restoredTop sz="94660"/>
  </p:normalViewPr>
  <p:slideViewPr>
    <p:cSldViewPr snapToGrid="0">
      <p:cViewPr>
        <p:scale>
          <a:sx n="125" d="100"/>
          <a:sy n="125" d="100"/>
        </p:scale>
        <p:origin x="1592" y="6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16CDFA8-9B71-48D2-9BC8-093B5490E257}"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9F7320-A4FE-4892-8CEE-F5D8B1E7CF31}" type="slidenum">
              <a:rPr lang="en-US" smtClean="0"/>
              <a:t>‹#›</a:t>
            </a:fld>
            <a:endParaRPr lang="en-US"/>
          </a:p>
        </p:txBody>
      </p:sp>
    </p:spTree>
    <p:extLst>
      <p:ext uri="{BB962C8B-B14F-4D97-AF65-F5344CB8AC3E}">
        <p14:creationId xmlns:p14="http://schemas.microsoft.com/office/powerpoint/2010/main" val="1579755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6CDFA8-9B71-48D2-9BC8-093B5490E257}"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9F7320-A4FE-4892-8CEE-F5D8B1E7CF31}" type="slidenum">
              <a:rPr lang="en-US" smtClean="0"/>
              <a:t>‹#›</a:t>
            </a:fld>
            <a:endParaRPr lang="en-US"/>
          </a:p>
        </p:txBody>
      </p:sp>
    </p:spTree>
    <p:extLst>
      <p:ext uri="{BB962C8B-B14F-4D97-AF65-F5344CB8AC3E}">
        <p14:creationId xmlns:p14="http://schemas.microsoft.com/office/powerpoint/2010/main" val="3218610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6CDFA8-9B71-48D2-9BC8-093B5490E257}"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9F7320-A4FE-4892-8CEE-F5D8B1E7CF31}" type="slidenum">
              <a:rPr lang="en-US" smtClean="0"/>
              <a:t>‹#›</a:t>
            </a:fld>
            <a:endParaRPr lang="en-US"/>
          </a:p>
        </p:txBody>
      </p:sp>
    </p:spTree>
    <p:extLst>
      <p:ext uri="{BB962C8B-B14F-4D97-AF65-F5344CB8AC3E}">
        <p14:creationId xmlns:p14="http://schemas.microsoft.com/office/powerpoint/2010/main" val="2162403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6CDFA8-9B71-48D2-9BC8-093B5490E257}"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9F7320-A4FE-4892-8CEE-F5D8B1E7CF31}" type="slidenum">
              <a:rPr lang="en-US" smtClean="0"/>
              <a:t>‹#›</a:t>
            </a:fld>
            <a:endParaRPr lang="en-US"/>
          </a:p>
        </p:txBody>
      </p:sp>
    </p:spTree>
    <p:extLst>
      <p:ext uri="{BB962C8B-B14F-4D97-AF65-F5344CB8AC3E}">
        <p14:creationId xmlns:p14="http://schemas.microsoft.com/office/powerpoint/2010/main" val="2056362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6CDFA8-9B71-48D2-9BC8-093B5490E257}" type="datetimeFigureOut">
              <a:rPr lang="en-US" smtClean="0"/>
              <a:t>3/12/2026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9F7320-A4FE-4892-8CEE-F5D8B1E7CF31}" type="slidenum">
              <a:rPr lang="en-US" smtClean="0"/>
              <a:t>‹#›</a:t>
            </a:fld>
            <a:endParaRPr lang="en-US"/>
          </a:p>
        </p:txBody>
      </p:sp>
    </p:spTree>
    <p:extLst>
      <p:ext uri="{BB962C8B-B14F-4D97-AF65-F5344CB8AC3E}">
        <p14:creationId xmlns:p14="http://schemas.microsoft.com/office/powerpoint/2010/main" val="437105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16CDFA8-9B71-48D2-9BC8-093B5490E257}" type="datetimeFigureOut">
              <a:rPr lang="en-US" smtClean="0"/>
              <a:t>3/12/2026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9F7320-A4FE-4892-8CEE-F5D8B1E7CF31}" type="slidenum">
              <a:rPr lang="en-US" smtClean="0"/>
              <a:t>‹#›</a:t>
            </a:fld>
            <a:endParaRPr lang="en-US"/>
          </a:p>
        </p:txBody>
      </p:sp>
    </p:spTree>
    <p:extLst>
      <p:ext uri="{BB962C8B-B14F-4D97-AF65-F5344CB8AC3E}">
        <p14:creationId xmlns:p14="http://schemas.microsoft.com/office/powerpoint/2010/main" val="3438923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6CDFA8-9B71-48D2-9BC8-093B5490E257}" type="datetimeFigureOut">
              <a:rPr lang="en-US" smtClean="0"/>
              <a:t>3/12/2026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9F7320-A4FE-4892-8CEE-F5D8B1E7CF31}" type="slidenum">
              <a:rPr lang="en-US" smtClean="0"/>
              <a:t>‹#›</a:t>
            </a:fld>
            <a:endParaRPr lang="en-US"/>
          </a:p>
        </p:txBody>
      </p:sp>
    </p:spTree>
    <p:extLst>
      <p:ext uri="{BB962C8B-B14F-4D97-AF65-F5344CB8AC3E}">
        <p14:creationId xmlns:p14="http://schemas.microsoft.com/office/powerpoint/2010/main" val="1944855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6CDFA8-9B71-48D2-9BC8-093B5490E257}"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9F7320-A4FE-4892-8CEE-F5D8B1E7CF31}" type="slidenum">
              <a:rPr lang="en-US" smtClean="0"/>
              <a:t>‹#›</a:t>
            </a:fld>
            <a:endParaRPr lang="en-US"/>
          </a:p>
        </p:txBody>
      </p:sp>
    </p:spTree>
    <p:extLst>
      <p:ext uri="{BB962C8B-B14F-4D97-AF65-F5344CB8AC3E}">
        <p14:creationId xmlns:p14="http://schemas.microsoft.com/office/powerpoint/2010/main" val="4091272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6CDFA8-9B71-48D2-9BC8-093B5490E257}"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9F7320-A4FE-4892-8CEE-F5D8B1E7CF31}" type="slidenum">
              <a:rPr lang="en-US" smtClean="0"/>
              <a:t>‹#›</a:t>
            </a:fld>
            <a:endParaRPr lang="en-US"/>
          </a:p>
        </p:txBody>
      </p:sp>
    </p:spTree>
    <p:extLst>
      <p:ext uri="{BB962C8B-B14F-4D97-AF65-F5344CB8AC3E}">
        <p14:creationId xmlns:p14="http://schemas.microsoft.com/office/powerpoint/2010/main" val="725561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6CDFA8-9B71-48D2-9BC8-093B5490E257}"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9F7320-A4FE-4892-8CEE-F5D8B1E7CF31}" type="slidenum">
              <a:rPr lang="en-US" smtClean="0"/>
              <a:t>‹#›</a:t>
            </a:fld>
            <a:endParaRPr lang="en-US"/>
          </a:p>
        </p:txBody>
      </p:sp>
    </p:spTree>
    <p:extLst>
      <p:ext uri="{BB962C8B-B14F-4D97-AF65-F5344CB8AC3E}">
        <p14:creationId xmlns:p14="http://schemas.microsoft.com/office/powerpoint/2010/main" val="625143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6CDFA8-9B71-48D2-9BC8-093B5490E257}"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9F7320-A4FE-4892-8CEE-F5D8B1E7CF31}" type="slidenum">
              <a:rPr lang="en-US" smtClean="0"/>
              <a:t>‹#›</a:t>
            </a:fld>
            <a:endParaRPr lang="en-US"/>
          </a:p>
        </p:txBody>
      </p:sp>
    </p:spTree>
    <p:extLst>
      <p:ext uri="{BB962C8B-B14F-4D97-AF65-F5344CB8AC3E}">
        <p14:creationId xmlns:p14="http://schemas.microsoft.com/office/powerpoint/2010/main" val="3417254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116CDFA8-9B71-48D2-9BC8-093B5490E257}" type="datetimeFigureOut">
              <a:rPr lang="en-US" smtClean="0"/>
              <a:t>3/12/2026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B29F7320-A4FE-4892-8CEE-F5D8B1E7CF31}" type="slidenum">
              <a:rPr lang="en-US" smtClean="0"/>
              <a:t>‹#›</a:t>
            </a:fld>
            <a:endParaRPr lang="en-US"/>
          </a:p>
        </p:txBody>
      </p:sp>
    </p:spTree>
    <p:extLst>
      <p:ext uri="{BB962C8B-B14F-4D97-AF65-F5344CB8AC3E}">
        <p14:creationId xmlns:p14="http://schemas.microsoft.com/office/powerpoint/2010/main" val="158556917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9.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0.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9.xml"/><Relationship Id="rId5" Type="http://schemas.openxmlformats.org/officeDocument/2006/relationships/image" Target="../media/image19.jpe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D478F-B618-A8F3-2C35-06BD5544D36C}"/>
              </a:ext>
            </a:extLst>
          </p:cNvPr>
          <p:cNvSpPr>
            <a:spLocks noGrp="1"/>
          </p:cNvSpPr>
          <p:nvPr>
            <p:ph type="ctrTitle"/>
          </p:nvPr>
        </p:nvSpPr>
        <p:spPr/>
        <p:txBody>
          <a:bodyPr/>
          <a:lstStyle/>
          <a:p>
            <a:r>
              <a:rPr lang="en-US" dirty="0"/>
              <a:t>UT Robomasters – Supercap Power Stage Modeling</a:t>
            </a:r>
          </a:p>
        </p:txBody>
      </p:sp>
      <p:sp>
        <p:nvSpPr>
          <p:cNvPr id="3" name="Subtitle 2">
            <a:extLst>
              <a:ext uri="{FF2B5EF4-FFF2-40B4-BE49-F238E27FC236}">
                <a16:creationId xmlns:a16="http://schemas.microsoft.com/office/drawing/2014/main" id="{2CA6C19F-7071-1C1F-0412-FB8090E6E184}"/>
              </a:ext>
            </a:extLst>
          </p:cNvPr>
          <p:cNvSpPr>
            <a:spLocks noGrp="1"/>
          </p:cNvSpPr>
          <p:nvPr>
            <p:ph type="subTitle" idx="1"/>
          </p:nvPr>
        </p:nvSpPr>
        <p:spPr/>
        <p:txBody>
          <a:bodyPr/>
          <a:lstStyle/>
          <a:p>
            <a:r>
              <a:rPr lang="en-US" dirty="0" err="1"/>
              <a:t>Supercap</a:t>
            </a:r>
            <a:r>
              <a:rPr lang="en-US" dirty="0"/>
              <a:t> Technical Lead: Egan Wang (ew23776)</a:t>
            </a:r>
          </a:p>
          <a:p>
            <a:r>
              <a:rPr lang="en-US" dirty="0"/>
              <a:t>Contributing Members: []</a:t>
            </a:r>
          </a:p>
        </p:txBody>
      </p:sp>
      <p:sp>
        <p:nvSpPr>
          <p:cNvPr id="4" name="Rectangle 3">
            <a:extLst>
              <a:ext uri="{FF2B5EF4-FFF2-40B4-BE49-F238E27FC236}">
                <a16:creationId xmlns:a16="http://schemas.microsoft.com/office/drawing/2014/main" id="{A0949B7C-CD71-55A4-B144-0777F760504B}"/>
              </a:ext>
            </a:extLst>
          </p:cNvPr>
          <p:cNvSpPr/>
          <p:nvPr/>
        </p:nvSpPr>
        <p:spPr>
          <a:xfrm>
            <a:off x="6442744" y="5134061"/>
            <a:ext cx="4362275" cy="111154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If you can see this, get your butt to work on disturbance rejection and robustness modeling so I can put your name on here</a:t>
            </a:r>
          </a:p>
        </p:txBody>
      </p:sp>
      <p:cxnSp>
        <p:nvCxnSpPr>
          <p:cNvPr id="6" name="Straight Arrow Connector 5">
            <a:extLst>
              <a:ext uri="{FF2B5EF4-FFF2-40B4-BE49-F238E27FC236}">
                <a16:creationId xmlns:a16="http://schemas.microsoft.com/office/drawing/2014/main" id="{B7341F1D-D4CF-FC90-4073-E1ADC43AFF15}"/>
              </a:ext>
            </a:extLst>
          </p:cNvPr>
          <p:cNvCxnSpPr>
            <a:cxnSpLocks/>
            <a:stCxn id="4" idx="0"/>
          </p:cNvCxnSpPr>
          <p:nvPr/>
        </p:nvCxnSpPr>
        <p:spPr>
          <a:xfrm flipH="1" flipV="1">
            <a:off x="7650760" y="4286774"/>
            <a:ext cx="973122" cy="847287"/>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30319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5A745-7BF0-A1B6-7231-174460A96260}"/>
              </a:ext>
            </a:extLst>
          </p:cNvPr>
          <p:cNvSpPr>
            <a:spLocks noGrp="1"/>
          </p:cNvSpPr>
          <p:nvPr>
            <p:ph type="title"/>
          </p:nvPr>
        </p:nvSpPr>
        <p:spPr/>
        <p:txBody>
          <a:bodyPr/>
          <a:lstStyle/>
          <a:p>
            <a:r>
              <a:rPr lang="en-US" dirty="0"/>
              <a:t>Overview of Topology</a:t>
            </a:r>
          </a:p>
        </p:txBody>
      </p:sp>
      <p:sp>
        <p:nvSpPr>
          <p:cNvPr id="5" name="Text Placeholder 4">
            <a:extLst>
              <a:ext uri="{FF2B5EF4-FFF2-40B4-BE49-F238E27FC236}">
                <a16:creationId xmlns:a16="http://schemas.microsoft.com/office/drawing/2014/main" id="{66630530-B4E1-DE36-661C-8CD0B56A1D56}"/>
              </a:ext>
            </a:extLst>
          </p:cNvPr>
          <p:cNvSpPr>
            <a:spLocks noGrp="1"/>
          </p:cNvSpPr>
          <p:nvPr>
            <p:ph type="body" sz="half" idx="2"/>
          </p:nvPr>
        </p:nvSpPr>
        <p:spPr/>
        <p:txBody>
          <a:bodyPr/>
          <a:lstStyle/>
          <a:p>
            <a:r>
              <a:rPr lang="en-US" b="1" dirty="0"/>
              <a:t>H-Bridge Converter</a:t>
            </a:r>
          </a:p>
          <a:p>
            <a:pPr marL="285750" indent="-285750">
              <a:buFont typeface="Arial" panose="020B0604020202020204" pitchFamily="34" charset="0"/>
              <a:buChar char="•"/>
            </a:pPr>
            <a:r>
              <a:rPr lang="en-US" dirty="0"/>
              <a:t>4 switches</a:t>
            </a:r>
          </a:p>
          <a:p>
            <a:pPr marL="285750" indent="-285750">
              <a:buFont typeface="Arial" panose="020B0604020202020204" pitchFamily="34" charset="0"/>
              <a:buChar char="•"/>
            </a:pPr>
            <a:r>
              <a:rPr lang="en-US" dirty="0"/>
              <a:t>2 half-bridges</a:t>
            </a:r>
          </a:p>
          <a:p>
            <a:pPr marL="285750" indent="-285750">
              <a:buFont typeface="Arial" panose="020B0604020202020204" pitchFamily="34" charset="0"/>
              <a:buChar char="•"/>
            </a:pPr>
            <a:r>
              <a:rPr lang="en-US" dirty="0"/>
              <a:t>Full-bridge analogue to buck converter</a:t>
            </a:r>
          </a:p>
          <a:p>
            <a:pPr marL="285750" indent="-285750">
              <a:buFont typeface="Arial" panose="020B0604020202020204" pitchFamily="34" charset="0"/>
              <a:buChar char="•"/>
            </a:pPr>
            <a:r>
              <a:rPr lang="en-US" dirty="0"/>
              <a:t>Voltage across switched nodes can be +Vg, 0, or +Vg</a:t>
            </a:r>
          </a:p>
        </p:txBody>
      </p:sp>
      <p:pic>
        <p:nvPicPr>
          <p:cNvPr id="9" name="Picture 8">
            <a:extLst>
              <a:ext uri="{FF2B5EF4-FFF2-40B4-BE49-F238E27FC236}">
                <a16:creationId xmlns:a16="http://schemas.microsoft.com/office/drawing/2014/main" id="{3AF0BA4D-E20B-F2DC-E856-D9099C36F4D2}"/>
              </a:ext>
            </a:extLst>
          </p:cNvPr>
          <p:cNvPicPr>
            <a:picLocks noChangeAspect="1"/>
          </p:cNvPicPr>
          <p:nvPr/>
        </p:nvPicPr>
        <p:blipFill>
          <a:blip r:embed="rId2"/>
          <a:stretch>
            <a:fillRect/>
          </a:stretch>
        </p:blipFill>
        <p:spPr>
          <a:xfrm>
            <a:off x="5332489" y="175000"/>
            <a:ext cx="6019723" cy="3059633"/>
          </a:xfrm>
          <a:prstGeom prst="rect">
            <a:avLst/>
          </a:prstGeom>
        </p:spPr>
      </p:pic>
      <p:grpSp>
        <p:nvGrpSpPr>
          <p:cNvPr id="65" name="Group 64">
            <a:extLst>
              <a:ext uri="{FF2B5EF4-FFF2-40B4-BE49-F238E27FC236}">
                <a16:creationId xmlns:a16="http://schemas.microsoft.com/office/drawing/2014/main" id="{4A270B61-CF52-FA0E-48FD-88C2FDA36CCD}"/>
              </a:ext>
            </a:extLst>
          </p:cNvPr>
          <p:cNvGrpSpPr/>
          <p:nvPr/>
        </p:nvGrpSpPr>
        <p:grpSpPr>
          <a:xfrm>
            <a:off x="5878896" y="3690873"/>
            <a:ext cx="4926905" cy="2702023"/>
            <a:chOff x="5934734" y="3531668"/>
            <a:chExt cx="4926905" cy="2702023"/>
          </a:xfrm>
        </p:grpSpPr>
        <p:pic>
          <p:nvPicPr>
            <p:cNvPr id="11" name="Picture 10">
              <a:extLst>
                <a:ext uri="{FF2B5EF4-FFF2-40B4-BE49-F238E27FC236}">
                  <a16:creationId xmlns:a16="http://schemas.microsoft.com/office/drawing/2014/main" id="{29B7CBCB-BE40-404D-EE09-4D39BB8EDFEF}"/>
                </a:ext>
              </a:extLst>
            </p:cNvPr>
            <p:cNvPicPr>
              <a:picLocks noChangeAspect="1"/>
            </p:cNvPicPr>
            <p:nvPr/>
          </p:nvPicPr>
          <p:blipFill>
            <a:blip r:embed="rId3"/>
            <a:stretch>
              <a:fillRect/>
            </a:stretch>
          </p:blipFill>
          <p:spPr>
            <a:xfrm>
              <a:off x="5934734" y="3584846"/>
              <a:ext cx="2170222" cy="1277897"/>
            </a:xfrm>
            <a:prstGeom prst="rect">
              <a:avLst/>
            </a:prstGeom>
          </p:spPr>
        </p:pic>
        <p:grpSp>
          <p:nvGrpSpPr>
            <p:cNvPr id="18" name="Group 17">
              <a:extLst>
                <a:ext uri="{FF2B5EF4-FFF2-40B4-BE49-F238E27FC236}">
                  <a16:creationId xmlns:a16="http://schemas.microsoft.com/office/drawing/2014/main" id="{8FAEE1E0-D71F-9794-65C3-5873E2323545}"/>
                </a:ext>
              </a:extLst>
            </p:cNvPr>
            <p:cNvGrpSpPr/>
            <p:nvPr/>
          </p:nvGrpSpPr>
          <p:grpSpPr>
            <a:xfrm>
              <a:off x="6519084" y="3736366"/>
              <a:ext cx="142595" cy="490604"/>
              <a:chOff x="6320118" y="3683188"/>
              <a:chExt cx="142595" cy="490604"/>
            </a:xfrm>
          </p:grpSpPr>
          <p:cxnSp>
            <p:nvCxnSpPr>
              <p:cNvPr id="13" name="Straight Connector 12">
                <a:extLst>
                  <a:ext uri="{FF2B5EF4-FFF2-40B4-BE49-F238E27FC236}">
                    <a16:creationId xmlns:a16="http://schemas.microsoft.com/office/drawing/2014/main" id="{A60AACF8-4161-A0B9-A70B-F6449D87CF1F}"/>
                  </a:ext>
                </a:extLst>
              </p:cNvPr>
              <p:cNvCxnSpPr/>
              <p:nvPr/>
            </p:nvCxnSpPr>
            <p:spPr>
              <a:xfrm>
                <a:off x="6320118" y="3683188"/>
                <a:ext cx="0" cy="490604"/>
              </a:xfrm>
              <a:prstGeom prst="line">
                <a:avLst/>
              </a:prstGeom>
              <a:ln>
                <a:solidFill>
                  <a:srgbClr val="FF0000">
                    <a:alpha val="80000"/>
                  </a:srgb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CE47650-A04B-6D70-94D8-E2E7F64E4185}"/>
                  </a:ext>
                </a:extLst>
              </p:cNvPr>
              <p:cNvCxnSpPr>
                <a:cxnSpLocks/>
              </p:cNvCxnSpPr>
              <p:nvPr/>
            </p:nvCxnSpPr>
            <p:spPr>
              <a:xfrm>
                <a:off x="6320118" y="4165852"/>
                <a:ext cx="142595" cy="0"/>
              </a:xfrm>
              <a:prstGeom prst="line">
                <a:avLst/>
              </a:prstGeom>
              <a:ln>
                <a:solidFill>
                  <a:srgbClr val="FF0000">
                    <a:alpha val="80000"/>
                  </a:srgbClr>
                </a:solidFill>
              </a:ln>
            </p:spPr>
            <p:style>
              <a:lnRef idx="2">
                <a:schemeClr val="accent1"/>
              </a:lnRef>
              <a:fillRef idx="0">
                <a:schemeClr val="accent1"/>
              </a:fillRef>
              <a:effectRef idx="1">
                <a:schemeClr val="accent1"/>
              </a:effectRef>
              <a:fontRef idx="minor">
                <a:schemeClr val="tx1"/>
              </a:fontRef>
            </p:style>
          </p:cxnSp>
        </p:grpSp>
        <p:grpSp>
          <p:nvGrpSpPr>
            <p:cNvPr id="19" name="Group 18">
              <a:extLst>
                <a:ext uri="{FF2B5EF4-FFF2-40B4-BE49-F238E27FC236}">
                  <a16:creationId xmlns:a16="http://schemas.microsoft.com/office/drawing/2014/main" id="{6C0334D8-2C23-298D-043B-1F8A8AB9100C}"/>
                </a:ext>
              </a:extLst>
            </p:cNvPr>
            <p:cNvGrpSpPr/>
            <p:nvPr/>
          </p:nvGrpSpPr>
          <p:grpSpPr>
            <a:xfrm rot="10800000">
              <a:off x="7679017" y="4202033"/>
              <a:ext cx="142595" cy="490604"/>
              <a:chOff x="6320118" y="3683188"/>
              <a:chExt cx="142595" cy="490604"/>
            </a:xfrm>
          </p:grpSpPr>
          <p:cxnSp>
            <p:nvCxnSpPr>
              <p:cNvPr id="20" name="Straight Connector 19">
                <a:extLst>
                  <a:ext uri="{FF2B5EF4-FFF2-40B4-BE49-F238E27FC236}">
                    <a16:creationId xmlns:a16="http://schemas.microsoft.com/office/drawing/2014/main" id="{530780A4-D992-86E3-0C32-DB60CEF42F77}"/>
                  </a:ext>
                </a:extLst>
              </p:cNvPr>
              <p:cNvCxnSpPr/>
              <p:nvPr/>
            </p:nvCxnSpPr>
            <p:spPr>
              <a:xfrm>
                <a:off x="6320118" y="3683188"/>
                <a:ext cx="0" cy="490604"/>
              </a:xfrm>
              <a:prstGeom prst="line">
                <a:avLst/>
              </a:prstGeom>
              <a:ln>
                <a:solidFill>
                  <a:srgbClr val="FF0000">
                    <a:alpha val="80000"/>
                  </a:srgb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E2653BE3-787B-5D05-D1D2-90B3A6594587}"/>
                  </a:ext>
                </a:extLst>
              </p:cNvPr>
              <p:cNvCxnSpPr>
                <a:cxnSpLocks/>
              </p:cNvCxnSpPr>
              <p:nvPr/>
            </p:nvCxnSpPr>
            <p:spPr>
              <a:xfrm>
                <a:off x="6320118" y="4165852"/>
                <a:ext cx="142595" cy="0"/>
              </a:xfrm>
              <a:prstGeom prst="line">
                <a:avLst/>
              </a:prstGeom>
              <a:ln>
                <a:solidFill>
                  <a:srgbClr val="FF0000">
                    <a:alpha val="80000"/>
                  </a:srgbClr>
                </a:solidFill>
              </a:ln>
            </p:spPr>
            <p:style>
              <a:lnRef idx="2">
                <a:schemeClr val="accent1"/>
              </a:lnRef>
              <a:fillRef idx="0">
                <a:schemeClr val="accent1"/>
              </a:fillRef>
              <a:effectRef idx="1">
                <a:schemeClr val="accent1"/>
              </a:effectRef>
              <a:fontRef idx="minor">
                <a:schemeClr val="tx1"/>
              </a:fontRef>
            </p:style>
          </p:cxnSp>
        </p:grpSp>
        <p:sp>
          <p:nvSpPr>
            <p:cNvPr id="22" name="TextBox 21">
              <a:extLst>
                <a:ext uri="{FF2B5EF4-FFF2-40B4-BE49-F238E27FC236}">
                  <a16:creationId xmlns:a16="http://schemas.microsoft.com/office/drawing/2014/main" id="{6E70A542-6C83-EDCF-C46B-D560799AC16A}"/>
                </a:ext>
              </a:extLst>
            </p:cNvPr>
            <p:cNvSpPr txBox="1"/>
            <p:nvPr/>
          </p:nvSpPr>
          <p:spPr>
            <a:xfrm>
              <a:off x="6837346" y="4331702"/>
              <a:ext cx="560218" cy="369332"/>
            </a:xfrm>
            <a:prstGeom prst="rect">
              <a:avLst/>
            </a:prstGeom>
            <a:solidFill>
              <a:schemeClr val="bg1">
                <a:alpha val="50000"/>
              </a:schemeClr>
            </a:solidFill>
            <a:ln>
              <a:solidFill>
                <a:srgbClr val="FF0000"/>
              </a:solidFill>
            </a:ln>
          </p:spPr>
          <p:txBody>
            <a:bodyPr wrap="none" rtlCol="0">
              <a:spAutoFit/>
            </a:bodyPr>
            <a:lstStyle/>
            <a:p>
              <a:r>
                <a:rPr lang="en-US" dirty="0">
                  <a:latin typeface="Cambria Math" panose="02040503050406030204" pitchFamily="18" charset="0"/>
                  <a:ea typeface="Cambria Math" panose="02040503050406030204" pitchFamily="18" charset="0"/>
                </a:rPr>
                <a:t>+V</a:t>
              </a:r>
              <a:r>
                <a:rPr lang="en-US" baseline="-25000" dirty="0">
                  <a:latin typeface="Cambria Math" panose="02040503050406030204" pitchFamily="18" charset="0"/>
                  <a:ea typeface="Cambria Math" panose="02040503050406030204" pitchFamily="18" charset="0"/>
                </a:rPr>
                <a:t>g</a:t>
              </a:r>
            </a:p>
          </p:txBody>
        </p:sp>
        <p:sp>
          <p:nvSpPr>
            <p:cNvPr id="23" name="TextBox 22">
              <a:extLst>
                <a:ext uri="{FF2B5EF4-FFF2-40B4-BE49-F238E27FC236}">
                  <a16:creationId xmlns:a16="http://schemas.microsoft.com/office/drawing/2014/main" id="{3D9AB4C9-6C90-B3E3-E8B2-1B17772D7E0F}"/>
                </a:ext>
              </a:extLst>
            </p:cNvPr>
            <p:cNvSpPr txBox="1"/>
            <p:nvPr/>
          </p:nvSpPr>
          <p:spPr>
            <a:xfrm>
              <a:off x="6570075" y="4126367"/>
              <a:ext cx="308098" cy="369332"/>
            </a:xfrm>
            <a:prstGeom prst="rect">
              <a:avLst/>
            </a:prstGeom>
            <a:noFill/>
          </p:spPr>
          <p:txBody>
            <a:bodyPr wrap="none" rtlCol="0">
              <a:spAutoFit/>
            </a:bodyPr>
            <a:lstStyle/>
            <a:p>
              <a:r>
                <a:rPr lang="en-US" dirty="0">
                  <a:solidFill>
                    <a:srgbClr val="FF0000"/>
                  </a:solidFill>
                </a:rPr>
                <a:t>+</a:t>
              </a:r>
            </a:p>
          </p:txBody>
        </p:sp>
        <p:sp>
          <p:nvSpPr>
            <p:cNvPr id="24" name="TextBox 23">
              <a:extLst>
                <a:ext uri="{FF2B5EF4-FFF2-40B4-BE49-F238E27FC236}">
                  <a16:creationId xmlns:a16="http://schemas.microsoft.com/office/drawing/2014/main" id="{7DC7FDCE-2962-8982-C6F5-9526B0EF6E3E}"/>
                </a:ext>
              </a:extLst>
            </p:cNvPr>
            <p:cNvSpPr txBox="1"/>
            <p:nvPr/>
          </p:nvSpPr>
          <p:spPr>
            <a:xfrm>
              <a:off x="7409989" y="4099180"/>
              <a:ext cx="263214" cy="369332"/>
            </a:xfrm>
            <a:prstGeom prst="rect">
              <a:avLst/>
            </a:prstGeom>
            <a:noFill/>
          </p:spPr>
          <p:txBody>
            <a:bodyPr wrap="none" rtlCol="0">
              <a:spAutoFit/>
            </a:bodyPr>
            <a:lstStyle/>
            <a:p>
              <a:r>
                <a:rPr lang="en-US" dirty="0">
                  <a:solidFill>
                    <a:srgbClr val="FF0000"/>
                  </a:solidFill>
                </a:rPr>
                <a:t>-</a:t>
              </a:r>
            </a:p>
          </p:txBody>
        </p:sp>
        <p:pic>
          <p:nvPicPr>
            <p:cNvPr id="25" name="Picture 24">
              <a:extLst>
                <a:ext uri="{FF2B5EF4-FFF2-40B4-BE49-F238E27FC236}">
                  <a16:creationId xmlns:a16="http://schemas.microsoft.com/office/drawing/2014/main" id="{52F517F6-C492-EB58-8116-8996FA184FC1}"/>
                </a:ext>
              </a:extLst>
            </p:cNvPr>
            <p:cNvPicPr>
              <a:picLocks noChangeAspect="1"/>
            </p:cNvPicPr>
            <p:nvPr/>
          </p:nvPicPr>
          <p:blipFill>
            <a:blip r:embed="rId3"/>
            <a:stretch>
              <a:fillRect/>
            </a:stretch>
          </p:blipFill>
          <p:spPr>
            <a:xfrm>
              <a:off x="8689057" y="3588021"/>
              <a:ext cx="2170222" cy="1277897"/>
            </a:xfrm>
            <a:prstGeom prst="rect">
              <a:avLst/>
            </a:prstGeom>
          </p:spPr>
        </p:pic>
        <p:grpSp>
          <p:nvGrpSpPr>
            <p:cNvPr id="26" name="Group 25">
              <a:extLst>
                <a:ext uri="{FF2B5EF4-FFF2-40B4-BE49-F238E27FC236}">
                  <a16:creationId xmlns:a16="http://schemas.microsoft.com/office/drawing/2014/main" id="{DB1E2D49-ECBC-E3B4-4628-E1CA66F69AAE}"/>
                </a:ext>
              </a:extLst>
            </p:cNvPr>
            <p:cNvGrpSpPr/>
            <p:nvPr/>
          </p:nvGrpSpPr>
          <p:grpSpPr>
            <a:xfrm>
              <a:off x="9273407" y="3739541"/>
              <a:ext cx="142595" cy="490604"/>
              <a:chOff x="6320118" y="3683188"/>
              <a:chExt cx="142595" cy="490604"/>
            </a:xfrm>
          </p:grpSpPr>
          <p:cxnSp>
            <p:nvCxnSpPr>
              <p:cNvPr id="27" name="Straight Connector 26">
                <a:extLst>
                  <a:ext uri="{FF2B5EF4-FFF2-40B4-BE49-F238E27FC236}">
                    <a16:creationId xmlns:a16="http://schemas.microsoft.com/office/drawing/2014/main" id="{7AAE98B0-F106-4140-7351-1B5B9EE1A4A3}"/>
                  </a:ext>
                </a:extLst>
              </p:cNvPr>
              <p:cNvCxnSpPr/>
              <p:nvPr/>
            </p:nvCxnSpPr>
            <p:spPr>
              <a:xfrm>
                <a:off x="6320118" y="3683188"/>
                <a:ext cx="0" cy="490604"/>
              </a:xfrm>
              <a:prstGeom prst="line">
                <a:avLst/>
              </a:prstGeom>
              <a:ln>
                <a:solidFill>
                  <a:srgbClr val="FF0000">
                    <a:alpha val="80000"/>
                  </a:srgbClr>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7CF8AD86-E01D-D3A2-8EF6-04D0FC39410C}"/>
                  </a:ext>
                </a:extLst>
              </p:cNvPr>
              <p:cNvCxnSpPr>
                <a:cxnSpLocks/>
              </p:cNvCxnSpPr>
              <p:nvPr/>
            </p:nvCxnSpPr>
            <p:spPr>
              <a:xfrm>
                <a:off x="6320118" y="4165852"/>
                <a:ext cx="142595" cy="0"/>
              </a:xfrm>
              <a:prstGeom prst="line">
                <a:avLst/>
              </a:prstGeom>
              <a:ln>
                <a:solidFill>
                  <a:srgbClr val="FF0000">
                    <a:alpha val="80000"/>
                  </a:srgbClr>
                </a:solidFill>
              </a:ln>
            </p:spPr>
            <p:style>
              <a:lnRef idx="2">
                <a:schemeClr val="accent1"/>
              </a:lnRef>
              <a:fillRef idx="0">
                <a:schemeClr val="accent1"/>
              </a:fillRef>
              <a:effectRef idx="1">
                <a:schemeClr val="accent1"/>
              </a:effectRef>
              <a:fontRef idx="minor">
                <a:schemeClr val="tx1"/>
              </a:fontRef>
            </p:style>
          </p:cxnSp>
        </p:grpSp>
        <p:sp>
          <p:nvSpPr>
            <p:cNvPr id="32" name="TextBox 31">
              <a:extLst>
                <a:ext uri="{FF2B5EF4-FFF2-40B4-BE49-F238E27FC236}">
                  <a16:creationId xmlns:a16="http://schemas.microsoft.com/office/drawing/2014/main" id="{450A0223-3BFC-DF84-6ED8-2C3338010217}"/>
                </a:ext>
              </a:extLst>
            </p:cNvPr>
            <p:cNvSpPr txBox="1"/>
            <p:nvPr/>
          </p:nvSpPr>
          <p:spPr>
            <a:xfrm>
              <a:off x="9744371" y="4331702"/>
              <a:ext cx="312906" cy="369332"/>
            </a:xfrm>
            <a:prstGeom prst="rect">
              <a:avLst/>
            </a:prstGeom>
            <a:solidFill>
              <a:schemeClr val="bg1">
                <a:alpha val="50000"/>
              </a:schemeClr>
            </a:solidFill>
            <a:ln>
              <a:solidFill>
                <a:srgbClr val="FF0000"/>
              </a:solidFill>
            </a:ln>
          </p:spPr>
          <p:txBody>
            <a:bodyPr wrap="none" rtlCol="0">
              <a:spAutoFit/>
            </a:bodyPr>
            <a:lstStyle/>
            <a:p>
              <a:r>
                <a:rPr lang="en-US" dirty="0">
                  <a:latin typeface="Cambria Math" panose="02040503050406030204" pitchFamily="18" charset="0"/>
                  <a:ea typeface="Cambria Math" panose="02040503050406030204" pitchFamily="18" charset="0"/>
                </a:rPr>
                <a:t>0</a:t>
              </a:r>
              <a:endParaRPr lang="en-US" baseline="-25000" dirty="0">
                <a:latin typeface="Cambria Math" panose="02040503050406030204" pitchFamily="18" charset="0"/>
                <a:ea typeface="Cambria Math" panose="02040503050406030204" pitchFamily="18" charset="0"/>
              </a:endParaRPr>
            </a:p>
          </p:txBody>
        </p:sp>
        <p:sp>
          <p:nvSpPr>
            <p:cNvPr id="33" name="TextBox 32">
              <a:extLst>
                <a:ext uri="{FF2B5EF4-FFF2-40B4-BE49-F238E27FC236}">
                  <a16:creationId xmlns:a16="http://schemas.microsoft.com/office/drawing/2014/main" id="{AC54E323-AFBE-21EC-63FC-1EE164F89826}"/>
                </a:ext>
              </a:extLst>
            </p:cNvPr>
            <p:cNvSpPr txBox="1"/>
            <p:nvPr/>
          </p:nvSpPr>
          <p:spPr>
            <a:xfrm>
              <a:off x="9324398" y="4129542"/>
              <a:ext cx="308098" cy="369332"/>
            </a:xfrm>
            <a:prstGeom prst="rect">
              <a:avLst/>
            </a:prstGeom>
            <a:noFill/>
          </p:spPr>
          <p:txBody>
            <a:bodyPr wrap="none" rtlCol="0">
              <a:spAutoFit/>
            </a:bodyPr>
            <a:lstStyle/>
            <a:p>
              <a:r>
                <a:rPr lang="en-US" dirty="0">
                  <a:solidFill>
                    <a:srgbClr val="FF0000"/>
                  </a:solidFill>
                </a:rPr>
                <a:t>+</a:t>
              </a:r>
            </a:p>
          </p:txBody>
        </p:sp>
        <p:sp>
          <p:nvSpPr>
            <p:cNvPr id="34" name="TextBox 33">
              <a:extLst>
                <a:ext uri="{FF2B5EF4-FFF2-40B4-BE49-F238E27FC236}">
                  <a16:creationId xmlns:a16="http://schemas.microsoft.com/office/drawing/2014/main" id="{58EDD51E-2D00-39E4-EA40-5A8AFBBC9153}"/>
                </a:ext>
              </a:extLst>
            </p:cNvPr>
            <p:cNvSpPr txBox="1"/>
            <p:nvPr/>
          </p:nvSpPr>
          <p:spPr>
            <a:xfrm>
              <a:off x="10170218" y="4099180"/>
              <a:ext cx="263214" cy="369332"/>
            </a:xfrm>
            <a:prstGeom prst="rect">
              <a:avLst/>
            </a:prstGeom>
            <a:noFill/>
          </p:spPr>
          <p:txBody>
            <a:bodyPr wrap="none" rtlCol="0">
              <a:spAutoFit/>
            </a:bodyPr>
            <a:lstStyle/>
            <a:p>
              <a:r>
                <a:rPr lang="en-US" dirty="0">
                  <a:solidFill>
                    <a:srgbClr val="FF0000"/>
                  </a:solidFill>
                </a:rPr>
                <a:t>-</a:t>
              </a:r>
            </a:p>
          </p:txBody>
        </p:sp>
        <p:grpSp>
          <p:nvGrpSpPr>
            <p:cNvPr id="35" name="Group 34">
              <a:extLst>
                <a:ext uri="{FF2B5EF4-FFF2-40B4-BE49-F238E27FC236}">
                  <a16:creationId xmlns:a16="http://schemas.microsoft.com/office/drawing/2014/main" id="{D26C7354-E294-86E6-0213-92846B5D33C2}"/>
                </a:ext>
              </a:extLst>
            </p:cNvPr>
            <p:cNvGrpSpPr/>
            <p:nvPr/>
          </p:nvGrpSpPr>
          <p:grpSpPr>
            <a:xfrm flipH="1">
              <a:off x="10432463" y="3736366"/>
              <a:ext cx="142595" cy="490604"/>
              <a:chOff x="6320118" y="3683188"/>
              <a:chExt cx="142595" cy="490604"/>
            </a:xfrm>
          </p:grpSpPr>
          <p:cxnSp>
            <p:nvCxnSpPr>
              <p:cNvPr id="36" name="Straight Connector 35">
                <a:extLst>
                  <a:ext uri="{FF2B5EF4-FFF2-40B4-BE49-F238E27FC236}">
                    <a16:creationId xmlns:a16="http://schemas.microsoft.com/office/drawing/2014/main" id="{A0B91AD5-92AA-8B8F-6111-2B864EEC47F0}"/>
                  </a:ext>
                </a:extLst>
              </p:cNvPr>
              <p:cNvCxnSpPr/>
              <p:nvPr/>
            </p:nvCxnSpPr>
            <p:spPr>
              <a:xfrm>
                <a:off x="6320118" y="3683188"/>
                <a:ext cx="0" cy="490604"/>
              </a:xfrm>
              <a:prstGeom prst="line">
                <a:avLst/>
              </a:prstGeom>
              <a:ln>
                <a:solidFill>
                  <a:srgbClr val="FF0000">
                    <a:alpha val="80000"/>
                  </a:srgbClr>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37C48808-2892-C550-BF12-E454D7CED42A}"/>
                  </a:ext>
                </a:extLst>
              </p:cNvPr>
              <p:cNvCxnSpPr>
                <a:cxnSpLocks/>
              </p:cNvCxnSpPr>
              <p:nvPr/>
            </p:nvCxnSpPr>
            <p:spPr>
              <a:xfrm>
                <a:off x="6320118" y="4165852"/>
                <a:ext cx="142595" cy="0"/>
              </a:xfrm>
              <a:prstGeom prst="line">
                <a:avLst/>
              </a:prstGeom>
              <a:ln>
                <a:solidFill>
                  <a:srgbClr val="FF0000">
                    <a:alpha val="80000"/>
                  </a:srgbClr>
                </a:solidFill>
              </a:ln>
            </p:spPr>
            <p:style>
              <a:lnRef idx="2">
                <a:schemeClr val="accent1"/>
              </a:lnRef>
              <a:fillRef idx="0">
                <a:schemeClr val="accent1"/>
              </a:fillRef>
              <a:effectRef idx="1">
                <a:schemeClr val="accent1"/>
              </a:effectRef>
              <a:fontRef idx="minor">
                <a:schemeClr val="tx1"/>
              </a:fontRef>
            </p:style>
          </p:cxnSp>
        </p:grpSp>
        <p:pic>
          <p:nvPicPr>
            <p:cNvPr id="38" name="Picture 37">
              <a:extLst>
                <a:ext uri="{FF2B5EF4-FFF2-40B4-BE49-F238E27FC236}">
                  <a16:creationId xmlns:a16="http://schemas.microsoft.com/office/drawing/2014/main" id="{94C3D421-D7F0-7EAE-7D95-7E86BE70938B}"/>
                </a:ext>
              </a:extLst>
            </p:cNvPr>
            <p:cNvPicPr>
              <a:picLocks noChangeAspect="1"/>
            </p:cNvPicPr>
            <p:nvPr/>
          </p:nvPicPr>
          <p:blipFill>
            <a:blip r:embed="rId3"/>
            <a:stretch>
              <a:fillRect/>
            </a:stretch>
          </p:blipFill>
          <p:spPr>
            <a:xfrm>
              <a:off x="5934734" y="4955406"/>
              <a:ext cx="2170222" cy="1277897"/>
            </a:xfrm>
            <a:prstGeom prst="rect">
              <a:avLst/>
            </a:prstGeom>
          </p:spPr>
        </p:pic>
        <p:grpSp>
          <p:nvGrpSpPr>
            <p:cNvPr id="39" name="Group 38">
              <a:extLst>
                <a:ext uri="{FF2B5EF4-FFF2-40B4-BE49-F238E27FC236}">
                  <a16:creationId xmlns:a16="http://schemas.microsoft.com/office/drawing/2014/main" id="{F3B006E2-F60B-2DA4-0CC5-EF33E8007F8B}"/>
                </a:ext>
              </a:extLst>
            </p:cNvPr>
            <p:cNvGrpSpPr/>
            <p:nvPr/>
          </p:nvGrpSpPr>
          <p:grpSpPr>
            <a:xfrm flipV="1">
              <a:off x="6519084" y="5576664"/>
              <a:ext cx="142595" cy="490604"/>
              <a:chOff x="6320118" y="3683188"/>
              <a:chExt cx="142595" cy="490604"/>
            </a:xfrm>
          </p:grpSpPr>
          <p:cxnSp>
            <p:nvCxnSpPr>
              <p:cNvPr id="40" name="Straight Connector 39">
                <a:extLst>
                  <a:ext uri="{FF2B5EF4-FFF2-40B4-BE49-F238E27FC236}">
                    <a16:creationId xmlns:a16="http://schemas.microsoft.com/office/drawing/2014/main" id="{A241BCD0-ECED-1212-61CC-3673FE32DC01}"/>
                  </a:ext>
                </a:extLst>
              </p:cNvPr>
              <p:cNvCxnSpPr/>
              <p:nvPr/>
            </p:nvCxnSpPr>
            <p:spPr>
              <a:xfrm>
                <a:off x="6320118" y="3683188"/>
                <a:ext cx="0" cy="490604"/>
              </a:xfrm>
              <a:prstGeom prst="line">
                <a:avLst/>
              </a:prstGeom>
              <a:ln>
                <a:solidFill>
                  <a:srgbClr val="FF0000">
                    <a:alpha val="80000"/>
                  </a:srgb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0E81F802-6D9A-6D24-671E-E0C936C81363}"/>
                  </a:ext>
                </a:extLst>
              </p:cNvPr>
              <p:cNvCxnSpPr>
                <a:cxnSpLocks/>
              </p:cNvCxnSpPr>
              <p:nvPr/>
            </p:nvCxnSpPr>
            <p:spPr>
              <a:xfrm>
                <a:off x="6320118" y="4165852"/>
                <a:ext cx="142595" cy="0"/>
              </a:xfrm>
              <a:prstGeom prst="line">
                <a:avLst/>
              </a:prstGeom>
              <a:ln>
                <a:solidFill>
                  <a:srgbClr val="FF0000">
                    <a:alpha val="80000"/>
                  </a:srgbClr>
                </a:solidFill>
              </a:ln>
            </p:spPr>
            <p:style>
              <a:lnRef idx="2">
                <a:schemeClr val="accent1"/>
              </a:lnRef>
              <a:fillRef idx="0">
                <a:schemeClr val="accent1"/>
              </a:fillRef>
              <a:effectRef idx="1">
                <a:schemeClr val="accent1"/>
              </a:effectRef>
              <a:fontRef idx="minor">
                <a:schemeClr val="tx1"/>
              </a:fontRef>
            </p:style>
          </p:cxnSp>
        </p:grpSp>
        <p:sp>
          <p:nvSpPr>
            <p:cNvPr id="42" name="TextBox 41">
              <a:extLst>
                <a:ext uri="{FF2B5EF4-FFF2-40B4-BE49-F238E27FC236}">
                  <a16:creationId xmlns:a16="http://schemas.microsoft.com/office/drawing/2014/main" id="{788CA125-D735-A439-9BE4-A86D87DFCCC9}"/>
                </a:ext>
              </a:extLst>
            </p:cNvPr>
            <p:cNvSpPr txBox="1"/>
            <p:nvPr/>
          </p:nvSpPr>
          <p:spPr>
            <a:xfrm>
              <a:off x="6986928" y="5702262"/>
              <a:ext cx="312906" cy="369332"/>
            </a:xfrm>
            <a:prstGeom prst="rect">
              <a:avLst/>
            </a:prstGeom>
            <a:solidFill>
              <a:schemeClr val="bg1">
                <a:alpha val="50000"/>
              </a:schemeClr>
            </a:solidFill>
            <a:ln>
              <a:solidFill>
                <a:srgbClr val="FF0000"/>
              </a:solidFill>
            </a:ln>
          </p:spPr>
          <p:txBody>
            <a:bodyPr wrap="none" rtlCol="0">
              <a:spAutoFit/>
            </a:bodyPr>
            <a:lstStyle/>
            <a:p>
              <a:r>
                <a:rPr lang="en-US" dirty="0">
                  <a:latin typeface="Cambria Math" panose="02040503050406030204" pitchFamily="18" charset="0"/>
                  <a:ea typeface="Cambria Math" panose="02040503050406030204" pitchFamily="18" charset="0"/>
                </a:rPr>
                <a:t>0</a:t>
              </a:r>
              <a:endParaRPr lang="en-US" baseline="-25000" dirty="0">
                <a:latin typeface="Cambria Math" panose="02040503050406030204" pitchFamily="18" charset="0"/>
                <a:ea typeface="Cambria Math" panose="02040503050406030204" pitchFamily="18" charset="0"/>
              </a:endParaRPr>
            </a:p>
          </p:txBody>
        </p:sp>
        <p:sp>
          <p:nvSpPr>
            <p:cNvPr id="43" name="TextBox 42">
              <a:extLst>
                <a:ext uri="{FF2B5EF4-FFF2-40B4-BE49-F238E27FC236}">
                  <a16:creationId xmlns:a16="http://schemas.microsoft.com/office/drawing/2014/main" id="{F57A0F5C-F5C1-12AC-A484-549CA65D87F9}"/>
                </a:ext>
              </a:extLst>
            </p:cNvPr>
            <p:cNvSpPr txBox="1"/>
            <p:nvPr/>
          </p:nvSpPr>
          <p:spPr>
            <a:xfrm>
              <a:off x="6570075" y="5496927"/>
              <a:ext cx="308098" cy="369332"/>
            </a:xfrm>
            <a:prstGeom prst="rect">
              <a:avLst/>
            </a:prstGeom>
            <a:noFill/>
          </p:spPr>
          <p:txBody>
            <a:bodyPr wrap="none" rtlCol="0">
              <a:spAutoFit/>
            </a:bodyPr>
            <a:lstStyle/>
            <a:p>
              <a:r>
                <a:rPr lang="en-US" dirty="0">
                  <a:solidFill>
                    <a:srgbClr val="FF0000"/>
                  </a:solidFill>
                </a:rPr>
                <a:t>+</a:t>
              </a:r>
            </a:p>
          </p:txBody>
        </p:sp>
        <p:sp>
          <p:nvSpPr>
            <p:cNvPr id="44" name="TextBox 43">
              <a:extLst>
                <a:ext uri="{FF2B5EF4-FFF2-40B4-BE49-F238E27FC236}">
                  <a16:creationId xmlns:a16="http://schemas.microsoft.com/office/drawing/2014/main" id="{329888B7-4E7F-AE75-083C-FE1C35FAB100}"/>
                </a:ext>
              </a:extLst>
            </p:cNvPr>
            <p:cNvSpPr txBox="1"/>
            <p:nvPr/>
          </p:nvSpPr>
          <p:spPr>
            <a:xfrm>
              <a:off x="7409989" y="5456960"/>
              <a:ext cx="263214" cy="369332"/>
            </a:xfrm>
            <a:prstGeom prst="rect">
              <a:avLst/>
            </a:prstGeom>
            <a:noFill/>
          </p:spPr>
          <p:txBody>
            <a:bodyPr wrap="none" rtlCol="0">
              <a:spAutoFit/>
            </a:bodyPr>
            <a:lstStyle/>
            <a:p>
              <a:r>
                <a:rPr lang="en-US" dirty="0">
                  <a:solidFill>
                    <a:srgbClr val="FF0000"/>
                  </a:solidFill>
                </a:rPr>
                <a:t>-</a:t>
              </a:r>
            </a:p>
          </p:txBody>
        </p:sp>
        <p:grpSp>
          <p:nvGrpSpPr>
            <p:cNvPr id="45" name="Group 44">
              <a:extLst>
                <a:ext uri="{FF2B5EF4-FFF2-40B4-BE49-F238E27FC236}">
                  <a16:creationId xmlns:a16="http://schemas.microsoft.com/office/drawing/2014/main" id="{A8C819EE-13E8-219D-3335-38FE63B3C9F9}"/>
                </a:ext>
              </a:extLst>
            </p:cNvPr>
            <p:cNvGrpSpPr/>
            <p:nvPr/>
          </p:nvGrpSpPr>
          <p:grpSpPr>
            <a:xfrm flipH="1" flipV="1">
              <a:off x="7678140" y="5573489"/>
              <a:ext cx="142595" cy="490604"/>
              <a:chOff x="6320118" y="3683188"/>
              <a:chExt cx="142595" cy="490604"/>
            </a:xfrm>
          </p:grpSpPr>
          <p:cxnSp>
            <p:nvCxnSpPr>
              <p:cNvPr id="46" name="Straight Connector 45">
                <a:extLst>
                  <a:ext uri="{FF2B5EF4-FFF2-40B4-BE49-F238E27FC236}">
                    <a16:creationId xmlns:a16="http://schemas.microsoft.com/office/drawing/2014/main" id="{71D86095-924F-ED94-5F66-046DC54479F9}"/>
                  </a:ext>
                </a:extLst>
              </p:cNvPr>
              <p:cNvCxnSpPr/>
              <p:nvPr/>
            </p:nvCxnSpPr>
            <p:spPr>
              <a:xfrm>
                <a:off x="6320118" y="3683188"/>
                <a:ext cx="0" cy="490604"/>
              </a:xfrm>
              <a:prstGeom prst="line">
                <a:avLst/>
              </a:prstGeom>
              <a:ln>
                <a:solidFill>
                  <a:srgbClr val="FF0000">
                    <a:alpha val="80000"/>
                  </a:srgbClr>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73224F0B-78C6-1381-B7A5-D68B131903F8}"/>
                  </a:ext>
                </a:extLst>
              </p:cNvPr>
              <p:cNvCxnSpPr>
                <a:cxnSpLocks/>
              </p:cNvCxnSpPr>
              <p:nvPr/>
            </p:nvCxnSpPr>
            <p:spPr>
              <a:xfrm>
                <a:off x="6320118" y="4165852"/>
                <a:ext cx="142595" cy="0"/>
              </a:xfrm>
              <a:prstGeom prst="line">
                <a:avLst/>
              </a:prstGeom>
              <a:ln>
                <a:solidFill>
                  <a:srgbClr val="FF0000">
                    <a:alpha val="80000"/>
                  </a:srgbClr>
                </a:solidFill>
              </a:ln>
            </p:spPr>
            <p:style>
              <a:lnRef idx="2">
                <a:schemeClr val="accent1"/>
              </a:lnRef>
              <a:fillRef idx="0">
                <a:schemeClr val="accent1"/>
              </a:fillRef>
              <a:effectRef idx="1">
                <a:schemeClr val="accent1"/>
              </a:effectRef>
              <a:fontRef idx="minor">
                <a:schemeClr val="tx1"/>
              </a:fontRef>
            </p:style>
          </p:cxnSp>
        </p:grpSp>
        <p:pic>
          <p:nvPicPr>
            <p:cNvPr id="48" name="Picture 47">
              <a:extLst>
                <a:ext uri="{FF2B5EF4-FFF2-40B4-BE49-F238E27FC236}">
                  <a16:creationId xmlns:a16="http://schemas.microsoft.com/office/drawing/2014/main" id="{1042D71C-8445-FF11-4E97-51D220DB9185}"/>
                </a:ext>
              </a:extLst>
            </p:cNvPr>
            <p:cNvPicPr>
              <a:picLocks noChangeAspect="1"/>
            </p:cNvPicPr>
            <p:nvPr/>
          </p:nvPicPr>
          <p:blipFill>
            <a:blip r:embed="rId3"/>
            <a:stretch>
              <a:fillRect/>
            </a:stretch>
          </p:blipFill>
          <p:spPr>
            <a:xfrm>
              <a:off x="8691417" y="4955794"/>
              <a:ext cx="2170222" cy="1277897"/>
            </a:xfrm>
            <a:prstGeom prst="rect">
              <a:avLst/>
            </a:prstGeom>
          </p:spPr>
        </p:pic>
        <p:sp>
          <p:nvSpPr>
            <p:cNvPr id="52" name="TextBox 51">
              <a:extLst>
                <a:ext uri="{FF2B5EF4-FFF2-40B4-BE49-F238E27FC236}">
                  <a16:creationId xmlns:a16="http://schemas.microsoft.com/office/drawing/2014/main" id="{A2CC8D9D-5B31-3D47-1836-80647CA3A63E}"/>
                </a:ext>
              </a:extLst>
            </p:cNvPr>
            <p:cNvSpPr txBox="1"/>
            <p:nvPr/>
          </p:nvSpPr>
          <p:spPr>
            <a:xfrm>
              <a:off x="9706180" y="5694761"/>
              <a:ext cx="464038" cy="369332"/>
            </a:xfrm>
            <a:prstGeom prst="rect">
              <a:avLst/>
            </a:prstGeom>
            <a:solidFill>
              <a:schemeClr val="bg1">
                <a:alpha val="50000"/>
              </a:schemeClr>
            </a:solidFill>
            <a:ln>
              <a:solidFill>
                <a:srgbClr val="FF0000"/>
              </a:solidFill>
            </a:ln>
          </p:spPr>
          <p:txBody>
            <a:bodyPr wrap="none" rtlCol="0">
              <a:spAutoFit/>
            </a:bodyPr>
            <a:lstStyle/>
            <a:p>
              <a:pPr algn="ctr"/>
              <a:r>
                <a:rPr lang="en-US" dirty="0">
                  <a:latin typeface="Cambria Math" panose="02040503050406030204" pitchFamily="18" charset="0"/>
                  <a:ea typeface="Cambria Math" panose="02040503050406030204" pitchFamily="18" charset="0"/>
                </a:rPr>
                <a:t>-V</a:t>
              </a:r>
              <a:r>
                <a:rPr lang="en-US" baseline="-25000" dirty="0">
                  <a:latin typeface="Cambria Math" panose="02040503050406030204" pitchFamily="18" charset="0"/>
                  <a:ea typeface="Cambria Math" panose="02040503050406030204" pitchFamily="18" charset="0"/>
                </a:rPr>
                <a:t>g</a:t>
              </a:r>
            </a:p>
          </p:txBody>
        </p:sp>
        <p:sp>
          <p:nvSpPr>
            <p:cNvPr id="53" name="TextBox 52">
              <a:extLst>
                <a:ext uri="{FF2B5EF4-FFF2-40B4-BE49-F238E27FC236}">
                  <a16:creationId xmlns:a16="http://schemas.microsoft.com/office/drawing/2014/main" id="{99528D70-D3B6-D3F9-5961-F0BF334E5856}"/>
                </a:ext>
              </a:extLst>
            </p:cNvPr>
            <p:cNvSpPr txBox="1"/>
            <p:nvPr/>
          </p:nvSpPr>
          <p:spPr>
            <a:xfrm>
              <a:off x="9326758" y="5497315"/>
              <a:ext cx="308098" cy="369332"/>
            </a:xfrm>
            <a:prstGeom prst="rect">
              <a:avLst/>
            </a:prstGeom>
            <a:noFill/>
          </p:spPr>
          <p:txBody>
            <a:bodyPr wrap="none" rtlCol="0">
              <a:spAutoFit/>
            </a:bodyPr>
            <a:lstStyle/>
            <a:p>
              <a:r>
                <a:rPr lang="en-US" dirty="0">
                  <a:solidFill>
                    <a:srgbClr val="FF0000"/>
                  </a:solidFill>
                </a:rPr>
                <a:t>+</a:t>
              </a:r>
            </a:p>
          </p:txBody>
        </p:sp>
        <p:sp>
          <p:nvSpPr>
            <p:cNvPr id="54" name="TextBox 53">
              <a:extLst>
                <a:ext uri="{FF2B5EF4-FFF2-40B4-BE49-F238E27FC236}">
                  <a16:creationId xmlns:a16="http://schemas.microsoft.com/office/drawing/2014/main" id="{2345ED9D-5413-6F53-8065-03EDDF4E9CC7}"/>
                </a:ext>
              </a:extLst>
            </p:cNvPr>
            <p:cNvSpPr txBox="1"/>
            <p:nvPr/>
          </p:nvSpPr>
          <p:spPr>
            <a:xfrm>
              <a:off x="10170218" y="5468575"/>
              <a:ext cx="263214" cy="369332"/>
            </a:xfrm>
            <a:prstGeom prst="rect">
              <a:avLst/>
            </a:prstGeom>
            <a:noFill/>
          </p:spPr>
          <p:txBody>
            <a:bodyPr wrap="none" rtlCol="0">
              <a:spAutoFit/>
            </a:bodyPr>
            <a:lstStyle/>
            <a:p>
              <a:r>
                <a:rPr lang="en-US" dirty="0">
                  <a:solidFill>
                    <a:srgbClr val="FF0000"/>
                  </a:solidFill>
                </a:rPr>
                <a:t>-</a:t>
              </a:r>
            </a:p>
          </p:txBody>
        </p:sp>
        <p:grpSp>
          <p:nvGrpSpPr>
            <p:cNvPr id="55" name="Group 54">
              <a:extLst>
                <a:ext uri="{FF2B5EF4-FFF2-40B4-BE49-F238E27FC236}">
                  <a16:creationId xmlns:a16="http://schemas.microsoft.com/office/drawing/2014/main" id="{7BFFEA18-D9EC-D99D-6F38-A448BB46E757}"/>
                </a:ext>
              </a:extLst>
            </p:cNvPr>
            <p:cNvGrpSpPr/>
            <p:nvPr/>
          </p:nvGrpSpPr>
          <p:grpSpPr>
            <a:xfrm flipH="1">
              <a:off x="10434823" y="5104139"/>
              <a:ext cx="142595" cy="490604"/>
              <a:chOff x="6320118" y="3683188"/>
              <a:chExt cx="142595" cy="490604"/>
            </a:xfrm>
          </p:grpSpPr>
          <p:cxnSp>
            <p:nvCxnSpPr>
              <p:cNvPr id="56" name="Straight Connector 55">
                <a:extLst>
                  <a:ext uri="{FF2B5EF4-FFF2-40B4-BE49-F238E27FC236}">
                    <a16:creationId xmlns:a16="http://schemas.microsoft.com/office/drawing/2014/main" id="{BA3DEFBF-F1DB-3792-123F-A169149D717A}"/>
                  </a:ext>
                </a:extLst>
              </p:cNvPr>
              <p:cNvCxnSpPr/>
              <p:nvPr/>
            </p:nvCxnSpPr>
            <p:spPr>
              <a:xfrm>
                <a:off x="6320118" y="3683188"/>
                <a:ext cx="0" cy="490604"/>
              </a:xfrm>
              <a:prstGeom prst="line">
                <a:avLst/>
              </a:prstGeom>
              <a:ln>
                <a:solidFill>
                  <a:srgbClr val="FF0000">
                    <a:alpha val="80000"/>
                  </a:srgbClr>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52191179-57F6-7874-B6FB-AFCDB6B3B846}"/>
                  </a:ext>
                </a:extLst>
              </p:cNvPr>
              <p:cNvCxnSpPr>
                <a:cxnSpLocks/>
              </p:cNvCxnSpPr>
              <p:nvPr/>
            </p:nvCxnSpPr>
            <p:spPr>
              <a:xfrm>
                <a:off x="6320118" y="4165852"/>
                <a:ext cx="142595" cy="0"/>
              </a:xfrm>
              <a:prstGeom prst="line">
                <a:avLst/>
              </a:prstGeom>
              <a:ln>
                <a:solidFill>
                  <a:srgbClr val="FF0000">
                    <a:alpha val="80000"/>
                  </a:srgbClr>
                </a:solidFill>
              </a:ln>
            </p:spPr>
            <p:style>
              <a:lnRef idx="2">
                <a:schemeClr val="accent1"/>
              </a:lnRef>
              <a:fillRef idx="0">
                <a:schemeClr val="accent1"/>
              </a:fillRef>
              <a:effectRef idx="1">
                <a:schemeClr val="accent1"/>
              </a:effectRef>
              <a:fontRef idx="minor">
                <a:schemeClr val="tx1"/>
              </a:fontRef>
            </p:style>
          </p:cxnSp>
        </p:grpSp>
        <p:grpSp>
          <p:nvGrpSpPr>
            <p:cNvPr id="58" name="Group 57">
              <a:extLst>
                <a:ext uri="{FF2B5EF4-FFF2-40B4-BE49-F238E27FC236}">
                  <a16:creationId xmlns:a16="http://schemas.microsoft.com/office/drawing/2014/main" id="{BDEC833D-45AD-23D8-BBEB-9E6484DD8A97}"/>
                </a:ext>
              </a:extLst>
            </p:cNvPr>
            <p:cNvGrpSpPr/>
            <p:nvPr/>
          </p:nvGrpSpPr>
          <p:grpSpPr>
            <a:xfrm flipV="1">
              <a:off x="9271765" y="5580990"/>
              <a:ext cx="142595" cy="490604"/>
              <a:chOff x="6320118" y="3683188"/>
              <a:chExt cx="142595" cy="490604"/>
            </a:xfrm>
          </p:grpSpPr>
          <p:cxnSp>
            <p:nvCxnSpPr>
              <p:cNvPr id="59" name="Straight Connector 58">
                <a:extLst>
                  <a:ext uri="{FF2B5EF4-FFF2-40B4-BE49-F238E27FC236}">
                    <a16:creationId xmlns:a16="http://schemas.microsoft.com/office/drawing/2014/main" id="{10986DD2-75A6-5378-5505-57E52B26019A}"/>
                  </a:ext>
                </a:extLst>
              </p:cNvPr>
              <p:cNvCxnSpPr/>
              <p:nvPr/>
            </p:nvCxnSpPr>
            <p:spPr>
              <a:xfrm>
                <a:off x="6320118" y="3683188"/>
                <a:ext cx="0" cy="490604"/>
              </a:xfrm>
              <a:prstGeom prst="line">
                <a:avLst/>
              </a:prstGeom>
              <a:ln>
                <a:solidFill>
                  <a:srgbClr val="FF0000">
                    <a:alpha val="80000"/>
                  </a:srgbClr>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D05DC4F9-C55F-9072-5048-E9C63393E4F6}"/>
                  </a:ext>
                </a:extLst>
              </p:cNvPr>
              <p:cNvCxnSpPr>
                <a:cxnSpLocks/>
              </p:cNvCxnSpPr>
              <p:nvPr/>
            </p:nvCxnSpPr>
            <p:spPr>
              <a:xfrm>
                <a:off x="6320118" y="4165852"/>
                <a:ext cx="142595" cy="0"/>
              </a:xfrm>
              <a:prstGeom prst="line">
                <a:avLst/>
              </a:prstGeom>
              <a:ln>
                <a:solidFill>
                  <a:srgbClr val="FF0000">
                    <a:alpha val="80000"/>
                  </a:srgbClr>
                </a:solidFill>
              </a:ln>
            </p:spPr>
            <p:style>
              <a:lnRef idx="2">
                <a:schemeClr val="accent1"/>
              </a:lnRef>
              <a:fillRef idx="0">
                <a:schemeClr val="accent1"/>
              </a:fillRef>
              <a:effectRef idx="1">
                <a:schemeClr val="accent1"/>
              </a:effectRef>
              <a:fontRef idx="minor">
                <a:schemeClr val="tx1"/>
              </a:fontRef>
            </p:style>
          </p:cxnSp>
        </p:grpSp>
        <p:sp>
          <p:nvSpPr>
            <p:cNvPr id="61" name="TextBox 60">
              <a:extLst>
                <a:ext uri="{FF2B5EF4-FFF2-40B4-BE49-F238E27FC236}">
                  <a16:creationId xmlns:a16="http://schemas.microsoft.com/office/drawing/2014/main" id="{CD815993-6A74-13F5-63E7-F6533C2BFACA}"/>
                </a:ext>
              </a:extLst>
            </p:cNvPr>
            <p:cNvSpPr txBox="1"/>
            <p:nvPr/>
          </p:nvSpPr>
          <p:spPr>
            <a:xfrm>
              <a:off x="6567433" y="3531668"/>
              <a:ext cx="1141531" cy="307777"/>
            </a:xfrm>
            <a:prstGeom prst="rect">
              <a:avLst/>
            </a:prstGeom>
            <a:noFill/>
          </p:spPr>
          <p:txBody>
            <a:bodyPr wrap="none" rtlCol="0">
              <a:spAutoFit/>
            </a:bodyPr>
            <a:lstStyle/>
            <a:p>
              <a:r>
                <a:rPr lang="en-US" sz="1400" dirty="0"/>
                <a:t>1 high, 2 low</a:t>
              </a:r>
            </a:p>
          </p:txBody>
        </p:sp>
        <p:sp>
          <p:nvSpPr>
            <p:cNvPr id="62" name="TextBox 61">
              <a:extLst>
                <a:ext uri="{FF2B5EF4-FFF2-40B4-BE49-F238E27FC236}">
                  <a16:creationId xmlns:a16="http://schemas.microsoft.com/office/drawing/2014/main" id="{008A7626-5D19-3EFC-2E9F-DDCCFD5179CC}"/>
                </a:ext>
              </a:extLst>
            </p:cNvPr>
            <p:cNvSpPr txBox="1"/>
            <p:nvPr/>
          </p:nvSpPr>
          <p:spPr>
            <a:xfrm>
              <a:off x="9324398" y="3562038"/>
              <a:ext cx="1196161" cy="307777"/>
            </a:xfrm>
            <a:prstGeom prst="rect">
              <a:avLst/>
            </a:prstGeom>
            <a:noFill/>
          </p:spPr>
          <p:txBody>
            <a:bodyPr wrap="none" rtlCol="0">
              <a:spAutoFit/>
            </a:bodyPr>
            <a:lstStyle/>
            <a:p>
              <a:r>
                <a:rPr lang="en-US" sz="1400" dirty="0"/>
                <a:t>1 high, 2 high</a:t>
              </a:r>
            </a:p>
          </p:txBody>
        </p:sp>
        <p:sp>
          <p:nvSpPr>
            <p:cNvPr id="63" name="TextBox 62">
              <a:extLst>
                <a:ext uri="{FF2B5EF4-FFF2-40B4-BE49-F238E27FC236}">
                  <a16:creationId xmlns:a16="http://schemas.microsoft.com/office/drawing/2014/main" id="{049FF20B-35E3-B32A-0FC5-ECBB7631184C}"/>
                </a:ext>
              </a:extLst>
            </p:cNvPr>
            <p:cNvSpPr txBox="1"/>
            <p:nvPr/>
          </p:nvSpPr>
          <p:spPr>
            <a:xfrm>
              <a:off x="6586770" y="4950186"/>
              <a:ext cx="1076577" cy="307777"/>
            </a:xfrm>
            <a:prstGeom prst="rect">
              <a:avLst/>
            </a:prstGeom>
            <a:noFill/>
          </p:spPr>
          <p:txBody>
            <a:bodyPr wrap="none" rtlCol="0">
              <a:spAutoFit/>
            </a:bodyPr>
            <a:lstStyle/>
            <a:p>
              <a:r>
                <a:rPr lang="en-US" sz="1400" dirty="0"/>
                <a:t>1 low, 2 low</a:t>
              </a:r>
            </a:p>
          </p:txBody>
        </p:sp>
        <p:sp>
          <p:nvSpPr>
            <p:cNvPr id="64" name="TextBox 63">
              <a:extLst>
                <a:ext uri="{FF2B5EF4-FFF2-40B4-BE49-F238E27FC236}">
                  <a16:creationId xmlns:a16="http://schemas.microsoft.com/office/drawing/2014/main" id="{3A934DE9-F1D0-F21F-52FF-F75B4F6CF95C}"/>
                </a:ext>
              </a:extLst>
            </p:cNvPr>
            <p:cNvSpPr txBox="1"/>
            <p:nvPr/>
          </p:nvSpPr>
          <p:spPr>
            <a:xfrm>
              <a:off x="9351712" y="4973943"/>
              <a:ext cx="1131207" cy="307777"/>
            </a:xfrm>
            <a:prstGeom prst="rect">
              <a:avLst/>
            </a:prstGeom>
            <a:noFill/>
          </p:spPr>
          <p:txBody>
            <a:bodyPr wrap="none" rtlCol="0">
              <a:spAutoFit/>
            </a:bodyPr>
            <a:lstStyle/>
            <a:p>
              <a:r>
                <a:rPr lang="en-US" sz="1400" dirty="0"/>
                <a:t>1 low, 2 high</a:t>
              </a:r>
            </a:p>
          </p:txBody>
        </p:sp>
      </p:grpSp>
      <p:sp>
        <p:nvSpPr>
          <p:cNvPr id="67" name="Rectangle: Rounded Corners 66">
            <a:extLst>
              <a:ext uri="{FF2B5EF4-FFF2-40B4-BE49-F238E27FC236}">
                <a16:creationId xmlns:a16="http://schemas.microsoft.com/office/drawing/2014/main" id="{EACD6F68-AD31-9AE4-F895-581F2A1696C1}"/>
              </a:ext>
            </a:extLst>
          </p:cNvPr>
          <p:cNvSpPr/>
          <p:nvPr/>
        </p:nvSpPr>
        <p:spPr>
          <a:xfrm>
            <a:off x="5417116" y="3426869"/>
            <a:ext cx="5850467" cy="3230033"/>
          </a:xfrm>
          <a:prstGeom prst="roundRect">
            <a:avLst>
              <a:gd name="adj" fmla="val 3299"/>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A404703D-A5B7-85ED-E03C-28485AC29E4D}"/>
              </a:ext>
            </a:extLst>
          </p:cNvPr>
          <p:cNvSpPr txBox="1"/>
          <p:nvPr/>
        </p:nvSpPr>
        <p:spPr>
          <a:xfrm>
            <a:off x="9463522" y="3435050"/>
            <a:ext cx="1826206" cy="338554"/>
          </a:xfrm>
          <a:prstGeom prst="rect">
            <a:avLst/>
          </a:prstGeom>
          <a:noFill/>
        </p:spPr>
        <p:txBody>
          <a:bodyPr wrap="none" rtlCol="0">
            <a:spAutoFit/>
          </a:bodyPr>
          <a:lstStyle/>
          <a:p>
            <a:r>
              <a:rPr lang="en-US" sz="1600" b="1" dirty="0"/>
              <a:t>Possible Voltages</a:t>
            </a:r>
          </a:p>
        </p:txBody>
      </p:sp>
    </p:spTree>
    <p:extLst>
      <p:ext uri="{BB962C8B-B14F-4D97-AF65-F5344CB8AC3E}">
        <p14:creationId xmlns:p14="http://schemas.microsoft.com/office/powerpoint/2010/main" val="3789560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00598-45B1-B381-FB43-D2AB855ED95E}"/>
              </a:ext>
            </a:extLst>
          </p:cNvPr>
          <p:cNvSpPr>
            <a:spLocks noGrp="1"/>
          </p:cNvSpPr>
          <p:nvPr>
            <p:ph type="title"/>
          </p:nvPr>
        </p:nvSpPr>
        <p:spPr/>
        <p:txBody>
          <a:bodyPr/>
          <a:lstStyle/>
          <a:p>
            <a:r>
              <a:rPr lang="en-US" dirty="0"/>
              <a:t>Duty Cycle Control</a:t>
            </a:r>
          </a:p>
        </p:txBody>
      </p:sp>
      <p:sp>
        <p:nvSpPr>
          <p:cNvPr id="4" name="Text Placeholder 3">
            <a:extLst>
              <a:ext uri="{FF2B5EF4-FFF2-40B4-BE49-F238E27FC236}">
                <a16:creationId xmlns:a16="http://schemas.microsoft.com/office/drawing/2014/main" id="{1FC6BD35-4977-9055-94F0-6AD2C61A87CD}"/>
              </a:ext>
            </a:extLst>
          </p:cNvPr>
          <p:cNvSpPr>
            <a:spLocks noGrp="1"/>
          </p:cNvSpPr>
          <p:nvPr>
            <p:ph type="body" sz="half" idx="2"/>
          </p:nvPr>
        </p:nvSpPr>
        <p:spPr/>
        <p:txBody>
          <a:bodyPr/>
          <a:lstStyle/>
          <a:p>
            <a:r>
              <a:rPr lang="en-US" dirty="0"/>
              <a:t>Half-bridges 1 and 2 are independent</a:t>
            </a:r>
          </a:p>
          <a:p>
            <a:pPr marL="285750" indent="-285750">
              <a:buFont typeface="Arial" panose="020B0604020202020204" pitchFamily="34" charset="0"/>
              <a:buChar char="•"/>
            </a:pPr>
            <a:r>
              <a:rPr lang="en-US" dirty="0"/>
              <a:t>Both high and both low result in 0 voltage across switch nodes</a:t>
            </a:r>
          </a:p>
          <a:p>
            <a:pPr marL="285750" indent="-285750">
              <a:buFont typeface="Arial" panose="020B0604020202020204" pitchFamily="34" charset="0"/>
              <a:buChar char="•"/>
            </a:pPr>
            <a:r>
              <a:rPr lang="en-US" dirty="0"/>
              <a:t>Duty ratios &lt;2.5% and &gt;97.5% are risky</a:t>
            </a:r>
          </a:p>
          <a:p>
            <a:pPr marL="285750" indent="-285750">
              <a:buFont typeface="Arial" panose="020B0604020202020204" pitchFamily="34" charset="0"/>
              <a:buChar char="•"/>
            </a:pPr>
            <a:r>
              <a:rPr lang="en-US" dirty="0"/>
              <a:t>H-bridge topology allows finer control</a:t>
            </a:r>
          </a:p>
          <a:p>
            <a:r>
              <a:rPr lang="en-US" dirty="0"/>
              <a:t>Control scheme shown on right</a:t>
            </a:r>
          </a:p>
          <a:p>
            <a:pPr marL="285750" indent="-285750">
              <a:buFont typeface="Arial" panose="020B0604020202020204" pitchFamily="34" charset="0"/>
              <a:buChar char="•"/>
            </a:pPr>
            <a:r>
              <a:rPr lang="en-US" dirty="0"/>
              <a:t>Duty cycle “seen” across switch nodes labelled as </a:t>
            </a:r>
            <a:r>
              <a:rPr lang="en-US" dirty="0">
                <a:latin typeface="Cambria Math" panose="02040503050406030204" pitchFamily="18" charset="0"/>
                <a:ea typeface="Cambria Math" panose="02040503050406030204" pitchFamily="18" charset="0"/>
              </a:rPr>
              <a:t>M(t)</a:t>
            </a:r>
          </a:p>
        </p:txBody>
      </p:sp>
      <p:sp>
        <p:nvSpPr>
          <p:cNvPr id="10" name="TextBox 9">
            <a:extLst>
              <a:ext uri="{FF2B5EF4-FFF2-40B4-BE49-F238E27FC236}">
                <a16:creationId xmlns:a16="http://schemas.microsoft.com/office/drawing/2014/main" id="{0B80502B-7230-5267-A45B-8DE580568134}"/>
              </a:ext>
            </a:extLst>
          </p:cNvPr>
          <p:cNvSpPr txBox="1"/>
          <p:nvPr/>
        </p:nvSpPr>
        <p:spPr>
          <a:xfrm>
            <a:off x="7634641" y="647941"/>
            <a:ext cx="1470146" cy="646331"/>
          </a:xfrm>
          <a:prstGeom prst="rect">
            <a:avLst/>
          </a:prstGeom>
          <a:noFill/>
        </p:spPr>
        <p:txBody>
          <a:bodyPr wrap="none" rtlCol="0">
            <a:spAutoFit/>
          </a:bodyPr>
          <a:lstStyle/>
          <a:p>
            <a:pPr algn="ctr"/>
            <a:r>
              <a:rPr lang="en-US" dirty="0">
                <a:solidFill>
                  <a:srgbClr val="00B050"/>
                </a:solidFill>
              </a:rPr>
              <a:t>Half-bridge 1</a:t>
            </a:r>
          </a:p>
          <a:p>
            <a:pPr algn="ctr"/>
            <a:r>
              <a:rPr lang="en-US" dirty="0">
                <a:solidFill>
                  <a:srgbClr val="FF0000"/>
                </a:solidFill>
              </a:rPr>
              <a:t>Half-bridge 2</a:t>
            </a:r>
          </a:p>
        </p:txBody>
      </p:sp>
      <p:pic>
        <p:nvPicPr>
          <p:cNvPr id="12" name="Picture 11">
            <a:extLst>
              <a:ext uri="{FF2B5EF4-FFF2-40B4-BE49-F238E27FC236}">
                <a16:creationId xmlns:a16="http://schemas.microsoft.com/office/drawing/2014/main" id="{8384D332-04AA-EBA6-7252-4614FD20DF27}"/>
              </a:ext>
            </a:extLst>
          </p:cNvPr>
          <p:cNvPicPr>
            <a:picLocks noChangeAspect="1"/>
          </p:cNvPicPr>
          <p:nvPr/>
        </p:nvPicPr>
        <p:blipFill>
          <a:blip r:embed="rId2"/>
          <a:srcRect l="-514" t="-685" r="514" b="1376"/>
          <a:stretch>
            <a:fillRect/>
          </a:stretch>
        </p:blipFill>
        <p:spPr>
          <a:xfrm flipH="1">
            <a:off x="6376296" y="1374895"/>
            <a:ext cx="4041935" cy="2054105"/>
          </a:xfrm>
          <a:prstGeom prst="rect">
            <a:avLst/>
          </a:prstGeom>
        </p:spPr>
      </p:pic>
      <p:cxnSp>
        <p:nvCxnSpPr>
          <p:cNvPr id="14" name="Straight Connector 13">
            <a:extLst>
              <a:ext uri="{FF2B5EF4-FFF2-40B4-BE49-F238E27FC236}">
                <a16:creationId xmlns:a16="http://schemas.microsoft.com/office/drawing/2014/main" id="{0A8D96FD-06D4-0D03-C4A6-054A02ECA043}"/>
              </a:ext>
            </a:extLst>
          </p:cNvPr>
          <p:cNvCxnSpPr>
            <a:cxnSpLocks/>
          </p:cNvCxnSpPr>
          <p:nvPr/>
        </p:nvCxnSpPr>
        <p:spPr>
          <a:xfrm>
            <a:off x="8359163" y="1346440"/>
            <a:ext cx="0" cy="2082560"/>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DCCBC7C4-5DE6-ACF9-D7FA-3FB735EFFC1F}"/>
              </a:ext>
            </a:extLst>
          </p:cNvPr>
          <p:cNvCxnSpPr/>
          <p:nvPr/>
        </p:nvCxnSpPr>
        <p:spPr>
          <a:xfrm>
            <a:off x="8072967" y="2307407"/>
            <a:ext cx="286196" cy="0"/>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F7AF2779-B892-5889-B791-BECC8F4C5E63}"/>
              </a:ext>
            </a:extLst>
          </p:cNvPr>
          <p:cNvCxnSpPr/>
          <p:nvPr/>
        </p:nvCxnSpPr>
        <p:spPr>
          <a:xfrm>
            <a:off x="8369714" y="2307407"/>
            <a:ext cx="286196" cy="0"/>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57C417D7-308E-F429-978A-9AAAF0E66C44}"/>
              </a:ext>
            </a:extLst>
          </p:cNvPr>
          <p:cNvSpPr txBox="1"/>
          <p:nvPr/>
        </p:nvSpPr>
        <p:spPr>
          <a:xfrm>
            <a:off x="7609296" y="1885907"/>
            <a:ext cx="758541" cy="369332"/>
          </a:xfrm>
          <a:prstGeom prst="rect">
            <a:avLst/>
          </a:prstGeom>
          <a:noFill/>
        </p:spPr>
        <p:txBody>
          <a:bodyPr wrap="none" rtlCol="0">
            <a:spAutoFit/>
          </a:bodyPr>
          <a:lstStyle/>
          <a:p>
            <a:r>
              <a:rPr lang="en-US" dirty="0">
                <a:latin typeface="Cambria Math" panose="02040503050406030204" pitchFamily="18" charset="0"/>
                <a:ea typeface="Cambria Math" panose="02040503050406030204" pitchFamily="18" charset="0"/>
              </a:rPr>
              <a:t>d</a:t>
            </a:r>
            <a:r>
              <a:rPr lang="en-US" baseline="-25000" dirty="0">
                <a:latin typeface="Cambria Math" panose="02040503050406030204" pitchFamily="18" charset="0"/>
                <a:ea typeface="Cambria Math" panose="02040503050406030204" pitchFamily="18" charset="0"/>
              </a:rPr>
              <a:t>off</a:t>
            </a:r>
            <a:r>
              <a:rPr lang="en-US" dirty="0">
                <a:latin typeface="Cambria Math" panose="02040503050406030204" pitchFamily="18" charset="0"/>
                <a:ea typeface="Cambria Math" panose="02040503050406030204" pitchFamily="18" charset="0"/>
              </a:rPr>
              <a:t>(t)</a:t>
            </a:r>
          </a:p>
        </p:txBody>
      </p:sp>
      <p:sp>
        <p:nvSpPr>
          <p:cNvPr id="19" name="TextBox 18">
            <a:extLst>
              <a:ext uri="{FF2B5EF4-FFF2-40B4-BE49-F238E27FC236}">
                <a16:creationId xmlns:a16="http://schemas.microsoft.com/office/drawing/2014/main" id="{DC27AF8C-EF12-3353-4845-EE452C456BA0}"/>
              </a:ext>
            </a:extLst>
          </p:cNvPr>
          <p:cNvSpPr txBox="1"/>
          <p:nvPr/>
        </p:nvSpPr>
        <p:spPr>
          <a:xfrm>
            <a:off x="8376510" y="1885907"/>
            <a:ext cx="758541" cy="369332"/>
          </a:xfrm>
          <a:prstGeom prst="rect">
            <a:avLst/>
          </a:prstGeom>
          <a:noFill/>
        </p:spPr>
        <p:txBody>
          <a:bodyPr wrap="none" rtlCol="0">
            <a:spAutoFit/>
          </a:bodyPr>
          <a:lstStyle/>
          <a:p>
            <a:r>
              <a:rPr lang="en-US" dirty="0">
                <a:latin typeface="Cambria Math" panose="02040503050406030204" pitchFamily="18" charset="0"/>
                <a:ea typeface="Cambria Math" panose="02040503050406030204" pitchFamily="18" charset="0"/>
              </a:rPr>
              <a:t>d</a:t>
            </a:r>
            <a:r>
              <a:rPr lang="en-US" baseline="-25000" dirty="0">
                <a:latin typeface="Cambria Math" panose="02040503050406030204" pitchFamily="18" charset="0"/>
                <a:ea typeface="Cambria Math" panose="02040503050406030204" pitchFamily="18" charset="0"/>
              </a:rPr>
              <a:t>off</a:t>
            </a:r>
            <a:r>
              <a:rPr lang="en-US" dirty="0">
                <a:latin typeface="Cambria Math" panose="02040503050406030204" pitchFamily="18" charset="0"/>
                <a:ea typeface="Cambria Math" panose="02040503050406030204" pitchFamily="18" charset="0"/>
              </a:rPr>
              <a:t>(t)</a:t>
            </a:r>
          </a:p>
        </p:txBody>
      </p:sp>
      <p:sp>
        <p:nvSpPr>
          <p:cNvPr id="20" name="TextBox 19">
            <a:extLst>
              <a:ext uri="{FF2B5EF4-FFF2-40B4-BE49-F238E27FC236}">
                <a16:creationId xmlns:a16="http://schemas.microsoft.com/office/drawing/2014/main" id="{44FFDF89-C29A-0C61-0D3A-19E3C092C549}"/>
              </a:ext>
            </a:extLst>
          </p:cNvPr>
          <p:cNvSpPr txBox="1"/>
          <p:nvPr/>
        </p:nvSpPr>
        <p:spPr>
          <a:xfrm>
            <a:off x="7588488" y="3672632"/>
            <a:ext cx="1556067" cy="369332"/>
          </a:xfrm>
          <a:prstGeom prst="rect">
            <a:avLst/>
          </a:prstGeom>
          <a:noFill/>
        </p:spPr>
        <p:txBody>
          <a:bodyPr wrap="none" rtlCol="0">
            <a:spAutoFit/>
          </a:bodyPr>
          <a:lstStyle/>
          <a:p>
            <a:r>
              <a:rPr lang="en-US" dirty="0"/>
              <a:t>Halfway point</a:t>
            </a:r>
          </a:p>
        </p:txBody>
      </p:sp>
      <p:cxnSp>
        <p:nvCxnSpPr>
          <p:cNvPr id="22" name="Straight Arrow Connector 21">
            <a:extLst>
              <a:ext uri="{FF2B5EF4-FFF2-40B4-BE49-F238E27FC236}">
                <a16:creationId xmlns:a16="http://schemas.microsoft.com/office/drawing/2014/main" id="{BBB9078E-96E0-22B3-3796-BD6D983CAD90}"/>
              </a:ext>
            </a:extLst>
          </p:cNvPr>
          <p:cNvCxnSpPr>
            <a:stCxn id="20" idx="0"/>
          </p:cNvCxnSpPr>
          <p:nvPr/>
        </p:nvCxnSpPr>
        <p:spPr>
          <a:xfrm flipV="1">
            <a:off x="8366522" y="3481168"/>
            <a:ext cx="3192" cy="19146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B1818B73-AD0D-7A92-AD7E-8F30EB6501EE}"/>
              </a:ext>
            </a:extLst>
          </p:cNvPr>
          <p:cNvSpPr txBox="1"/>
          <p:nvPr/>
        </p:nvSpPr>
        <p:spPr>
          <a:xfrm>
            <a:off x="6087016" y="4233428"/>
            <a:ext cx="4620497" cy="923330"/>
          </a:xfrm>
          <a:prstGeom prst="rect">
            <a:avLst/>
          </a:prstGeom>
          <a:noFill/>
        </p:spPr>
        <p:txBody>
          <a:bodyPr wrap="none" rtlCol="0">
            <a:spAutoFit/>
          </a:bodyPr>
          <a:lstStyle/>
          <a:p>
            <a:pPr algn="ctr"/>
            <a:r>
              <a:rPr lang="en-US" dirty="0"/>
              <a:t>Half-bridge 1 duty ratio: </a:t>
            </a:r>
            <a:r>
              <a:rPr lang="en-US" dirty="0">
                <a:latin typeface="Cambria Math" panose="02040503050406030204" pitchFamily="18" charset="0"/>
                <a:ea typeface="Cambria Math" panose="02040503050406030204" pitchFamily="18" charset="0"/>
              </a:rPr>
              <a:t>0.5 + d</a:t>
            </a:r>
            <a:r>
              <a:rPr lang="en-US" baseline="-25000" dirty="0">
                <a:latin typeface="Cambria Math" panose="02040503050406030204" pitchFamily="18" charset="0"/>
                <a:ea typeface="Cambria Math" panose="02040503050406030204" pitchFamily="18" charset="0"/>
              </a:rPr>
              <a:t>off</a:t>
            </a:r>
            <a:r>
              <a:rPr lang="en-US" dirty="0">
                <a:latin typeface="Cambria Math" panose="02040503050406030204" pitchFamily="18" charset="0"/>
                <a:ea typeface="Cambria Math" panose="02040503050406030204" pitchFamily="18" charset="0"/>
              </a:rPr>
              <a:t>(t)</a:t>
            </a:r>
          </a:p>
          <a:p>
            <a:pPr algn="ctr"/>
            <a:r>
              <a:rPr lang="en-US" dirty="0"/>
              <a:t>Half-bridge 2 duty ratio: </a:t>
            </a:r>
            <a:r>
              <a:rPr lang="en-US" dirty="0">
                <a:latin typeface="Cambria Math" panose="02040503050406030204" pitchFamily="18" charset="0"/>
                <a:ea typeface="Cambria Math" panose="02040503050406030204" pitchFamily="18" charset="0"/>
              </a:rPr>
              <a:t>0.5 – d</a:t>
            </a:r>
            <a:r>
              <a:rPr lang="en-US" baseline="-25000" dirty="0">
                <a:latin typeface="Cambria Math" panose="02040503050406030204" pitchFamily="18" charset="0"/>
                <a:ea typeface="Cambria Math" panose="02040503050406030204" pitchFamily="18" charset="0"/>
              </a:rPr>
              <a:t>off</a:t>
            </a:r>
            <a:r>
              <a:rPr lang="en-US" dirty="0">
                <a:latin typeface="Cambria Math" panose="02040503050406030204" pitchFamily="18" charset="0"/>
                <a:ea typeface="Cambria Math" panose="02040503050406030204" pitchFamily="18" charset="0"/>
              </a:rPr>
              <a:t>(t)</a:t>
            </a:r>
          </a:p>
          <a:p>
            <a:pPr algn="ctr"/>
            <a:r>
              <a:rPr lang="en-US" dirty="0">
                <a:ea typeface="Cambria Math" panose="02040503050406030204" pitchFamily="18" charset="0"/>
              </a:rPr>
              <a:t>Duty cycle “seen” by inductive tank: </a:t>
            </a:r>
            <a:r>
              <a:rPr lang="en-US" dirty="0">
                <a:latin typeface="Cambria Math" panose="02040503050406030204" pitchFamily="18" charset="0"/>
                <a:ea typeface="Cambria Math" panose="02040503050406030204" pitchFamily="18" charset="0"/>
              </a:rPr>
              <a:t>2*d</a:t>
            </a:r>
            <a:r>
              <a:rPr lang="en-US" baseline="-25000" dirty="0">
                <a:latin typeface="Cambria Math" panose="02040503050406030204" pitchFamily="18" charset="0"/>
                <a:ea typeface="Cambria Math" panose="02040503050406030204" pitchFamily="18" charset="0"/>
              </a:rPr>
              <a:t>off</a:t>
            </a:r>
            <a:r>
              <a:rPr lang="en-US" dirty="0">
                <a:latin typeface="Cambria Math" panose="02040503050406030204" pitchFamily="18" charset="0"/>
                <a:ea typeface="Cambria Math" panose="02040503050406030204" pitchFamily="18" charset="0"/>
              </a:rPr>
              <a:t>(t)</a:t>
            </a:r>
          </a:p>
        </p:txBody>
      </p:sp>
      <p:sp>
        <p:nvSpPr>
          <p:cNvPr id="3" name="Rectangle: Rounded Corners 2">
            <a:extLst>
              <a:ext uri="{FF2B5EF4-FFF2-40B4-BE49-F238E27FC236}">
                <a16:creationId xmlns:a16="http://schemas.microsoft.com/office/drawing/2014/main" id="{63BD2BD6-3839-DBA1-A1D3-8FE924880947}"/>
              </a:ext>
            </a:extLst>
          </p:cNvPr>
          <p:cNvSpPr/>
          <p:nvPr/>
        </p:nvSpPr>
        <p:spPr>
          <a:xfrm>
            <a:off x="5670176" y="416515"/>
            <a:ext cx="5328024" cy="3657944"/>
          </a:xfrm>
          <a:prstGeom prst="roundRect">
            <a:avLst>
              <a:gd name="adj" fmla="val 3299"/>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D654266-2F06-EED9-D8E6-BF96EBFA83CF}"/>
              </a:ext>
            </a:extLst>
          </p:cNvPr>
          <p:cNvSpPr txBox="1"/>
          <p:nvPr/>
        </p:nvSpPr>
        <p:spPr>
          <a:xfrm>
            <a:off x="9452287" y="424696"/>
            <a:ext cx="1568058" cy="338554"/>
          </a:xfrm>
          <a:prstGeom prst="rect">
            <a:avLst/>
          </a:prstGeom>
          <a:noFill/>
        </p:spPr>
        <p:txBody>
          <a:bodyPr wrap="none" rtlCol="0">
            <a:spAutoFit/>
          </a:bodyPr>
          <a:lstStyle/>
          <a:p>
            <a:pPr algn="r"/>
            <a:r>
              <a:rPr lang="en-US" sz="1600" b="1" dirty="0"/>
              <a:t>Scope Reading</a:t>
            </a:r>
          </a:p>
        </p:txBody>
      </p:sp>
    </p:spTree>
    <p:extLst>
      <p:ext uri="{BB962C8B-B14F-4D97-AF65-F5344CB8AC3E}">
        <p14:creationId xmlns:p14="http://schemas.microsoft.com/office/powerpoint/2010/main" val="3662244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734B7-8CDD-AC44-5768-587FD109C7EA}"/>
              </a:ext>
            </a:extLst>
          </p:cNvPr>
          <p:cNvSpPr>
            <a:spLocks noGrp="1"/>
          </p:cNvSpPr>
          <p:nvPr>
            <p:ph type="title"/>
          </p:nvPr>
        </p:nvSpPr>
        <p:spPr/>
        <p:txBody>
          <a:bodyPr/>
          <a:lstStyle/>
          <a:p>
            <a:r>
              <a:rPr lang="en-US" dirty="0"/>
              <a:t>Transformer Equivalent</a:t>
            </a:r>
          </a:p>
        </p:txBody>
      </p:sp>
      <p:sp>
        <p:nvSpPr>
          <p:cNvPr id="4" name="Text Placeholder 3">
            <a:extLst>
              <a:ext uri="{FF2B5EF4-FFF2-40B4-BE49-F238E27FC236}">
                <a16:creationId xmlns:a16="http://schemas.microsoft.com/office/drawing/2014/main" id="{C5AACA2F-657F-8F9E-37C1-789E0A2980A2}"/>
              </a:ext>
            </a:extLst>
          </p:cNvPr>
          <p:cNvSpPr>
            <a:spLocks noGrp="1"/>
          </p:cNvSpPr>
          <p:nvPr>
            <p:ph type="body" sz="half" idx="2"/>
          </p:nvPr>
        </p:nvSpPr>
        <p:spPr/>
        <p:txBody>
          <a:bodyPr/>
          <a:lstStyle/>
          <a:p>
            <a:r>
              <a:rPr lang="en-US" dirty="0"/>
              <a:t>Use SRA analysis and derive KCL- and KVL-like equations</a:t>
            </a:r>
          </a:p>
          <a:p>
            <a:pPr marL="285750" indent="-285750">
              <a:buFont typeface="Arial" panose="020B0604020202020204" pitchFamily="34" charset="0"/>
              <a:buChar char="•"/>
            </a:pPr>
            <a:r>
              <a:rPr lang="en-US" dirty="0"/>
              <a:t>Convert into loops and create ideal transformer model of circuit with gain </a:t>
            </a:r>
            <a:r>
              <a:rPr lang="en-US" dirty="0">
                <a:latin typeface="Cambria Math" panose="02040503050406030204" pitchFamily="18" charset="0"/>
                <a:ea typeface="Cambria Math" panose="02040503050406030204" pitchFamily="18" charset="0"/>
              </a:rPr>
              <a:t>1:M(t)</a:t>
            </a:r>
          </a:p>
          <a:p>
            <a:pPr marL="285750" indent="-285750">
              <a:buFont typeface="Arial" panose="020B0604020202020204" pitchFamily="34" charset="0"/>
              <a:buChar char="•"/>
            </a:pPr>
            <a:r>
              <a:rPr lang="en-US" dirty="0">
                <a:ea typeface="Cambria Math" panose="02040503050406030204" pitchFamily="18" charset="0"/>
              </a:rPr>
              <a:t>Transformer model will be useful for reflection</a:t>
            </a:r>
          </a:p>
        </p:txBody>
      </p:sp>
      <p:pic>
        <p:nvPicPr>
          <p:cNvPr id="6" name="Picture 5">
            <a:extLst>
              <a:ext uri="{FF2B5EF4-FFF2-40B4-BE49-F238E27FC236}">
                <a16:creationId xmlns:a16="http://schemas.microsoft.com/office/drawing/2014/main" id="{61B9D04C-332B-B4D9-A43C-5CF0075FB79C}"/>
              </a:ext>
            </a:extLst>
          </p:cNvPr>
          <p:cNvPicPr>
            <a:picLocks noChangeAspect="1"/>
          </p:cNvPicPr>
          <p:nvPr/>
        </p:nvPicPr>
        <p:blipFill>
          <a:blip r:embed="rId2"/>
          <a:stretch>
            <a:fillRect/>
          </a:stretch>
        </p:blipFill>
        <p:spPr>
          <a:xfrm>
            <a:off x="6018306" y="1388615"/>
            <a:ext cx="5173845" cy="1790575"/>
          </a:xfrm>
          <a:prstGeom prst="rect">
            <a:avLst/>
          </a:prstGeom>
        </p:spPr>
      </p:pic>
      <p:pic>
        <p:nvPicPr>
          <p:cNvPr id="8" name="Picture 7">
            <a:extLst>
              <a:ext uri="{FF2B5EF4-FFF2-40B4-BE49-F238E27FC236}">
                <a16:creationId xmlns:a16="http://schemas.microsoft.com/office/drawing/2014/main" id="{B239EB99-9A3F-FC2F-4327-A2119B2B4C8A}"/>
              </a:ext>
            </a:extLst>
          </p:cNvPr>
          <p:cNvPicPr>
            <a:picLocks noChangeAspect="1"/>
          </p:cNvPicPr>
          <p:nvPr/>
        </p:nvPicPr>
        <p:blipFill>
          <a:blip r:embed="rId3"/>
          <a:stretch>
            <a:fillRect/>
          </a:stretch>
        </p:blipFill>
        <p:spPr>
          <a:xfrm>
            <a:off x="5892729" y="4089616"/>
            <a:ext cx="5299422" cy="1536471"/>
          </a:xfrm>
          <a:prstGeom prst="rect">
            <a:avLst/>
          </a:prstGeom>
        </p:spPr>
      </p:pic>
      <p:sp>
        <p:nvSpPr>
          <p:cNvPr id="3" name="Rectangle: Rounded Corners 2">
            <a:extLst>
              <a:ext uri="{FF2B5EF4-FFF2-40B4-BE49-F238E27FC236}">
                <a16:creationId xmlns:a16="http://schemas.microsoft.com/office/drawing/2014/main" id="{105D18A0-60F6-5F5F-507E-C0F51B01B4CF}"/>
              </a:ext>
            </a:extLst>
          </p:cNvPr>
          <p:cNvSpPr/>
          <p:nvPr/>
        </p:nvSpPr>
        <p:spPr>
          <a:xfrm>
            <a:off x="5842932" y="914367"/>
            <a:ext cx="5634376" cy="2441230"/>
          </a:xfrm>
          <a:prstGeom prst="roundRect">
            <a:avLst>
              <a:gd name="adj" fmla="val 3299"/>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BEC40E1-B838-D902-AADC-E27EAE8637AE}"/>
              </a:ext>
            </a:extLst>
          </p:cNvPr>
          <p:cNvSpPr txBox="1"/>
          <p:nvPr/>
        </p:nvSpPr>
        <p:spPr>
          <a:xfrm>
            <a:off x="9025290" y="922547"/>
            <a:ext cx="2452018" cy="338554"/>
          </a:xfrm>
          <a:prstGeom prst="rect">
            <a:avLst/>
          </a:prstGeom>
          <a:noFill/>
        </p:spPr>
        <p:txBody>
          <a:bodyPr wrap="none" rtlCol="0">
            <a:spAutoFit/>
          </a:bodyPr>
          <a:lstStyle/>
          <a:p>
            <a:pPr algn="r"/>
            <a:r>
              <a:rPr lang="en-US" sz="1600" b="1" dirty="0"/>
              <a:t>Ideal Transformer Model</a:t>
            </a:r>
          </a:p>
        </p:txBody>
      </p:sp>
      <p:sp>
        <p:nvSpPr>
          <p:cNvPr id="7" name="Rectangle: Rounded Corners 6">
            <a:extLst>
              <a:ext uri="{FF2B5EF4-FFF2-40B4-BE49-F238E27FC236}">
                <a16:creationId xmlns:a16="http://schemas.microsoft.com/office/drawing/2014/main" id="{04BBEA23-98F6-381D-49D5-B9F521AE7262}"/>
              </a:ext>
            </a:extLst>
          </p:cNvPr>
          <p:cNvSpPr/>
          <p:nvPr/>
        </p:nvSpPr>
        <p:spPr>
          <a:xfrm>
            <a:off x="5842932" y="3696715"/>
            <a:ext cx="5634376" cy="2441230"/>
          </a:xfrm>
          <a:prstGeom prst="roundRect">
            <a:avLst>
              <a:gd name="adj" fmla="val 3299"/>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E3E9094-3426-7339-42B1-2552156A9C4B}"/>
              </a:ext>
            </a:extLst>
          </p:cNvPr>
          <p:cNvSpPr txBox="1"/>
          <p:nvPr/>
        </p:nvSpPr>
        <p:spPr>
          <a:xfrm>
            <a:off x="8478089" y="3704895"/>
            <a:ext cx="2999219" cy="338554"/>
          </a:xfrm>
          <a:prstGeom prst="rect">
            <a:avLst/>
          </a:prstGeom>
          <a:noFill/>
        </p:spPr>
        <p:txBody>
          <a:bodyPr wrap="none" rtlCol="0">
            <a:spAutoFit/>
          </a:bodyPr>
          <a:lstStyle/>
          <a:p>
            <a:pPr algn="r"/>
            <a:r>
              <a:rPr lang="en-US" sz="1600" b="1" dirty="0"/>
              <a:t>Voltage/Current Source Model</a:t>
            </a:r>
          </a:p>
        </p:txBody>
      </p:sp>
    </p:spTree>
    <p:extLst>
      <p:ext uri="{BB962C8B-B14F-4D97-AF65-F5344CB8AC3E}">
        <p14:creationId xmlns:p14="http://schemas.microsoft.com/office/powerpoint/2010/main" val="3322298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F08C0-4C31-3258-538C-87F883D9B692}"/>
              </a:ext>
            </a:extLst>
          </p:cNvPr>
          <p:cNvSpPr>
            <a:spLocks noGrp="1"/>
          </p:cNvSpPr>
          <p:nvPr>
            <p:ph type="title"/>
          </p:nvPr>
        </p:nvSpPr>
        <p:spPr/>
        <p:txBody>
          <a:bodyPr/>
          <a:lstStyle/>
          <a:p>
            <a:r>
              <a:rPr lang="en-US" dirty="0"/>
              <a:t>Capacitor Feed-Forward Correction</a:t>
            </a:r>
          </a:p>
        </p:txBody>
      </p:sp>
      <p:sp>
        <p:nvSpPr>
          <p:cNvPr id="4" name="Text Placeholder 3">
            <a:extLst>
              <a:ext uri="{FF2B5EF4-FFF2-40B4-BE49-F238E27FC236}">
                <a16:creationId xmlns:a16="http://schemas.microsoft.com/office/drawing/2014/main" id="{C7B7F404-C6A8-F55C-599B-D49A63D125B6}"/>
              </a:ext>
            </a:extLst>
          </p:cNvPr>
          <p:cNvSpPr>
            <a:spLocks noGrp="1"/>
          </p:cNvSpPr>
          <p:nvPr>
            <p:ph type="body" sz="half" idx="2"/>
          </p:nvPr>
        </p:nvSpPr>
        <p:spPr>
          <a:xfrm>
            <a:off x="839788" y="2057400"/>
            <a:ext cx="3932237" cy="4343400"/>
          </a:xfrm>
        </p:spPr>
        <p:txBody>
          <a:bodyPr>
            <a:normAutofit/>
          </a:bodyPr>
          <a:lstStyle/>
          <a:p>
            <a:r>
              <a:rPr lang="en-US" dirty="0"/>
              <a:t>Split the voltage source on the right into a </a:t>
            </a:r>
            <a:r>
              <a:rPr lang="en-US" dirty="0">
                <a:latin typeface="Cambria Math" panose="02040503050406030204" pitchFamily="18" charset="0"/>
                <a:ea typeface="Cambria Math" panose="02040503050406030204" pitchFamily="18" charset="0"/>
              </a:rPr>
              <a:t>V</a:t>
            </a:r>
            <a:r>
              <a:rPr lang="en-US" baseline="-25000" dirty="0">
                <a:latin typeface="Cambria Math" panose="02040503050406030204" pitchFamily="18" charset="0"/>
                <a:ea typeface="Cambria Math" panose="02040503050406030204" pitchFamily="18" charset="0"/>
              </a:rPr>
              <a:t>c</a:t>
            </a:r>
            <a:r>
              <a:rPr lang="en-US" dirty="0">
                <a:latin typeface="Cambria Math" panose="02040503050406030204" pitchFamily="18" charset="0"/>
                <a:ea typeface="Cambria Math" panose="02040503050406030204" pitchFamily="18" charset="0"/>
              </a:rPr>
              <a:t>(t)</a:t>
            </a:r>
            <a:r>
              <a:rPr lang="en-US" dirty="0"/>
              <a:t> component and remainder</a:t>
            </a:r>
          </a:p>
          <a:p>
            <a:pPr marL="285750" indent="-285750">
              <a:buFont typeface="Arial" panose="020B0604020202020204" pitchFamily="34" charset="0"/>
              <a:buChar char="•"/>
            </a:pPr>
            <a:r>
              <a:rPr lang="en-US" dirty="0"/>
              <a:t>Remainder voltage has to be equal to voltage across RL branch</a:t>
            </a:r>
          </a:p>
          <a:p>
            <a:pPr marL="285750" indent="-285750">
              <a:buFont typeface="Arial" panose="020B0604020202020204" pitchFamily="34" charset="0"/>
              <a:buChar char="•"/>
            </a:pPr>
            <a:r>
              <a:rPr lang="en-US" dirty="0"/>
              <a:t>Current is conserved - take note of the current/voltage behavior of the transformer</a:t>
            </a:r>
          </a:p>
          <a:p>
            <a:r>
              <a:rPr lang="en-US" dirty="0"/>
              <a:t>“Cut out” the capacitor and focus on the RL branch</a:t>
            </a:r>
          </a:p>
          <a:p>
            <a:pPr marL="285750" indent="-285750">
              <a:buFont typeface="Arial" panose="020B0604020202020204" pitchFamily="34" charset="0"/>
              <a:buChar char="•"/>
            </a:pPr>
            <a:r>
              <a:rPr lang="en-US" dirty="0"/>
              <a:t>Even though </a:t>
            </a:r>
            <a:r>
              <a:rPr lang="en-US" dirty="0">
                <a:latin typeface="Cambria Math" panose="02040503050406030204" pitchFamily="18" charset="0"/>
                <a:ea typeface="Cambria Math" panose="02040503050406030204" pitchFamily="18" charset="0"/>
              </a:rPr>
              <a:t>V</a:t>
            </a:r>
            <a:r>
              <a:rPr lang="en-US" baseline="-25000" dirty="0">
                <a:latin typeface="Cambria Math" panose="02040503050406030204" pitchFamily="18" charset="0"/>
                <a:ea typeface="Cambria Math" panose="02040503050406030204" pitchFamily="18" charset="0"/>
              </a:rPr>
              <a:t>c</a:t>
            </a:r>
            <a:r>
              <a:rPr lang="en-US" dirty="0">
                <a:latin typeface="Cambria Math" panose="02040503050406030204" pitchFamily="18" charset="0"/>
                <a:ea typeface="Cambria Math" panose="02040503050406030204" pitchFamily="18" charset="0"/>
              </a:rPr>
              <a:t>(t)</a:t>
            </a:r>
            <a:r>
              <a:rPr lang="en-US" dirty="0"/>
              <a:t> is time-variant, it changes very slowly and can be treated as constant </a:t>
            </a:r>
          </a:p>
          <a:p>
            <a:pPr marL="285750" indent="-285750">
              <a:buFont typeface="Arial" panose="020B0604020202020204" pitchFamily="34" charset="0"/>
              <a:buChar char="•"/>
            </a:pPr>
            <a:r>
              <a:rPr lang="en-US" dirty="0"/>
              <a:t>Remember to adjust the voltage source on the left side to compensate – reflect the new voltage source by dividing by </a:t>
            </a:r>
            <a:r>
              <a:rPr lang="en-US" dirty="0">
                <a:latin typeface="Cambria Math" panose="02040503050406030204" pitchFamily="18" charset="0"/>
                <a:ea typeface="Cambria Math" panose="02040503050406030204" pitchFamily="18" charset="0"/>
              </a:rPr>
              <a:t>M(t)</a:t>
            </a:r>
          </a:p>
        </p:txBody>
      </p:sp>
      <p:grpSp>
        <p:nvGrpSpPr>
          <p:cNvPr id="3" name="Group 2">
            <a:extLst>
              <a:ext uri="{FF2B5EF4-FFF2-40B4-BE49-F238E27FC236}">
                <a16:creationId xmlns:a16="http://schemas.microsoft.com/office/drawing/2014/main" id="{2C2CCF52-D12D-0A2C-D980-D51AA12060D7}"/>
              </a:ext>
            </a:extLst>
          </p:cNvPr>
          <p:cNvGrpSpPr/>
          <p:nvPr/>
        </p:nvGrpSpPr>
        <p:grpSpPr>
          <a:xfrm>
            <a:off x="5791794" y="457200"/>
            <a:ext cx="5524048" cy="3167953"/>
            <a:chOff x="5406297" y="582993"/>
            <a:chExt cx="5945915" cy="3409887"/>
          </a:xfrm>
        </p:grpSpPr>
        <p:pic>
          <p:nvPicPr>
            <p:cNvPr id="6" name="Picture 5">
              <a:extLst>
                <a:ext uri="{FF2B5EF4-FFF2-40B4-BE49-F238E27FC236}">
                  <a16:creationId xmlns:a16="http://schemas.microsoft.com/office/drawing/2014/main" id="{D518150B-BDB1-3F15-A03A-6552D64AF02A}"/>
                </a:ext>
              </a:extLst>
            </p:cNvPr>
            <p:cNvPicPr>
              <a:picLocks noChangeAspect="1"/>
            </p:cNvPicPr>
            <p:nvPr/>
          </p:nvPicPr>
          <p:blipFill>
            <a:blip r:embed="rId2"/>
            <a:stretch>
              <a:fillRect/>
            </a:stretch>
          </p:blipFill>
          <p:spPr>
            <a:xfrm>
              <a:off x="5406297" y="582993"/>
              <a:ext cx="5945915" cy="3409887"/>
            </a:xfrm>
            <a:prstGeom prst="rect">
              <a:avLst/>
            </a:prstGeom>
          </p:spPr>
        </p:pic>
        <p:cxnSp>
          <p:nvCxnSpPr>
            <p:cNvPr id="8" name="Straight Connector 7">
              <a:extLst>
                <a:ext uri="{FF2B5EF4-FFF2-40B4-BE49-F238E27FC236}">
                  <a16:creationId xmlns:a16="http://schemas.microsoft.com/office/drawing/2014/main" id="{10EA1A0A-2DAA-6803-A020-E8C088E2DC6D}"/>
                </a:ext>
              </a:extLst>
            </p:cNvPr>
            <p:cNvCxnSpPr/>
            <p:nvPr/>
          </p:nvCxnSpPr>
          <p:spPr>
            <a:xfrm>
              <a:off x="8379254" y="2834640"/>
              <a:ext cx="2034746" cy="0"/>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grpSp>
      <p:pic>
        <p:nvPicPr>
          <p:cNvPr id="7" name="Picture 6">
            <a:extLst>
              <a:ext uri="{FF2B5EF4-FFF2-40B4-BE49-F238E27FC236}">
                <a16:creationId xmlns:a16="http://schemas.microsoft.com/office/drawing/2014/main" id="{9005B2B9-8D07-B441-3F0D-FAF6AD16676C}"/>
              </a:ext>
            </a:extLst>
          </p:cNvPr>
          <p:cNvPicPr>
            <a:picLocks noChangeAspect="1"/>
          </p:cNvPicPr>
          <p:nvPr/>
        </p:nvPicPr>
        <p:blipFill>
          <a:blip r:embed="rId3"/>
          <a:stretch>
            <a:fillRect/>
          </a:stretch>
        </p:blipFill>
        <p:spPr>
          <a:xfrm>
            <a:off x="5232950" y="4095356"/>
            <a:ext cx="6550895" cy="2220800"/>
          </a:xfrm>
          <a:prstGeom prst="rect">
            <a:avLst/>
          </a:prstGeom>
        </p:spPr>
      </p:pic>
      <p:sp>
        <p:nvSpPr>
          <p:cNvPr id="9" name="Rectangle: Rounded Corners 8">
            <a:extLst>
              <a:ext uri="{FF2B5EF4-FFF2-40B4-BE49-F238E27FC236}">
                <a16:creationId xmlns:a16="http://schemas.microsoft.com/office/drawing/2014/main" id="{88DB7471-9C8F-B202-122F-96E0424F4E96}"/>
              </a:ext>
            </a:extLst>
          </p:cNvPr>
          <p:cNvSpPr/>
          <p:nvPr/>
        </p:nvSpPr>
        <p:spPr>
          <a:xfrm>
            <a:off x="5171813" y="224509"/>
            <a:ext cx="6673171" cy="3400644"/>
          </a:xfrm>
          <a:prstGeom prst="roundRect">
            <a:avLst>
              <a:gd name="adj" fmla="val 3299"/>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F7B6E84-AAAA-078C-3ED6-4D309500C030}"/>
              </a:ext>
            </a:extLst>
          </p:cNvPr>
          <p:cNvSpPr txBox="1"/>
          <p:nvPr/>
        </p:nvSpPr>
        <p:spPr>
          <a:xfrm>
            <a:off x="9855336" y="215829"/>
            <a:ext cx="1989648" cy="338554"/>
          </a:xfrm>
          <a:prstGeom prst="rect">
            <a:avLst/>
          </a:prstGeom>
          <a:noFill/>
        </p:spPr>
        <p:txBody>
          <a:bodyPr wrap="none" rtlCol="0">
            <a:spAutoFit/>
          </a:bodyPr>
          <a:lstStyle/>
          <a:p>
            <a:pPr algn="r"/>
            <a:r>
              <a:rPr lang="en-US" sz="1600" b="1" dirty="0"/>
              <a:t>Separated Voltages</a:t>
            </a:r>
          </a:p>
        </p:txBody>
      </p:sp>
      <p:sp>
        <p:nvSpPr>
          <p:cNvPr id="11" name="Rectangle: Rounded Corners 10">
            <a:extLst>
              <a:ext uri="{FF2B5EF4-FFF2-40B4-BE49-F238E27FC236}">
                <a16:creationId xmlns:a16="http://schemas.microsoft.com/office/drawing/2014/main" id="{5D770D94-A1A9-31C0-8865-C42439C8FDC9}"/>
              </a:ext>
            </a:extLst>
          </p:cNvPr>
          <p:cNvSpPr/>
          <p:nvPr/>
        </p:nvSpPr>
        <p:spPr>
          <a:xfrm>
            <a:off x="5171813" y="3769342"/>
            <a:ext cx="6673171" cy="2872829"/>
          </a:xfrm>
          <a:prstGeom prst="roundRect">
            <a:avLst>
              <a:gd name="adj" fmla="val 3299"/>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A7BA290-B7FD-C284-4F5B-67DCE066346A}"/>
              </a:ext>
            </a:extLst>
          </p:cNvPr>
          <p:cNvSpPr txBox="1"/>
          <p:nvPr/>
        </p:nvSpPr>
        <p:spPr>
          <a:xfrm>
            <a:off x="9918238" y="3760662"/>
            <a:ext cx="1926746" cy="338554"/>
          </a:xfrm>
          <a:prstGeom prst="rect">
            <a:avLst/>
          </a:prstGeom>
          <a:noFill/>
        </p:spPr>
        <p:txBody>
          <a:bodyPr wrap="none" rtlCol="0">
            <a:spAutoFit/>
          </a:bodyPr>
          <a:lstStyle/>
          <a:p>
            <a:pPr algn="r"/>
            <a:r>
              <a:rPr lang="en-US" sz="1600" b="1" dirty="0"/>
              <a:t>Isolated RL Branch</a:t>
            </a:r>
          </a:p>
        </p:txBody>
      </p:sp>
    </p:spTree>
    <p:extLst>
      <p:ext uri="{BB962C8B-B14F-4D97-AF65-F5344CB8AC3E}">
        <p14:creationId xmlns:p14="http://schemas.microsoft.com/office/powerpoint/2010/main" val="3781020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4E1FD39-11C5-9B6F-70C7-3A17F073DED8}"/>
              </a:ext>
            </a:extLst>
          </p:cNvPr>
          <p:cNvPicPr>
            <a:picLocks noChangeAspect="1"/>
          </p:cNvPicPr>
          <p:nvPr/>
        </p:nvPicPr>
        <p:blipFill>
          <a:blip r:embed="rId2"/>
          <a:stretch>
            <a:fillRect/>
          </a:stretch>
        </p:blipFill>
        <p:spPr>
          <a:xfrm>
            <a:off x="6259586" y="1562990"/>
            <a:ext cx="5229043" cy="3921782"/>
          </a:xfrm>
          <a:prstGeom prst="rect">
            <a:avLst/>
          </a:prstGeom>
        </p:spPr>
      </p:pic>
      <p:sp>
        <p:nvSpPr>
          <p:cNvPr id="2" name="Title 1">
            <a:extLst>
              <a:ext uri="{FF2B5EF4-FFF2-40B4-BE49-F238E27FC236}">
                <a16:creationId xmlns:a16="http://schemas.microsoft.com/office/drawing/2014/main" id="{673E8E06-740A-C6E4-702F-64A1F883D336}"/>
              </a:ext>
            </a:extLst>
          </p:cNvPr>
          <p:cNvSpPr>
            <a:spLocks noGrp="1"/>
          </p:cNvSpPr>
          <p:nvPr>
            <p:ph type="title"/>
          </p:nvPr>
        </p:nvSpPr>
        <p:spPr/>
        <p:txBody>
          <a:bodyPr/>
          <a:lstStyle/>
          <a:p>
            <a:r>
              <a:rPr lang="en-US" dirty="0"/>
              <a:t>Battery Current Reflection</a:t>
            </a:r>
          </a:p>
        </p:txBody>
      </p:sp>
      <mc:AlternateContent xmlns:mc="http://schemas.openxmlformats.org/markup-compatibility/2006">
        <mc:Choice xmlns:a14="http://schemas.microsoft.com/office/drawing/2010/main" Requires="a14">
          <p:sp>
            <p:nvSpPr>
              <p:cNvPr id="4" name="Text Placeholder 3">
                <a:extLst>
                  <a:ext uri="{FF2B5EF4-FFF2-40B4-BE49-F238E27FC236}">
                    <a16:creationId xmlns:a16="http://schemas.microsoft.com/office/drawing/2014/main" id="{A5CAC862-1F56-86C6-B4FB-147A5A556A64}"/>
                  </a:ext>
                </a:extLst>
              </p:cNvPr>
              <p:cNvSpPr>
                <a:spLocks noGrp="1"/>
              </p:cNvSpPr>
              <p:nvPr>
                <p:ph type="body" sz="half" idx="2"/>
              </p:nvPr>
            </p:nvSpPr>
            <p:spPr>
              <a:xfrm>
                <a:off x="839788" y="2057400"/>
                <a:ext cx="4768252" cy="3811588"/>
              </a:xfrm>
            </p:spPr>
            <p:txBody>
              <a:bodyPr/>
              <a:lstStyle/>
              <a:p>
                <a:r>
                  <a:rPr lang="en-US" dirty="0"/>
                  <a:t>Reflect the voltage source across the transformer</a:t>
                </a:r>
              </a:p>
              <a:p>
                <a:pPr marL="285750" indent="-285750">
                  <a:buFont typeface="Arial" panose="020B0604020202020204" pitchFamily="34" charset="0"/>
                  <a:buChar char="•"/>
                </a:pPr>
                <a:r>
                  <a:rPr lang="en-US" dirty="0"/>
                  <a:t>In previous diagram, this is basically already done</a:t>
                </a:r>
              </a:p>
              <a:p>
                <a:pPr marL="285750" indent="-285750">
                  <a:buFont typeface="Arial" panose="020B0604020202020204" pitchFamily="34" charset="0"/>
                  <a:buChar char="•"/>
                </a:pPr>
                <a:r>
                  <a:rPr lang="en-US" dirty="0"/>
                  <a:t>Battery current needs to be scaled by turns ratio</a:t>
                </a:r>
              </a:p>
              <a:p>
                <a:r>
                  <a:rPr lang="en-US" b="1" dirty="0"/>
                  <a:t>We have our toy model!</a:t>
                </a:r>
              </a:p>
              <a:p>
                <a:r>
                  <a:rPr lang="en-US" dirty="0"/>
                  <a:t>Write the KVL equation*:</a:t>
                </a:r>
              </a:p>
              <a:p>
                <a:endParaRPr lang="en-US"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𝑀</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𝑔</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𝑐</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𝐸𝑆𝑅</m:t>
                              </m:r>
                            </m:sub>
                          </m:sSub>
                        </m:num>
                        <m:den>
                          <m:r>
                            <a:rPr lang="en-US" b="0" i="1" smtClean="0">
                              <a:latin typeface="Cambria Math" panose="02040503050406030204" pitchFamily="18" charset="0"/>
                            </a:rPr>
                            <m:t>𝑀</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𝑏𝑎𝑡</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𝐿</m:t>
                          </m:r>
                        </m:num>
                        <m:den>
                          <m:r>
                            <a:rPr lang="en-US" b="0" i="1" smtClean="0">
                              <a:latin typeface="Cambria Math" panose="02040503050406030204" pitchFamily="18" charset="0"/>
                            </a:rPr>
                            <m:t>𝑀</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m:t>
                          </m:r>
                        </m:num>
                        <m:den>
                          <m:r>
                            <a:rPr lang="en-US" b="0" i="1" smtClean="0">
                              <a:latin typeface="Cambria Math" panose="02040503050406030204" pitchFamily="18" charset="0"/>
                            </a:rPr>
                            <m:t>𝑑𝑡</m:t>
                          </m:r>
                        </m:den>
                      </m:f>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𝑏𝑎𝑡</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dirty="0"/>
              </a:p>
              <a:p>
                <a:pPr/>
                <a:endParaRPr lang="en-US" dirty="0"/>
              </a:p>
              <a:p>
                <a:pPr/>
                <a:r>
                  <a:rPr lang="en-US" sz="800" dirty="0"/>
                  <a:t>*before you ask, yes, this calculation ignores the </a:t>
                </a:r>
                <a14:m>
                  <m:oMath xmlns:m="http://schemas.openxmlformats.org/officeDocument/2006/math">
                    <m:f>
                      <m:fPr>
                        <m:ctrlPr>
                          <a:rPr lang="en-US" sz="800" i="1">
                            <a:latin typeface="Cambria Math" panose="02040503050406030204" pitchFamily="18" charset="0"/>
                          </a:rPr>
                        </m:ctrlPr>
                      </m:fPr>
                      <m:num>
                        <m:r>
                          <a:rPr lang="en-US" sz="800" i="1">
                            <a:latin typeface="Cambria Math" panose="02040503050406030204" pitchFamily="18" charset="0"/>
                          </a:rPr>
                          <m:t>𝑑𝑀</m:t>
                        </m:r>
                        <m:r>
                          <a:rPr lang="en-US" sz="800" i="1">
                            <a:latin typeface="Cambria Math" panose="02040503050406030204" pitchFamily="18" charset="0"/>
                          </a:rPr>
                          <m:t>(</m:t>
                        </m:r>
                        <m:r>
                          <a:rPr lang="en-US" sz="800" i="1">
                            <a:latin typeface="Cambria Math" panose="02040503050406030204" pitchFamily="18" charset="0"/>
                          </a:rPr>
                          <m:t>𝑡</m:t>
                        </m:r>
                        <m:r>
                          <a:rPr lang="en-US" sz="800" i="1">
                            <a:latin typeface="Cambria Math" panose="02040503050406030204" pitchFamily="18" charset="0"/>
                          </a:rPr>
                          <m:t>)</m:t>
                        </m:r>
                      </m:num>
                      <m:den>
                        <m:r>
                          <a:rPr lang="en-US" sz="800" i="1">
                            <a:latin typeface="Cambria Math" panose="02040503050406030204" pitchFamily="18" charset="0"/>
                          </a:rPr>
                          <m:t>𝑑𝑡</m:t>
                        </m:r>
                      </m:den>
                    </m:f>
                  </m:oMath>
                </a14:m>
                <a:r>
                  <a:rPr lang="en-US" sz="800" dirty="0"/>
                  <a:t> term that appears when doing the product rule for </a:t>
                </a:r>
                <a14:m>
                  <m:oMath xmlns:m="http://schemas.openxmlformats.org/officeDocument/2006/math">
                    <m:f>
                      <m:fPr>
                        <m:ctrlPr>
                          <a:rPr lang="en-US" sz="800" i="1">
                            <a:latin typeface="Cambria Math" panose="02040503050406030204" pitchFamily="18" charset="0"/>
                          </a:rPr>
                        </m:ctrlPr>
                      </m:fPr>
                      <m:num>
                        <m:r>
                          <a:rPr lang="en-US" sz="800" i="1">
                            <a:latin typeface="Cambria Math" panose="02040503050406030204" pitchFamily="18" charset="0"/>
                          </a:rPr>
                          <m:t>𝑑</m:t>
                        </m:r>
                      </m:num>
                      <m:den>
                        <m:r>
                          <a:rPr lang="en-US" sz="800" i="1">
                            <a:latin typeface="Cambria Math" panose="02040503050406030204" pitchFamily="18" charset="0"/>
                          </a:rPr>
                          <m:t>𝑑𝑡</m:t>
                        </m:r>
                      </m:den>
                    </m:f>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𝐼</m:t>
                        </m:r>
                      </m:e>
                      <m:sub>
                        <m:r>
                          <a:rPr lang="en-US" sz="800" b="0" i="1" smtClean="0">
                            <a:latin typeface="Cambria Math" panose="02040503050406030204" pitchFamily="18" charset="0"/>
                          </a:rPr>
                          <m:t>𝑅𝐿</m:t>
                        </m:r>
                      </m:sub>
                    </m:sSub>
                    <m:r>
                      <a:rPr lang="en-US" sz="800" b="0" i="1" smtClean="0">
                        <a:latin typeface="Cambria Math" panose="02040503050406030204" pitchFamily="18" charset="0"/>
                      </a:rPr>
                      <m:t>(</m:t>
                    </m:r>
                    <m:r>
                      <a:rPr lang="en-US" sz="800" b="0" i="1" smtClean="0">
                        <a:latin typeface="Cambria Math" panose="02040503050406030204" pitchFamily="18" charset="0"/>
                      </a:rPr>
                      <m:t>𝑡</m:t>
                    </m:r>
                    <m:r>
                      <a:rPr lang="en-US" sz="800" b="0" i="1" smtClean="0">
                        <a:latin typeface="Cambria Math" panose="02040503050406030204" pitchFamily="18" charset="0"/>
                      </a:rPr>
                      <m:t>)</m:t>
                    </m:r>
                  </m:oMath>
                </a14:m>
                <a:r>
                  <a:rPr lang="en-US" sz="800" dirty="0"/>
                  <a:t>. It is possible to account for this by doing another pair of transformer voltage/current reflections, but this presentation is long enough anyway, and the term can be concluded to be negligible. Consider it an exercise for the reader, if you will. </a:t>
                </a:r>
              </a:p>
            </p:txBody>
          </p:sp>
        </mc:Choice>
        <mc:Fallback>
          <p:sp>
            <p:nvSpPr>
              <p:cNvPr id="4" name="Text Placeholder 3">
                <a:extLst>
                  <a:ext uri="{FF2B5EF4-FFF2-40B4-BE49-F238E27FC236}">
                    <a16:creationId xmlns:a16="http://schemas.microsoft.com/office/drawing/2014/main" id="{A5CAC862-1F56-86C6-B4FB-147A5A556A64}"/>
                  </a:ext>
                </a:extLst>
              </p:cNvPr>
              <p:cNvSpPr>
                <a:spLocks noGrp="1" noRot="1" noChangeAspect="1" noMove="1" noResize="1" noEditPoints="1" noAdjustHandles="1" noChangeArrowheads="1" noChangeShapeType="1" noTextEdit="1"/>
              </p:cNvSpPr>
              <p:nvPr>
                <p:ph type="body" sz="half" idx="2"/>
              </p:nvPr>
            </p:nvSpPr>
            <p:spPr>
              <a:xfrm>
                <a:off x="839788" y="2057400"/>
                <a:ext cx="4768252" cy="3811588"/>
              </a:xfrm>
              <a:blipFill>
                <a:blip r:embed="rId3"/>
                <a:stretch>
                  <a:fillRect l="-767" t="-1120"/>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98409507-A64A-2BF0-6820-6E9335A90964}"/>
              </a:ext>
            </a:extLst>
          </p:cNvPr>
          <p:cNvCxnSpPr/>
          <p:nvPr/>
        </p:nvCxnSpPr>
        <p:spPr>
          <a:xfrm flipV="1">
            <a:off x="6874163" y="2401887"/>
            <a:ext cx="0" cy="55357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E4EDFAB4-F136-40CC-BDE8-C3CB1C59B98C}"/>
              </a:ext>
            </a:extLst>
          </p:cNvPr>
          <p:cNvSpPr txBox="1"/>
          <p:nvPr/>
        </p:nvSpPr>
        <p:spPr>
          <a:xfrm>
            <a:off x="6874163" y="2524783"/>
            <a:ext cx="1675459" cy="307777"/>
          </a:xfrm>
          <a:prstGeom prst="rect">
            <a:avLst/>
          </a:prstGeom>
          <a:noFill/>
        </p:spPr>
        <p:txBody>
          <a:bodyPr wrap="none" rtlCol="0">
            <a:spAutoFit/>
          </a:bodyPr>
          <a:lstStyle/>
          <a:p>
            <a:r>
              <a:rPr lang="en-US" sz="1400" dirty="0">
                <a:latin typeface="Cambria Math" panose="02040503050406030204" pitchFamily="18" charset="0"/>
                <a:ea typeface="Cambria Math" panose="02040503050406030204" pitchFamily="18" charset="0"/>
              </a:rPr>
              <a:t>I</a:t>
            </a:r>
            <a:r>
              <a:rPr lang="en-US" sz="1400" baseline="-25000" dirty="0">
                <a:latin typeface="Cambria Math" panose="02040503050406030204" pitchFamily="18" charset="0"/>
                <a:ea typeface="Cambria Math" panose="02040503050406030204" pitchFamily="18" charset="0"/>
              </a:rPr>
              <a:t>RL</a:t>
            </a:r>
            <a:r>
              <a:rPr lang="en-US" sz="1400" dirty="0">
                <a:latin typeface="Cambria Math" panose="02040503050406030204" pitchFamily="18" charset="0"/>
                <a:ea typeface="Cambria Math" panose="02040503050406030204" pitchFamily="18" charset="0"/>
              </a:rPr>
              <a:t>(t) = </a:t>
            </a:r>
            <a:r>
              <a:rPr lang="en-US" sz="1400" dirty="0" err="1">
                <a:latin typeface="Cambria Math" panose="02040503050406030204" pitchFamily="18" charset="0"/>
                <a:ea typeface="Cambria Math" panose="02040503050406030204" pitchFamily="18" charset="0"/>
              </a:rPr>
              <a:t>I</a:t>
            </a:r>
            <a:r>
              <a:rPr lang="en-US" sz="1400" baseline="-25000" dirty="0" err="1">
                <a:latin typeface="Cambria Math" panose="02040503050406030204" pitchFamily="18" charset="0"/>
                <a:ea typeface="Cambria Math" panose="02040503050406030204" pitchFamily="18" charset="0"/>
              </a:rPr>
              <a:t>bat</a:t>
            </a:r>
            <a:r>
              <a:rPr lang="en-US" sz="1400" dirty="0">
                <a:latin typeface="Cambria Math" panose="02040503050406030204" pitchFamily="18" charset="0"/>
                <a:ea typeface="Cambria Math" panose="02040503050406030204" pitchFamily="18" charset="0"/>
              </a:rPr>
              <a:t>(t)/M(t)</a:t>
            </a:r>
          </a:p>
        </p:txBody>
      </p:sp>
      <p:sp>
        <p:nvSpPr>
          <p:cNvPr id="12" name="Rectangle: Rounded Corners 11">
            <a:extLst>
              <a:ext uri="{FF2B5EF4-FFF2-40B4-BE49-F238E27FC236}">
                <a16:creationId xmlns:a16="http://schemas.microsoft.com/office/drawing/2014/main" id="{FCD4D720-73F9-70DE-1C33-07657D3D3165}"/>
              </a:ext>
            </a:extLst>
          </p:cNvPr>
          <p:cNvSpPr/>
          <p:nvPr/>
        </p:nvSpPr>
        <p:spPr>
          <a:xfrm>
            <a:off x="5968767" y="1105654"/>
            <a:ext cx="5658103" cy="4506581"/>
          </a:xfrm>
          <a:prstGeom prst="roundRect">
            <a:avLst>
              <a:gd name="adj" fmla="val 3299"/>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C1AFC95-82F6-1485-B4A2-D6939AEA8EAA}"/>
              </a:ext>
            </a:extLst>
          </p:cNvPr>
          <p:cNvSpPr txBox="1"/>
          <p:nvPr/>
        </p:nvSpPr>
        <p:spPr>
          <a:xfrm>
            <a:off x="9549249" y="1096974"/>
            <a:ext cx="2077621" cy="338554"/>
          </a:xfrm>
          <a:prstGeom prst="rect">
            <a:avLst/>
          </a:prstGeom>
          <a:noFill/>
        </p:spPr>
        <p:txBody>
          <a:bodyPr wrap="none" rtlCol="0">
            <a:spAutoFit/>
          </a:bodyPr>
          <a:lstStyle/>
          <a:p>
            <a:pPr algn="r"/>
            <a:r>
              <a:rPr lang="en-US" sz="1600" b="1" dirty="0"/>
              <a:t>Complete Toy Model</a:t>
            </a:r>
          </a:p>
        </p:txBody>
      </p:sp>
      <p:pic>
        <p:nvPicPr>
          <p:cNvPr id="1026" name="Picture 2" descr="trollface - Wiktionary, the free dictionary">
            <a:extLst>
              <a:ext uri="{FF2B5EF4-FFF2-40B4-BE49-F238E27FC236}">
                <a16:creationId xmlns:a16="http://schemas.microsoft.com/office/drawing/2014/main" id="{C5AE7DEA-780D-1951-6336-A6AA170E1E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0724" y="5612235"/>
            <a:ext cx="138980" cy="1153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4417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A9397FD-6232-24E1-7371-1CB2DAE4B7B9}"/>
              </a:ext>
            </a:extLst>
          </p:cNvPr>
          <p:cNvSpPr>
            <a:spLocks noGrp="1"/>
          </p:cNvSpPr>
          <p:nvPr>
            <p:ph type="title"/>
          </p:nvPr>
        </p:nvSpPr>
        <p:spPr/>
        <p:txBody>
          <a:bodyPr/>
          <a:lstStyle/>
          <a:p>
            <a:r>
              <a:rPr lang="en-US" dirty="0"/>
              <a:t>Algebraic Manipulation &amp; Linearization</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1414CD6-3E29-4E53-90AC-2403F6AC7867}"/>
                  </a:ext>
                </a:extLst>
              </p:cNvPr>
              <p:cNvSpPr txBox="1"/>
              <p:nvPr/>
            </p:nvSpPr>
            <p:spPr>
              <a:xfrm>
                <a:off x="325772" y="1497959"/>
                <a:ext cx="5531135" cy="4769447"/>
              </a:xfrm>
              <a:prstGeom prst="rect">
                <a:avLst/>
              </a:prstGeom>
              <a:noFill/>
            </p:spPr>
            <p:txBody>
              <a:bodyPr wrap="square">
                <a:spAutoFit/>
              </a:bodyPr>
              <a:lstStyle/>
              <a:p>
                <a:r>
                  <a:rPr lang="en-US" dirty="0"/>
                  <a:t>From the equation:</a:t>
                </a:r>
                <a:endParaRPr lang="en-US" b="0"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𝑀</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𝑔</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𝑐</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𝐸𝑆𝑅</m:t>
                              </m:r>
                            </m:sub>
                          </m:sSub>
                        </m:num>
                        <m:den>
                          <m:r>
                            <a:rPr lang="en-US" b="0" i="1" smtClean="0">
                              <a:latin typeface="Cambria Math" panose="02040503050406030204" pitchFamily="18" charset="0"/>
                            </a:rPr>
                            <m:t>𝑀</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𝑏𝑎𝑡</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𝐿</m:t>
                          </m:r>
                        </m:num>
                        <m:den>
                          <m:r>
                            <a:rPr lang="en-US" b="0" i="1" smtClean="0">
                              <a:latin typeface="Cambria Math" panose="02040503050406030204" pitchFamily="18" charset="0"/>
                            </a:rPr>
                            <m:t>𝑀</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m:t>
                          </m:r>
                        </m:num>
                        <m:den>
                          <m:r>
                            <a:rPr lang="en-US" b="0" i="1" smtClean="0">
                              <a:latin typeface="Cambria Math" panose="02040503050406030204" pitchFamily="18" charset="0"/>
                            </a:rPr>
                            <m:t>𝑑𝑡</m:t>
                          </m:r>
                        </m:den>
                      </m:f>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𝑏𝑎𝑡</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dirty="0"/>
              </a:p>
              <a:p>
                <a:r>
                  <a:rPr lang="en-US" dirty="0"/>
                  <a:t>Multiply by </a:t>
                </a:r>
                <a:r>
                  <a:rPr lang="en-US" dirty="0">
                    <a:latin typeface="Cambria Math" panose="02040503050406030204" pitchFamily="18" charset="0"/>
                    <a:ea typeface="Cambria Math" panose="02040503050406030204" pitchFamily="18" charset="0"/>
                  </a:rPr>
                  <a:t>M(t): </a:t>
                </a:r>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𝑀</m:t>
                      </m:r>
                      <m:sSup>
                        <m:sSupPr>
                          <m:ctrlPr>
                            <a:rPr lang="en-US" b="0" i="1" smtClean="0">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𝑡</m:t>
                              </m:r>
                            </m:e>
                          </m:d>
                        </m:e>
                        <m:sup>
                          <m:r>
                            <a:rPr lang="en-US" b="0" i="1" smtClean="0">
                              <a:latin typeface="Cambria Math" panose="02040503050406030204" pitchFamily="18" charset="0"/>
                            </a:rPr>
                            <m:t>2</m:t>
                          </m:r>
                        </m:sup>
                      </m:s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𝑔</m:t>
                          </m:r>
                        </m:sub>
                      </m:sSub>
                      <m:r>
                        <a:rPr lang="en-US" i="1">
                          <a:latin typeface="Cambria Math" panose="02040503050406030204" pitchFamily="18" charset="0"/>
                        </a:rPr>
                        <m:t>−</m:t>
                      </m:r>
                      <m:r>
                        <a:rPr lang="en-US" b="0" i="1" smtClean="0">
                          <a:latin typeface="Cambria Math" panose="02040503050406030204" pitchFamily="18" charset="0"/>
                        </a:rPr>
                        <m:t>𝑀</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𝑐</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𝐸𝑆𝑅</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𝑏𝑎𝑡</m:t>
                          </m:r>
                        </m:sub>
                      </m:sSub>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r>
                        <a:rPr lang="en-US" b="0" i="1" smtClean="0">
                          <a:latin typeface="Cambria Math" panose="02040503050406030204" pitchFamily="18" charset="0"/>
                        </a:rPr>
                        <m:t>𝐿</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m:t>
                          </m:r>
                        </m:num>
                        <m:den>
                          <m:r>
                            <a:rPr lang="en-US" i="1">
                              <a:latin typeface="Cambria Math" panose="02040503050406030204" pitchFamily="18" charset="0"/>
                            </a:rPr>
                            <m:t>𝑑𝑡</m:t>
                          </m:r>
                        </m:den>
                      </m:f>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𝑏𝑎𝑡</m:t>
                          </m:r>
                        </m:sub>
                      </m:sSub>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oMath>
                  </m:oMathPara>
                </a14:m>
                <a:endParaRPr lang="en-US" dirty="0"/>
              </a:p>
              <a:p>
                <a:r>
                  <a:rPr lang="en-US" dirty="0"/>
                  <a:t>This is quite the nasty equation. It has quadratic terms and a derivative. Let’s define a new variable for the LHS of the equation,</a:t>
                </a:r>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𝑇</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i="1">
                          <a:latin typeface="Cambria Math" panose="02040503050406030204" pitchFamily="18" charset="0"/>
                        </a:rPr>
                        <m:t>𝑀</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𝑡</m:t>
                              </m:r>
                            </m:e>
                          </m:d>
                        </m:e>
                        <m:sup>
                          <m:r>
                            <a:rPr lang="en-US" i="1">
                              <a:latin typeface="Cambria Math" panose="02040503050406030204" pitchFamily="18" charset="0"/>
                            </a:rPr>
                            <m:t>2</m:t>
                          </m:r>
                        </m:sup>
                      </m:sSup>
                      <m:r>
                        <a:rPr lang="en-US" i="1">
                          <a:latin typeface="Cambria Math" panose="02040503050406030204" pitchFamily="18" charset="0"/>
                        </a:rPr>
                        <m:t>−</m:t>
                      </m:r>
                      <m:r>
                        <a:rPr lang="en-US" i="1">
                          <a:latin typeface="Cambria Math" panose="02040503050406030204" pitchFamily="18" charset="0"/>
                        </a:rPr>
                        <m:t>𝑀</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f>
                        <m:fPr>
                          <m:ctrlPr>
                            <a:rPr lang="en-US" b="0"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𝑐</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𝑔</m:t>
                              </m:r>
                            </m:sub>
                          </m:sSub>
                        </m:den>
                      </m:f>
                    </m:oMath>
                  </m:oMathPara>
                </a14:m>
                <a:endParaRPr lang="en-US" dirty="0"/>
              </a:p>
              <a:p>
                <a:r>
                  <a:rPr lang="en-US" dirty="0"/>
                  <a:t>labelled </a:t>
                </a:r>
                <a:r>
                  <a:rPr lang="en-US" dirty="0">
                    <a:latin typeface="Cambria Math" panose="02040503050406030204" pitchFamily="18" charset="0"/>
                    <a:ea typeface="Cambria Math" panose="02040503050406030204" pitchFamily="18" charset="0"/>
                  </a:rPr>
                  <a:t>M</a:t>
                </a:r>
                <a:r>
                  <a:rPr lang="en-US" baseline="-25000" dirty="0">
                    <a:latin typeface="Cambria Math" panose="02040503050406030204" pitchFamily="18" charset="0"/>
                    <a:ea typeface="Cambria Math" panose="02040503050406030204" pitchFamily="18" charset="0"/>
                  </a:rPr>
                  <a:t>T</a:t>
                </a:r>
                <a:r>
                  <a:rPr lang="en-US" dirty="0">
                    <a:latin typeface="Cambria Math" panose="02040503050406030204" pitchFamily="18" charset="0"/>
                    <a:ea typeface="Cambria Math" panose="02040503050406030204" pitchFamily="18" charset="0"/>
                  </a:rPr>
                  <a:t>(t) </a:t>
                </a:r>
                <a:r>
                  <a:rPr lang="en-US" dirty="0">
                    <a:ea typeface="Cambria Math" panose="02040503050406030204" pitchFamily="18" charset="0"/>
                  </a:rPr>
                  <a:t>due to being roughly equivalent to the “transformer reflection” of the voltage gain </a:t>
                </a:r>
                <a:r>
                  <a:rPr lang="en-US" dirty="0">
                    <a:latin typeface="Cambria Math" panose="02040503050406030204" pitchFamily="18" charset="0"/>
                    <a:ea typeface="Cambria Math" panose="02040503050406030204" pitchFamily="18" charset="0"/>
                  </a:rPr>
                  <a:t>M(t)</a:t>
                </a:r>
                <a:r>
                  <a:rPr lang="en-US" dirty="0">
                    <a:ea typeface="Cambria Math" panose="02040503050406030204" pitchFamily="18" charset="0"/>
                  </a:rPr>
                  <a:t>. </a:t>
                </a:r>
              </a:p>
              <a:p>
                <a:r>
                  <a:rPr lang="en-US" dirty="0">
                    <a:ea typeface="Cambria Math" panose="02040503050406030204" pitchFamily="18" charset="0"/>
                  </a:rPr>
                  <a:t>We complete the square and rewrite:</a:t>
                </a:r>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𝑇</m:t>
                          </m:r>
                        </m:sub>
                      </m:sSub>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i="1">
                                  <a:latin typeface="Cambria Math" panose="02040503050406030204" pitchFamily="18" charset="0"/>
                                </a:rPr>
                                <m:t>𝑀</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𝑐</m:t>
                                      </m:r>
                                    </m:sub>
                                  </m:sSub>
                                </m:num>
                                <m:den>
                                  <m:r>
                                    <a:rPr lang="en-US" b="0" i="1" smtClean="0">
                                      <a:latin typeface="Cambria Math" panose="02040503050406030204" pitchFamily="18" charset="0"/>
                                    </a:rPr>
                                    <m:t>2</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𝑔</m:t>
                                      </m:r>
                                    </m:sub>
                                  </m:sSub>
                                </m:den>
                              </m:f>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𝑐</m:t>
                                      </m:r>
                                    </m:sub>
                                  </m:sSub>
                                </m:num>
                                <m:den>
                                  <m:r>
                                    <a:rPr lang="en-US" i="1">
                                      <a:latin typeface="Cambria Math" panose="02040503050406030204" pitchFamily="18" charset="0"/>
                                    </a:rPr>
                                    <m:t>2</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𝑔</m:t>
                                      </m:r>
                                    </m:sub>
                                  </m:sSub>
                                </m:den>
                              </m:f>
                            </m:e>
                          </m:d>
                        </m:e>
                        <m:sup>
                          <m:r>
                            <a:rPr lang="en-US" b="0" i="1" smtClean="0">
                              <a:latin typeface="Cambria Math" panose="02040503050406030204" pitchFamily="18" charset="0"/>
                            </a:rPr>
                            <m:t>2</m:t>
                          </m:r>
                        </m:sup>
                      </m:sSup>
                    </m:oMath>
                  </m:oMathPara>
                </a14:m>
                <a:endParaRPr lang="en-US" dirty="0">
                  <a:latin typeface="Cambria Math" panose="02040503050406030204" pitchFamily="18" charset="0"/>
                  <a:ea typeface="Cambria Math" panose="02040503050406030204" pitchFamily="18" charset="0"/>
                </a:endParaRPr>
              </a:p>
            </p:txBody>
          </p:sp>
        </mc:Choice>
        <mc:Fallback xmlns="">
          <p:sp>
            <p:nvSpPr>
              <p:cNvPr id="7" name="TextBox 6">
                <a:extLst>
                  <a:ext uri="{FF2B5EF4-FFF2-40B4-BE49-F238E27FC236}">
                    <a16:creationId xmlns:a16="http://schemas.microsoft.com/office/drawing/2014/main" id="{51414CD6-3E29-4E53-90AC-2403F6AC7867}"/>
                  </a:ext>
                </a:extLst>
              </p:cNvPr>
              <p:cNvSpPr txBox="1">
                <a:spLocks noRot="1" noChangeAspect="1" noMove="1" noResize="1" noEditPoints="1" noAdjustHandles="1" noChangeArrowheads="1" noChangeShapeType="1" noTextEdit="1"/>
              </p:cNvSpPr>
              <p:nvPr/>
            </p:nvSpPr>
            <p:spPr>
              <a:xfrm>
                <a:off x="325772" y="1497959"/>
                <a:ext cx="5531135" cy="4769447"/>
              </a:xfrm>
              <a:prstGeom prst="rect">
                <a:avLst/>
              </a:prstGeom>
              <a:blipFill>
                <a:blip r:embed="rId2"/>
                <a:stretch>
                  <a:fillRect l="-881" t="-639" r="-771"/>
                </a:stretch>
              </a:blipFill>
            </p:spPr>
            <p:txBody>
              <a:bodyPr/>
              <a:lstStyle/>
              <a:p>
                <a:r>
                  <a:rPr lang="en-US">
                    <a:noFill/>
                  </a:rPr>
                  <a:t> </a:t>
                </a:r>
              </a:p>
            </p:txBody>
          </p:sp>
        </mc:Fallback>
      </mc:AlternateContent>
      <p:cxnSp>
        <p:nvCxnSpPr>
          <p:cNvPr id="9" name="Straight Connector 8">
            <a:extLst>
              <a:ext uri="{FF2B5EF4-FFF2-40B4-BE49-F238E27FC236}">
                <a16:creationId xmlns:a16="http://schemas.microsoft.com/office/drawing/2014/main" id="{81D848D5-0423-53A0-5A72-B9BD907CE0D0}"/>
              </a:ext>
            </a:extLst>
          </p:cNvPr>
          <p:cNvCxnSpPr>
            <a:stCxn id="5" idx="2"/>
          </p:cNvCxnSpPr>
          <p:nvPr/>
        </p:nvCxnSpPr>
        <p:spPr>
          <a:xfrm>
            <a:off x="6096000" y="1690688"/>
            <a:ext cx="0" cy="485691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6CB691E-7DF4-C0A2-76BA-F82022134DF6}"/>
                  </a:ext>
                </a:extLst>
              </p:cNvPr>
              <p:cNvSpPr txBox="1"/>
              <p:nvPr/>
            </p:nvSpPr>
            <p:spPr>
              <a:xfrm>
                <a:off x="6335093" y="1497959"/>
                <a:ext cx="5531135" cy="4816127"/>
              </a:xfrm>
              <a:prstGeom prst="rect">
                <a:avLst/>
              </a:prstGeom>
              <a:noFill/>
            </p:spPr>
            <p:txBody>
              <a:bodyPr wrap="square">
                <a:spAutoFit/>
              </a:bodyPr>
              <a:lstStyle/>
              <a:p>
                <a:r>
                  <a:rPr lang="en-US" b="0" dirty="0"/>
                  <a:t>We can the</a:t>
                </a:r>
                <a:r>
                  <a:rPr lang="en-US" dirty="0"/>
                  <a:t>n define an auxiliary variable:</a:t>
                </a:r>
                <a:endParaRPr lang="en-US" b="0" dirty="0"/>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𝑇</m:t>
                          </m:r>
                        </m:sub>
                      </m:sSub>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𝑀</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r>
                                <a:rPr lang="en-US" b="0" i="1" smtClean="0">
                                  <a:latin typeface="Cambria Math" panose="02040503050406030204" pitchFamily="18" charset="0"/>
                                </a:rPr>
                                <m:t>𝐾</m:t>
                              </m:r>
                            </m:e>
                          </m:d>
                        </m:e>
                        <m:sup>
                          <m:r>
                            <a:rPr lang="en-US" i="1">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b="0" i="1" smtClean="0">
                              <a:latin typeface="Cambria Math" panose="02040503050406030204" pitchFamily="18" charset="0"/>
                            </a:rPr>
                            <m:t>𝐾</m:t>
                          </m:r>
                        </m:e>
                        <m:sup>
                          <m:r>
                            <a:rPr lang="en-US" i="1">
                              <a:latin typeface="Cambria Math" panose="02040503050406030204" pitchFamily="18" charset="0"/>
                            </a:rPr>
                            <m:t>2</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𝑇</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𝑐</m:t>
                              </m:r>
                            </m:sub>
                          </m:sSub>
                        </m:num>
                        <m:den>
                          <m:r>
                            <a:rPr lang="en-US" b="0" i="1" smtClean="0">
                              <a:latin typeface="Cambria Math" panose="02040503050406030204" pitchFamily="18" charset="0"/>
                            </a:rPr>
                            <m:t>2</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𝑔</m:t>
                              </m:r>
                            </m:sub>
                          </m:sSub>
                        </m:den>
                      </m:f>
                    </m:oMath>
                  </m:oMathPara>
                </a14:m>
                <a:endParaRPr lang="en-US" b="0" dirty="0"/>
              </a:p>
              <a:p>
                <a:r>
                  <a:rPr lang="en-US" dirty="0"/>
                  <a:t>Rewrite the KVL equation:</a:t>
                </a:r>
                <a:endParaRPr lang="en-US"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𝑔</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i="1" smtClean="0">
                              <a:latin typeface="Cambria Math" panose="02040503050406030204" pitchFamily="18" charset="0"/>
                            </a:rPr>
                            <m:t>𝑀</m:t>
                          </m:r>
                        </m:e>
                        <m:sub>
                          <m:r>
                            <a:rPr lang="en-US" b="0" i="1" smtClean="0">
                              <a:latin typeface="Cambria Math" panose="02040503050406030204" pitchFamily="18" charset="0"/>
                            </a:rPr>
                            <m:t>𝑇</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𝐸𝑆𝑅</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𝑏𝑎𝑡</m:t>
                          </m:r>
                        </m:sub>
                      </m:sSub>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r>
                        <a:rPr lang="en-US" b="0" i="1" smtClean="0">
                          <a:latin typeface="Cambria Math" panose="02040503050406030204" pitchFamily="18" charset="0"/>
                        </a:rPr>
                        <m:t>𝐿</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m:t>
                          </m:r>
                        </m:num>
                        <m:den>
                          <m:r>
                            <a:rPr lang="en-US" i="1">
                              <a:latin typeface="Cambria Math" panose="02040503050406030204" pitchFamily="18" charset="0"/>
                            </a:rPr>
                            <m:t>𝑑𝑡</m:t>
                          </m:r>
                        </m:den>
                      </m:f>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𝑏𝑎𝑡</m:t>
                          </m:r>
                        </m:sub>
                      </m:sSub>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oMath>
                  </m:oMathPara>
                </a14:m>
                <a:endParaRPr lang="en-US" dirty="0"/>
              </a:p>
              <a:p>
                <a:r>
                  <a:rPr lang="en-US" dirty="0"/>
                  <a:t>By encapsulating the quadratic term within a new variable, we now have only additions, scalar multiplications, and derivatives – the equation is linear! We can now convert to s-domain:</a:t>
                </a:r>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𝑔</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𝑇</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𝐸𝑆𝑅</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𝑏𝑎𝑡</m:t>
                          </m:r>
                        </m:sub>
                      </m:sSub>
                      <m:d>
                        <m:dPr>
                          <m:ctrlPr>
                            <a:rPr lang="en-US" i="1">
                              <a:latin typeface="Cambria Math" panose="02040503050406030204" pitchFamily="18" charset="0"/>
                            </a:rPr>
                          </m:ctrlPr>
                        </m:dPr>
                        <m:e>
                          <m:r>
                            <a:rPr lang="en-US" b="0" i="1" smtClean="0">
                              <a:latin typeface="Cambria Math" panose="02040503050406030204" pitchFamily="18" charset="0"/>
                            </a:rPr>
                            <m:t>𝑠</m:t>
                          </m:r>
                        </m:e>
                      </m:d>
                      <m:r>
                        <a:rPr lang="en-US" i="1">
                          <a:latin typeface="Cambria Math" panose="02040503050406030204" pitchFamily="18" charset="0"/>
                        </a:rPr>
                        <m:t>+</m:t>
                      </m:r>
                      <m:r>
                        <a:rPr lang="en-US" b="0" i="1" smtClean="0">
                          <a:latin typeface="Cambria Math" panose="02040503050406030204" pitchFamily="18" charset="0"/>
                        </a:rPr>
                        <m:t>𝑠</m:t>
                      </m:r>
                      <m:r>
                        <a:rPr lang="en-US" i="1">
                          <a:latin typeface="Cambria Math" panose="02040503050406030204" pitchFamily="18" charset="0"/>
                        </a:rPr>
                        <m:t>𝐿</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𝑏𝑎𝑡</m:t>
                          </m:r>
                        </m:sub>
                      </m:sSub>
                      <m:r>
                        <a:rPr lang="en-US" i="1">
                          <a:latin typeface="Cambria Math" panose="02040503050406030204" pitchFamily="18" charset="0"/>
                        </a:rPr>
                        <m:t>(</m:t>
                      </m:r>
                      <m:r>
                        <a:rPr lang="en-US" b="0" i="1" smtClean="0">
                          <a:latin typeface="Cambria Math" panose="02040503050406030204" pitchFamily="18" charset="0"/>
                        </a:rPr>
                        <m:t>𝑠</m:t>
                      </m:r>
                      <m:r>
                        <a:rPr lang="en-US" i="1">
                          <a:latin typeface="Cambria Math" panose="02040503050406030204" pitchFamily="18" charset="0"/>
                        </a:rPr>
                        <m:t>)</m:t>
                      </m:r>
                    </m:oMath>
                  </m:oMathPara>
                </a14:m>
                <a:endParaRPr lang="en-US" dirty="0"/>
              </a:p>
              <a:p>
                <a:r>
                  <a:rPr lang="en-US" dirty="0"/>
                  <a:t>Rewrite as a transfer function:</a:t>
                </a:r>
              </a:p>
              <a:p>
                <a:endParaRPr lang="en-US"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i="1" smtClean="0">
                              <a:latin typeface="Cambria Math" panose="02040503050406030204" pitchFamily="18" charset="0"/>
                            </a:rPr>
                            <m:t>𝐺</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𝑏𝑎𝑡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𝑇</m:t>
                              </m:r>
                            </m:sub>
                          </m:sSub>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𝑔</m:t>
                              </m:r>
                            </m:sub>
                          </m:sSub>
                        </m:num>
                        <m:den>
                          <m:r>
                            <a:rPr lang="en-US" b="0" i="1" smtClean="0">
                              <a:latin typeface="Cambria Math" panose="02040503050406030204" pitchFamily="18" charset="0"/>
                            </a:rPr>
                            <m:t>𝑠𝐿</m:t>
                          </m:r>
                          <m:r>
                            <a:rPr lang="en-US" b="0" i="1" smtClean="0">
                              <a:latin typeface="Cambria Math" panose="02040503050406030204" pitchFamily="18" charset="0"/>
                            </a:rPr>
                            <m:t>+</m:t>
                          </m:r>
                          <m:r>
                            <a:rPr lang="en-US" b="0" i="1" smtClean="0">
                              <a:latin typeface="Cambria Math" panose="02040503050406030204" pitchFamily="18" charset="0"/>
                            </a:rPr>
                            <m:t>𝑅</m:t>
                          </m:r>
                        </m:den>
                      </m:f>
                    </m:oMath>
                  </m:oMathPara>
                </a14:m>
                <a:endParaRPr lang="en-US" dirty="0">
                  <a:latin typeface="Cambria Math" panose="02040503050406030204" pitchFamily="18" charset="0"/>
                  <a:ea typeface="Cambria Math" panose="02040503050406030204" pitchFamily="18" charset="0"/>
                </a:endParaRPr>
              </a:p>
              <a:p>
                <a:endParaRPr lang="en-US" dirty="0">
                  <a:ea typeface="Cambria Math" panose="02040503050406030204" pitchFamily="18" charset="0"/>
                </a:endParaRPr>
              </a:p>
              <a:p>
                <a:r>
                  <a:rPr lang="en-US" dirty="0">
                    <a:ea typeface="Cambria Math" panose="02040503050406030204" pitchFamily="18" charset="0"/>
                  </a:rPr>
                  <a:t>We have a proper transfer function now!</a:t>
                </a:r>
              </a:p>
            </p:txBody>
          </p:sp>
        </mc:Choice>
        <mc:Fallback xmlns="">
          <p:sp>
            <p:nvSpPr>
              <p:cNvPr id="10" name="TextBox 9">
                <a:extLst>
                  <a:ext uri="{FF2B5EF4-FFF2-40B4-BE49-F238E27FC236}">
                    <a16:creationId xmlns:a16="http://schemas.microsoft.com/office/drawing/2014/main" id="{56CB691E-7DF4-C0A2-76BA-F82022134DF6}"/>
                  </a:ext>
                </a:extLst>
              </p:cNvPr>
              <p:cNvSpPr txBox="1">
                <a:spLocks noRot="1" noChangeAspect="1" noMove="1" noResize="1" noEditPoints="1" noAdjustHandles="1" noChangeArrowheads="1" noChangeShapeType="1" noTextEdit="1"/>
              </p:cNvSpPr>
              <p:nvPr/>
            </p:nvSpPr>
            <p:spPr>
              <a:xfrm>
                <a:off x="6335093" y="1497959"/>
                <a:ext cx="5531135" cy="4816127"/>
              </a:xfrm>
              <a:prstGeom prst="rect">
                <a:avLst/>
              </a:prstGeom>
              <a:blipFill>
                <a:blip r:embed="rId3"/>
                <a:stretch>
                  <a:fillRect l="-881" t="-633" b="-1139"/>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0A971414-667F-E727-E27C-90430C6E1180}"/>
              </a:ext>
            </a:extLst>
          </p:cNvPr>
          <p:cNvSpPr/>
          <p:nvPr/>
        </p:nvSpPr>
        <p:spPr>
          <a:xfrm>
            <a:off x="7868873" y="5004033"/>
            <a:ext cx="2499920" cy="86406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7534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EADC2-68B0-6532-35E7-CF00DD941885}"/>
              </a:ext>
            </a:extLst>
          </p:cNvPr>
          <p:cNvSpPr>
            <a:spLocks noGrp="1"/>
          </p:cNvSpPr>
          <p:nvPr>
            <p:ph type="title"/>
          </p:nvPr>
        </p:nvSpPr>
        <p:spPr/>
        <p:txBody>
          <a:bodyPr/>
          <a:lstStyle/>
          <a:p>
            <a:r>
              <a:rPr lang="en-US" dirty="0"/>
              <a:t>Overall System Design – FF+PI</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4251CCB-152F-DE34-5961-AD5C76435645}"/>
                  </a:ext>
                </a:extLst>
              </p:cNvPr>
              <p:cNvSpPr txBox="1"/>
              <p:nvPr/>
            </p:nvSpPr>
            <p:spPr>
              <a:xfrm>
                <a:off x="883299" y="1546789"/>
                <a:ext cx="5531135" cy="3240695"/>
              </a:xfrm>
              <a:prstGeom prst="rect">
                <a:avLst/>
              </a:prstGeom>
              <a:noFill/>
            </p:spPr>
            <p:txBody>
              <a:bodyPr wrap="square">
                <a:spAutoFit/>
              </a:bodyPr>
              <a:lstStyle/>
              <a:p>
                <a:r>
                  <a:rPr lang="en-US" dirty="0"/>
                  <a:t>We go back to our definition of </a:t>
                </a:r>
                <a:r>
                  <a:rPr lang="en-US" dirty="0">
                    <a:latin typeface="Cambria Math" panose="02040503050406030204" pitchFamily="18" charset="0"/>
                    <a:ea typeface="Cambria Math" panose="02040503050406030204" pitchFamily="18" charset="0"/>
                  </a:rPr>
                  <a:t>M</a:t>
                </a:r>
                <a:r>
                  <a:rPr lang="en-US" baseline="-25000" dirty="0">
                    <a:latin typeface="Cambria Math" panose="02040503050406030204" pitchFamily="18" charset="0"/>
                    <a:ea typeface="Cambria Math" panose="02040503050406030204" pitchFamily="18" charset="0"/>
                  </a:rPr>
                  <a:t>T</a:t>
                </a:r>
                <a:r>
                  <a:rPr lang="en-US" dirty="0">
                    <a:latin typeface="Cambria Math" panose="02040503050406030204" pitchFamily="18" charset="0"/>
                    <a:ea typeface="Cambria Math" panose="02040503050406030204" pitchFamily="18" charset="0"/>
                  </a:rPr>
                  <a:t>(t)</a:t>
                </a:r>
                <a:r>
                  <a:rPr lang="en-US" dirty="0"/>
                  <a:t>:</a:t>
                </a:r>
                <a:endParaRPr lang="en-US" b="0" dirty="0"/>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𝑇</m:t>
                          </m:r>
                        </m:sub>
                      </m:sSub>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𝑀</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r>
                                <a:rPr lang="en-US" i="1">
                                  <a:latin typeface="Cambria Math" panose="02040503050406030204" pitchFamily="18" charset="0"/>
                                </a:rPr>
                                <m:t>𝐾</m:t>
                              </m:r>
                            </m:e>
                          </m:d>
                        </m:e>
                        <m:sup>
                          <m:r>
                            <a:rPr lang="en-US" i="1">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𝐾</m:t>
                          </m:r>
                        </m:e>
                        <m:sup>
                          <m:r>
                            <a:rPr lang="en-US" i="1">
                              <a:latin typeface="Cambria Math" panose="02040503050406030204" pitchFamily="18" charset="0"/>
                            </a:rPr>
                            <m:t>2</m:t>
                          </m:r>
                        </m:sup>
                      </m:s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𝑇</m:t>
                          </m:r>
                        </m:sub>
                      </m:sSub>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𝑐</m:t>
                              </m:r>
                            </m:sub>
                          </m:sSub>
                        </m:num>
                        <m:den>
                          <m:r>
                            <a:rPr lang="en-US" i="1">
                              <a:latin typeface="Cambria Math" panose="02040503050406030204" pitchFamily="18" charset="0"/>
                            </a:rPr>
                            <m:t>2</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𝑔</m:t>
                              </m:r>
                            </m:sub>
                          </m:sSub>
                        </m:den>
                      </m:f>
                    </m:oMath>
                  </m:oMathPara>
                </a14:m>
                <a:endParaRPr lang="en-US" dirty="0"/>
              </a:p>
              <a:p>
                <a:r>
                  <a:rPr lang="en-US" dirty="0"/>
                  <a:t>Solve for </a:t>
                </a:r>
                <a:r>
                  <a:rPr lang="en-US" dirty="0">
                    <a:latin typeface="Cambria Math" panose="02040503050406030204" pitchFamily="18" charset="0"/>
                    <a:ea typeface="Cambria Math" panose="02040503050406030204" pitchFamily="18" charset="0"/>
                  </a:rPr>
                  <a:t>M(t): </a:t>
                </a:r>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𝑀</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i="1">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2</m:t>
                          </m:r>
                        </m:sup>
                      </m:sSup>
                      <m:r>
                        <a:rPr lang="en-US" i="1" smtClean="0">
                          <a:latin typeface="Cambria Math" panose="02040503050406030204" pitchFamily="18" charset="0"/>
                          <a:ea typeface="Cambria Math" panose="02040503050406030204" pitchFamily="18" charset="0"/>
                        </a:rPr>
                        <m:t>±</m:t>
                      </m:r>
                      <m:rad>
                        <m:radPr>
                          <m:degHide m:val="on"/>
                          <m:ctrlPr>
                            <a:rPr lang="en-US" i="1" smtClean="0">
                              <a:latin typeface="Cambria Math" panose="02040503050406030204" pitchFamily="18" charset="0"/>
                            </a:rPr>
                          </m:ctrlPr>
                        </m:radPr>
                        <m:deg/>
                        <m:e>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𝑇</m:t>
                              </m:r>
                            </m:sub>
                          </m:sSub>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r>
                            <a:rPr lang="en-US" i="1">
                              <a:latin typeface="Cambria Math" panose="02040503050406030204" pitchFamily="18" charset="0"/>
                            </a:rPr>
                            <m:t>𝐾</m:t>
                          </m:r>
                        </m:e>
                      </m:rad>
                    </m:oMath>
                  </m:oMathPara>
                </a14:m>
                <a:endParaRPr lang="en-US" dirty="0"/>
              </a:p>
              <a:p>
                <a:r>
                  <a:rPr lang="en-US" dirty="0"/>
                  <a:t>We will be using the solution with both terms added. (The subtractive solution produces identical behavior. Proof is left as exercise to the reader.)</a:t>
                </a:r>
              </a:p>
              <a:p>
                <a:r>
                  <a:rPr lang="en-US" dirty="0"/>
                  <a:t>We can thus design our system as a linear black box composed of the linearization above combined with the physical circuitry</a:t>
                </a:r>
                <a:r>
                  <a:rPr lang="en-US" dirty="0">
                    <a:latin typeface="Cambria Math" panose="02040503050406030204" pitchFamily="18" charset="0"/>
                    <a:ea typeface="Cambria Math" panose="02040503050406030204" pitchFamily="18" charset="0"/>
                  </a:rPr>
                  <a:t>.</a:t>
                </a:r>
                <a:endParaRPr lang="en-US" dirty="0">
                  <a:ea typeface="Cambria Math" panose="02040503050406030204" pitchFamily="18" charset="0"/>
                </a:endParaRPr>
              </a:p>
            </p:txBody>
          </p:sp>
        </mc:Choice>
        <mc:Fallback xmlns="">
          <p:sp>
            <p:nvSpPr>
              <p:cNvPr id="3" name="TextBox 2">
                <a:extLst>
                  <a:ext uri="{FF2B5EF4-FFF2-40B4-BE49-F238E27FC236}">
                    <a16:creationId xmlns:a16="http://schemas.microsoft.com/office/drawing/2014/main" id="{04251CCB-152F-DE34-5961-AD5C76435645}"/>
                  </a:ext>
                </a:extLst>
              </p:cNvPr>
              <p:cNvSpPr txBox="1">
                <a:spLocks noRot="1" noChangeAspect="1" noMove="1" noResize="1" noEditPoints="1" noAdjustHandles="1" noChangeArrowheads="1" noChangeShapeType="1" noTextEdit="1"/>
              </p:cNvSpPr>
              <p:nvPr/>
            </p:nvSpPr>
            <p:spPr>
              <a:xfrm>
                <a:off x="883299" y="1546789"/>
                <a:ext cx="5531135" cy="3240695"/>
              </a:xfrm>
              <a:prstGeom prst="rect">
                <a:avLst/>
              </a:prstGeom>
              <a:blipFill>
                <a:blip r:embed="rId2"/>
                <a:stretch>
                  <a:fillRect l="-992" t="-1507" b="-2260"/>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CB0FA398-799E-7A77-F778-2161B9A3FD1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737183" y="2372456"/>
            <a:ext cx="3036250" cy="2369671"/>
          </a:xfrm>
          <a:prstGeom prst="rect">
            <a:avLst/>
          </a:prstGeom>
        </p:spPr>
      </p:pic>
      <p:sp>
        <p:nvSpPr>
          <p:cNvPr id="9" name="Rectangle: Rounded Corners 8">
            <a:extLst>
              <a:ext uri="{FF2B5EF4-FFF2-40B4-BE49-F238E27FC236}">
                <a16:creationId xmlns:a16="http://schemas.microsoft.com/office/drawing/2014/main" id="{0F40FE7F-D3C4-3706-7EF6-3429C1FE0A19}"/>
              </a:ext>
            </a:extLst>
          </p:cNvPr>
          <p:cNvSpPr/>
          <p:nvPr/>
        </p:nvSpPr>
        <p:spPr>
          <a:xfrm>
            <a:off x="7377379" y="1933262"/>
            <a:ext cx="3755858" cy="2991476"/>
          </a:xfrm>
          <a:prstGeom prst="roundRect">
            <a:avLst>
              <a:gd name="adj" fmla="val 3299"/>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08EF3C7-A77A-C0D7-AAFC-F5BAE12F8737}"/>
              </a:ext>
            </a:extLst>
          </p:cNvPr>
          <p:cNvSpPr txBox="1"/>
          <p:nvPr/>
        </p:nvSpPr>
        <p:spPr>
          <a:xfrm>
            <a:off x="8917374" y="1956541"/>
            <a:ext cx="2215863" cy="338554"/>
          </a:xfrm>
          <a:prstGeom prst="rect">
            <a:avLst/>
          </a:prstGeom>
          <a:noFill/>
        </p:spPr>
        <p:txBody>
          <a:bodyPr wrap="none" rtlCol="0">
            <a:spAutoFit/>
          </a:bodyPr>
          <a:lstStyle/>
          <a:p>
            <a:pPr algn="r"/>
            <a:r>
              <a:rPr lang="en-US" sz="1600" b="1" dirty="0"/>
              <a:t>Linearization + Circuit</a:t>
            </a: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7E95A952-FF7D-4119-710B-6A12A831F611}"/>
                  </a:ext>
                </a:extLst>
              </p:cNvPr>
              <p:cNvSpPr txBox="1"/>
              <p:nvPr/>
            </p:nvSpPr>
            <p:spPr>
              <a:xfrm>
                <a:off x="8155212" y="1390904"/>
                <a:ext cx="1939505" cy="369332"/>
              </a:xfrm>
              <a:prstGeom prst="rect">
                <a:avLst/>
              </a:prstGeom>
              <a:noFill/>
              <a:ln>
                <a:solidFill>
                  <a:schemeClr val="tx1"/>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𝑢</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𝑀</m:t>
                          </m:r>
                        </m:e>
                        <m:sub>
                          <m:r>
                            <a:rPr lang="en-US" sz="2400" b="0" i="1" smtClean="0">
                              <a:latin typeface="Cambria Math" panose="02040503050406030204" pitchFamily="18" charset="0"/>
                              <a:ea typeface="Cambria Math" panose="02040503050406030204" pitchFamily="18" charset="0"/>
                            </a:rPr>
                            <m:t>𝑇</m:t>
                          </m:r>
                        </m:sub>
                      </m:sSub>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𝑠</m:t>
                      </m:r>
                      <m:r>
                        <a:rPr lang="en-US" sz="2400" b="0" i="1" smtClean="0">
                          <a:latin typeface="Cambria Math" panose="02040503050406030204" pitchFamily="18" charset="0"/>
                          <a:ea typeface="Cambria Math" panose="02040503050406030204" pitchFamily="18" charset="0"/>
                        </a:rPr>
                        <m:t>)</m:t>
                      </m:r>
                    </m:oMath>
                  </m:oMathPara>
                </a14:m>
                <a:endParaRPr lang="en-US" sz="2400" dirty="0"/>
              </a:p>
            </p:txBody>
          </p:sp>
        </mc:Choice>
        <mc:Fallback>
          <p:sp>
            <p:nvSpPr>
              <p:cNvPr id="12" name="TextBox 11">
                <a:extLst>
                  <a:ext uri="{FF2B5EF4-FFF2-40B4-BE49-F238E27FC236}">
                    <a16:creationId xmlns:a16="http://schemas.microsoft.com/office/drawing/2014/main" id="{7E95A952-FF7D-4119-710B-6A12A831F611}"/>
                  </a:ext>
                </a:extLst>
              </p:cNvPr>
              <p:cNvSpPr txBox="1">
                <a:spLocks noRot="1" noChangeAspect="1" noMove="1" noResize="1" noEditPoints="1" noAdjustHandles="1" noChangeArrowheads="1" noChangeShapeType="1" noTextEdit="1"/>
              </p:cNvSpPr>
              <p:nvPr/>
            </p:nvSpPr>
            <p:spPr>
              <a:xfrm>
                <a:off x="8155212" y="1390904"/>
                <a:ext cx="1939505" cy="369332"/>
              </a:xfrm>
              <a:prstGeom prst="rect">
                <a:avLst/>
              </a:prstGeom>
              <a:blipFill>
                <a:blip r:embed="rId4"/>
                <a:stretch>
                  <a:fillRect l="-1563" r="-5000" b="-30159"/>
                </a:stretch>
              </a:blipFill>
              <a:ln>
                <a:solidFill>
                  <a:schemeClr val="tx1"/>
                </a:solidFill>
              </a:ln>
            </p:spPr>
            <p:txBody>
              <a:bodyPr/>
              <a:lstStyle/>
              <a:p>
                <a:r>
                  <a:rPr lang="en-US">
                    <a:noFill/>
                  </a:rPr>
                  <a:t> </a:t>
                </a:r>
              </a:p>
            </p:txBody>
          </p:sp>
        </mc:Fallback>
      </mc:AlternateContent>
      <p:cxnSp>
        <p:nvCxnSpPr>
          <p:cNvPr id="17" name="Connector: Elbow 16">
            <a:extLst>
              <a:ext uri="{FF2B5EF4-FFF2-40B4-BE49-F238E27FC236}">
                <a16:creationId xmlns:a16="http://schemas.microsoft.com/office/drawing/2014/main" id="{2706548C-B0AA-8704-F9CE-75D1C08D2DD5}"/>
              </a:ext>
            </a:extLst>
          </p:cNvPr>
          <p:cNvCxnSpPr>
            <a:cxnSpLocks/>
          </p:cNvCxnSpPr>
          <p:nvPr/>
        </p:nvCxnSpPr>
        <p:spPr>
          <a:xfrm rot="16200000" flipH="1">
            <a:off x="7478047" y="5031847"/>
            <a:ext cx="298948" cy="298948"/>
          </a:xfrm>
          <a:prstGeom prst="bentConnector2">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0A2EFFA2-D65D-0567-9668-053E42474B20}"/>
                  </a:ext>
                </a:extLst>
              </p:cNvPr>
              <p:cNvSpPr txBox="1"/>
              <p:nvPr/>
            </p:nvSpPr>
            <p:spPr>
              <a:xfrm>
                <a:off x="7808117" y="5039020"/>
                <a:ext cx="2894382" cy="1481881"/>
              </a:xfrm>
              <a:prstGeom prst="rect">
                <a:avLst/>
              </a:prstGeom>
              <a:noFill/>
              <a:ln>
                <a:solidFill>
                  <a:schemeClr val="tx1"/>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𝐼</m:t>
                          </m:r>
                        </m:e>
                        <m:sub>
                          <m:r>
                            <a:rPr lang="en-US" sz="2400" b="0" i="1" smtClean="0">
                              <a:latin typeface="Cambria Math" panose="02040503050406030204" pitchFamily="18" charset="0"/>
                              <a:ea typeface="Cambria Math" panose="02040503050406030204" pitchFamily="18" charset="0"/>
                            </a:rPr>
                            <m:t>𝑏𝑎𝑡</m:t>
                          </m:r>
                        </m:sub>
                      </m:sSub>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𝑠</m:t>
                          </m:r>
                        </m:e>
                      </m:d>
                    </m:oMath>
                  </m:oMathPara>
                </a14:m>
                <a:endParaRPr lang="en-US" sz="24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𝐺</m:t>
                          </m:r>
                        </m:e>
                        <m:sub>
                          <m:sSub>
                            <m:sSubPr>
                              <m:ctrlPr>
                                <a:rPr lang="en-US" sz="2400" i="1">
                                  <a:latin typeface="Cambria Math" panose="02040503050406030204" pitchFamily="18" charset="0"/>
                                </a:rPr>
                              </m:ctrlPr>
                            </m:sSubPr>
                            <m:e>
                              <m:r>
                                <a:rPr lang="en-US" sz="2400" i="1">
                                  <a:latin typeface="Cambria Math" panose="02040503050406030204" pitchFamily="18" charset="0"/>
                                </a:rPr>
                                <m:t>𝐼</m:t>
                              </m:r>
                            </m:e>
                            <m:sub>
                              <m:r>
                                <a:rPr lang="en-US" sz="2400" i="1">
                                  <a:latin typeface="Cambria Math" panose="02040503050406030204" pitchFamily="18" charset="0"/>
                                </a:rPr>
                                <m:t>𝑏𝑎𝑡</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𝑀</m:t>
                              </m:r>
                            </m:e>
                            <m:sub>
                              <m:r>
                                <a:rPr lang="en-US" sz="2400" i="1">
                                  <a:latin typeface="Cambria Math" panose="02040503050406030204" pitchFamily="18" charset="0"/>
                                </a:rPr>
                                <m:t>𝑇</m:t>
                              </m:r>
                            </m:sub>
                          </m:sSub>
                        </m:sub>
                      </m:sSub>
                      <m:d>
                        <m:dPr>
                          <m:ctrlPr>
                            <a:rPr lang="en-US" sz="2400" i="1">
                              <a:latin typeface="Cambria Math" panose="02040503050406030204" pitchFamily="18" charset="0"/>
                            </a:rPr>
                          </m:ctrlPr>
                        </m:dPr>
                        <m:e>
                          <m:r>
                            <a:rPr lang="en-US" sz="2400" i="1">
                              <a:latin typeface="Cambria Math" panose="02040503050406030204" pitchFamily="18" charset="0"/>
                            </a:rPr>
                            <m:t>𝑠</m:t>
                          </m:r>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𝑀</m:t>
                          </m:r>
                        </m:e>
                        <m:sub>
                          <m:r>
                            <a:rPr lang="en-US" sz="2400" b="0" i="1" smtClean="0">
                              <a:latin typeface="Cambria Math" panose="02040503050406030204" pitchFamily="18" charset="0"/>
                            </a:rPr>
                            <m:t>𝑇</m:t>
                          </m:r>
                        </m:sub>
                      </m:sSub>
                      <m:r>
                        <a:rPr lang="en-US" sz="2400" b="0" i="1" smtClean="0">
                          <a:latin typeface="Cambria Math" panose="02040503050406030204" pitchFamily="18" charset="0"/>
                        </a:rPr>
                        <m:t>(</m:t>
                      </m:r>
                      <m:r>
                        <a:rPr lang="en-US" sz="2400" b="0" i="1" smtClean="0">
                          <a:latin typeface="Cambria Math" panose="02040503050406030204" pitchFamily="18" charset="0"/>
                        </a:rPr>
                        <m:t>𝑠</m:t>
                      </m:r>
                      <m:r>
                        <a:rPr lang="en-US" sz="2400" b="0" i="1" smtClean="0">
                          <a:latin typeface="Cambria Math" panose="02040503050406030204" pitchFamily="18" charset="0"/>
                        </a:rPr>
                        <m:t>)</m:t>
                      </m:r>
                    </m:oMath>
                  </m:oMathPara>
                </a14:m>
                <a:endParaRPr lang="en-US" sz="24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𝑔</m:t>
                              </m:r>
                            </m:sub>
                          </m:sSub>
                        </m:num>
                        <m:den>
                          <m:r>
                            <a:rPr lang="en-US" sz="2400" b="0" i="1" smtClean="0">
                              <a:latin typeface="Cambria Math" panose="02040503050406030204" pitchFamily="18" charset="0"/>
                            </a:rPr>
                            <m:t>𝑠𝐿</m:t>
                          </m:r>
                          <m:r>
                            <a:rPr lang="en-US" sz="2400" b="0" i="1" smtClean="0">
                              <a:latin typeface="Cambria Math" panose="02040503050406030204" pitchFamily="18" charset="0"/>
                            </a:rPr>
                            <m:t>+</m:t>
                          </m:r>
                          <m:r>
                            <a:rPr lang="en-US" sz="2400" b="0" i="1" smtClean="0">
                              <a:latin typeface="Cambria Math" panose="02040503050406030204" pitchFamily="18" charset="0"/>
                            </a:rPr>
                            <m:t>𝑅</m:t>
                          </m:r>
                        </m:den>
                      </m:f>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𝑀</m:t>
                          </m:r>
                        </m:e>
                        <m:sub>
                          <m:r>
                            <a:rPr lang="en-US" sz="2400" b="0" i="1" smtClean="0">
                              <a:latin typeface="Cambria Math" panose="02040503050406030204" pitchFamily="18" charset="0"/>
                            </a:rPr>
                            <m:t>𝑇</m:t>
                          </m:r>
                        </m:sub>
                      </m:sSub>
                      <m:r>
                        <a:rPr lang="en-US" sz="2400" b="0" i="1" smtClean="0">
                          <a:latin typeface="Cambria Math" panose="02040503050406030204" pitchFamily="18" charset="0"/>
                        </a:rPr>
                        <m:t>(</m:t>
                      </m:r>
                      <m:r>
                        <a:rPr lang="en-US" sz="2400" b="0" i="1" smtClean="0">
                          <a:latin typeface="Cambria Math" panose="02040503050406030204" pitchFamily="18" charset="0"/>
                        </a:rPr>
                        <m:t>𝑠</m:t>
                      </m:r>
                      <m:r>
                        <a:rPr lang="en-US" sz="2400" b="0" i="1" smtClean="0">
                          <a:latin typeface="Cambria Math" panose="02040503050406030204" pitchFamily="18" charset="0"/>
                        </a:rPr>
                        <m:t>)</m:t>
                      </m:r>
                    </m:oMath>
                  </m:oMathPara>
                </a14:m>
                <a:endParaRPr lang="en-US" sz="2400" dirty="0"/>
              </a:p>
            </p:txBody>
          </p:sp>
        </mc:Choice>
        <mc:Fallback>
          <p:sp>
            <p:nvSpPr>
              <p:cNvPr id="18" name="TextBox 17">
                <a:extLst>
                  <a:ext uri="{FF2B5EF4-FFF2-40B4-BE49-F238E27FC236}">
                    <a16:creationId xmlns:a16="http://schemas.microsoft.com/office/drawing/2014/main" id="{0A2EFFA2-D65D-0567-9668-053E42474B20}"/>
                  </a:ext>
                </a:extLst>
              </p:cNvPr>
              <p:cNvSpPr txBox="1">
                <a:spLocks noRot="1" noChangeAspect="1" noMove="1" noResize="1" noEditPoints="1" noAdjustHandles="1" noChangeArrowheads="1" noChangeShapeType="1" noTextEdit="1"/>
              </p:cNvSpPr>
              <p:nvPr/>
            </p:nvSpPr>
            <p:spPr>
              <a:xfrm>
                <a:off x="7808117" y="5039020"/>
                <a:ext cx="2894382" cy="1481881"/>
              </a:xfrm>
              <a:prstGeom prst="rect">
                <a:avLst/>
              </a:prstGeom>
              <a:blipFill>
                <a:blip r:embed="rId5"/>
                <a:stretch>
                  <a:fillRect l="-419" r="-2935"/>
                </a:stretch>
              </a:blipFill>
              <a:ln>
                <a:solidFill>
                  <a:schemeClr val="tx1"/>
                </a:solidFill>
              </a:ln>
            </p:spPr>
            <p:txBody>
              <a:bodyPr/>
              <a:lstStyle/>
              <a:p>
                <a:r>
                  <a:rPr lang="en-US">
                    <a:noFill/>
                  </a:rPr>
                  <a:t> </a:t>
                </a:r>
              </a:p>
            </p:txBody>
          </p:sp>
        </mc:Fallback>
      </mc:AlternateContent>
      <p:cxnSp>
        <p:nvCxnSpPr>
          <p:cNvPr id="21" name="Connector: Elbow 20">
            <a:extLst>
              <a:ext uri="{FF2B5EF4-FFF2-40B4-BE49-F238E27FC236}">
                <a16:creationId xmlns:a16="http://schemas.microsoft.com/office/drawing/2014/main" id="{1710BFE7-76AC-FECD-5F6D-75380C9171AC}"/>
              </a:ext>
            </a:extLst>
          </p:cNvPr>
          <p:cNvCxnSpPr>
            <a:cxnSpLocks/>
          </p:cNvCxnSpPr>
          <p:nvPr/>
        </p:nvCxnSpPr>
        <p:spPr>
          <a:xfrm rot="10800000" flipH="1" flipV="1">
            <a:off x="10182575" y="1573586"/>
            <a:ext cx="298948" cy="298948"/>
          </a:xfrm>
          <a:prstGeom prst="bentConnector2">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347884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DCB649-67A2-B5C8-336A-3EEBEFB45428}"/>
              </a:ext>
            </a:extLst>
          </p:cNvPr>
          <p:cNvSpPr>
            <a:spLocks noGrp="1"/>
          </p:cNvSpPr>
          <p:nvPr>
            <p:ph type="title"/>
          </p:nvPr>
        </p:nvSpPr>
        <p:spPr/>
        <p:txBody>
          <a:bodyPr/>
          <a:lstStyle/>
          <a:p>
            <a:r>
              <a:rPr lang="en-US" dirty="0"/>
              <a:t>Alternative Design – PI</a:t>
            </a:r>
            <a:r>
              <a:rPr lang="en-US" baseline="30000" dirty="0"/>
              <a:t>2</a:t>
            </a:r>
            <a:r>
              <a:rPr lang="en-US" dirty="0"/>
              <a:t> Control</a:t>
            </a:r>
          </a:p>
        </p:txBody>
      </p:sp>
      <mc:AlternateContent xmlns:mc="http://schemas.openxmlformats.org/markup-compatibility/2006">
        <mc:Choice xmlns:a14="http://schemas.microsoft.com/office/drawing/2010/main" Requires="a14">
          <p:sp>
            <p:nvSpPr>
              <p:cNvPr id="5" name="Text Placeholder 4">
                <a:extLst>
                  <a:ext uri="{FF2B5EF4-FFF2-40B4-BE49-F238E27FC236}">
                    <a16:creationId xmlns:a16="http://schemas.microsoft.com/office/drawing/2014/main" id="{CCC0E295-6D80-4650-C064-30DBEF50D957}"/>
                  </a:ext>
                </a:extLst>
              </p:cNvPr>
              <p:cNvSpPr>
                <a:spLocks noGrp="1"/>
              </p:cNvSpPr>
              <p:nvPr>
                <p:ph type="body" sz="half" idx="2"/>
              </p:nvPr>
            </p:nvSpPr>
            <p:spPr>
              <a:xfrm>
                <a:off x="167780" y="2057400"/>
                <a:ext cx="4927013" cy="4314039"/>
              </a:xfrm>
            </p:spPr>
            <p:txBody>
              <a:bodyPr>
                <a:normAutofit/>
              </a:bodyPr>
              <a:lstStyle/>
              <a:p>
                <a:r>
                  <a:rPr lang="en-US" dirty="0"/>
                  <a:t>Math trick of defining auxiliary variable can be done earlier</a:t>
                </a:r>
              </a:p>
              <a:p>
                <a:pPr marL="285750" indent="-285750">
                  <a:buFont typeface="Arial" panose="020B0604020202020204" pitchFamily="34" charset="0"/>
                  <a:buChar char="•"/>
                </a:pPr>
                <a:r>
                  <a:rPr lang="en-US" dirty="0"/>
                  <a:t>No need to split apart voltage source on right side of transformer</a:t>
                </a:r>
              </a:p>
              <a:p>
                <a:r>
                  <a:rPr lang="en-US" dirty="0"/>
                  <a:t>Reflect battery current to right side once again</a:t>
                </a:r>
              </a:p>
              <a:p>
                <a:pPr marL="285750" indent="-285750">
                  <a:buFont typeface="Arial" panose="020B0604020202020204" pitchFamily="34" charset="0"/>
                  <a:buChar char="•"/>
                </a:pPr>
                <a:r>
                  <a:rPr lang="en-US" dirty="0"/>
                  <a:t>New toy model appears analogous to the one in the FF+PI model</a:t>
                </a:r>
              </a:p>
              <a:p>
                <a:r>
                  <a:rPr lang="en-US" dirty="0"/>
                  <a:t>Write new KVL loop equation*:</a:t>
                </a:r>
              </a:p>
              <a:p>
                <a:endParaRPr lang="en-US" dirty="0"/>
              </a:p>
              <a:p>
                <a14:m>
                  <m:oMathPara xmlns:m="http://schemas.openxmlformats.org/officeDocument/2006/math">
                    <m:oMathParaPr>
                      <m:jc m:val="centerGroup"/>
                    </m:oMathParaPr>
                    <m:oMath xmlns:m="http://schemas.openxmlformats.org/officeDocument/2006/math">
                      <m:r>
                        <a:rPr lang="en-US" sz="1200" i="1">
                          <a:latin typeface="Cambria Math" panose="02040503050406030204" pitchFamily="18" charset="0"/>
                        </a:rPr>
                        <m:t>𝑀</m:t>
                      </m:r>
                      <m:d>
                        <m:dPr>
                          <m:ctrlPr>
                            <a:rPr lang="en-US" sz="1200" i="1">
                              <a:latin typeface="Cambria Math" panose="02040503050406030204" pitchFamily="18" charset="0"/>
                            </a:rPr>
                          </m:ctrlPr>
                        </m:dPr>
                        <m:e>
                          <m:r>
                            <a:rPr lang="en-US" sz="1200" i="1">
                              <a:latin typeface="Cambria Math" panose="02040503050406030204" pitchFamily="18" charset="0"/>
                            </a:rPr>
                            <m:t>𝑡</m:t>
                          </m:r>
                        </m:e>
                      </m:d>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𝑉</m:t>
                          </m:r>
                        </m:e>
                        <m:sub>
                          <m:r>
                            <a:rPr lang="en-US" sz="1200" i="1">
                              <a:latin typeface="Cambria Math" panose="02040503050406030204" pitchFamily="18" charset="0"/>
                            </a:rPr>
                            <m:t>𝑔</m:t>
                          </m:r>
                        </m:sub>
                      </m:sSub>
                      <m:r>
                        <a:rPr lang="en-US" sz="1200" i="1">
                          <a:latin typeface="Cambria Math" panose="02040503050406030204" pitchFamily="18" charset="0"/>
                        </a:rPr>
                        <m:t>=</m:t>
                      </m:r>
                      <m:f>
                        <m:fPr>
                          <m:ctrlPr>
                            <a:rPr lang="en-US" sz="1200" i="1">
                              <a:latin typeface="Cambria Math" panose="02040503050406030204" pitchFamily="18" charset="0"/>
                            </a:rPr>
                          </m:ctrlPr>
                        </m:fPr>
                        <m:num>
                          <m:sSub>
                            <m:sSubPr>
                              <m:ctrlPr>
                                <a:rPr lang="en-US" sz="1200" i="1">
                                  <a:latin typeface="Cambria Math" panose="02040503050406030204" pitchFamily="18" charset="0"/>
                                </a:rPr>
                              </m:ctrlPr>
                            </m:sSubPr>
                            <m:e>
                              <m:r>
                                <a:rPr lang="en-US" sz="1200" i="1">
                                  <a:latin typeface="Cambria Math" panose="02040503050406030204" pitchFamily="18" charset="0"/>
                                </a:rPr>
                                <m:t>𝑅</m:t>
                              </m:r>
                            </m:e>
                            <m:sub>
                              <m:r>
                                <a:rPr lang="en-US" sz="1200" i="1">
                                  <a:latin typeface="Cambria Math" panose="02040503050406030204" pitchFamily="18" charset="0"/>
                                </a:rPr>
                                <m:t>𝐸𝑆𝑅</m:t>
                              </m:r>
                            </m:sub>
                          </m:sSub>
                        </m:num>
                        <m:den>
                          <m:r>
                            <a:rPr lang="en-US" sz="1200" i="1">
                              <a:latin typeface="Cambria Math" panose="02040503050406030204" pitchFamily="18" charset="0"/>
                            </a:rPr>
                            <m:t>𝑀</m:t>
                          </m:r>
                          <m:d>
                            <m:dPr>
                              <m:ctrlPr>
                                <a:rPr lang="en-US" sz="1200" i="1">
                                  <a:latin typeface="Cambria Math" panose="02040503050406030204" pitchFamily="18" charset="0"/>
                                </a:rPr>
                              </m:ctrlPr>
                            </m:dPr>
                            <m:e>
                              <m:r>
                                <a:rPr lang="en-US" sz="1200" i="1">
                                  <a:latin typeface="Cambria Math" panose="02040503050406030204" pitchFamily="18" charset="0"/>
                                </a:rPr>
                                <m:t>𝑡</m:t>
                              </m:r>
                            </m:e>
                          </m:d>
                        </m:den>
                      </m:f>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𝐼</m:t>
                          </m:r>
                        </m:e>
                        <m:sub>
                          <m:r>
                            <a:rPr lang="en-US" sz="1200" i="1">
                              <a:latin typeface="Cambria Math" panose="02040503050406030204" pitchFamily="18" charset="0"/>
                            </a:rPr>
                            <m:t>𝑏𝑎𝑡</m:t>
                          </m:r>
                        </m:sub>
                      </m:sSub>
                      <m:d>
                        <m:dPr>
                          <m:ctrlPr>
                            <a:rPr lang="en-US" sz="1200" i="1">
                              <a:latin typeface="Cambria Math" panose="02040503050406030204" pitchFamily="18" charset="0"/>
                            </a:rPr>
                          </m:ctrlPr>
                        </m:dPr>
                        <m:e>
                          <m:r>
                            <a:rPr lang="en-US" sz="1200" i="1">
                              <a:latin typeface="Cambria Math" panose="02040503050406030204" pitchFamily="18" charset="0"/>
                            </a:rPr>
                            <m:t>𝑡</m:t>
                          </m:r>
                        </m:e>
                      </m:d>
                      <m:r>
                        <a:rPr lang="en-US" sz="1200" i="1">
                          <a:latin typeface="Cambria Math" panose="02040503050406030204" pitchFamily="18" charset="0"/>
                        </a:rPr>
                        <m:t>+</m:t>
                      </m:r>
                      <m:f>
                        <m:fPr>
                          <m:ctrlPr>
                            <a:rPr lang="en-US" sz="1200" i="1">
                              <a:latin typeface="Cambria Math" panose="02040503050406030204" pitchFamily="18" charset="0"/>
                            </a:rPr>
                          </m:ctrlPr>
                        </m:fPr>
                        <m:num>
                          <m:r>
                            <a:rPr lang="en-US" sz="1200" i="1">
                              <a:latin typeface="Cambria Math" panose="02040503050406030204" pitchFamily="18" charset="0"/>
                            </a:rPr>
                            <m:t>𝐿</m:t>
                          </m:r>
                        </m:num>
                        <m:den>
                          <m:r>
                            <a:rPr lang="en-US" sz="1200" i="1">
                              <a:latin typeface="Cambria Math" panose="02040503050406030204" pitchFamily="18" charset="0"/>
                            </a:rPr>
                            <m:t>𝑀</m:t>
                          </m:r>
                          <m:d>
                            <m:dPr>
                              <m:ctrlPr>
                                <a:rPr lang="en-US" sz="1200" i="1">
                                  <a:latin typeface="Cambria Math" panose="02040503050406030204" pitchFamily="18" charset="0"/>
                                </a:rPr>
                              </m:ctrlPr>
                            </m:dPr>
                            <m:e>
                              <m:r>
                                <a:rPr lang="en-US" sz="1200" i="1">
                                  <a:latin typeface="Cambria Math" panose="02040503050406030204" pitchFamily="18" charset="0"/>
                                </a:rPr>
                                <m:t>𝑡</m:t>
                              </m:r>
                            </m:e>
                          </m:d>
                        </m:den>
                      </m:f>
                      <m:r>
                        <a:rPr lang="en-US" sz="1200" i="1">
                          <a:latin typeface="Cambria Math" panose="02040503050406030204" pitchFamily="18" charset="0"/>
                        </a:rPr>
                        <m:t>∗</m:t>
                      </m:r>
                      <m:f>
                        <m:fPr>
                          <m:ctrlPr>
                            <a:rPr lang="en-US" sz="1200" i="1">
                              <a:latin typeface="Cambria Math" panose="02040503050406030204" pitchFamily="18" charset="0"/>
                            </a:rPr>
                          </m:ctrlPr>
                        </m:fPr>
                        <m:num>
                          <m:r>
                            <a:rPr lang="en-US" sz="1200" i="1">
                              <a:latin typeface="Cambria Math" panose="02040503050406030204" pitchFamily="18" charset="0"/>
                            </a:rPr>
                            <m:t>𝑑</m:t>
                          </m:r>
                        </m:num>
                        <m:den>
                          <m:r>
                            <a:rPr lang="en-US" sz="1200" i="1">
                              <a:latin typeface="Cambria Math" panose="02040503050406030204" pitchFamily="18" charset="0"/>
                            </a:rPr>
                            <m:t>𝑑𝑡</m:t>
                          </m:r>
                        </m:den>
                      </m:f>
                      <m:sSub>
                        <m:sSubPr>
                          <m:ctrlPr>
                            <a:rPr lang="en-US" sz="1200" i="1">
                              <a:latin typeface="Cambria Math" panose="02040503050406030204" pitchFamily="18" charset="0"/>
                            </a:rPr>
                          </m:ctrlPr>
                        </m:sSubPr>
                        <m:e>
                          <m:r>
                            <a:rPr lang="en-US" sz="1200" i="1">
                              <a:latin typeface="Cambria Math" panose="02040503050406030204" pitchFamily="18" charset="0"/>
                            </a:rPr>
                            <m:t>𝐼</m:t>
                          </m:r>
                        </m:e>
                        <m:sub>
                          <m:r>
                            <a:rPr lang="en-US" sz="1200" i="1">
                              <a:latin typeface="Cambria Math" panose="02040503050406030204" pitchFamily="18" charset="0"/>
                            </a:rPr>
                            <m:t>𝑏𝑎𝑡</m:t>
                          </m:r>
                        </m:sub>
                      </m:sSub>
                      <m:d>
                        <m:dPr>
                          <m:ctrlPr>
                            <a:rPr lang="en-US" sz="1200" i="1">
                              <a:latin typeface="Cambria Math" panose="02040503050406030204" pitchFamily="18" charset="0"/>
                            </a:rPr>
                          </m:ctrlPr>
                        </m:dPr>
                        <m:e>
                          <m:r>
                            <a:rPr lang="en-US" sz="1200" i="1">
                              <a:latin typeface="Cambria Math" panose="02040503050406030204" pitchFamily="18" charset="0"/>
                            </a:rPr>
                            <m:t>𝑡</m:t>
                          </m:r>
                        </m:e>
                      </m:d>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1</m:t>
                          </m:r>
                        </m:num>
                        <m:den>
                          <m:r>
                            <a:rPr lang="en-US" sz="1200" b="0" i="1" smtClean="0">
                              <a:latin typeface="Cambria Math" panose="02040503050406030204" pitchFamily="18" charset="0"/>
                            </a:rPr>
                            <m:t>𝐶</m:t>
                          </m:r>
                          <m:r>
                            <a:rPr lang="en-US" sz="1200" b="0" i="1" smtClean="0">
                              <a:latin typeface="Cambria Math" panose="02040503050406030204" pitchFamily="18" charset="0"/>
                            </a:rPr>
                            <m:t>∗</m:t>
                          </m:r>
                          <m:r>
                            <a:rPr lang="en-US" sz="1200" b="0" i="1" smtClean="0">
                              <a:latin typeface="Cambria Math" panose="02040503050406030204" pitchFamily="18" charset="0"/>
                            </a:rPr>
                            <m:t>𝑀</m:t>
                          </m:r>
                          <m:r>
                            <a:rPr lang="en-US" sz="1200" b="0" i="1" smtClean="0">
                              <a:latin typeface="Cambria Math" panose="02040503050406030204" pitchFamily="18" charset="0"/>
                            </a:rPr>
                            <m:t>(</m:t>
                          </m:r>
                          <m:r>
                            <a:rPr lang="en-US" sz="1200" b="0" i="1" smtClean="0">
                              <a:latin typeface="Cambria Math" panose="02040503050406030204" pitchFamily="18" charset="0"/>
                            </a:rPr>
                            <m:t>𝑡</m:t>
                          </m:r>
                          <m:r>
                            <a:rPr lang="en-US" sz="1200" b="0" i="1" smtClean="0">
                              <a:latin typeface="Cambria Math" panose="02040503050406030204" pitchFamily="18" charset="0"/>
                            </a:rPr>
                            <m:t>)</m:t>
                          </m:r>
                        </m:den>
                      </m:f>
                      <m:nary>
                        <m:naryPr>
                          <m:limLoc m:val="undOvr"/>
                          <m:subHide m:val="on"/>
                          <m:supHide m:val="on"/>
                          <m:ctrlPr>
                            <a:rPr lang="en-US" sz="1200" b="0" i="1" smtClean="0">
                              <a:latin typeface="Cambria Math" panose="02040503050406030204" pitchFamily="18" charset="0"/>
                            </a:rPr>
                          </m:ctrlPr>
                        </m:naryPr>
                        <m:sub/>
                        <m:sup/>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𝐼</m:t>
                              </m:r>
                            </m:e>
                            <m:sub>
                              <m:r>
                                <a:rPr lang="en-US" sz="1200" b="0" i="1" smtClean="0">
                                  <a:latin typeface="Cambria Math" panose="02040503050406030204" pitchFamily="18" charset="0"/>
                                </a:rPr>
                                <m:t>𝑏𝑎𝑡</m:t>
                              </m:r>
                            </m:sub>
                          </m:sSub>
                          <m:r>
                            <a:rPr lang="en-US" sz="1200" b="0" i="1" smtClean="0">
                              <a:latin typeface="Cambria Math" panose="02040503050406030204" pitchFamily="18" charset="0"/>
                            </a:rPr>
                            <m:t>(</m:t>
                          </m:r>
                          <m:r>
                            <a:rPr lang="en-US" sz="1200" b="0" i="1" smtClean="0">
                              <a:latin typeface="Cambria Math" panose="02040503050406030204" pitchFamily="18" charset="0"/>
                            </a:rPr>
                            <m:t>𝑡</m:t>
                          </m:r>
                          <m:r>
                            <a:rPr lang="en-US" sz="1200" b="0" i="1" smtClean="0">
                              <a:latin typeface="Cambria Math" panose="02040503050406030204" pitchFamily="18" charset="0"/>
                            </a:rPr>
                            <m:t>)</m:t>
                          </m:r>
                        </m:e>
                      </m:nary>
                    </m:oMath>
                  </m:oMathPara>
                </a14:m>
                <a:endParaRPr lang="en-US" dirty="0"/>
              </a:p>
              <a:p>
                <a:endParaRPr lang="en-US" dirty="0"/>
              </a:p>
              <a:p>
                <a:r>
                  <a:rPr lang="en-US" dirty="0"/>
                  <a:t>*Remember that caveat in small print from before? Exercise for the reader: can we ignore this imperfection in our calculus now?</a:t>
                </a:r>
              </a:p>
            </p:txBody>
          </p:sp>
        </mc:Choice>
        <mc:Fallback>
          <p:sp>
            <p:nvSpPr>
              <p:cNvPr id="5" name="Text Placeholder 4">
                <a:extLst>
                  <a:ext uri="{FF2B5EF4-FFF2-40B4-BE49-F238E27FC236}">
                    <a16:creationId xmlns:a16="http://schemas.microsoft.com/office/drawing/2014/main" id="{CCC0E295-6D80-4650-C064-30DBEF50D957}"/>
                  </a:ext>
                </a:extLst>
              </p:cNvPr>
              <p:cNvSpPr>
                <a:spLocks noGrp="1" noRot="1" noChangeAspect="1" noMove="1" noResize="1" noEditPoints="1" noAdjustHandles="1" noChangeArrowheads="1" noChangeShapeType="1" noTextEdit="1"/>
              </p:cNvSpPr>
              <p:nvPr>
                <p:ph type="body" sz="half" idx="2"/>
              </p:nvPr>
            </p:nvSpPr>
            <p:spPr>
              <a:xfrm>
                <a:off x="167780" y="2057400"/>
                <a:ext cx="4927013" cy="4314039"/>
              </a:xfrm>
              <a:blipFill>
                <a:blip r:embed="rId2"/>
                <a:stretch>
                  <a:fillRect l="-743" t="-990" r="-3713" b="-707"/>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BC03E0CC-0F5C-2B82-A8F9-69B5D45FCA1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966887" y="457200"/>
            <a:ext cx="5173861" cy="3167953"/>
          </a:xfrm>
          <a:prstGeom prst="rect">
            <a:avLst/>
          </a:prstGeom>
        </p:spPr>
      </p:pic>
      <p:sp>
        <p:nvSpPr>
          <p:cNvPr id="9" name="Rectangle: Rounded Corners 8">
            <a:extLst>
              <a:ext uri="{FF2B5EF4-FFF2-40B4-BE49-F238E27FC236}">
                <a16:creationId xmlns:a16="http://schemas.microsoft.com/office/drawing/2014/main" id="{BE4666EC-9049-EFF0-9C5D-6B0300E4CB9E}"/>
              </a:ext>
            </a:extLst>
          </p:cNvPr>
          <p:cNvSpPr/>
          <p:nvPr/>
        </p:nvSpPr>
        <p:spPr>
          <a:xfrm>
            <a:off x="5171813" y="224509"/>
            <a:ext cx="6673171" cy="3400644"/>
          </a:xfrm>
          <a:prstGeom prst="roundRect">
            <a:avLst>
              <a:gd name="adj" fmla="val 3299"/>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98C199B-C6D4-1ACA-FF24-DD101B0E5772}"/>
              </a:ext>
            </a:extLst>
          </p:cNvPr>
          <p:cNvSpPr txBox="1"/>
          <p:nvPr/>
        </p:nvSpPr>
        <p:spPr>
          <a:xfrm>
            <a:off x="9773134" y="215829"/>
            <a:ext cx="2071850" cy="338554"/>
          </a:xfrm>
          <a:prstGeom prst="rect">
            <a:avLst/>
          </a:prstGeom>
          <a:noFill/>
        </p:spPr>
        <p:txBody>
          <a:bodyPr wrap="none" rtlCol="0">
            <a:spAutoFit/>
          </a:bodyPr>
          <a:lstStyle/>
          <a:p>
            <a:pPr algn="r"/>
            <a:r>
              <a:rPr lang="en-US" sz="1600" b="1" dirty="0"/>
              <a:t>Singular RLC Branch</a:t>
            </a:r>
          </a:p>
        </p:txBody>
      </p:sp>
      <p:pic>
        <p:nvPicPr>
          <p:cNvPr id="11" name="Picture 10">
            <a:extLst>
              <a:ext uri="{FF2B5EF4-FFF2-40B4-BE49-F238E27FC236}">
                <a16:creationId xmlns:a16="http://schemas.microsoft.com/office/drawing/2014/main" id="{B6E6B413-D3FE-5290-CEE9-03A0BE540F6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559201" y="4157981"/>
            <a:ext cx="3847339" cy="2390733"/>
          </a:xfrm>
          <a:prstGeom prst="rect">
            <a:avLst/>
          </a:prstGeom>
        </p:spPr>
      </p:pic>
      <p:cxnSp>
        <p:nvCxnSpPr>
          <p:cNvPr id="12" name="Straight Arrow Connector 11">
            <a:extLst>
              <a:ext uri="{FF2B5EF4-FFF2-40B4-BE49-F238E27FC236}">
                <a16:creationId xmlns:a16="http://schemas.microsoft.com/office/drawing/2014/main" id="{AEB0BB3A-84CC-22D4-4AB5-DBE74C3157F3}"/>
              </a:ext>
            </a:extLst>
          </p:cNvPr>
          <p:cNvCxnSpPr/>
          <p:nvPr/>
        </p:nvCxnSpPr>
        <p:spPr>
          <a:xfrm flipV="1">
            <a:off x="7645951" y="4550361"/>
            <a:ext cx="0" cy="55357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90EFA22D-691F-5092-A2E6-7261946CFB23}"/>
              </a:ext>
            </a:extLst>
          </p:cNvPr>
          <p:cNvSpPr txBox="1"/>
          <p:nvPr/>
        </p:nvSpPr>
        <p:spPr>
          <a:xfrm>
            <a:off x="7645951" y="4673257"/>
            <a:ext cx="1675459" cy="307777"/>
          </a:xfrm>
          <a:prstGeom prst="rect">
            <a:avLst/>
          </a:prstGeom>
          <a:noFill/>
        </p:spPr>
        <p:txBody>
          <a:bodyPr wrap="none" rtlCol="0">
            <a:spAutoFit/>
          </a:bodyPr>
          <a:lstStyle/>
          <a:p>
            <a:r>
              <a:rPr lang="en-US" sz="1400" dirty="0">
                <a:latin typeface="Cambria Math" panose="02040503050406030204" pitchFamily="18" charset="0"/>
                <a:ea typeface="Cambria Math" panose="02040503050406030204" pitchFamily="18" charset="0"/>
              </a:rPr>
              <a:t>I</a:t>
            </a:r>
            <a:r>
              <a:rPr lang="en-US" sz="1400" baseline="-25000" dirty="0">
                <a:latin typeface="Cambria Math" panose="02040503050406030204" pitchFamily="18" charset="0"/>
                <a:ea typeface="Cambria Math" panose="02040503050406030204" pitchFamily="18" charset="0"/>
              </a:rPr>
              <a:t>RL</a:t>
            </a:r>
            <a:r>
              <a:rPr lang="en-US" sz="1400" dirty="0">
                <a:latin typeface="Cambria Math" panose="02040503050406030204" pitchFamily="18" charset="0"/>
                <a:ea typeface="Cambria Math" panose="02040503050406030204" pitchFamily="18" charset="0"/>
              </a:rPr>
              <a:t>(t) = </a:t>
            </a:r>
            <a:r>
              <a:rPr lang="en-US" sz="1400" dirty="0" err="1">
                <a:latin typeface="Cambria Math" panose="02040503050406030204" pitchFamily="18" charset="0"/>
                <a:ea typeface="Cambria Math" panose="02040503050406030204" pitchFamily="18" charset="0"/>
              </a:rPr>
              <a:t>I</a:t>
            </a:r>
            <a:r>
              <a:rPr lang="en-US" sz="1400" baseline="-25000" dirty="0" err="1">
                <a:latin typeface="Cambria Math" panose="02040503050406030204" pitchFamily="18" charset="0"/>
                <a:ea typeface="Cambria Math" panose="02040503050406030204" pitchFamily="18" charset="0"/>
              </a:rPr>
              <a:t>bat</a:t>
            </a:r>
            <a:r>
              <a:rPr lang="en-US" sz="1400" dirty="0">
                <a:latin typeface="Cambria Math" panose="02040503050406030204" pitchFamily="18" charset="0"/>
                <a:ea typeface="Cambria Math" panose="02040503050406030204" pitchFamily="18" charset="0"/>
              </a:rPr>
              <a:t>(t)/M(t)</a:t>
            </a:r>
          </a:p>
        </p:txBody>
      </p:sp>
      <p:sp>
        <p:nvSpPr>
          <p:cNvPr id="14" name="Rectangle: Rounded Corners 13">
            <a:extLst>
              <a:ext uri="{FF2B5EF4-FFF2-40B4-BE49-F238E27FC236}">
                <a16:creationId xmlns:a16="http://schemas.microsoft.com/office/drawing/2014/main" id="{89566021-6822-F762-FA36-D50EFA599B1C}"/>
              </a:ext>
            </a:extLst>
          </p:cNvPr>
          <p:cNvSpPr/>
          <p:nvPr/>
        </p:nvSpPr>
        <p:spPr>
          <a:xfrm>
            <a:off x="5171813" y="3866524"/>
            <a:ext cx="6673171" cy="2766967"/>
          </a:xfrm>
          <a:prstGeom prst="roundRect">
            <a:avLst>
              <a:gd name="adj" fmla="val 3299"/>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E224596-7B31-273C-9A3D-5BB3C8FB6CAE}"/>
              </a:ext>
            </a:extLst>
          </p:cNvPr>
          <p:cNvSpPr txBox="1"/>
          <p:nvPr/>
        </p:nvSpPr>
        <p:spPr>
          <a:xfrm>
            <a:off x="9690343" y="3857844"/>
            <a:ext cx="2077621" cy="338554"/>
          </a:xfrm>
          <a:prstGeom prst="rect">
            <a:avLst/>
          </a:prstGeom>
          <a:noFill/>
        </p:spPr>
        <p:txBody>
          <a:bodyPr wrap="none" rtlCol="0">
            <a:spAutoFit/>
          </a:bodyPr>
          <a:lstStyle/>
          <a:p>
            <a:pPr algn="r"/>
            <a:r>
              <a:rPr lang="en-US" sz="1600" b="1" dirty="0"/>
              <a:t>Complete Toy Model</a:t>
            </a:r>
          </a:p>
        </p:txBody>
      </p:sp>
      <p:pic>
        <p:nvPicPr>
          <p:cNvPr id="2050" name="Picture 2" descr="Stream i miss LSDvlad trolldespair (old hardtekk mix) by Flerian | Listen  online for free on SoundCloud">
            <a:extLst>
              <a:ext uri="{FF2B5EF4-FFF2-40B4-BE49-F238E27FC236}">
                <a16:creationId xmlns:a16="http://schemas.microsoft.com/office/drawing/2014/main" id="{85468E18-1CEF-64A2-99F1-089D6936D0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57172" y="6046510"/>
            <a:ext cx="190704" cy="1907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46018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AD299-1EC8-3C9C-4C0C-BADD0575C07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B64D800-531E-D987-D7DC-D8BB3D0A4E2A}"/>
              </a:ext>
            </a:extLst>
          </p:cNvPr>
          <p:cNvSpPr>
            <a:spLocks noGrp="1"/>
          </p:cNvSpPr>
          <p:nvPr>
            <p:ph type="title"/>
          </p:nvPr>
        </p:nvSpPr>
        <p:spPr/>
        <p:txBody>
          <a:bodyPr/>
          <a:lstStyle/>
          <a:p>
            <a:r>
              <a:rPr lang="en-US" dirty="0"/>
              <a:t>PI</a:t>
            </a:r>
            <a:r>
              <a:rPr lang="en-US" baseline="30000" dirty="0"/>
              <a:t>2</a:t>
            </a:r>
            <a:r>
              <a:rPr lang="en-US" dirty="0"/>
              <a:t> Control Linearization</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11BA93C1-3496-4F0D-76C1-0D2E2E8A1BFD}"/>
                  </a:ext>
                </a:extLst>
              </p:cNvPr>
              <p:cNvSpPr txBox="1"/>
              <p:nvPr/>
            </p:nvSpPr>
            <p:spPr>
              <a:xfrm>
                <a:off x="325772" y="1497959"/>
                <a:ext cx="5531135" cy="4686283"/>
              </a:xfrm>
              <a:prstGeom prst="rect">
                <a:avLst/>
              </a:prstGeom>
              <a:noFill/>
            </p:spPr>
            <p:txBody>
              <a:bodyPr wrap="square">
                <a:spAutoFit/>
              </a:bodyPr>
              <a:lstStyle/>
              <a:p>
                <a:r>
                  <a:rPr lang="en-US" dirty="0"/>
                  <a:t>From the equation:</a:t>
                </a:r>
                <a:endParaRPr lang="en-US" b="0" dirty="0"/>
              </a:p>
              <a:p>
                <a:pPr/>
                <a14:m>
                  <m:oMathPara xmlns:m="http://schemas.openxmlformats.org/officeDocument/2006/math">
                    <m:oMathParaPr>
                      <m:jc m:val="centerGroup"/>
                    </m:oMathParaPr>
                    <m:oMath xmlns:m="http://schemas.openxmlformats.org/officeDocument/2006/math">
                      <m:r>
                        <a:rPr lang="en-US" sz="1400" i="1">
                          <a:latin typeface="Cambria Math" panose="02040503050406030204" pitchFamily="18" charset="0"/>
                        </a:rPr>
                        <m:t>𝑀</m:t>
                      </m:r>
                      <m:d>
                        <m:dPr>
                          <m:ctrlPr>
                            <a:rPr lang="en-US" sz="1400" i="1">
                              <a:latin typeface="Cambria Math" panose="02040503050406030204" pitchFamily="18" charset="0"/>
                            </a:rPr>
                          </m:ctrlPr>
                        </m:dPr>
                        <m:e>
                          <m:r>
                            <a:rPr lang="en-US" sz="1400" i="1">
                              <a:latin typeface="Cambria Math" panose="02040503050406030204" pitchFamily="18" charset="0"/>
                            </a:rPr>
                            <m:t>𝑡</m:t>
                          </m:r>
                        </m:e>
                      </m:d>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𝑉</m:t>
                          </m:r>
                        </m:e>
                        <m:sub>
                          <m:r>
                            <a:rPr lang="en-US" sz="1400" i="1">
                              <a:latin typeface="Cambria Math" panose="02040503050406030204" pitchFamily="18" charset="0"/>
                            </a:rPr>
                            <m:t>𝑔</m:t>
                          </m:r>
                        </m:sub>
                      </m:sSub>
                      <m:r>
                        <a:rPr lang="en-US" sz="1400" i="1">
                          <a:latin typeface="Cambria Math" panose="02040503050406030204" pitchFamily="18" charset="0"/>
                        </a:rPr>
                        <m:t>=</m:t>
                      </m:r>
                      <m:f>
                        <m:fPr>
                          <m:ctrlPr>
                            <a:rPr lang="en-US" sz="1400" i="1">
                              <a:latin typeface="Cambria Math" panose="02040503050406030204" pitchFamily="18" charset="0"/>
                            </a:rPr>
                          </m:ctrlPr>
                        </m:fPr>
                        <m:num>
                          <m:sSub>
                            <m:sSubPr>
                              <m:ctrlPr>
                                <a:rPr lang="en-US" sz="1400" i="1">
                                  <a:latin typeface="Cambria Math" panose="02040503050406030204" pitchFamily="18" charset="0"/>
                                </a:rPr>
                              </m:ctrlPr>
                            </m:sSubPr>
                            <m:e>
                              <m:r>
                                <a:rPr lang="en-US" sz="1400" i="1">
                                  <a:latin typeface="Cambria Math" panose="02040503050406030204" pitchFamily="18" charset="0"/>
                                </a:rPr>
                                <m:t>𝑅</m:t>
                              </m:r>
                            </m:e>
                            <m:sub>
                              <m:r>
                                <a:rPr lang="en-US" sz="1400" i="1">
                                  <a:latin typeface="Cambria Math" panose="02040503050406030204" pitchFamily="18" charset="0"/>
                                </a:rPr>
                                <m:t>𝐸𝑆𝑅</m:t>
                              </m:r>
                            </m:sub>
                          </m:sSub>
                        </m:num>
                        <m:den>
                          <m:r>
                            <a:rPr lang="en-US" sz="1400" i="1">
                              <a:latin typeface="Cambria Math" panose="02040503050406030204" pitchFamily="18" charset="0"/>
                            </a:rPr>
                            <m:t>𝑀</m:t>
                          </m:r>
                          <m:d>
                            <m:dPr>
                              <m:ctrlPr>
                                <a:rPr lang="en-US" sz="1400" i="1">
                                  <a:latin typeface="Cambria Math" panose="02040503050406030204" pitchFamily="18" charset="0"/>
                                </a:rPr>
                              </m:ctrlPr>
                            </m:dPr>
                            <m:e>
                              <m:r>
                                <a:rPr lang="en-US" sz="1400" i="1">
                                  <a:latin typeface="Cambria Math" panose="02040503050406030204" pitchFamily="18" charset="0"/>
                                </a:rPr>
                                <m:t>𝑡</m:t>
                              </m:r>
                            </m:e>
                          </m:d>
                        </m:den>
                      </m:f>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𝐼</m:t>
                          </m:r>
                        </m:e>
                        <m:sub>
                          <m:r>
                            <a:rPr lang="en-US" sz="1400" i="1">
                              <a:latin typeface="Cambria Math" panose="02040503050406030204" pitchFamily="18" charset="0"/>
                            </a:rPr>
                            <m:t>𝑏𝑎𝑡</m:t>
                          </m:r>
                        </m:sub>
                      </m:sSub>
                      <m:d>
                        <m:dPr>
                          <m:ctrlPr>
                            <a:rPr lang="en-US" sz="1400" i="1">
                              <a:latin typeface="Cambria Math" panose="02040503050406030204" pitchFamily="18" charset="0"/>
                            </a:rPr>
                          </m:ctrlPr>
                        </m:dPr>
                        <m:e>
                          <m:r>
                            <a:rPr lang="en-US" sz="1400" i="1">
                              <a:latin typeface="Cambria Math" panose="02040503050406030204" pitchFamily="18" charset="0"/>
                            </a:rPr>
                            <m:t>𝑡</m:t>
                          </m:r>
                        </m:e>
                      </m:d>
                      <m:r>
                        <a:rPr lang="en-US" sz="1400" i="1">
                          <a:latin typeface="Cambria Math" panose="02040503050406030204" pitchFamily="18" charset="0"/>
                        </a:rPr>
                        <m:t>+</m:t>
                      </m:r>
                      <m:f>
                        <m:fPr>
                          <m:ctrlPr>
                            <a:rPr lang="en-US" sz="1400" i="1">
                              <a:latin typeface="Cambria Math" panose="02040503050406030204" pitchFamily="18" charset="0"/>
                            </a:rPr>
                          </m:ctrlPr>
                        </m:fPr>
                        <m:num>
                          <m:r>
                            <a:rPr lang="en-US" sz="1400" i="1">
                              <a:latin typeface="Cambria Math" panose="02040503050406030204" pitchFamily="18" charset="0"/>
                            </a:rPr>
                            <m:t>𝐿</m:t>
                          </m:r>
                        </m:num>
                        <m:den>
                          <m:r>
                            <a:rPr lang="en-US" sz="1400" i="1">
                              <a:latin typeface="Cambria Math" panose="02040503050406030204" pitchFamily="18" charset="0"/>
                            </a:rPr>
                            <m:t>𝑀</m:t>
                          </m:r>
                          <m:d>
                            <m:dPr>
                              <m:ctrlPr>
                                <a:rPr lang="en-US" sz="1400" i="1">
                                  <a:latin typeface="Cambria Math" panose="02040503050406030204" pitchFamily="18" charset="0"/>
                                </a:rPr>
                              </m:ctrlPr>
                            </m:dPr>
                            <m:e>
                              <m:r>
                                <a:rPr lang="en-US" sz="1400" i="1">
                                  <a:latin typeface="Cambria Math" panose="02040503050406030204" pitchFamily="18" charset="0"/>
                                </a:rPr>
                                <m:t>𝑡</m:t>
                              </m:r>
                            </m:e>
                          </m:d>
                        </m:den>
                      </m:f>
                      <m:r>
                        <a:rPr lang="en-US" sz="1400" i="1">
                          <a:latin typeface="Cambria Math" panose="02040503050406030204" pitchFamily="18" charset="0"/>
                        </a:rPr>
                        <m:t>∗</m:t>
                      </m:r>
                      <m:f>
                        <m:fPr>
                          <m:ctrlPr>
                            <a:rPr lang="en-US" sz="1400" i="1">
                              <a:latin typeface="Cambria Math" panose="02040503050406030204" pitchFamily="18" charset="0"/>
                            </a:rPr>
                          </m:ctrlPr>
                        </m:fPr>
                        <m:num>
                          <m:r>
                            <a:rPr lang="en-US" sz="1400" i="1">
                              <a:latin typeface="Cambria Math" panose="02040503050406030204" pitchFamily="18" charset="0"/>
                            </a:rPr>
                            <m:t>𝑑</m:t>
                          </m:r>
                        </m:num>
                        <m:den>
                          <m:r>
                            <a:rPr lang="en-US" sz="1400" i="1">
                              <a:latin typeface="Cambria Math" panose="02040503050406030204" pitchFamily="18" charset="0"/>
                            </a:rPr>
                            <m:t>𝑑𝑡</m:t>
                          </m:r>
                        </m:den>
                      </m:f>
                      <m:sSub>
                        <m:sSubPr>
                          <m:ctrlPr>
                            <a:rPr lang="en-US" sz="1400" i="1">
                              <a:latin typeface="Cambria Math" panose="02040503050406030204" pitchFamily="18" charset="0"/>
                            </a:rPr>
                          </m:ctrlPr>
                        </m:sSubPr>
                        <m:e>
                          <m:r>
                            <a:rPr lang="en-US" sz="1400" i="1">
                              <a:latin typeface="Cambria Math" panose="02040503050406030204" pitchFamily="18" charset="0"/>
                            </a:rPr>
                            <m:t>𝐼</m:t>
                          </m:r>
                        </m:e>
                        <m:sub>
                          <m:r>
                            <a:rPr lang="en-US" sz="1400" i="1">
                              <a:latin typeface="Cambria Math" panose="02040503050406030204" pitchFamily="18" charset="0"/>
                            </a:rPr>
                            <m:t>𝑏𝑎𝑡</m:t>
                          </m:r>
                        </m:sub>
                      </m:sSub>
                      <m:d>
                        <m:dPr>
                          <m:ctrlPr>
                            <a:rPr lang="en-US" sz="1400" i="1">
                              <a:latin typeface="Cambria Math" panose="02040503050406030204" pitchFamily="18" charset="0"/>
                            </a:rPr>
                          </m:ctrlPr>
                        </m:dPr>
                        <m:e>
                          <m:r>
                            <a:rPr lang="en-US" sz="1400" i="1">
                              <a:latin typeface="Cambria Math" panose="02040503050406030204" pitchFamily="18" charset="0"/>
                            </a:rPr>
                            <m:t>𝑡</m:t>
                          </m:r>
                        </m:e>
                      </m:d>
                      <m:r>
                        <a:rPr lang="en-US" sz="1400" i="1">
                          <a:latin typeface="Cambria Math" panose="02040503050406030204" pitchFamily="18" charset="0"/>
                        </a:rPr>
                        <m:t>+</m:t>
                      </m:r>
                      <m:f>
                        <m:fPr>
                          <m:ctrlPr>
                            <a:rPr lang="en-US" sz="1400" i="1">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𝐶</m:t>
                          </m:r>
                          <m:r>
                            <a:rPr lang="en-US" sz="1400" b="0" i="1" smtClean="0">
                              <a:latin typeface="Cambria Math" panose="02040503050406030204" pitchFamily="18" charset="0"/>
                            </a:rPr>
                            <m:t>∗</m:t>
                          </m:r>
                          <m:r>
                            <a:rPr lang="en-US" sz="1400" i="1">
                              <a:latin typeface="Cambria Math" panose="02040503050406030204" pitchFamily="18" charset="0"/>
                            </a:rPr>
                            <m:t>𝑀</m:t>
                          </m:r>
                          <m:r>
                            <a:rPr lang="en-US" sz="1400" i="1">
                              <a:latin typeface="Cambria Math" panose="02040503050406030204" pitchFamily="18" charset="0"/>
                            </a:rPr>
                            <m:t>(</m:t>
                          </m:r>
                          <m:r>
                            <a:rPr lang="en-US" sz="1400" i="1">
                              <a:latin typeface="Cambria Math" panose="02040503050406030204" pitchFamily="18" charset="0"/>
                            </a:rPr>
                            <m:t>𝑡</m:t>
                          </m:r>
                          <m:r>
                            <a:rPr lang="en-US" sz="1400" i="1">
                              <a:latin typeface="Cambria Math" panose="02040503050406030204" pitchFamily="18" charset="0"/>
                            </a:rPr>
                            <m:t>)</m:t>
                          </m:r>
                        </m:den>
                      </m:f>
                      <m:nary>
                        <m:naryPr>
                          <m:limLoc m:val="undOvr"/>
                          <m:subHide m:val="on"/>
                          <m:supHide m:val="on"/>
                          <m:ctrlPr>
                            <a:rPr lang="en-US" sz="1400" i="1">
                              <a:latin typeface="Cambria Math" panose="02040503050406030204" pitchFamily="18" charset="0"/>
                            </a:rPr>
                          </m:ctrlPr>
                        </m:naryPr>
                        <m:sub/>
                        <m:sup/>
                        <m:e>
                          <m:sSub>
                            <m:sSubPr>
                              <m:ctrlPr>
                                <a:rPr lang="en-US" sz="1400" i="1">
                                  <a:latin typeface="Cambria Math" panose="02040503050406030204" pitchFamily="18" charset="0"/>
                                </a:rPr>
                              </m:ctrlPr>
                            </m:sSubPr>
                            <m:e>
                              <m:r>
                                <a:rPr lang="en-US" sz="1400" i="1">
                                  <a:latin typeface="Cambria Math" panose="02040503050406030204" pitchFamily="18" charset="0"/>
                                </a:rPr>
                                <m:t>𝐼</m:t>
                              </m:r>
                            </m:e>
                            <m:sub>
                              <m:r>
                                <a:rPr lang="en-US" sz="1400" i="1">
                                  <a:latin typeface="Cambria Math" panose="02040503050406030204" pitchFamily="18" charset="0"/>
                                </a:rPr>
                                <m:t>𝑏𝑎𝑡</m:t>
                              </m:r>
                            </m:sub>
                          </m:sSub>
                          <m:r>
                            <a:rPr lang="en-US" sz="1400" i="1">
                              <a:latin typeface="Cambria Math" panose="02040503050406030204" pitchFamily="18" charset="0"/>
                            </a:rPr>
                            <m:t>(</m:t>
                          </m:r>
                          <m:r>
                            <a:rPr lang="en-US" sz="1400" i="1">
                              <a:latin typeface="Cambria Math" panose="02040503050406030204" pitchFamily="18" charset="0"/>
                            </a:rPr>
                            <m:t>𝑡</m:t>
                          </m:r>
                          <m:r>
                            <a:rPr lang="en-US" sz="1400" i="1">
                              <a:latin typeface="Cambria Math" panose="02040503050406030204" pitchFamily="18" charset="0"/>
                            </a:rPr>
                            <m:t>)</m:t>
                          </m:r>
                        </m:e>
                      </m:nary>
                    </m:oMath>
                  </m:oMathPara>
                </a14:m>
                <a:endParaRPr lang="en-US" dirty="0"/>
              </a:p>
              <a:p>
                <a:pPr/>
                <a:r>
                  <a:rPr lang="en-US" dirty="0"/>
                  <a:t>Multiply by </a:t>
                </a:r>
                <a:r>
                  <a:rPr lang="en-US" dirty="0">
                    <a:latin typeface="Cambria Math" panose="02040503050406030204" pitchFamily="18" charset="0"/>
                    <a:ea typeface="Cambria Math" panose="02040503050406030204" pitchFamily="18" charset="0"/>
                  </a:rPr>
                  <a:t>M(t): </a:t>
                </a:r>
              </a:p>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𝑀</m:t>
                      </m:r>
                      <m:sSup>
                        <m:sSupPr>
                          <m:ctrlPr>
                            <a:rPr lang="en-US" sz="1600" b="0" i="1" smtClean="0">
                              <a:latin typeface="Cambria Math" panose="02040503050406030204" pitchFamily="18" charset="0"/>
                            </a:rPr>
                          </m:ctrlPr>
                        </m:sSupPr>
                        <m:e>
                          <m:d>
                            <m:dPr>
                              <m:ctrlPr>
                                <a:rPr lang="en-US" sz="1600" i="1">
                                  <a:latin typeface="Cambria Math" panose="02040503050406030204" pitchFamily="18" charset="0"/>
                                </a:rPr>
                              </m:ctrlPr>
                            </m:dPr>
                            <m:e>
                              <m:r>
                                <a:rPr lang="en-US" sz="1600" i="1">
                                  <a:latin typeface="Cambria Math" panose="02040503050406030204" pitchFamily="18" charset="0"/>
                                </a:rPr>
                                <m:t>𝑡</m:t>
                              </m:r>
                            </m:e>
                          </m:d>
                        </m:e>
                        <m:sup>
                          <m:r>
                            <a:rPr lang="en-US" sz="1600" b="0" i="1" smtClean="0">
                              <a:latin typeface="Cambria Math" panose="02040503050406030204" pitchFamily="18" charset="0"/>
                            </a:rPr>
                            <m:t>2</m:t>
                          </m:r>
                        </m:sup>
                      </m:sSup>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𝑉</m:t>
                          </m:r>
                        </m:e>
                        <m:sub>
                          <m:r>
                            <a:rPr lang="en-US" sz="1600" i="1">
                              <a:latin typeface="Cambria Math" panose="02040503050406030204" pitchFamily="18" charset="0"/>
                            </a:rPr>
                            <m:t>𝑔</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𝑅</m:t>
                          </m:r>
                        </m:e>
                        <m:sub>
                          <m:r>
                            <a:rPr lang="en-US" sz="1600" i="1">
                              <a:latin typeface="Cambria Math" panose="02040503050406030204" pitchFamily="18" charset="0"/>
                            </a:rPr>
                            <m:t>𝐸𝑆𝑅</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𝐼</m:t>
                          </m:r>
                        </m:e>
                        <m:sub>
                          <m:r>
                            <a:rPr lang="en-US" sz="1600" i="1">
                              <a:latin typeface="Cambria Math" panose="02040503050406030204" pitchFamily="18" charset="0"/>
                            </a:rPr>
                            <m:t>𝑏𝑎𝑡</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a:rPr lang="en-US" sz="1600" i="1">
                          <a:latin typeface="Cambria Math" panose="02040503050406030204" pitchFamily="18" charset="0"/>
                        </a:rPr>
                        <m:t>+</m:t>
                      </m:r>
                      <m:r>
                        <a:rPr lang="en-US" sz="1600" b="0" i="1" smtClean="0">
                          <a:latin typeface="Cambria Math" panose="02040503050406030204" pitchFamily="18" charset="0"/>
                        </a:rPr>
                        <m:t>𝐿</m:t>
                      </m:r>
                      <m:r>
                        <a:rPr lang="en-US" sz="1600" i="1">
                          <a:latin typeface="Cambria Math" panose="02040503050406030204" pitchFamily="18" charset="0"/>
                        </a:rPr>
                        <m:t>∗</m:t>
                      </m:r>
                      <m:f>
                        <m:fPr>
                          <m:ctrlPr>
                            <a:rPr lang="en-US" sz="1600" i="1">
                              <a:latin typeface="Cambria Math" panose="02040503050406030204" pitchFamily="18" charset="0"/>
                            </a:rPr>
                          </m:ctrlPr>
                        </m:fPr>
                        <m:num>
                          <m:r>
                            <a:rPr lang="en-US" sz="1600" i="1">
                              <a:latin typeface="Cambria Math" panose="02040503050406030204" pitchFamily="18" charset="0"/>
                            </a:rPr>
                            <m:t>𝑑</m:t>
                          </m:r>
                        </m:num>
                        <m:den>
                          <m:r>
                            <a:rPr lang="en-US" sz="1600" i="1">
                              <a:latin typeface="Cambria Math" panose="02040503050406030204" pitchFamily="18" charset="0"/>
                            </a:rPr>
                            <m:t>𝑑𝑡</m:t>
                          </m:r>
                        </m:den>
                      </m:f>
                      <m:sSub>
                        <m:sSubPr>
                          <m:ctrlPr>
                            <a:rPr lang="en-US" sz="1600" i="1">
                              <a:latin typeface="Cambria Math" panose="02040503050406030204" pitchFamily="18" charset="0"/>
                            </a:rPr>
                          </m:ctrlPr>
                        </m:sSubPr>
                        <m:e>
                          <m:r>
                            <a:rPr lang="en-US" sz="1600" i="1">
                              <a:latin typeface="Cambria Math" panose="02040503050406030204" pitchFamily="18" charset="0"/>
                            </a:rPr>
                            <m:t>𝐼</m:t>
                          </m:r>
                        </m:e>
                        <m:sub>
                          <m:r>
                            <a:rPr lang="en-US" sz="1600" i="1">
                              <a:latin typeface="Cambria Math" panose="02040503050406030204" pitchFamily="18" charset="0"/>
                            </a:rPr>
                            <m:t>𝑏𝑎𝑡</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𝐶</m:t>
                          </m:r>
                        </m:den>
                      </m:f>
                      <m:nary>
                        <m:naryPr>
                          <m:limLoc m:val="undOvr"/>
                          <m:subHide m:val="on"/>
                          <m:supHide m:val="on"/>
                          <m:ctrlPr>
                            <a:rPr lang="en-US" sz="1600" i="1">
                              <a:latin typeface="Cambria Math" panose="02040503050406030204" pitchFamily="18" charset="0"/>
                            </a:rPr>
                          </m:ctrlPr>
                        </m:naryPr>
                        <m:sub/>
                        <m:sup/>
                        <m:e>
                          <m:sSub>
                            <m:sSubPr>
                              <m:ctrlPr>
                                <a:rPr lang="en-US" sz="1600" i="1">
                                  <a:latin typeface="Cambria Math" panose="02040503050406030204" pitchFamily="18" charset="0"/>
                                </a:rPr>
                              </m:ctrlPr>
                            </m:sSubPr>
                            <m:e>
                              <m:r>
                                <a:rPr lang="en-US" sz="1600" i="1">
                                  <a:latin typeface="Cambria Math" panose="02040503050406030204" pitchFamily="18" charset="0"/>
                                </a:rPr>
                                <m:t>𝐼</m:t>
                              </m:r>
                            </m:e>
                            <m:sub>
                              <m:r>
                                <a:rPr lang="en-US" sz="1600" i="1">
                                  <a:latin typeface="Cambria Math" panose="02040503050406030204" pitchFamily="18" charset="0"/>
                                </a:rPr>
                                <m:t>𝑏𝑎𝑡</m:t>
                              </m:r>
                            </m:sub>
                          </m:sSub>
                          <m:r>
                            <a:rPr lang="en-US" sz="1600" i="1">
                              <a:latin typeface="Cambria Math" panose="02040503050406030204" pitchFamily="18" charset="0"/>
                            </a:rPr>
                            <m:t>(</m:t>
                          </m:r>
                          <m:r>
                            <a:rPr lang="en-US" sz="1600" i="1">
                              <a:latin typeface="Cambria Math" panose="02040503050406030204" pitchFamily="18" charset="0"/>
                            </a:rPr>
                            <m:t>𝑡</m:t>
                          </m:r>
                          <m:r>
                            <a:rPr lang="en-US" sz="1600" i="1">
                              <a:latin typeface="Cambria Math" panose="02040503050406030204" pitchFamily="18" charset="0"/>
                            </a:rPr>
                            <m:t>)</m:t>
                          </m:r>
                        </m:e>
                      </m:nary>
                    </m:oMath>
                  </m:oMathPara>
                </a14:m>
                <a:endParaRPr lang="en-US" dirty="0"/>
              </a:p>
              <a:p>
                <a:r>
                  <a:rPr lang="en-US" dirty="0"/>
                  <a:t>Our algebra trick is a lot simpler now, and we don’t need to complete the square or define a new auxiliary variable:</a:t>
                </a:r>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𝑇</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i="1">
                          <a:latin typeface="Cambria Math" panose="02040503050406030204" pitchFamily="18" charset="0"/>
                        </a:rPr>
                        <m:t>𝑀</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𝑡</m:t>
                              </m:r>
                            </m:e>
                          </m:d>
                        </m:e>
                        <m:sup>
                          <m:r>
                            <a:rPr lang="en-US" i="1">
                              <a:latin typeface="Cambria Math" panose="02040503050406030204" pitchFamily="18" charset="0"/>
                            </a:rPr>
                            <m:t>2</m:t>
                          </m:r>
                        </m:sup>
                      </m:sSup>
                      <m:r>
                        <a:rPr lang="en-US" b="0" i="1" smtClean="0">
                          <a:latin typeface="Cambria Math" panose="02040503050406030204" pitchFamily="18" charset="0"/>
                        </a:rPr>
                        <m:t>, </m:t>
                      </m:r>
                      <m:r>
                        <a:rPr lang="en-US" b="0" i="1" smtClean="0">
                          <a:latin typeface="Cambria Math" panose="02040503050406030204" pitchFamily="18" charset="0"/>
                        </a:rPr>
                        <m:t>𝑀</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rad>
                        <m:radPr>
                          <m:degHide m:val="on"/>
                          <m:ctrlPr>
                            <a:rPr lang="en-US" b="0" i="1" smtClean="0">
                              <a:latin typeface="Cambria Math" panose="02040503050406030204" pitchFamily="18" charset="0"/>
                              <a:ea typeface="Cambria Math" panose="02040503050406030204" pitchFamily="18" charset="0"/>
                            </a:rPr>
                          </m:ctrlPr>
                        </m:radPr>
                        <m:deg/>
                        <m:e>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𝑇</m:t>
                              </m:r>
                            </m:sub>
                          </m:sSub>
                          <m:d>
                            <m:dPr>
                              <m:ctrlPr>
                                <a:rPr lang="en-US" i="1">
                                  <a:latin typeface="Cambria Math" panose="02040503050406030204" pitchFamily="18" charset="0"/>
                                </a:rPr>
                              </m:ctrlPr>
                            </m:dPr>
                            <m:e>
                              <m:r>
                                <a:rPr lang="en-US" i="1">
                                  <a:latin typeface="Cambria Math" panose="02040503050406030204" pitchFamily="18" charset="0"/>
                                </a:rPr>
                                <m:t>𝑡</m:t>
                              </m:r>
                            </m:e>
                          </m:d>
                        </m:e>
                      </m:rad>
                    </m:oMath>
                  </m:oMathPara>
                </a14:m>
                <a:endParaRPr lang="en-US" dirty="0"/>
              </a:p>
              <a:p>
                <a:r>
                  <a:rPr lang="en-US" dirty="0"/>
                  <a:t>Our KVL equation is now:</a:t>
                </a:r>
              </a:p>
              <a:p>
                <a14:m>
                  <m:oMathPara xmlns:m="http://schemas.openxmlformats.org/officeDocument/2006/math">
                    <m:oMathParaPr>
                      <m:jc m:val="centerGroup"/>
                    </m:oMathParaPr>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𝑉</m:t>
                          </m:r>
                        </m:e>
                        <m:sub>
                          <m:r>
                            <a:rPr lang="en-US" sz="1600" i="1">
                              <a:latin typeface="Cambria Math" panose="02040503050406030204" pitchFamily="18" charset="0"/>
                            </a:rPr>
                            <m:t>𝑔</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𝑀</m:t>
                          </m:r>
                        </m:e>
                        <m:sub>
                          <m:r>
                            <a:rPr lang="en-US" sz="1600" i="1">
                              <a:latin typeface="Cambria Math" panose="02040503050406030204" pitchFamily="18" charset="0"/>
                            </a:rPr>
                            <m:t>𝑇</m:t>
                          </m:r>
                        </m:sub>
                      </m:sSub>
                      <m:r>
                        <a:rPr lang="en-US" sz="1600" i="1">
                          <a:latin typeface="Cambria Math" panose="02040503050406030204" pitchFamily="18" charset="0"/>
                        </a:rPr>
                        <m:t>(</m:t>
                      </m:r>
                      <m:r>
                        <a:rPr lang="en-US" sz="1600" i="1">
                          <a:latin typeface="Cambria Math" panose="02040503050406030204" pitchFamily="18" charset="0"/>
                        </a:rPr>
                        <m:t>𝑡</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𝑅</m:t>
                          </m:r>
                        </m:e>
                        <m:sub>
                          <m:r>
                            <a:rPr lang="en-US" sz="1600" i="1">
                              <a:latin typeface="Cambria Math" panose="02040503050406030204" pitchFamily="18" charset="0"/>
                            </a:rPr>
                            <m:t>𝐸𝑆𝑅</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𝐼</m:t>
                          </m:r>
                        </m:e>
                        <m:sub>
                          <m:r>
                            <a:rPr lang="en-US" sz="1600" i="1">
                              <a:latin typeface="Cambria Math" panose="02040503050406030204" pitchFamily="18" charset="0"/>
                            </a:rPr>
                            <m:t>𝑏𝑎𝑡</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a:rPr lang="en-US" sz="1600" i="1">
                          <a:latin typeface="Cambria Math" panose="02040503050406030204" pitchFamily="18" charset="0"/>
                        </a:rPr>
                        <m:t>+</m:t>
                      </m:r>
                      <m:r>
                        <a:rPr lang="en-US" sz="1600" i="1">
                          <a:latin typeface="Cambria Math" panose="02040503050406030204" pitchFamily="18" charset="0"/>
                        </a:rPr>
                        <m:t>𝐿</m:t>
                      </m:r>
                      <m:r>
                        <a:rPr lang="en-US" sz="1600" i="1">
                          <a:latin typeface="Cambria Math" panose="02040503050406030204" pitchFamily="18" charset="0"/>
                        </a:rPr>
                        <m:t>∗</m:t>
                      </m:r>
                      <m:f>
                        <m:fPr>
                          <m:ctrlPr>
                            <a:rPr lang="en-US" sz="1600" i="1">
                              <a:latin typeface="Cambria Math" panose="02040503050406030204" pitchFamily="18" charset="0"/>
                            </a:rPr>
                          </m:ctrlPr>
                        </m:fPr>
                        <m:num>
                          <m:r>
                            <a:rPr lang="en-US" sz="1600" i="1">
                              <a:latin typeface="Cambria Math" panose="02040503050406030204" pitchFamily="18" charset="0"/>
                            </a:rPr>
                            <m:t>𝑑</m:t>
                          </m:r>
                        </m:num>
                        <m:den>
                          <m:r>
                            <a:rPr lang="en-US" sz="1600" i="1">
                              <a:latin typeface="Cambria Math" panose="02040503050406030204" pitchFamily="18" charset="0"/>
                            </a:rPr>
                            <m:t>𝑑𝑡</m:t>
                          </m:r>
                        </m:den>
                      </m:f>
                      <m:sSub>
                        <m:sSubPr>
                          <m:ctrlPr>
                            <a:rPr lang="en-US" sz="1600" i="1">
                              <a:latin typeface="Cambria Math" panose="02040503050406030204" pitchFamily="18" charset="0"/>
                            </a:rPr>
                          </m:ctrlPr>
                        </m:sSubPr>
                        <m:e>
                          <m:r>
                            <a:rPr lang="en-US" sz="1600" i="1">
                              <a:latin typeface="Cambria Math" panose="02040503050406030204" pitchFamily="18" charset="0"/>
                            </a:rPr>
                            <m:t>𝐼</m:t>
                          </m:r>
                        </m:e>
                        <m:sub>
                          <m:r>
                            <a:rPr lang="en-US" sz="1600" i="1">
                              <a:latin typeface="Cambria Math" panose="02040503050406030204" pitchFamily="18" charset="0"/>
                            </a:rPr>
                            <m:t>𝑏𝑎𝑡</m:t>
                          </m:r>
                        </m:sub>
                      </m:sSub>
                      <m:r>
                        <a:rPr lang="en-US" sz="1600" i="1">
                          <a:latin typeface="Cambria Math" panose="02040503050406030204" pitchFamily="18" charset="0"/>
                        </a:rPr>
                        <m:t>(</m:t>
                      </m:r>
                      <m:r>
                        <a:rPr lang="en-US" sz="1600" i="1">
                          <a:latin typeface="Cambria Math" panose="02040503050406030204" pitchFamily="18" charset="0"/>
                        </a:rPr>
                        <m:t>𝑡</m:t>
                      </m:r>
                      <m:r>
                        <a:rPr lang="en-US" sz="1600" i="1">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i="1">
                              <a:latin typeface="Cambria Math" panose="02040503050406030204" pitchFamily="18" charset="0"/>
                            </a:rPr>
                            <m:t>𝐶</m:t>
                          </m:r>
                        </m:den>
                      </m:f>
                      <m:nary>
                        <m:naryPr>
                          <m:limLoc m:val="undOvr"/>
                          <m:subHide m:val="on"/>
                          <m:supHide m:val="on"/>
                          <m:ctrlPr>
                            <a:rPr lang="en-US" sz="1600" i="1">
                              <a:latin typeface="Cambria Math" panose="02040503050406030204" pitchFamily="18" charset="0"/>
                            </a:rPr>
                          </m:ctrlPr>
                        </m:naryPr>
                        <m:sub/>
                        <m:sup/>
                        <m:e>
                          <m:sSub>
                            <m:sSubPr>
                              <m:ctrlPr>
                                <a:rPr lang="en-US" sz="1600" i="1">
                                  <a:latin typeface="Cambria Math" panose="02040503050406030204" pitchFamily="18" charset="0"/>
                                </a:rPr>
                              </m:ctrlPr>
                            </m:sSubPr>
                            <m:e>
                              <m:r>
                                <a:rPr lang="en-US" sz="1600" i="1">
                                  <a:latin typeface="Cambria Math" panose="02040503050406030204" pitchFamily="18" charset="0"/>
                                </a:rPr>
                                <m:t>𝐼</m:t>
                              </m:r>
                            </m:e>
                            <m:sub>
                              <m:r>
                                <a:rPr lang="en-US" sz="1600" i="1">
                                  <a:latin typeface="Cambria Math" panose="02040503050406030204" pitchFamily="18" charset="0"/>
                                </a:rPr>
                                <m:t>𝑏𝑎𝑡</m:t>
                              </m:r>
                            </m:sub>
                          </m:sSub>
                          <m:r>
                            <a:rPr lang="en-US" sz="1600" i="1">
                              <a:latin typeface="Cambria Math" panose="02040503050406030204" pitchFamily="18" charset="0"/>
                            </a:rPr>
                            <m:t>(</m:t>
                          </m:r>
                          <m:r>
                            <a:rPr lang="en-US" sz="1600" i="1">
                              <a:latin typeface="Cambria Math" panose="02040503050406030204" pitchFamily="18" charset="0"/>
                            </a:rPr>
                            <m:t>𝑡</m:t>
                          </m:r>
                          <m:r>
                            <a:rPr lang="en-US" sz="1600" i="1">
                              <a:latin typeface="Cambria Math" panose="02040503050406030204" pitchFamily="18" charset="0"/>
                            </a:rPr>
                            <m:t>)</m:t>
                          </m:r>
                        </m:e>
                      </m:nary>
                    </m:oMath>
                  </m:oMathPara>
                </a14:m>
                <a:endParaRPr lang="en-US" dirty="0"/>
              </a:p>
              <a:p>
                <a:r>
                  <a:rPr lang="en-US" dirty="0">
                    <a:ea typeface="Cambria Math" panose="02040503050406030204" pitchFamily="18" charset="0"/>
                  </a:rPr>
                  <a:t>Converting to s-domain:</a:t>
                </a:r>
              </a:p>
              <a:p>
                <a14:m>
                  <m:oMathPara xmlns:m="http://schemas.openxmlformats.org/officeDocument/2006/math">
                    <m:oMathParaPr>
                      <m:jc m:val="centerGroup"/>
                    </m:oMathParaPr>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𝑉</m:t>
                          </m:r>
                        </m:e>
                        <m:sub>
                          <m:r>
                            <a:rPr lang="en-US" sz="1600" i="1">
                              <a:latin typeface="Cambria Math" panose="02040503050406030204" pitchFamily="18" charset="0"/>
                            </a:rPr>
                            <m:t>𝑔</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𝑀</m:t>
                          </m:r>
                        </m:e>
                        <m:sub>
                          <m:r>
                            <a:rPr lang="en-US" sz="1600" i="1">
                              <a:latin typeface="Cambria Math" panose="02040503050406030204" pitchFamily="18" charset="0"/>
                            </a:rPr>
                            <m:t>𝑇</m:t>
                          </m:r>
                        </m:sub>
                      </m:sSub>
                      <m:d>
                        <m:dPr>
                          <m:ctrlPr>
                            <a:rPr lang="en-US" sz="1600" i="1">
                              <a:latin typeface="Cambria Math" panose="02040503050406030204" pitchFamily="18" charset="0"/>
                            </a:rPr>
                          </m:ctrlPr>
                        </m:dPr>
                        <m:e>
                          <m:r>
                            <a:rPr lang="en-US" sz="1600" i="1">
                              <a:latin typeface="Cambria Math" panose="02040503050406030204" pitchFamily="18" charset="0"/>
                            </a:rPr>
                            <m:t>𝑠</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𝑅</m:t>
                          </m:r>
                        </m:e>
                        <m:sub>
                          <m:r>
                            <a:rPr lang="en-US" sz="1600" i="1">
                              <a:latin typeface="Cambria Math" panose="02040503050406030204" pitchFamily="18" charset="0"/>
                            </a:rPr>
                            <m:t>𝐸𝑆𝑅</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𝐼</m:t>
                          </m:r>
                        </m:e>
                        <m:sub>
                          <m:r>
                            <a:rPr lang="en-US" sz="1600" i="1">
                              <a:latin typeface="Cambria Math" panose="02040503050406030204" pitchFamily="18" charset="0"/>
                            </a:rPr>
                            <m:t>𝑏𝑎𝑡</m:t>
                          </m:r>
                        </m:sub>
                      </m:sSub>
                      <m:d>
                        <m:dPr>
                          <m:ctrlPr>
                            <a:rPr lang="en-US" sz="1600" i="1">
                              <a:latin typeface="Cambria Math" panose="02040503050406030204" pitchFamily="18" charset="0"/>
                            </a:rPr>
                          </m:ctrlPr>
                        </m:dPr>
                        <m:e>
                          <m:r>
                            <a:rPr lang="en-US" sz="1600" i="1">
                              <a:latin typeface="Cambria Math" panose="02040503050406030204" pitchFamily="18" charset="0"/>
                            </a:rPr>
                            <m:t>𝑠</m:t>
                          </m:r>
                        </m:e>
                      </m:d>
                      <m:r>
                        <a:rPr lang="en-US" sz="1600" i="1">
                          <a:latin typeface="Cambria Math" panose="02040503050406030204" pitchFamily="18" charset="0"/>
                        </a:rPr>
                        <m:t>+</m:t>
                      </m:r>
                      <m:r>
                        <a:rPr lang="en-US" sz="1600" i="1">
                          <a:latin typeface="Cambria Math" panose="02040503050406030204" pitchFamily="18" charset="0"/>
                        </a:rPr>
                        <m:t>𝑠</m:t>
                      </m:r>
                      <m:r>
                        <a:rPr lang="en-US" sz="1600" i="1">
                          <a:latin typeface="Cambria Math" panose="02040503050406030204" pitchFamily="18" charset="0"/>
                        </a:rPr>
                        <m:t>𝐿</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𝐼</m:t>
                          </m:r>
                        </m:e>
                        <m:sub>
                          <m:r>
                            <a:rPr lang="en-US" sz="1600" i="1">
                              <a:latin typeface="Cambria Math" panose="02040503050406030204" pitchFamily="18" charset="0"/>
                            </a:rPr>
                            <m:t>𝑏𝑎𝑡</m:t>
                          </m:r>
                        </m:sub>
                      </m:sSub>
                      <m:d>
                        <m:dPr>
                          <m:ctrlPr>
                            <a:rPr lang="en-US" sz="1600" i="1">
                              <a:latin typeface="Cambria Math" panose="02040503050406030204" pitchFamily="18" charset="0"/>
                            </a:rPr>
                          </m:ctrlPr>
                        </m:dPr>
                        <m:e>
                          <m:r>
                            <a:rPr lang="en-US" sz="1600" i="1">
                              <a:latin typeface="Cambria Math" panose="02040503050406030204" pitchFamily="18" charset="0"/>
                            </a:rPr>
                            <m:t>𝑠</m:t>
                          </m:r>
                        </m:e>
                      </m:d>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𝑠𝐶</m:t>
                          </m:r>
                        </m:den>
                      </m:f>
                      <m:r>
                        <a:rPr lang="en-US" sz="1600" b="0" i="1" smtClean="0">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𝐼</m:t>
                          </m:r>
                        </m:e>
                        <m:sub>
                          <m:r>
                            <a:rPr lang="en-US" sz="1600" i="1">
                              <a:latin typeface="Cambria Math" panose="02040503050406030204" pitchFamily="18" charset="0"/>
                            </a:rPr>
                            <m:t>𝑏𝑎𝑡</m:t>
                          </m:r>
                        </m:sub>
                      </m:sSub>
                      <m:d>
                        <m:dPr>
                          <m:ctrlPr>
                            <a:rPr lang="en-US" sz="1600" i="1">
                              <a:latin typeface="Cambria Math" panose="02040503050406030204" pitchFamily="18" charset="0"/>
                            </a:rPr>
                          </m:ctrlPr>
                        </m:dPr>
                        <m:e>
                          <m:r>
                            <a:rPr lang="en-US" sz="1600" i="1">
                              <a:latin typeface="Cambria Math" panose="02040503050406030204" pitchFamily="18" charset="0"/>
                            </a:rPr>
                            <m:t>𝑠</m:t>
                          </m:r>
                        </m:e>
                      </m:d>
                    </m:oMath>
                  </m:oMathPara>
                </a14:m>
                <a:endParaRPr lang="en-US" dirty="0"/>
              </a:p>
            </p:txBody>
          </p:sp>
        </mc:Choice>
        <mc:Fallback>
          <p:sp>
            <p:nvSpPr>
              <p:cNvPr id="7" name="TextBox 6">
                <a:extLst>
                  <a:ext uri="{FF2B5EF4-FFF2-40B4-BE49-F238E27FC236}">
                    <a16:creationId xmlns:a16="http://schemas.microsoft.com/office/drawing/2014/main" id="{11BA93C1-3496-4F0D-76C1-0D2E2E8A1BFD}"/>
                  </a:ext>
                </a:extLst>
              </p:cNvPr>
              <p:cNvSpPr txBox="1">
                <a:spLocks noRot="1" noChangeAspect="1" noMove="1" noResize="1" noEditPoints="1" noAdjustHandles="1" noChangeArrowheads="1" noChangeShapeType="1" noTextEdit="1"/>
              </p:cNvSpPr>
              <p:nvPr/>
            </p:nvSpPr>
            <p:spPr>
              <a:xfrm>
                <a:off x="325772" y="1497959"/>
                <a:ext cx="5531135" cy="4686283"/>
              </a:xfrm>
              <a:prstGeom prst="rect">
                <a:avLst/>
              </a:prstGeom>
              <a:blipFill>
                <a:blip r:embed="rId2"/>
                <a:stretch>
                  <a:fillRect l="-881" t="-651"/>
                </a:stretch>
              </a:blipFill>
            </p:spPr>
            <p:txBody>
              <a:bodyPr/>
              <a:lstStyle/>
              <a:p>
                <a:r>
                  <a:rPr lang="en-US">
                    <a:noFill/>
                  </a:rPr>
                  <a:t> </a:t>
                </a:r>
              </a:p>
            </p:txBody>
          </p:sp>
        </mc:Fallback>
      </mc:AlternateContent>
      <p:cxnSp>
        <p:nvCxnSpPr>
          <p:cNvPr id="9" name="Straight Connector 8">
            <a:extLst>
              <a:ext uri="{FF2B5EF4-FFF2-40B4-BE49-F238E27FC236}">
                <a16:creationId xmlns:a16="http://schemas.microsoft.com/office/drawing/2014/main" id="{8DAC2D66-50C1-F0A9-1FC6-16809A242364}"/>
              </a:ext>
            </a:extLst>
          </p:cNvPr>
          <p:cNvCxnSpPr>
            <a:stCxn id="5" idx="2"/>
          </p:cNvCxnSpPr>
          <p:nvPr/>
        </p:nvCxnSpPr>
        <p:spPr>
          <a:xfrm>
            <a:off x="6096000" y="1690688"/>
            <a:ext cx="0" cy="485691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9CC2C2A0-1288-55C5-849F-32904003E740}"/>
                  </a:ext>
                </a:extLst>
              </p:cNvPr>
              <p:cNvSpPr txBox="1"/>
              <p:nvPr/>
            </p:nvSpPr>
            <p:spPr>
              <a:xfrm>
                <a:off x="6335093" y="1497959"/>
                <a:ext cx="5531135" cy="4780539"/>
              </a:xfrm>
              <a:prstGeom prst="rect">
                <a:avLst/>
              </a:prstGeom>
              <a:noFill/>
            </p:spPr>
            <p:txBody>
              <a:bodyPr wrap="square">
                <a:spAutoFit/>
              </a:bodyPr>
              <a:lstStyle/>
              <a:p>
                <a:r>
                  <a:rPr lang="en-US" dirty="0"/>
                  <a:t>Rewrite as a transfer function:</a:t>
                </a:r>
              </a:p>
              <a:p>
                <a:endParaRPr lang="en-US"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i="1" smtClean="0">
                              <a:latin typeface="Cambria Math" panose="02040503050406030204" pitchFamily="18" charset="0"/>
                            </a:rPr>
                            <m:t>𝐺</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𝑏𝑎𝑡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𝑇</m:t>
                              </m:r>
                            </m:sub>
                          </m:sSub>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𝑔</m:t>
                              </m:r>
                            </m:sub>
                          </m:sSub>
                          <m:r>
                            <a:rPr lang="en-US" b="0" i="1" smtClean="0">
                              <a:latin typeface="Cambria Math" panose="02040503050406030204" pitchFamily="18" charset="0"/>
                            </a:rPr>
                            <m:t>𝐶</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2</m:t>
                              </m:r>
                            </m:sup>
                          </m:sSup>
                          <m:r>
                            <a:rPr lang="en-US" b="0" i="1" smtClean="0">
                              <a:latin typeface="Cambria Math" panose="02040503050406030204" pitchFamily="18" charset="0"/>
                            </a:rPr>
                            <m:t>𝐿</m:t>
                          </m:r>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𝑅</m:t>
                          </m:r>
                          <m:r>
                            <a:rPr lang="en-US" b="0" i="1" smtClean="0">
                              <a:latin typeface="Cambria Math" panose="02040503050406030204" pitchFamily="18" charset="0"/>
                            </a:rPr>
                            <m:t>𝐶</m:t>
                          </m:r>
                          <m:r>
                            <a:rPr lang="en-US" b="0" i="1" smtClean="0">
                              <a:latin typeface="Cambria Math" panose="02040503050406030204" pitchFamily="18" charset="0"/>
                            </a:rPr>
                            <m:t>+1</m:t>
                          </m:r>
                        </m:den>
                      </m:f>
                    </m:oMath>
                  </m:oMathPara>
                </a14:m>
                <a:endParaRPr lang="en-US" dirty="0">
                  <a:latin typeface="Cambria Math" panose="02040503050406030204" pitchFamily="18" charset="0"/>
                  <a:ea typeface="Cambria Math" panose="02040503050406030204" pitchFamily="18" charset="0"/>
                </a:endParaRPr>
              </a:p>
              <a:p>
                <a:endParaRPr lang="en-US" dirty="0">
                  <a:ea typeface="Cambria Math" panose="02040503050406030204" pitchFamily="18" charset="0"/>
                </a:endParaRPr>
              </a:p>
              <a:p>
                <a:r>
                  <a:rPr lang="en-US" dirty="0">
                    <a:ea typeface="Cambria Math" panose="02040503050406030204" pitchFamily="18" charset="0"/>
                  </a:rPr>
                  <a:t>A little messier, but  this is once again a proper transfer function. Note the factor of </a:t>
                </a:r>
                <a:r>
                  <a:rPr lang="en-US" dirty="0">
                    <a:latin typeface="Cambria Math" panose="02040503050406030204" pitchFamily="18" charset="0"/>
                    <a:ea typeface="Cambria Math" panose="02040503050406030204" pitchFamily="18" charset="0"/>
                  </a:rPr>
                  <a:t>s</a:t>
                </a:r>
                <a:r>
                  <a:rPr lang="en-US" dirty="0">
                    <a:ea typeface="Cambria Math" panose="02040503050406030204" pitchFamily="18" charset="0"/>
                  </a:rPr>
                  <a:t> in the numerator.</a:t>
                </a:r>
              </a:p>
              <a:p>
                <a:endParaRPr lang="en-US" dirty="0">
                  <a:ea typeface="Cambria Math" panose="02040503050406030204" pitchFamily="18" charset="0"/>
                </a:endParaRPr>
              </a:p>
              <a:p>
                <a:r>
                  <a:rPr lang="en-US" dirty="0">
                    <a:ea typeface="Cambria Math" panose="02040503050406030204" pitchFamily="18" charset="0"/>
                  </a:rPr>
                  <a:t>Once again, we can combine the MT(t) to M(t) transformation and the electrical circuitry together and treat it as a singular linear system.</a:t>
                </a:r>
              </a:p>
              <a:p>
                <a:endParaRPr lang="en-US" dirty="0">
                  <a:ea typeface="Cambria Math" panose="02040503050406030204" pitchFamily="18" charset="0"/>
                </a:endParaRPr>
              </a:p>
              <a:p>
                <a:r>
                  <a:rPr lang="en-US" dirty="0">
                    <a:ea typeface="Cambria Math" panose="02040503050406030204" pitchFamily="18" charset="0"/>
                  </a:rPr>
                  <a:t>While I was able to skip over many steps since the approach is similar, this idea of PI2 control seems to be significantly simpler, even if the transfer function looks more complicated. So why not use this method? Let’s test them out…</a:t>
                </a:r>
              </a:p>
            </p:txBody>
          </p:sp>
        </mc:Choice>
        <mc:Fallback>
          <p:sp>
            <p:nvSpPr>
              <p:cNvPr id="10" name="TextBox 9">
                <a:extLst>
                  <a:ext uri="{FF2B5EF4-FFF2-40B4-BE49-F238E27FC236}">
                    <a16:creationId xmlns:a16="http://schemas.microsoft.com/office/drawing/2014/main" id="{9CC2C2A0-1288-55C5-849F-32904003E740}"/>
                  </a:ext>
                </a:extLst>
              </p:cNvPr>
              <p:cNvSpPr txBox="1">
                <a:spLocks noRot="1" noChangeAspect="1" noMove="1" noResize="1" noEditPoints="1" noAdjustHandles="1" noChangeArrowheads="1" noChangeShapeType="1" noTextEdit="1"/>
              </p:cNvSpPr>
              <p:nvPr/>
            </p:nvSpPr>
            <p:spPr>
              <a:xfrm>
                <a:off x="6335093" y="1497959"/>
                <a:ext cx="5531135" cy="4780539"/>
              </a:xfrm>
              <a:prstGeom prst="rect">
                <a:avLst/>
              </a:prstGeom>
              <a:blipFill>
                <a:blip r:embed="rId3"/>
                <a:stretch>
                  <a:fillRect l="-881" t="-638" r="-1542" b="-1148"/>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1E82F90F-1E75-FED1-B98D-0D2AF13FDAFF}"/>
              </a:ext>
            </a:extLst>
          </p:cNvPr>
          <p:cNvSpPr/>
          <p:nvPr/>
        </p:nvSpPr>
        <p:spPr>
          <a:xfrm>
            <a:off x="7558480" y="2009162"/>
            <a:ext cx="3095537" cy="81435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84663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3391F-3485-155F-C93A-C476DA50C062}"/>
              </a:ext>
            </a:extLst>
          </p:cNvPr>
          <p:cNvSpPr>
            <a:spLocks noGrp="1"/>
          </p:cNvSpPr>
          <p:nvPr>
            <p:ph type="title"/>
          </p:nvPr>
        </p:nvSpPr>
        <p:spPr/>
        <p:txBody>
          <a:bodyPr/>
          <a:lstStyle/>
          <a:p>
            <a:r>
              <a:rPr lang="en-US" dirty="0"/>
              <a:t>PLECS Analysis: Toy Models</a:t>
            </a:r>
          </a:p>
        </p:txBody>
      </p:sp>
      <p:sp>
        <p:nvSpPr>
          <p:cNvPr id="5" name="Rectangle: Rounded Corners 4">
            <a:extLst>
              <a:ext uri="{FF2B5EF4-FFF2-40B4-BE49-F238E27FC236}">
                <a16:creationId xmlns:a16="http://schemas.microsoft.com/office/drawing/2014/main" id="{2317F896-A6A8-7396-0E56-9C521DD695E8}"/>
              </a:ext>
            </a:extLst>
          </p:cNvPr>
          <p:cNvSpPr/>
          <p:nvPr/>
        </p:nvSpPr>
        <p:spPr>
          <a:xfrm>
            <a:off x="3171265" y="1573306"/>
            <a:ext cx="5849471" cy="3953435"/>
          </a:xfrm>
          <a:prstGeom prst="roundRect">
            <a:avLst>
              <a:gd name="adj" fmla="val 3299"/>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0A0FBBB6-6D20-DB02-303F-5CE62C56D1B9}"/>
              </a:ext>
            </a:extLst>
          </p:cNvPr>
          <p:cNvGrpSpPr/>
          <p:nvPr/>
        </p:nvGrpSpPr>
        <p:grpSpPr>
          <a:xfrm>
            <a:off x="3237262" y="1573306"/>
            <a:ext cx="5717477" cy="3827928"/>
            <a:chOff x="3092822" y="1573306"/>
            <a:chExt cx="5717477" cy="3827928"/>
          </a:xfrm>
        </p:grpSpPr>
        <p:pic>
          <p:nvPicPr>
            <p:cNvPr id="4" name="Picture 3">
              <a:extLst>
                <a:ext uri="{FF2B5EF4-FFF2-40B4-BE49-F238E27FC236}">
                  <a16:creationId xmlns:a16="http://schemas.microsoft.com/office/drawing/2014/main" id="{B6DA89FE-6DB1-A429-3010-B776E4A75C82}"/>
                </a:ext>
              </a:extLst>
            </p:cNvPr>
            <p:cNvPicPr>
              <a:picLocks noChangeAspect="1"/>
            </p:cNvPicPr>
            <p:nvPr/>
          </p:nvPicPr>
          <p:blipFill>
            <a:blip r:embed="rId2"/>
            <a:stretch>
              <a:fillRect/>
            </a:stretch>
          </p:blipFill>
          <p:spPr>
            <a:xfrm>
              <a:off x="3092822" y="1883997"/>
              <a:ext cx="5717477" cy="3517237"/>
            </a:xfrm>
            <a:prstGeom prst="rect">
              <a:avLst/>
            </a:prstGeom>
          </p:spPr>
        </p:pic>
        <p:sp>
          <p:nvSpPr>
            <p:cNvPr id="6" name="TextBox 5">
              <a:extLst>
                <a:ext uri="{FF2B5EF4-FFF2-40B4-BE49-F238E27FC236}">
                  <a16:creationId xmlns:a16="http://schemas.microsoft.com/office/drawing/2014/main" id="{B6C71747-CF38-A3D3-CA88-83400E2578CC}"/>
                </a:ext>
              </a:extLst>
            </p:cNvPr>
            <p:cNvSpPr txBox="1"/>
            <p:nvPr/>
          </p:nvSpPr>
          <p:spPr>
            <a:xfrm>
              <a:off x="4217342" y="1573306"/>
              <a:ext cx="4586064" cy="338554"/>
            </a:xfrm>
            <a:prstGeom prst="rect">
              <a:avLst/>
            </a:prstGeom>
            <a:noFill/>
          </p:spPr>
          <p:txBody>
            <a:bodyPr wrap="none" rtlCol="0">
              <a:spAutoFit/>
            </a:bodyPr>
            <a:lstStyle/>
            <a:p>
              <a:pPr algn="r"/>
              <a:r>
                <a:rPr lang="en-US" sz="1600" b="1" dirty="0"/>
                <a:t>Toy Model Simulation as of Making These Slides</a:t>
              </a:r>
            </a:p>
          </p:txBody>
        </p:sp>
      </p:grpSp>
      <p:sp>
        <p:nvSpPr>
          <p:cNvPr id="7" name="TextBox 6">
            <a:extLst>
              <a:ext uri="{FF2B5EF4-FFF2-40B4-BE49-F238E27FC236}">
                <a16:creationId xmlns:a16="http://schemas.microsoft.com/office/drawing/2014/main" id="{4DDFF5B0-E04B-2C23-D363-89A00A0FA365}"/>
              </a:ext>
            </a:extLst>
          </p:cNvPr>
          <p:cNvSpPr txBox="1"/>
          <p:nvPr/>
        </p:nvSpPr>
        <p:spPr>
          <a:xfrm>
            <a:off x="9119162" y="1690688"/>
            <a:ext cx="2900082" cy="923330"/>
          </a:xfrm>
          <a:prstGeom prst="rect">
            <a:avLst/>
          </a:prstGeom>
          <a:noFill/>
        </p:spPr>
        <p:txBody>
          <a:bodyPr wrap="square" rtlCol="0">
            <a:spAutoFit/>
          </a:bodyPr>
          <a:lstStyle/>
          <a:p>
            <a:r>
              <a:rPr lang="en-US" dirty="0"/>
              <a:t>In GitHub repository, under </a:t>
            </a:r>
            <a:r>
              <a:rPr lang="en-US" dirty="0" err="1">
                <a:latin typeface="Courier New" panose="02070309020205020404" pitchFamily="49" charset="0"/>
                <a:cs typeface="Courier New" panose="02070309020205020404" pitchFamily="49" charset="0"/>
              </a:rPr>
              <a:t>Sims_and_Design</a:t>
            </a:r>
            <a:r>
              <a:rPr lang="en-US" dirty="0">
                <a:latin typeface="Courier New" panose="02070309020205020404" pitchFamily="49" charset="0"/>
                <a:cs typeface="Courier New" panose="02070309020205020404" pitchFamily="49" charset="0"/>
              </a:rPr>
              <a:t> </a:t>
            </a:r>
            <a:r>
              <a:rPr lang="en-US" dirty="0"/>
              <a:t>folder</a:t>
            </a:r>
          </a:p>
        </p:txBody>
      </p:sp>
      <p:cxnSp>
        <p:nvCxnSpPr>
          <p:cNvPr id="8" name="Connector: Elbow 7">
            <a:extLst>
              <a:ext uri="{FF2B5EF4-FFF2-40B4-BE49-F238E27FC236}">
                <a16:creationId xmlns:a16="http://schemas.microsoft.com/office/drawing/2014/main" id="{551E9B59-2240-158E-FBB0-5E62D8FF27B7}"/>
              </a:ext>
            </a:extLst>
          </p:cNvPr>
          <p:cNvCxnSpPr>
            <a:cxnSpLocks/>
          </p:cNvCxnSpPr>
          <p:nvPr/>
        </p:nvCxnSpPr>
        <p:spPr>
          <a:xfrm rot="16200000" flipH="1" flipV="1">
            <a:off x="9122089" y="2623824"/>
            <a:ext cx="298948" cy="298948"/>
          </a:xfrm>
          <a:prstGeom prst="bentConnector2">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10C1C7D6-2CC5-B797-3DAC-2A911FA9AE01}"/>
              </a:ext>
            </a:extLst>
          </p:cNvPr>
          <p:cNvSpPr txBox="1"/>
          <p:nvPr/>
        </p:nvSpPr>
        <p:spPr>
          <a:xfrm>
            <a:off x="1489002" y="5969655"/>
            <a:ext cx="9213997" cy="523220"/>
          </a:xfrm>
          <a:prstGeom prst="rect">
            <a:avLst/>
          </a:prstGeom>
          <a:noFill/>
        </p:spPr>
        <p:txBody>
          <a:bodyPr wrap="none" rtlCol="0">
            <a:spAutoFit/>
          </a:bodyPr>
          <a:lstStyle/>
          <a:p>
            <a:r>
              <a:rPr lang="en-US" sz="2800" u="sng" dirty="0"/>
              <a:t>In case you didn’t know yet, this is what everything is about</a:t>
            </a:r>
          </a:p>
        </p:txBody>
      </p:sp>
      <p:sp>
        <p:nvSpPr>
          <p:cNvPr id="11" name="TextBox 10">
            <a:extLst>
              <a:ext uri="{FF2B5EF4-FFF2-40B4-BE49-F238E27FC236}">
                <a16:creationId xmlns:a16="http://schemas.microsoft.com/office/drawing/2014/main" id="{9EA43E05-B3F0-A174-1F5B-FCDA0FBD5A90}"/>
              </a:ext>
            </a:extLst>
          </p:cNvPr>
          <p:cNvSpPr txBox="1"/>
          <p:nvPr/>
        </p:nvSpPr>
        <p:spPr>
          <a:xfrm>
            <a:off x="3956108" y="5659482"/>
            <a:ext cx="4279784" cy="369332"/>
          </a:xfrm>
          <a:prstGeom prst="rect">
            <a:avLst/>
          </a:prstGeom>
          <a:noFill/>
        </p:spPr>
        <p:txBody>
          <a:bodyPr wrap="square">
            <a:spAutoFit/>
          </a:bodyPr>
          <a:lstStyle/>
          <a:p>
            <a:pPr algn="ctr"/>
            <a:r>
              <a:rPr lang="en-US" dirty="0"/>
              <a:t>Power Stage Simulation - Toy </a:t>
            </a:r>
            <a:r>
              <a:rPr lang="en-US" dirty="0" err="1"/>
              <a:t>Model.plecs</a:t>
            </a:r>
            <a:endParaRPr lang="en-US" dirty="0"/>
          </a:p>
        </p:txBody>
      </p:sp>
      <p:sp>
        <p:nvSpPr>
          <p:cNvPr id="13" name="TextBox 12">
            <a:extLst>
              <a:ext uri="{FF2B5EF4-FFF2-40B4-BE49-F238E27FC236}">
                <a16:creationId xmlns:a16="http://schemas.microsoft.com/office/drawing/2014/main" id="{4D9623C1-D480-BBC5-9C30-937B59B6200D}"/>
              </a:ext>
            </a:extLst>
          </p:cNvPr>
          <p:cNvSpPr txBox="1"/>
          <p:nvPr/>
        </p:nvSpPr>
        <p:spPr>
          <a:xfrm>
            <a:off x="251668" y="2967335"/>
            <a:ext cx="2676089" cy="923330"/>
          </a:xfrm>
          <a:prstGeom prst="rect">
            <a:avLst/>
          </a:prstGeom>
          <a:noFill/>
        </p:spPr>
        <p:txBody>
          <a:bodyPr wrap="square" rtlCol="0">
            <a:spAutoFit/>
          </a:bodyPr>
          <a:lstStyle/>
          <a:p>
            <a:r>
              <a:rPr lang="en-US" dirty="0"/>
              <a:t>Message me (Egan) if you don’t understand a section of this model</a:t>
            </a:r>
          </a:p>
        </p:txBody>
      </p:sp>
    </p:spTree>
    <p:extLst>
      <p:ext uri="{BB962C8B-B14F-4D97-AF65-F5344CB8AC3E}">
        <p14:creationId xmlns:p14="http://schemas.microsoft.com/office/powerpoint/2010/main" val="12049178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D5010-5C1B-5283-9C9F-83368CF66D34}"/>
              </a:ext>
            </a:extLst>
          </p:cNvPr>
          <p:cNvSpPr>
            <a:spLocks noGrp="1"/>
          </p:cNvSpPr>
          <p:nvPr>
            <p:ph type="title"/>
          </p:nvPr>
        </p:nvSpPr>
        <p:spPr/>
        <p:txBody>
          <a:bodyPr/>
          <a:lstStyle/>
          <a:p>
            <a:r>
              <a:rPr lang="en-US" dirty="0"/>
              <a:t>Time-Domain Analysis</a:t>
            </a:r>
          </a:p>
        </p:txBody>
      </p:sp>
      <p:pic>
        <p:nvPicPr>
          <p:cNvPr id="12" name="Picture 11">
            <a:extLst>
              <a:ext uri="{FF2B5EF4-FFF2-40B4-BE49-F238E27FC236}">
                <a16:creationId xmlns:a16="http://schemas.microsoft.com/office/drawing/2014/main" id="{BB053A28-FC77-FB2C-FFBB-56E0D89968FB}"/>
              </a:ext>
            </a:extLst>
          </p:cNvPr>
          <p:cNvPicPr>
            <a:picLocks noChangeAspect="1"/>
          </p:cNvPicPr>
          <p:nvPr/>
        </p:nvPicPr>
        <p:blipFill>
          <a:blip r:embed="rId2"/>
          <a:stretch>
            <a:fillRect/>
          </a:stretch>
        </p:blipFill>
        <p:spPr>
          <a:xfrm>
            <a:off x="739589" y="1402976"/>
            <a:ext cx="10910047" cy="5285931"/>
          </a:xfrm>
          <a:prstGeom prst="rect">
            <a:avLst/>
          </a:prstGeom>
        </p:spPr>
      </p:pic>
      <p:sp>
        <p:nvSpPr>
          <p:cNvPr id="13" name="TextBox 12">
            <a:extLst>
              <a:ext uri="{FF2B5EF4-FFF2-40B4-BE49-F238E27FC236}">
                <a16:creationId xmlns:a16="http://schemas.microsoft.com/office/drawing/2014/main" id="{03DD057F-5EED-B2E4-67A4-3B6F26E9A445}"/>
              </a:ext>
            </a:extLst>
          </p:cNvPr>
          <p:cNvSpPr txBox="1"/>
          <p:nvPr/>
        </p:nvSpPr>
        <p:spPr>
          <a:xfrm>
            <a:off x="9082425" y="1581071"/>
            <a:ext cx="2562305" cy="369332"/>
          </a:xfrm>
          <a:prstGeom prst="rect">
            <a:avLst/>
          </a:prstGeom>
          <a:noFill/>
        </p:spPr>
        <p:txBody>
          <a:bodyPr wrap="none" rtlCol="0">
            <a:spAutoFit/>
          </a:bodyPr>
          <a:lstStyle/>
          <a:p>
            <a:r>
              <a:rPr lang="en-US" dirty="0">
                <a:solidFill>
                  <a:srgbClr val="00A3EB"/>
                </a:solidFill>
              </a:rPr>
              <a:t>Constant Target Current</a:t>
            </a:r>
          </a:p>
        </p:txBody>
      </p:sp>
      <p:sp>
        <p:nvSpPr>
          <p:cNvPr id="14" name="TextBox 13">
            <a:extLst>
              <a:ext uri="{FF2B5EF4-FFF2-40B4-BE49-F238E27FC236}">
                <a16:creationId xmlns:a16="http://schemas.microsoft.com/office/drawing/2014/main" id="{5B62A6E5-7064-6B33-6E4D-B02F14A0CF56}"/>
              </a:ext>
            </a:extLst>
          </p:cNvPr>
          <p:cNvSpPr txBox="1"/>
          <p:nvPr/>
        </p:nvSpPr>
        <p:spPr>
          <a:xfrm>
            <a:off x="8526089" y="624840"/>
            <a:ext cx="3123547" cy="646331"/>
          </a:xfrm>
          <a:prstGeom prst="rect">
            <a:avLst/>
          </a:prstGeom>
          <a:noFill/>
        </p:spPr>
        <p:txBody>
          <a:bodyPr wrap="none" rtlCol="0">
            <a:spAutoFit/>
          </a:bodyPr>
          <a:lstStyle/>
          <a:p>
            <a:pPr algn="r"/>
            <a:r>
              <a:rPr lang="en-US" dirty="0"/>
              <a:t>FF+PI performance is in </a:t>
            </a:r>
            <a:r>
              <a:rPr lang="en-US" dirty="0">
                <a:solidFill>
                  <a:srgbClr val="00B050"/>
                </a:solidFill>
              </a:rPr>
              <a:t>green</a:t>
            </a:r>
          </a:p>
          <a:p>
            <a:pPr algn="r"/>
            <a:r>
              <a:rPr lang="en-US" dirty="0"/>
              <a:t>PI</a:t>
            </a:r>
            <a:r>
              <a:rPr lang="en-US" baseline="30000" dirty="0"/>
              <a:t>2</a:t>
            </a:r>
            <a:r>
              <a:rPr lang="en-US" dirty="0"/>
              <a:t> performance is in </a:t>
            </a:r>
            <a:r>
              <a:rPr lang="en-US" dirty="0">
                <a:solidFill>
                  <a:srgbClr val="FF0000"/>
                </a:solidFill>
              </a:rPr>
              <a:t>red</a:t>
            </a:r>
          </a:p>
        </p:txBody>
      </p:sp>
      <p:sp>
        <p:nvSpPr>
          <p:cNvPr id="15" name="TextBox 14">
            <a:extLst>
              <a:ext uri="{FF2B5EF4-FFF2-40B4-BE49-F238E27FC236}">
                <a16:creationId xmlns:a16="http://schemas.microsoft.com/office/drawing/2014/main" id="{7ED8E646-A6E0-8BD1-91DE-71F759A6219B}"/>
              </a:ext>
            </a:extLst>
          </p:cNvPr>
          <p:cNvSpPr txBox="1"/>
          <p:nvPr/>
        </p:nvSpPr>
        <p:spPr>
          <a:xfrm>
            <a:off x="5790318" y="1666833"/>
            <a:ext cx="3286760" cy="923330"/>
          </a:xfrm>
          <a:prstGeom prst="rect">
            <a:avLst/>
          </a:prstGeom>
          <a:noFill/>
          <a:ln>
            <a:solidFill>
              <a:schemeClr val="tx1"/>
            </a:solidFill>
          </a:ln>
        </p:spPr>
        <p:txBody>
          <a:bodyPr wrap="square" rtlCol="0">
            <a:spAutoFit/>
          </a:bodyPr>
          <a:lstStyle/>
          <a:p>
            <a:r>
              <a:rPr lang="en-US" dirty="0"/>
              <a:t>You can’t see it here, but the </a:t>
            </a:r>
            <a:r>
              <a:rPr lang="en-US" dirty="0">
                <a:solidFill>
                  <a:srgbClr val="00B050"/>
                </a:solidFill>
              </a:rPr>
              <a:t>FF+PI current waveform </a:t>
            </a:r>
            <a:r>
              <a:rPr lang="en-US" dirty="0"/>
              <a:t>is overlapping the </a:t>
            </a:r>
            <a:r>
              <a:rPr lang="en-US" dirty="0">
                <a:solidFill>
                  <a:srgbClr val="00A3EB"/>
                </a:solidFill>
              </a:rPr>
              <a:t>target current </a:t>
            </a:r>
          </a:p>
        </p:txBody>
      </p:sp>
    </p:spTree>
    <p:extLst>
      <p:ext uri="{BB962C8B-B14F-4D97-AF65-F5344CB8AC3E}">
        <p14:creationId xmlns:p14="http://schemas.microsoft.com/office/powerpoint/2010/main" val="114122144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docProps/app.xml><?xml version="1.0" encoding="utf-8"?>
<Properties xmlns="http://schemas.openxmlformats.org/officeDocument/2006/extended-properties" xmlns:vt="http://schemas.openxmlformats.org/officeDocument/2006/docPropsVTypes">
  <Template>Office Theme</Template>
  <TotalTime>625</TotalTime>
  <Words>1327</Words>
  <Application>Microsoft Office PowerPoint</Application>
  <PresentationFormat>Widescreen</PresentationFormat>
  <Paragraphs>147</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Display</vt:lpstr>
      <vt:lpstr>Arial</vt:lpstr>
      <vt:lpstr>Cambria Math</vt:lpstr>
      <vt:lpstr>Courier New</vt:lpstr>
      <vt:lpstr>Office Theme</vt:lpstr>
      <vt:lpstr>UT Robomasters – Supercap Power Stage Modeling</vt:lpstr>
      <vt:lpstr>Overview of Topology</vt:lpstr>
      <vt:lpstr>Duty Cycle Control</vt:lpstr>
      <vt:lpstr>Transformer Equivalent</vt:lpstr>
      <vt:lpstr>Capacitor Feed-Forward Correction</vt:lpstr>
      <vt:lpstr>Battery Current Reflection</vt:lpstr>
      <vt:lpstr>Algebraic Manipulation &amp; Linearization</vt:lpstr>
      <vt:lpstr>Overall System Design – FF+PI</vt:lpstr>
      <vt:lpstr>Alternative Design – PI2 Control</vt:lpstr>
      <vt:lpstr>PI2 Control Linearization</vt:lpstr>
      <vt:lpstr>PLECS Analysis: Toy Models</vt:lpstr>
      <vt:lpstr>Time-Domain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dhakk</dc:creator>
  <cp:lastModifiedBy>dhakk</cp:lastModifiedBy>
  <cp:revision>7</cp:revision>
  <dcterms:created xsi:type="dcterms:W3CDTF">2026-03-11T16:16:20Z</dcterms:created>
  <dcterms:modified xsi:type="dcterms:W3CDTF">2026-03-12T09:09:53Z</dcterms:modified>
</cp:coreProperties>
</file>