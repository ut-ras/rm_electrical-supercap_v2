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6" r:id="rId3"/>
    <p:sldId id="286" r:id="rId4"/>
    <p:sldId id="271" r:id="rId5"/>
    <p:sldId id="257" r:id="rId6"/>
    <p:sldId id="259" r:id="rId7"/>
    <p:sldId id="258" r:id="rId8"/>
    <p:sldId id="260" r:id="rId9"/>
    <p:sldId id="261" r:id="rId10"/>
    <p:sldId id="262" r:id="rId11"/>
    <p:sldId id="263" r:id="rId12"/>
    <p:sldId id="264" r:id="rId13"/>
    <p:sldId id="265" r:id="rId14"/>
    <p:sldId id="267" r:id="rId15"/>
    <p:sldId id="268" r:id="rId16"/>
    <p:sldId id="273" r:id="rId17"/>
    <p:sldId id="270" r:id="rId18"/>
    <p:sldId id="279" r:id="rId19"/>
    <p:sldId id="278" r:id="rId20"/>
    <p:sldId id="280" r:id="rId21"/>
    <p:sldId id="281" r:id="rId22"/>
    <p:sldId id="289" r:id="rId23"/>
    <p:sldId id="282" r:id="rId24"/>
    <p:sldId id="288" r:id="rId25"/>
    <p:sldId id="274" r:id="rId26"/>
    <p:sldId id="272" r:id="rId27"/>
    <p:sldId id="283" r:id="rId28"/>
    <p:sldId id="284" r:id="rId29"/>
    <p:sldId id="277" r:id="rId30"/>
    <p:sldId id="285" r:id="rId31"/>
    <p:sldId id="287"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3E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FB1D4B-9581-4585-B950-AC8D486EE05F}" v="2" dt="2026-04-13T06:34:13.17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9" autoAdjust="0"/>
    <p:restoredTop sz="94660"/>
  </p:normalViewPr>
  <p:slideViewPr>
    <p:cSldViewPr snapToGrid="0">
      <p:cViewPr>
        <p:scale>
          <a:sx n="95" d="100"/>
          <a:sy n="95" d="100"/>
        </p:scale>
        <p:origin x="166" y="-10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ath Luebsen" userId="b2839c37a9f6735e" providerId="LiveId" clId="{30F01C03-E85C-4971-83D0-B30D04E0188B}"/>
    <pc:docChg chg="modSld">
      <pc:chgData name="Heath Luebsen" userId="b2839c37a9f6735e" providerId="LiveId" clId="{30F01C03-E85C-4971-83D0-B30D04E0188B}" dt="2026-04-13T06:40:53.523" v="2" actId="1036"/>
      <pc:docMkLst>
        <pc:docMk/>
      </pc:docMkLst>
      <pc:sldChg chg="modSp">
        <pc:chgData name="Heath Luebsen" userId="b2839c37a9f6735e" providerId="LiveId" clId="{30F01C03-E85C-4971-83D0-B30D04E0188B}" dt="2026-04-13T06:34:13.175" v="1"/>
        <pc:sldMkLst>
          <pc:docMk/>
          <pc:sldMk cId="3322298424" sldId="258"/>
        </pc:sldMkLst>
        <pc:graphicFrameChg chg="mod">
          <ac:chgData name="Heath Luebsen" userId="b2839c37a9f6735e" providerId="LiveId" clId="{30F01C03-E85C-4971-83D0-B30D04E0188B}" dt="2026-04-13T06:34:13.175" v="1"/>
          <ac:graphicFrameMkLst>
            <pc:docMk/>
            <pc:sldMk cId="3322298424" sldId="258"/>
            <ac:graphicFrameMk id="10" creationId="{1560186C-8A67-3086-4138-91BD34B6C9CD}"/>
          </ac:graphicFrameMkLst>
        </pc:graphicFrameChg>
      </pc:sldChg>
      <pc:sldChg chg="modSp mod">
        <pc:chgData name="Heath Luebsen" userId="b2839c37a9f6735e" providerId="LiveId" clId="{30F01C03-E85C-4971-83D0-B30D04E0188B}" dt="2026-04-13T06:40:53.523" v="2" actId="1036"/>
        <pc:sldMkLst>
          <pc:docMk/>
          <pc:sldMk cId="1760715637" sldId="282"/>
        </pc:sldMkLst>
        <pc:picChg chg="mod">
          <ac:chgData name="Heath Luebsen" userId="b2839c37a9f6735e" providerId="LiveId" clId="{30F01C03-E85C-4971-83D0-B30D04E0188B}" dt="2026-04-13T06:40:53.523" v="2" actId="1036"/>
          <ac:picMkLst>
            <pc:docMk/>
            <pc:sldMk cId="1760715637" sldId="282"/>
            <ac:picMk id="3" creationId="{3CDCB37F-614F-0266-D181-7E245E3C588F}"/>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4/12/2026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5797554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4/12/2026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2186102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CDFA8-9B71-48D2-9BC8-093B5490E257}" type="datetimeFigureOut">
              <a:rPr lang="en-US" smtClean="0"/>
              <a:t>4/12/2026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162403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16CDFA8-9B71-48D2-9BC8-093B5490E257}" type="datetimeFigureOut">
              <a:rPr lang="en-US" smtClean="0"/>
              <a:t>4/12/2026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0563625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16CDFA8-9B71-48D2-9BC8-093B5490E257}" type="datetimeFigureOut">
              <a:rPr lang="en-US" smtClean="0"/>
              <a:t>4/12/2026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371053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16CDFA8-9B71-48D2-9BC8-093B5490E257}" type="datetimeFigureOut">
              <a:rPr lang="en-US" smtClean="0"/>
              <a:t>4/12/2026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389230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16CDFA8-9B71-48D2-9BC8-093B5490E257}" type="datetimeFigureOut">
              <a:rPr lang="en-US" smtClean="0"/>
              <a:t>4/12/2026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9448558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4/12/2026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0912722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4/12/2026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7255611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4/12/2026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625143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4/12/2026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17254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116CDFA8-9B71-48D2-9BC8-093B5490E257}" type="datetimeFigureOut">
              <a:rPr lang="en-US" smtClean="0"/>
              <a:t>4/12/2026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B29F7320-A4FE-4892-8CEE-F5D8B1E7CF31}" type="slidenum">
              <a:rPr lang="en-US" smtClean="0"/>
              <a:t>‹#›</a:t>
            </a:fld>
            <a:endParaRPr lang="en-US"/>
          </a:p>
        </p:txBody>
      </p:sp>
    </p:spTree>
    <p:extLst>
      <p:ext uri="{BB962C8B-B14F-4D97-AF65-F5344CB8AC3E}">
        <p14:creationId xmlns:p14="http://schemas.microsoft.com/office/powerpoint/2010/main" val="158556917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9.xml"/><Relationship Id="rId5" Type="http://schemas.openxmlformats.org/officeDocument/2006/relationships/image" Target="../media/image7.emf"/><Relationship Id="rId4" Type="http://schemas.openxmlformats.org/officeDocument/2006/relationships/oleObject" Target="../embeddings/oleObject1.bin"/></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9.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0.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6.xml"/><Relationship Id="rId5" Type="http://schemas.openxmlformats.org/officeDocument/2006/relationships/image" Target="../media/image150.png"/><Relationship Id="rId4" Type="http://schemas.openxmlformats.org/officeDocument/2006/relationships/image" Target="../media/image140.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9.xml"/><Relationship Id="rId5" Type="http://schemas.openxmlformats.org/officeDocument/2006/relationships/image" Target="../media/image19.jpe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3.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4.png"/><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28.png"/><Relationship Id="rId2" Type="http://schemas.openxmlformats.org/officeDocument/2006/relationships/image" Target="../media/image25.png"/><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3.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slideLayout" Target="../slideLayouts/slideLayout6.xml"/><Relationship Id="rId1" Type="http://schemas.openxmlformats.org/officeDocument/2006/relationships/video" Target="https://www.youtube.com/embed/ITo-WbpANi0?feature=oembed"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image" Target="../media/image36.png"/><Relationship Id="rId13" Type="http://schemas.openxmlformats.org/officeDocument/2006/relationships/image" Target="../media/image41.png"/><Relationship Id="rId3" Type="http://schemas.openxmlformats.org/officeDocument/2006/relationships/image" Target="../media/image310.png"/><Relationship Id="rId7" Type="http://schemas.openxmlformats.org/officeDocument/2006/relationships/image" Target="../media/image35.png"/><Relationship Id="rId12" Type="http://schemas.openxmlformats.org/officeDocument/2006/relationships/image" Target="../media/image40.png"/><Relationship Id="rId17" Type="http://schemas.openxmlformats.org/officeDocument/2006/relationships/image" Target="../media/image45.png"/><Relationship Id="rId2" Type="http://schemas.openxmlformats.org/officeDocument/2006/relationships/image" Target="../media/image300.png"/><Relationship Id="rId16" Type="http://schemas.openxmlformats.org/officeDocument/2006/relationships/image" Target="../media/image44.png"/><Relationship Id="rId1" Type="http://schemas.openxmlformats.org/officeDocument/2006/relationships/slideLayout" Target="../slideLayouts/slideLayout8.xml"/><Relationship Id="rId6" Type="http://schemas.openxmlformats.org/officeDocument/2006/relationships/image" Target="../media/image34.png"/><Relationship Id="rId11" Type="http://schemas.openxmlformats.org/officeDocument/2006/relationships/image" Target="../media/image39.png"/><Relationship Id="rId5" Type="http://schemas.openxmlformats.org/officeDocument/2006/relationships/image" Target="../media/image33.png"/><Relationship Id="rId15" Type="http://schemas.openxmlformats.org/officeDocument/2006/relationships/image" Target="../media/image43.png"/><Relationship Id="rId10" Type="http://schemas.openxmlformats.org/officeDocument/2006/relationships/image" Target="../media/image38.png"/><Relationship Id="rId4" Type="http://schemas.openxmlformats.org/officeDocument/2006/relationships/image" Target="../media/image320.png"/><Relationship Id="rId9" Type="http://schemas.openxmlformats.org/officeDocument/2006/relationships/image" Target="../media/image37.png"/><Relationship Id="rId14" Type="http://schemas.openxmlformats.org/officeDocument/2006/relationships/image" Target="../media/image42.png"/></Relationships>
</file>

<file path=ppt/slides/_rels/slide28.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57.png"/><Relationship Id="rId3" Type="http://schemas.openxmlformats.org/officeDocument/2006/relationships/image" Target="../media/image47.png"/><Relationship Id="rId7" Type="http://schemas.openxmlformats.org/officeDocument/2006/relationships/image" Target="../media/image51.png"/><Relationship Id="rId12" Type="http://schemas.openxmlformats.org/officeDocument/2006/relationships/image" Target="../media/image56.png"/><Relationship Id="rId2" Type="http://schemas.openxmlformats.org/officeDocument/2006/relationships/image" Target="../media/image46.png"/><Relationship Id="rId1" Type="http://schemas.openxmlformats.org/officeDocument/2006/relationships/slideLayout" Target="../slideLayouts/slideLayout6.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49.pn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png"/><Relationship Id="rId14" Type="http://schemas.openxmlformats.org/officeDocument/2006/relationships/image" Target="../media/image58.png"/></Relationships>
</file>

<file path=ppt/slides/_rels/slide2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6.xml"/><Relationship Id="rId5" Type="http://schemas.openxmlformats.org/officeDocument/2006/relationships/image" Target="../media/image64.png"/><Relationship Id="rId4" Type="http://schemas.openxmlformats.org/officeDocument/2006/relationships/image" Target="../media/image63.png"/></Relationships>
</file>

<file path=ppt/slides/_rels/slide3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6.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D478F-B618-A8F3-2C35-06BD5544D36C}"/>
              </a:ext>
            </a:extLst>
          </p:cNvPr>
          <p:cNvSpPr>
            <a:spLocks noGrp="1"/>
          </p:cNvSpPr>
          <p:nvPr>
            <p:ph type="ctrTitle"/>
          </p:nvPr>
        </p:nvSpPr>
        <p:spPr/>
        <p:txBody>
          <a:bodyPr/>
          <a:lstStyle/>
          <a:p>
            <a:r>
              <a:rPr lang="en-US" dirty="0"/>
              <a:t>UT Robomasters – Supercap Power Stage Modeling</a:t>
            </a:r>
          </a:p>
        </p:txBody>
      </p:sp>
      <p:sp>
        <p:nvSpPr>
          <p:cNvPr id="3" name="Subtitle 2">
            <a:extLst>
              <a:ext uri="{FF2B5EF4-FFF2-40B4-BE49-F238E27FC236}">
                <a16:creationId xmlns:a16="http://schemas.microsoft.com/office/drawing/2014/main" id="{2CA6C19F-7071-1C1F-0412-FB8090E6E184}"/>
              </a:ext>
            </a:extLst>
          </p:cNvPr>
          <p:cNvSpPr>
            <a:spLocks noGrp="1"/>
          </p:cNvSpPr>
          <p:nvPr>
            <p:ph type="subTitle" idx="1"/>
          </p:nvPr>
        </p:nvSpPr>
        <p:spPr/>
        <p:txBody>
          <a:bodyPr/>
          <a:lstStyle/>
          <a:p>
            <a:r>
              <a:rPr lang="en-US" dirty="0" err="1"/>
              <a:t>Supercap</a:t>
            </a:r>
            <a:r>
              <a:rPr lang="en-US" dirty="0"/>
              <a:t> Technical Lead: Egan Wang (ew23776)</a:t>
            </a:r>
          </a:p>
          <a:p>
            <a:r>
              <a:rPr lang="en-US" dirty="0"/>
              <a:t>Contributing Members: Timothy Yeap, Ethan Chu, Heath </a:t>
            </a:r>
            <a:r>
              <a:rPr lang="en-US" dirty="0" err="1"/>
              <a:t>Luebsen</a:t>
            </a:r>
            <a:endParaRPr lang="en-US" dirty="0"/>
          </a:p>
        </p:txBody>
      </p:sp>
    </p:spTree>
    <p:extLst>
      <p:ext uri="{BB962C8B-B14F-4D97-AF65-F5344CB8AC3E}">
        <p14:creationId xmlns:p14="http://schemas.microsoft.com/office/powerpoint/2010/main" val="3230319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3391F-3485-155F-C93A-C476DA50C062}"/>
              </a:ext>
            </a:extLst>
          </p:cNvPr>
          <p:cNvSpPr>
            <a:spLocks noGrp="1"/>
          </p:cNvSpPr>
          <p:nvPr>
            <p:ph type="title"/>
          </p:nvPr>
        </p:nvSpPr>
        <p:spPr/>
        <p:txBody>
          <a:bodyPr/>
          <a:lstStyle/>
          <a:p>
            <a:r>
              <a:rPr lang="en-US" dirty="0"/>
              <a:t>PLECS Analysis: Toy Models</a:t>
            </a:r>
          </a:p>
        </p:txBody>
      </p:sp>
      <p:sp>
        <p:nvSpPr>
          <p:cNvPr id="5" name="Rectangle: Rounded Corners 4">
            <a:extLst>
              <a:ext uri="{FF2B5EF4-FFF2-40B4-BE49-F238E27FC236}">
                <a16:creationId xmlns:a16="http://schemas.microsoft.com/office/drawing/2014/main" id="{2317F896-A6A8-7396-0E56-9C521DD695E8}"/>
              </a:ext>
            </a:extLst>
          </p:cNvPr>
          <p:cNvSpPr/>
          <p:nvPr/>
        </p:nvSpPr>
        <p:spPr>
          <a:xfrm>
            <a:off x="3171265" y="1573306"/>
            <a:ext cx="5849471" cy="3953435"/>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0A0FBBB6-6D20-DB02-303F-5CE62C56D1B9}"/>
              </a:ext>
            </a:extLst>
          </p:cNvPr>
          <p:cNvGrpSpPr/>
          <p:nvPr/>
        </p:nvGrpSpPr>
        <p:grpSpPr>
          <a:xfrm>
            <a:off x="3237262" y="1573306"/>
            <a:ext cx="5717477" cy="3827928"/>
            <a:chOff x="3092822" y="1573306"/>
            <a:chExt cx="5717477" cy="3827928"/>
          </a:xfrm>
        </p:grpSpPr>
        <p:pic>
          <p:nvPicPr>
            <p:cNvPr id="4" name="Picture 3">
              <a:extLst>
                <a:ext uri="{FF2B5EF4-FFF2-40B4-BE49-F238E27FC236}">
                  <a16:creationId xmlns:a16="http://schemas.microsoft.com/office/drawing/2014/main" id="{B6DA89FE-6DB1-A429-3010-B776E4A75C82}"/>
                </a:ext>
              </a:extLst>
            </p:cNvPr>
            <p:cNvPicPr>
              <a:picLocks noChangeAspect="1"/>
            </p:cNvPicPr>
            <p:nvPr/>
          </p:nvPicPr>
          <p:blipFill>
            <a:blip r:embed="rId2"/>
            <a:stretch>
              <a:fillRect/>
            </a:stretch>
          </p:blipFill>
          <p:spPr>
            <a:xfrm>
              <a:off x="3092822" y="1883997"/>
              <a:ext cx="5717477" cy="3517237"/>
            </a:xfrm>
            <a:prstGeom prst="rect">
              <a:avLst/>
            </a:prstGeom>
          </p:spPr>
        </p:pic>
        <p:sp>
          <p:nvSpPr>
            <p:cNvPr id="6" name="TextBox 5">
              <a:extLst>
                <a:ext uri="{FF2B5EF4-FFF2-40B4-BE49-F238E27FC236}">
                  <a16:creationId xmlns:a16="http://schemas.microsoft.com/office/drawing/2014/main" id="{B6C71747-CF38-A3D3-CA88-83400E2578CC}"/>
                </a:ext>
              </a:extLst>
            </p:cNvPr>
            <p:cNvSpPr txBox="1"/>
            <p:nvPr/>
          </p:nvSpPr>
          <p:spPr>
            <a:xfrm>
              <a:off x="4217342" y="1573306"/>
              <a:ext cx="4586064" cy="338554"/>
            </a:xfrm>
            <a:prstGeom prst="rect">
              <a:avLst/>
            </a:prstGeom>
            <a:noFill/>
          </p:spPr>
          <p:txBody>
            <a:bodyPr wrap="none" rtlCol="0">
              <a:spAutoFit/>
            </a:bodyPr>
            <a:lstStyle/>
            <a:p>
              <a:pPr algn="r"/>
              <a:r>
                <a:rPr lang="en-US" sz="1600" b="1" dirty="0"/>
                <a:t>Toy Model Simulation as of Making These Slides</a:t>
              </a:r>
            </a:p>
          </p:txBody>
        </p:sp>
      </p:grpSp>
      <p:sp>
        <p:nvSpPr>
          <p:cNvPr id="7" name="TextBox 6">
            <a:extLst>
              <a:ext uri="{FF2B5EF4-FFF2-40B4-BE49-F238E27FC236}">
                <a16:creationId xmlns:a16="http://schemas.microsoft.com/office/drawing/2014/main" id="{4DDFF5B0-E04B-2C23-D363-89A00A0FA365}"/>
              </a:ext>
            </a:extLst>
          </p:cNvPr>
          <p:cNvSpPr txBox="1"/>
          <p:nvPr/>
        </p:nvSpPr>
        <p:spPr>
          <a:xfrm>
            <a:off x="9119162" y="1690688"/>
            <a:ext cx="2900082" cy="923330"/>
          </a:xfrm>
          <a:prstGeom prst="rect">
            <a:avLst/>
          </a:prstGeom>
          <a:noFill/>
        </p:spPr>
        <p:txBody>
          <a:bodyPr wrap="square" rtlCol="0">
            <a:spAutoFit/>
          </a:bodyPr>
          <a:lstStyle/>
          <a:p>
            <a:r>
              <a:rPr lang="en-US" dirty="0"/>
              <a:t>In GitHub repository, under </a:t>
            </a:r>
            <a:r>
              <a:rPr lang="en-US" dirty="0">
                <a:latin typeface="Courier New" panose="02070309020205020404" pitchFamily="49" charset="0"/>
                <a:cs typeface="Courier New" panose="02070309020205020404" pitchFamily="49" charset="0"/>
              </a:rPr>
              <a:t>Sims_and_Design </a:t>
            </a:r>
            <a:r>
              <a:rPr lang="en-US" dirty="0"/>
              <a:t>folder</a:t>
            </a:r>
          </a:p>
        </p:txBody>
      </p:sp>
      <p:cxnSp>
        <p:nvCxnSpPr>
          <p:cNvPr id="8" name="Connector: Elbow 7">
            <a:extLst>
              <a:ext uri="{FF2B5EF4-FFF2-40B4-BE49-F238E27FC236}">
                <a16:creationId xmlns:a16="http://schemas.microsoft.com/office/drawing/2014/main" id="{551E9B59-2240-158E-FBB0-5E62D8FF27B7}"/>
              </a:ext>
            </a:extLst>
          </p:cNvPr>
          <p:cNvCxnSpPr>
            <a:cxnSpLocks/>
          </p:cNvCxnSpPr>
          <p:nvPr/>
        </p:nvCxnSpPr>
        <p:spPr>
          <a:xfrm rot="16200000" flipH="1" flipV="1">
            <a:off x="9122089" y="2623824"/>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0C1C7D6-2CC5-B797-3DAC-2A911FA9AE01}"/>
              </a:ext>
            </a:extLst>
          </p:cNvPr>
          <p:cNvSpPr txBox="1"/>
          <p:nvPr/>
        </p:nvSpPr>
        <p:spPr>
          <a:xfrm>
            <a:off x="1489002" y="5969655"/>
            <a:ext cx="9213997" cy="523220"/>
          </a:xfrm>
          <a:prstGeom prst="rect">
            <a:avLst/>
          </a:prstGeom>
          <a:noFill/>
        </p:spPr>
        <p:txBody>
          <a:bodyPr wrap="none" rtlCol="0">
            <a:spAutoFit/>
          </a:bodyPr>
          <a:lstStyle/>
          <a:p>
            <a:r>
              <a:rPr lang="en-US" sz="2800" u="sng" dirty="0"/>
              <a:t>In case you didn’t know yet, this is what everything is about</a:t>
            </a:r>
          </a:p>
        </p:txBody>
      </p:sp>
      <p:sp>
        <p:nvSpPr>
          <p:cNvPr id="11" name="TextBox 10">
            <a:extLst>
              <a:ext uri="{FF2B5EF4-FFF2-40B4-BE49-F238E27FC236}">
                <a16:creationId xmlns:a16="http://schemas.microsoft.com/office/drawing/2014/main" id="{9EA43E05-B3F0-A174-1F5B-FCDA0FBD5A90}"/>
              </a:ext>
            </a:extLst>
          </p:cNvPr>
          <p:cNvSpPr txBox="1"/>
          <p:nvPr/>
        </p:nvSpPr>
        <p:spPr>
          <a:xfrm>
            <a:off x="3526634" y="5526741"/>
            <a:ext cx="5138731" cy="338554"/>
          </a:xfrm>
          <a:prstGeom prst="rect">
            <a:avLst/>
          </a:prstGeom>
          <a:noFill/>
        </p:spPr>
        <p:txBody>
          <a:bodyPr wrap="square">
            <a:spAutoFit/>
          </a:bodyPr>
          <a:lstStyle/>
          <a:p>
            <a:pPr algn="ctr"/>
            <a:r>
              <a:rPr lang="en-US" sz="1600" dirty="0">
                <a:latin typeface="Courier New" panose="02070309020205020404" pitchFamily="49" charset="0"/>
                <a:cs typeface="Courier New" panose="02070309020205020404" pitchFamily="49" charset="0"/>
              </a:rPr>
              <a:t>Power Stage Simulation - Toy Model.plecs</a:t>
            </a:r>
          </a:p>
        </p:txBody>
      </p:sp>
      <p:sp>
        <p:nvSpPr>
          <p:cNvPr id="13" name="TextBox 12">
            <a:extLst>
              <a:ext uri="{FF2B5EF4-FFF2-40B4-BE49-F238E27FC236}">
                <a16:creationId xmlns:a16="http://schemas.microsoft.com/office/drawing/2014/main" id="{4D9623C1-D480-BBC5-9C30-937B59B6200D}"/>
              </a:ext>
            </a:extLst>
          </p:cNvPr>
          <p:cNvSpPr txBox="1"/>
          <p:nvPr/>
        </p:nvSpPr>
        <p:spPr>
          <a:xfrm>
            <a:off x="251668" y="2967335"/>
            <a:ext cx="2676089" cy="923330"/>
          </a:xfrm>
          <a:prstGeom prst="rect">
            <a:avLst/>
          </a:prstGeom>
          <a:noFill/>
        </p:spPr>
        <p:txBody>
          <a:bodyPr wrap="square" rtlCol="0">
            <a:spAutoFit/>
          </a:bodyPr>
          <a:lstStyle/>
          <a:p>
            <a:r>
              <a:rPr lang="en-US" dirty="0"/>
              <a:t>Message me (Egan) if you don’t understand a section of this model</a:t>
            </a:r>
          </a:p>
        </p:txBody>
      </p:sp>
    </p:spTree>
    <p:extLst>
      <p:ext uri="{BB962C8B-B14F-4D97-AF65-F5344CB8AC3E}">
        <p14:creationId xmlns:p14="http://schemas.microsoft.com/office/powerpoint/2010/main" val="12049178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75C05-D53A-EB7B-0259-F9E892597A12}"/>
              </a:ext>
            </a:extLst>
          </p:cNvPr>
          <p:cNvSpPr>
            <a:spLocks noGrp="1"/>
          </p:cNvSpPr>
          <p:nvPr>
            <p:ph type="title"/>
          </p:nvPr>
        </p:nvSpPr>
        <p:spPr/>
        <p:txBody>
          <a:bodyPr/>
          <a:lstStyle/>
          <a:p>
            <a:r>
              <a:rPr lang="en-US" dirty="0"/>
              <a:t>List of Topics Relevant to This Presentation</a:t>
            </a:r>
          </a:p>
        </p:txBody>
      </p:sp>
      <p:sp>
        <p:nvSpPr>
          <p:cNvPr id="3" name="Content Placeholder 2">
            <a:extLst>
              <a:ext uri="{FF2B5EF4-FFF2-40B4-BE49-F238E27FC236}">
                <a16:creationId xmlns:a16="http://schemas.microsoft.com/office/drawing/2014/main" id="{A04F342F-E6CE-DD03-4519-3357C6F9C431}"/>
              </a:ext>
            </a:extLst>
          </p:cNvPr>
          <p:cNvSpPr>
            <a:spLocks noGrp="1"/>
          </p:cNvSpPr>
          <p:nvPr>
            <p:ph idx="1"/>
          </p:nvPr>
        </p:nvSpPr>
        <p:spPr/>
        <p:txBody>
          <a:bodyPr>
            <a:normAutofit fontScale="92500" lnSpcReduction="10000"/>
          </a:bodyPr>
          <a:lstStyle/>
          <a:p>
            <a:pPr marL="0" indent="0">
              <a:buNone/>
            </a:pPr>
            <a:r>
              <a:rPr lang="en-US" dirty="0"/>
              <a:t>Make sure you have at least basic knowledge of these concepts so that you can understand the content in this presentation:</a:t>
            </a:r>
          </a:p>
          <a:p>
            <a:r>
              <a:rPr lang="en-US" dirty="0"/>
              <a:t>SRA calculations</a:t>
            </a:r>
          </a:p>
          <a:p>
            <a:r>
              <a:rPr lang="en-US" dirty="0"/>
              <a:t>Ideal transformer modeling</a:t>
            </a:r>
          </a:p>
          <a:p>
            <a:r>
              <a:rPr lang="en-US" dirty="0"/>
              <a:t>Laplace transforms</a:t>
            </a:r>
          </a:p>
          <a:p>
            <a:r>
              <a:rPr lang="en-US" dirty="0"/>
              <a:t>Transfer functions and closed-loop systems</a:t>
            </a:r>
          </a:p>
          <a:p>
            <a:pPr marL="0" indent="0">
              <a:buNone/>
            </a:pPr>
            <a:r>
              <a:rPr lang="en-US" dirty="0"/>
              <a:t>Make sure you are </a:t>
            </a:r>
            <a:r>
              <a:rPr lang="en-US" b="1" dirty="0"/>
              <a:t>very familiar </a:t>
            </a:r>
            <a:r>
              <a:rPr lang="en-US" dirty="0"/>
              <a:t>with these concepts:</a:t>
            </a:r>
          </a:p>
          <a:p>
            <a:r>
              <a:rPr lang="en-US" dirty="0"/>
              <a:t>KVL and KCL</a:t>
            </a:r>
          </a:p>
          <a:p>
            <a:r>
              <a:rPr lang="en-US" dirty="0"/>
              <a:t>Algebraic manipulation</a:t>
            </a:r>
          </a:p>
          <a:p>
            <a:r>
              <a:rPr lang="en-US" dirty="0"/>
              <a:t>Differential and integral calculus</a:t>
            </a:r>
          </a:p>
        </p:txBody>
      </p:sp>
    </p:spTree>
    <p:extLst>
      <p:ext uri="{BB962C8B-B14F-4D97-AF65-F5344CB8AC3E}">
        <p14:creationId xmlns:p14="http://schemas.microsoft.com/office/powerpoint/2010/main" val="32592693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D913E-4387-3D8D-4B18-3F3FD257F845}"/>
              </a:ext>
            </a:extLst>
          </p:cNvPr>
          <p:cNvSpPr>
            <a:spLocks noGrp="1"/>
          </p:cNvSpPr>
          <p:nvPr>
            <p:ph type="title"/>
          </p:nvPr>
        </p:nvSpPr>
        <p:spPr/>
        <p:txBody>
          <a:bodyPr/>
          <a:lstStyle/>
          <a:p>
            <a:r>
              <a:rPr lang="en-US" dirty="0"/>
              <a:t>Section 1: Basics of The Converter</a:t>
            </a:r>
          </a:p>
        </p:txBody>
      </p:sp>
      <p:sp>
        <p:nvSpPr>
          <p:cNvPr id="3" name="Text Placeholder 2">
            <a:extLst>
              <a:ext uri="{FF2B5EF4-FFF2-40B4-BE49-F238E27FC236}">
                <a16:creationId xmlns:a16="http://schemas.microsoft.com/office/drawing/2014/main" id="{1F172E8C-3B9A-B2F8-85EC-D2B08B7E40E5}"/>
              </a:ext>
            </a:extLst>
          </p:cNvPr>
          <p:cNvSpPr>
            <a:spLocks noGrp="1"/>
          </p:cNvSpPr>
          <p:nvPr>
            <p:ph type="body" idx="1"/>
          </p:nvPr>
        </p:nvSpPr>
        <p:spPr/>
        <p:txBody>
          <a:bodyPr/>
          <a:lstStyle/>
          <a:p>
            <a:r>
              <a:rPr lang="en-US" dirty="0"/>
              <a:t>take notes if you have to</a:t>
            </a:r>
          </a:p>
        </p:txBody>
      </p:sp>
    </p:spTree>
    <p:extLst>
      <p:ext uri="{BB962C8B-B14F-4D97-AF65-F5344CB8AC3E}">
        <p14:creationId xmlns:p14="http://schemas.microsoft.com/office/powerpoint/2010/main" val="21478468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5A745-7BF0-A1B6-7231-174460A96260}"/>
              </a:ext>
            </a:extLst>
          </p:cNvPr>
          <p:cNvSpPr>
            <a:spLocks noGrp="1"/>
          </p:cNvSpPr>
          <p:nvPr>
            <p:ph type="title"/>
          </p:nvPr>
        </p:nvSpPr>
        <p:spPr/>
        <p:txBody>
          <a:bodyPr/>
          <a:lstStyle/>
          <a:p>
            <a:r>
              <a:rPr lang="en-US" dirty="0"/>
              <a:t>Overview of Topology</a:t>
            </a:r>
          </a:p>
        </p:txBody>
      </p:sp>
      <p:sp>
        <p:nvSpPr>
          <p:cNvPr id="5" name="Text Placeholder 4">
            <a:extLst>
              <a:ext uri="{FF2B5EF4-FFF2-40B4-BE49-F238E27FC236}">
                <a16:creationId xmlns:a16="http://schemas.microsoft.com/office/drawing/2014/main" id="{66630530-B4E1-DE36-661C-8CD0B56A1D56}"/>
              </a:ext>
            </a:extLst>
          </p:cNvPr>
          <p:cNvSpPr>
            <a:spLocks noGrp="1"/>
          </p:cNvSpPr>
          <p:nvPr>
            <p:ph type="body" sz="half" idx="2"/>
          </p:nvPr>
        </p:nvSpPr>
        <p:spPr/>
        <p:txBody>
          <a:bodyPr/>
          <a:lstStyle/>
          <a:p>
            <a:r>
              <a:rPr lang="en-US" b="1" dirty="0"/>
              <a:t>H-Bridge Converter</a:t>
            </a:r>
          </a:p>
          <a:p>
            <a:pPr marL="285750" indent="-285750">
              <a:buFont typeface="Arial" panose="020B0604020202020204" pitchFamily="34" charset="0"/>
              <a:buChar char="•"/>
            </a:pPr>
            <a:r>
              <a:rPr lang="en-US" dirty="0"/>
              <a:t>4 switches</a:t>
            </a:r>
          </a:p>
          <a:p>
            <a:pPr marL="285750" indent="-285750">
              <a:buFont typeface="Arial" panose="020B0604020202020204" pitchFamily="34" charset="0"/>
              <a:buChar char="•"/>
            </a:pPr>
            <a:r>
              <a:rPr lang="en-US" dirty="0"/>
              <a:t>2 half-bridges</a:t>
            </a:r>
          </a:p>
          <a:p>
            <a:pPr marL="285750" indent="-285750">
              <a:buFont typeface="Arial" panose="020B0604020202020204" pitchFamily="34" charset="0"/>
              <a:buChar char="•"/>
            </a:pPr>
            <a:r>
              <a:rPr lang="en-US" dirty="0"/>
              <a:t>Full-bridge analogue to buck converter</a:t>
            </a:r>
          </a:p>
          <a:p>
            <a:pPr marL="285750" indent="-285750">
              <a:buFont typeface="Arial" panose="020B0604020202020204" pitchFamily="34" charset="0"/>
              <a:buChar char="•"/>
            </a:pPr>
            <a:r>
              <a:rPr lang="en-US" dirty="0"/>
              <a:t>Voltage across switched nodes can be +Vg, 0, or +Vg</a:t>
            </a:r>
          </a:p>
        </p:txBody>
      </p:sp>
      <p:pic>
        <p:nvPicPr>
          <p:cNvPr id="9" name="Picture 8">
            <a:extLst>
              <a:ext uri="{FF2B5EF4-FFF2-40B4-BE49-F238E27FC236}">
                <a16:creationId xmlns:a16="http://schemas.microsoft.com/office/drawing/2014/main" id="{3AF0BA4D-E20B-F2DC-E856-D9099C36F4D2}"/>
              </a:ext>
            </a:extLst>
          </p:cNvPr>
          <p:cNvPicPr>
            <a:picLocks noChangeAspect="1"/>
          </p:cNvPicPr>
          <p:nvPr/>
        </p:nvPicPr>
        <p:blipFill>
          <a:blip r:embed="rId2"/>
          <a:stretch>
            <a:fillRect/>
          </a:stretch>
        </p:blipFill>
        <p:spPr>
          <a:xfrm>
            <a:off x="5332489" y="175000"/>
            <a:ext cx="6019723" cy="3059633"/>
          </a:xfrm>
          <a:prstGeom prst="rect">
            <a:avLst/>
          </a:prstGeom>
        </p:spPr>
      </p:pic>
      <p:grpSp>
        <p:nvGrpSpPr>
          <p:cNvPr id="65" name="Group 64">
            <a:extLst>
              <a:ext uri="{FF2B5EF4-FFF2-40B4-BE49-F238E27FC236}">
                <a16:creationId xmlns:a16="http://schemas.microsoft.com/office/drawing/2014/main" id="{4A270B61-CF52-FA0E-48FD-88C2FDA36CCD}"/>
              </a:ext>
            </a:extLst>
          </p:cNvPr>
          <p:cNvGrpSpPr/>
          <p:nvPr/>
        </p:nvGrpSpPr>
        <p:grpSpPr>
          <a:xfrm>
            <a:off x="5878896" y="3690873"/>
            <a:ext cx="4926905" cy="2702023"/>
            <a:chOff x="5934734" y="3531668"/>
            <a:chExt cx="4926905" cy="2702023"/>
          </a:xfrm>
        </p:grpSpPr>
        <p:pic>
          <p:nvPicPr>
            <p:cNvPr id="11" name="Picture 10">
              <a:extLst>
                <a:ext uri="{FF2B5EF4-FFF2-40B4-BE49-F238E27FC236}">
                  <a16:creationId xmlns:a16="http://schemas.microsoft.com/office/drawing/2014/main" id="{29B7CBCB-BE40-404D-EE09-4D39BB8EDFEF}"/>
                </a:ext>
              </a:extLst>
            </p:cNvPr>
            <p:cNvPicPr>
              <a:picLocks noChangeAspect="1"/>
            </p:cNvPicPr>
            <p:nvPr/>
          </p:nvPicPr>
          <p:blipFill>
            <a:blip r:embed="rId3"/>
            <a:stretch>
              <a:fillRect/>
            </a:stretch>
          </p:blipFill>
          <p:spPr>
            <a:xfrm>
              <a:off x="5934734" y="3584846"/>
              <a:ext cx="2170222" cy="1277897"/>
            </a:xfrm>
            <a:prstGeom prst="rect">
              <a:avLst/>
            </a:prstGeom>
          </p:spPr>
        </p:pic>
        <p:grpSp>
          <p:nvGrpSpPr>
            <p:cNvPr id="18" name="Group 17">
              <a:extLst>
                <a:ext uri="{FF2B5EF4-FFF2-40B4-BE49-F238E27FC236}">
                  <a16:creationId xmlns:a16="http://schemas.microsoft.com/office/drawing/2014/main" id="{8FAEE1E0-D71F-9794-65C3-5873E2323545}"/>
                </a:ext>
              </a:extLst>
            </p:cNvPr>
            <p:cNvGrpSpPr/>
            <p:nvPr/>
          </p:nvGrpSpPr>
          <p:grpSpPr>
            <a:xfrm>
              <a:off x="6519084" y="3736366"/>
              <a:ext cx="142595" cy="490604"/>
              <a:chOff x="6320118" y="3683188"/>
              <a:chExt cx="142595" cy="490604"/>
            </a:xfrm>
          </p:grpSpPr>
          <p:cxnSp>
            <p:nvCxnSpPr>
              <p:cNvPr id="13" name="Straight Connector 12">
                <a:extLst>
                  <a:ext uri="{FF2B5EF4-FFF2-40B4-BE49-F238E27FC236}">
                    <a16:creationId xmlns:a16="http://schemas.microsoft.com/office/drawing/2014/main" id="{A60AACF8-4161-A0B9-A70B-F6449D87CF1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ECE47650-A04B-6D70-94D8-E2E7F64E4185}"/>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6C0334D8-2C23-298D-043B-1F8A8AB9100C}"/>
                </a:ext>
              </a:extLst>
            </p:cNvPr>
            <p:cNvGrpSpPr/>
            <p:nvPr/>
          </p:nvGrpSpPr>
          <p:grpSpPr>
            <a:xfrm rot="10800000">
              <a:off x="7679017" y="4202033"/>
              <a:ext cx="142595" cy="490604"/>
              <a:chOff x="6320118" y="3683188"/>
              <a:chExt cx="142595" cy="490604"/>
            </a:xfrm>
          </p:grpSpPr>
          <p:cxnSp>
            <p:nvCxnSpPr>
              <p:cNvPr id="20" name="Straight Connector 19">
                <a:extLst>
                  <a:ext uri="{FF2B5EF4-FFF2-40B4-BE49-F238E27FC236}">
                    <a16:creationId xmlns:a16="http://schemas.microsoft.com/office/drawing/2014/main" id="{530780A4-D992-86E3-0C32-DB60CEF42F77}"/>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E2653BE3-787B-5D05-D1D2-90B3A6594587}"/>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6E70A542-6C83-EDCF-C46B-D560799AC16A}"/>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23" name="TextBox 22">
              <a:extLst>
                <a:ext uri="{FF2B5EF4-FFF2-40B4-BE49-F238E27FC236}">
                  <a16:creationId xmlns:a16="http://schemas.microsoft.com/office/drawing/2014/main" id="{3D9AB4C9-6C90-B3E3-E8B2-1B17772D7E0F}"/>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7DC7FDCE-2962-8982-C6F5-9526B0EF6E3E}"/>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5" name="Picture 24">
              <a:extLst>
                <a:ext uri="{FF2B5EF4-FFF2-40B4-BE49-F238E27FC236}">
                  <a16:creationId xmlns:a16="http://schemas.microsoft.com/office/drawing/2014/main" id="{52F517F6-C492-EB58-8116-8996FA184FC1}"/>
                </a:ext>
              </a:extLst>
            </p:cNvPr>
            <p:cNvPicPr>
              <a:picLocks noChangeAspect="1"/>
            </p:cNvPicPr>
            <p:nvPr/>
          </p:nvPicPr>
          <p:blipFill>
            <a:blip r:embed="rId3"/>
            <a:stretch>
              <a:fillRect/>
            </a:stretch>
          </p:blipFill>
          <p:spPr>
            <a:xfrm>
              <a:off x="8689057" y="3588021"/>
              <a:ext cx="2170222" cy="1277897"/>
            </a:xfrm>
            <a:prstGeom prst="rect">
              <a:avLst/>
            </a:prstGeom>
          </p:spPr>
        </p:pic>
        <p:grpSp>
          <p:nvGrpSpPr>
            <p:cNvPr id="26" name="Group 25">
              <a:extLst>
                <a:ext uri="{FF2B5EF4-FFF2-40B4-BE49-F238E27FC236}">
                  <a16:creationId xmlns:a16="http://schemas.microsoft.com/office/drawing/2014/main" id="{DB1E2D49-ECBC-E3B4-4628-E1CA66F69AAE}"/>
                </a:ext>
              </a:extLst>
            </p:cNvPr>
            <p:cNvGrpSpPr/>
            <p:nvPr/>
          </p:nvGrpSpPr>
          <p:grpSpPr>
            <a:xfrm>
              <a:off x="9273407" y="3739541"/>
              <a:ext cx="142595" cy="490604"/>
              <a:chOff x="6320118" y="3683188"/>
              <a:chExt cx="142595" cy="490604"/>
            </a:xfrm>
          </p:grpSpPr>
          <p:cxnSp>
            <p:nvCxnSpPr>
              <p:cNvPr id="27" name="Straight Connector 26">
                <a:extLst>
                  <a:ext uri="{FF2B5EF4-FFF2-40B4-BE49-F238E27FC236}">
                    <a16:creationId xmlns:a16="http://schemas.microsoft.com/office/drawing/2014/main" id="{7AAE98B0-F106-4140-7351-1B5B9EE1A4A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7CF8AD86-E01D-D3A2-8EF6-04D0FC39410C}"/>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2" name="TextBox 31">
              <a:extLst>
                <a:ext uri="{FF2B5EF4-FFF2-40B4-BE49-F238E27FC236}">
                  <a16:creationId xmlns:a16="http://schemas.microsoft.com/office/drawing/2014/main" id="{450A0223-3BFC-DF84-6ED8-2C3338010217}"/>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33" name="TextBox 32">
              <a:extLst>
                <a:ext uri="{FF2B5EF4-FFF2-40B4-BE49-F238E27FC236}">
                  <a16:creationId xmlns:a16="http://schemas.microsoft.com/office/drawing/2014/main" id="{AC54E323-AFBE-21EC-63FC-1EE164F89826}"/>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34" name="TextBox 33">
              <a:extLst>
                <a:ext uri="{FF2B5EF4-FFF2-40B4-BE49-F238E27FC236}">
                  <a16:creationId xmlns:a16="http://schemas.microsoft.com/office/drawing/2014/main" id="{58EDD51E-2D00-39E4-EA40-5A8AFBBC9153}"/>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35" name="Group 34">
              <a:extLst>
                <a:ext uri="{FF2B5EF4-FFF2-40B4-BE49-F238E27FC236}">
                  <a16:creationId xmlns:a16="http://schemas.microsoft.com/office/drawing/2014/main" id="{D26C7354-E294-86E6-0213-92846B5D33C2}"/>
                </a:ext>
              </a:extLst>
            </p:cNvPr>
            <p:cNvGrpSpPr/>
            <p:nvPr/>
          </p:nvGrpSpPr>
          <p:grpSpPr>
            <a:xfrm flipH="1">
              <a:off x="10432463" y="3736366"/>
              <a:ext cx="142595" cy="490604"/>
              <a:chOff x="6320118" y="3683188"/>
              <a:chExt cx="142595" cy="490604"/>
            </a:xfrm>
          </p:grpSpPr>
          <p:cxnSp>
            <p:nvCxnSpPr>
              <p:cNvPr id="36" name="Straight Connector 35">
                <a:extLst>
                  <a:ext uri="{FF2B5EF4-FFF2-40B4-BE49-F238E27FC236}">
                    <a16:creationId xmlns:a16="http://schemas.microsoft.com/office/drawing/2014/main" id="{A0B91AD5-92AA-8B8F-6111-2B864EEC47F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7C48808-2892-C550-BF12-E454D7CED4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8" name="Picture 37">
              <a:extLst>
                <a:ext uri="{FF2B5EF4-FFF2-40B4-BE49-F238E27FC236}">
                  <a16:creationId xmlns:a16="http://schemas.microsoft.com/office/drawing/2014/main" id="{94C3D421-D7F0-7EAE-7D95-7E86BE70938B}"/>
                </a:ext>
              </a:extLst>
            </p:cNvPr>
            <p:cNvPicPr>
              <a:picLocks noChangeAspect="1"/>
            </p:cNvPicPr>
            <p:nvPr/>
          </p:nvPicPr>
          <p:blipFill>
            <a:blip r:embed="rId3"/>
            <a:stretch>
              <a:fillRect/>
            </a:stretch>
          </p:blipFill>
          <p:spPr>
            <a:xfrm>
              <a:off x="5934734" y="4955406"/>
              <a:ext cx="2170222" cy="1277897"/>
            </a:xfrm>
            <a:prstGeom prst="rect">
              <a:avLst/>
            </a:prstGeom>
          </p:spPr>
        </p:pic>
        <p:grpSp>
          <p:nvGrpSpPr>
            <p:cNvPr id="39" name="Group 38">
              <a:extLst>
                <a:ext uri="{FF2B5EF4-FFF2-40B4-BE49-F238E27FC236}">
                  <a16:creationId xmlns:a16="http://schemas.microsoft.com/office/drawing/2014/main" id="{F3B006E2-F60B-2DA4-0CC5-EF33E8007F8B}"/>
                </a:ext>
              </a:extLst>
            </p:cNvPr>
            <p:cNvGrpSpPr/>
            <p:nvPr/>
          </p:nvGrpSpPr>
          <p:grpSpPr>
            <a:xfrm flipV="1">
              <a:off x="6519084" y="5576664"/>
              <a:ext cx="142595" cy="490604"/>
              <a:chOff x="6320118" y="3683188"/>
              <a:chExt cx="142595" cy="490604"/>
            </a:xfrm>
          </p:grpSpPr>
          <p:cxnSp>
            <p:nvCxnSpPr>
              <p:cNvPr id="40" name="Straight Connector 39">
                <a:extLst>
                  <a:ext uri="{FF2B5EF4-FFF2-40B4-BE49-F238E27FC236}">
                    <a16:creationId xmlns:a16="http://schemas.microsoft.com/office/drawing/2014/main" id="{A241BCD0-ECED-1212-61CC-3673FE32DC01}"/>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0E81F802-6D9A-6D24-671E-E0C936C8136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42" name="TextBox 41">
              <a:extLst>
                <a:ext uri="{FF2B5EF4-FFF2-40B4-BE49-F238E27FC236}">
                  <a16:creationId xmlns:a16="http://schemas.microsoft.com/office/drawing/2014/main" id="{788CA125-D735-A439-9BE4-A86D87DFCCC9}"/>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43" name="TextBox 42">
              <a:extLst>
                <a:ext uri="{FF2B5EF4-FFF2-40B4-BE49-F238E27FC236}">
                  <a16:creationId xmlns:a16="http://schemas.microsoft.com/office/drawing/2014/main" id="{F57A0F5C-F5C1-12AC-A484-549CA65D87F9}"/>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44" name="TextBox 43">
              <a:extLst>
                <a:ext uri="{FF2B5EF4-FFF2-40B4-BE49-F238E27FC236}">
                  <a16:creationId xmlns:a16="http://schemas.microsoft.com/office/drawing/2014/main" id="{329888B7-4E7F-AE75-083C-FE1C35FAB100}"/>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45" name="Group 44">
              <a:extLst>
                <a:ext uri="{FF2B5EF4-FFF2-40B4-BE49-F238E27FC236}">
                  <a16:creationId xmlns:a16="http://schemas.microsoft.com/office/drawing/2014/main" id="{A8C819EE-13E8-219D-3335-38FE63B3C9F9}"/>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71D86095-924F-ED94-5F66-046DC54479F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73224F0B-78C6-1381-B7A5-D68B131903F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48" name="Picture 47">
              <a:extLst>
                <a:ext uri="{FF2B5EF4-FFF2-40B4-BE49-F238E27FC236}">
                  <a16:creationId xmlns:a16="http://schemas.microsoft.com/office/drawing/2014/main" id="{1042D71C-8445-FF11-4E97-51D220DB9185}"/>
                </a:ext>
              </a:extLst>
            </p:cNvPr>
            <p:cNvPicPr>
              <a:picLocks noChangeAspect="1"/>
            </p:cNvPicPr>
            <p:nvPr/>
          </p:nvPicPr>
          <p:blipFill>
            <a:blip r:embed="rId3"/>
            <a:stretch>
              <a:fillRect/>
            </a:stretch>
          </p:blipFill>
          <p:spPr>
            <a:xfrm>
              <a:off x="8691417" y="4955794"/>
              <a:ext cx="2170222" cy="1277897"/>
            </a:xfrm>
            <a:prstGeom prst="rect">
              <a:avLst/>
            </a:prstGeom>
          </p:spPr>
        </p:pic>
        <p:sp>
          <p:nvSpPr>
            <p:cNvPr id="52" name="TextBox 51">
              <a:extLst>
                <a:ext uri="{FF2B5EF4-FFF2-40B4-BE49-F238E27FC236}">
                  <a16:creationId xmlns:a16="http://schemas.microsoft.com/office/drawing/2014/main" id="{A2CC8D9D-5B31-3D47-1836-80647CA3A63E}"/>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53" name="TextBox 52">
              <a:extLst>
                <a:ext uri="{FF2B5EF4-FFF2-40B4-BE49-F238E27FC236}">
                  <a16:creationId xmlns:a16="http://schemas.microsoft.com/office/drawing/2014/main" id="{99528D70-D3B6-D3F9-5961-F0BF334E5856}"/>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54" name="TextBox 53">
              <a:extLst>
                <a:ext uri="{FF2B5EF4-FFF2-40B4-BE49-F238E27FC236}">
                  <a16:creationId xmlns:a16="http://schemas.microsoft.com/office/drawing/2014/main" id="{2345ED9D-5413-6F53-8065-03EDDF4E9CC7}"/>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55" name="Group 54">
              <a:extLst>
                <a:ext uri="{FF2B5EF4-FFF2-40B4-BE49-F238E27FC236}">
                  <a16:creationId xmlns:a16="http://schemas.microsoft.com/office/drawing/2014/main" id="{7BFFEA18-D9EC-D99D-6F38-A448BB46E757}"/>
                </a:ext>
              </a:extLst>
            </p:cNvPr>
            <p:cNvGrpSpPr/>
            <p:nvPr/>
          </p:nvGrpSpPr>
          <p:grpSpPr>
            <a:xfrm flipH="1">
              <a:off x="10434823" y="5104139"/>
              <a:ext cx="142595" cy="490604"/>
              <a:chOff x="6320118" y="3683188"/>
              <a:chExt cx="142595" cy="490604"/>
            </a:xfrm>
          </p:grpSpPr>
          <p:cxnSp>
            <p:nvCxnSpPr>
              <p:cNvPr id="56" name="Straight Connector 55">
                <a:extLst>
                  <a:ext uri="{FF2B5EF4-FFF2-40B4-BE49-F238E27FC236}">
                    <a16:creationId xmlns:a16="http://schemas.microsoft.com/office/drawing/2014/main" id="{BA3DEFBF-F1DB-3792-123F-A169149D717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52191179-57F6-7874-B6FB-AFCDB6B3B84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58" name="Group 57">
              <a:extLst>
                <a:ext uri="{FF2B5EF4-FFF2-40B4-BE49-F238E27FC236}">
                  <a16:creationId xmlns:a16="http://schemas.microsoft.com/office/drawing/2014/main" id="{BDEC833D-45AD-23D8-BBEB-9E6484DD8A97}"/>
                </a:ext>
              </a:extLst>
            </p:cNvPr>
            <p:cNvGrpSpPr/>
            <p:nvPr/>
          </p:nvGrpSpPr>
          <p:grpSpPr>
            <a:xfrm flipV="1">
              <a:off x="9271765" y="5580990"/>
              <a:ext cx="142595" cy="490604"/>
              <a:chOff x="6320118" y="3683188"/>
              <a:chExt cx="142595" cy="490604"/>
            </a:xfrm>
          </p:grpSpPr>
          <p:cxnSp>
            <p:nvCxnSpPr>
              <p:cNvPr id="59" name="Straight Connector 58">
                <a:extLst>
                  <a:ext uri="{FF2B5EF4-FFF2-40B4-BE49-F238E27FC236}">
                    <a16:creationId xmlns:a16="http://schemas.microsoft.com/office/drawing/2014/main" id="{10986DD2-75A6-5378-5505-57E52B26019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D05DC4F9-C55F-9072-5048-E9C63393E4F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61" name="TextBox 60">
              <a:extLst>
                <a:ext uri="{FF2B5EF4-FFF2-40B4-BE49-F238E27FC236}">
                  <a16:creationId xmlns:a16="http://schemas.microsoft.com/office/drawing/2014/main" id="{CD815993-6A74-13F5-63E7-F6533C2BFACA}"/>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62" name="TextBox 61">
              <a:extLst>
                <a:ext uri="{FF2B5EF4-FFF2-40B4-BE49-F238E27FC236}">
                  <a16:creationId xmlns:a16="http://schemas.microsoft.com/office/drawing/2014/main" id="{008A7626-5D19-3EFC-2E9F-DDCCFD5179CC}"/>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63" name="TextBox 62">
              <a:extLst>
                <a:ext uri="{FF2B5EF4-FFF2-40B4-BE49-F238E27FC236}">
                  <a16:creationId xmlns:a16="http://schemas.microsoft.com/office/drawing/2014/main" id="{049FF20B-35E3-B32A-0FC5-ECBB7631184C}"/>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64" name="TextBox 63">
              <a:extLst>
                <a:ext uri="{FF2B5EF4-FFF2-40B4-BE49-F238E27FC236}">
                  <a16:creationId xmlns:a16="http://schemas.microsoft.com/office/drawing/2014/main" id="{3A934DE9-F1D0-F21F-52FF-F75B4F6CF95C}"/>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67" name="Rectangle: Rounded Corners 66">
            <a:extLst>
              <a:ext uri="{FF2B5EF4-FFF2-40B4-BE49-F238E27FC236}">
                <a16:creationId xmlns:a16="http://schemas.microsoft.com/office/drawing/2014/main" id="{EACD6F68-AD31-9AE4-F895-581F2A1696C1}"/>
              </a:ext>
            </a:extLst>
          </p:cNvPr>
          <p:cNvSpPr/>
          <p:nvPr/>
        </p:nvSpPr>
        <p:spPr>
          <a:xfrm>
            <a:off x="5417116" y="3426869"/>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TextBox 67">
            <a:extLst>
              <a:ext uri="{FF2B5EF4-FFF2-40B4-BE49-F238E27FC236}">
                <a16:creationId xmlns:a16="http://schemas.microsoft.com/office/drawing/2014/main" id="{A404703D-A5B7-85ED-E03C-28485AC29E4D}"/>
              </a:ext>
            </a:extLst>
          </p:cNvPr>
          <p:cNvSpPr txBox="1"/>
          <p:nvPr/>
        </p:nvSpPr>
        <p:spPr>
          <a:xfrm>
            <a:off x="9463522" y="3435050"/>
            <a:ext cx="1826206" cy="338554"/>
          </a:xfrm>
          <a:prstGeom prst="rect">
            <a:avLst/>
          </a:prstGeom>
          <a:noFill/>
        </p:spPr>
        <p:txBody>
          <a:bodyPr wrap="none" rtlCol="0">
            <a:spAutoFit/>
          </a:bodyPr>
          <a:lstStyle/>
          <a:p>
            <a:r>
              <a:rPr lang="en-US" sz="1600" b="1" dirty="0"/>
              <a:t>Possible Voltages</a:t>
            </a:r>
          </a:p>
        </p:txBody>
      </p:sp>
    </p:spTree>
    <p:extLst>
      <p:ext uri="{BB962C8B-B14F-4D97-AF65-F5344CB8AC3E}">
        <p14:creationId xmlns:p14="http://schemas.microsoft.com/office/powerpoint/2010/main" val="37895606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00598-45B1-B381-FB43-D2AB855ED95E}"/>
              </a:ext>
            </a:extLst>
          </p:cNvPr>
          <p:cNvSpPr>
            <a:spLocks noGrp="1"/>
          </p:cNvSpPr>
          <p:nvPr>
            <p:ph type="title"/>
          </p:nvPr>
        </p:nvSpPr>
        <p:spPr/>
        <p:txBody>
          <a:bodyPr/>
          <a:lstStyle/>
          <a:p>
            <a:r>
              <a:rPr lang="en-US" dirty="0"/>
              <a:t>Duty Cycle Control</a:t>
            </a:r>
          </a:p>
        </p:txBody>
      </p:sp>
      <p:sp>
        <p:nvSpPr>
          <p:cNvPr id="4" name="Text Placeholder 3">
            <a:extLst>
              <a:ext uri="{FF2B5EF4-FFF2-40B4-BE49-F238E27FC236}">
                <a16:creationId xmlns:a16="http://schemas.microsoft.com/office/drawing/2014/main" id="{1FC6BD35-4977-9055-94F0-6AD2C61A87CD}"/>
              </a:ext>
            </a:extLst>
          </p:cNvPr>
          <p:cNvSpPr>
            <a:spLocks noGrp="1"/>
          </p:cNvSpPr>
          <p:nvPr>
            <p:ph type="body" sz="half" idx="2"/>
          </p:nvPr>
        </p:nvSpPr>
        <p:spPr/>
        <p:txBody>
          <a:bodyPr/>
          <a:lstStyle/>
          <a:p>
            <a:r>
              <a:rPr lang="en-US" dirty="0"/>
              <a:t>Half-bridges 1 and 2 are independent</a:t>
            </a:r>
          </a:p>
          <a:p>
            <a:pPr marL="285750" indent="-285750">
              <a:buFont typeface="Arial" panose="020B0604020202020204" pitchFamily="34" charset="0"/>
              <a:buChar char="•"/>
            </a:pPr>
            <a:r>
              <a:rPr lang="en-US" dirty="0"/>
              <a:t>Both high and both low result in 0 voltage across switch nodes</a:t>
            </a:r>
          </a:p>
          <a:p>
            <a:pPr marL="285750" indent="-285750">
              <a:buFont typeface="Arial" panose="020B0604020202020204" pitchFamily="34" charset="0"/>
              <a:buChar char="•"/>
            </a:pPr>
            <a:r>
              <a:rPr lang="en-US" dirty="0"/>
              <a:t>Duty ratios &lt;2.5% and &gt;97.5% are risky because MOSFETs take time to turn on and off</a:t>
            </a:r>
          </a:p>
          <a:p>
            <a:pPr marL="285750" indent="-285750">
              <a:buFont typeface="Arial" panose="020B0604020202020204" pitchFamily="34" charset="0"/>
              <a:buChar char="•"/>
            </a:pPr>
            <a:r>
              <a:rPr lang="en-US" dirty="0"/>
              <a:t>H-bridge topology allows finer control</a:t>
            </a:r>
          </a:p>
          <a:p>
            <a:r>
              <a:rPr lang="en-US" dirty="0"/>
              <a:t>Control scheme shown on right</a:t>
            </a:r>
          </a:p>
          <a:p>
            <a:pPr marL="285750" indent="-285750">
              <a:buFont typeface="Arial" panose="020B0604020202020204" pitchFamily="34" charset="0"/>
              <a:buChar char="•"/>
            </a:pPr>
            <a:r>
              <a:rPr lang="en-US" dirty="0"/>
              <a:t>Duty cycle “seen” across switch nodes labelled as </a:t>
            </a:r>
            <a:r>
              <a:rPr lang="en-US" dirty="0">
                <a:latin typeface="Cambria Math" panose="02040503050406030204" pitchFamily="18" charset="0"/>
                <a:ea typeface="Cambria Math" panose="02040503050406030204" pitchFamily="18" charset="0"/>
              </a:rPr>
              <a:t>M(t)</a:t>
            </a:r>
          </a:p>
        </p:txBody>
      </p:sp>
      <p:sp>
        <p:nvSpPr>
          <p:cNvPr id="10" name="TextBox 9">
            <a:extLst>
              <a:ext uri="{FF2B5EF4-FFF2-40B4-BE49-F238E27FC236}">
                <a16:creationId xmlns:a16="http://schemas.microsoft.com/office/drawing/2014/main" id="{0B80502B-7230-5267-A45B-8DE580568134}"/>
              </a:ext>
            </a:extLst>
          </p:cNvPr>
          <p:cNvSpPr txBox="1"/>
          <p:nvPr/>
        </p:nvSpPr>
        <p:spPr>
          <a:xfrm>
            <a:off x="7634641" y="647941"/>
            <a:ext cx="1470146" cy="646331"/>
          </a:xfrm>
          <a:prstGeom prst="rect">
            <a:avLst/>
          </a:prstGeom>
          <a:noFill/>
        </p:spPr>
        <p:txBody>
          <a:bodyPr wrap="none" rtlCol="0">
            <a:spAutoFit/>
          </a:bodyPr>
          <a:lstStyle/>
          <a:p>
            <a:pPr algn="ctr"/>
            <a:r>
              <a:rPr lang="en-US" dirty="0">
                <a:solidFill>
                  <a:srgbClr val="00B050"/>
                </a:solidFill>
              </a:rPr>
              <a:t>Half-bridge 1</a:t>
            </a:r>
          </a:p>
          <a:p>
            <a:pPr algn="ctr"/>
            <a:r>
              <a:rPr lang="en-US" dirty="0">
                <a:solidFill>
                  <a:srgbClr val="FF0000"/>
                </a:solidFill>
              </a:rPr>
              <a:t>Half-bridge 2</a:t>
            </a:r>
          </a:p>
        </p:txBody>
      </p:sp>
      <p:pic>
        <p:nvPicPr>
          <p:cNvPr id="12" name="Picture 11">
            <a:extLst>
              <a:ext uri="{FF2B5EF4-FFF2-40B4-BE49-F238E27FC236}">
                <a16:creationId xmlns:a16="http://schemas.microsoft.com/office/drawing/2014/main" id="{8384D332-04AA-EBA6-7252-4614FD20DF27}"/>
              </a:ext>
            </a:extLst>
          </p:cNvPr>
          <p:cNvPicPr>
            <a:picLocks noChangeAspect="1"/>
          </p:cNvPicPr>
          <p:nvPr/>
        </p:nvPicPr>
        <p:blipFill>
          <a:blip r:embed="rId2"/>
          <a:srcRect l="-514" t="-685" r="514" b="1376"/>
          <a:stretch>
            <a:fillRect/>
          </a:stretch>
        </p:blipFill>
        <p:spPr>
          <a:xfrm flipH="1">
            <a:off x="6376296" y="1374895"/>
            <a:ext cx="4041935" cy="2054105"/>
          </a:xfrm>
          <a:prstGeom prst="rect">
            <a:avLst/>
          </a:prstGeom>
        </p:spPr>
      </p:pic>
      <p:cxnSp>
        <p:nvCxnSpPr>
          <p:cNvPr id="14" name="Straight Connector 13">
            <a:extLst>
              <a:ext uri="{FF2B5EF4-FFF2-40B4-BE49-F238E27FC236}">
                <a16:creationId xmlns:a16="http://schemas.microsoft.com/office/drawing/2014/main" id="{0A8D96FD-06D4-0D03-C4A6-054A02ECA043}"/>
              </a:ext>
            </a:extLst>
          </p:cNvPr>
          <p:cNvCxnSpPr>
            <a:cxnSpLocks/>
          </p:cNvCxnSpPr>
          <p:nvPr/>
        </p:nvCxnSpPr>
        <p:spPr>
          <a:xfrm>
            <a:off x="8359163" y="1346440"/>
            <a:ext cx="0" cy="208256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DCCBC7C4-5DE6-ACF9-D7FA-3FB735EFFC1F}"/>
              </a:ext>
            </a:extLst>
          </p:cNvPr>
          <p:cNvCxnSpPr/>
          <p:nvPr/>
        </p:nvCxnSpPr>
        <p:spPr>
          <a:xfrm>
            <a:off x="8072967"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F7AF2779-B892-5889-B791-BECC8F4C5E63}"/>
              </a:ext>
            </a:extLst>
          </p:cNvPr>
          <p:cNvCxnSpPr/>
          <p:nvPr/>
        </p:nvCxnSpPr>
        <p:spPr>
          <a:xfrm>
            <a:off x="8369714"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57C417D7-308E-F429-978A-9AAAF0E66C44}"/>
              </a:ext>
            </a:extLst>
          </p:cNvPr>
          <p:cNvSpPr txBox="1"/>
          <p:nvPr/>
        </p:nvSpPr>
        <p:spPr>
          <a:xfrm>
            <a:off x="7609296"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19" name="TextBox 18">
            <a:extLst>
              <a:ext uri="{FF2B5EF4-FFF2-40B4-BE49-F238E27FC236}">
                <a16:creationId xmlns:a16="http://schemas.microsoft.com/office/drawing/2014/main" id="{DC27AF8C-EF12-3353-4845-EE452C456BA0}"/>
              </a:ext>
            </a:extLst>
          </p:cNvPr>
          <p:cNvSpPr txBox="1"/>
          <p:nvPr/>
        </p:nvSpPr>
        <p:spPr>
          <a:xfrm>
            <a:off x="8376510"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20" name="TextBox 19">
            <a:extLst>
              <a:ext uri="{FF2B5EF4-FFF2-40B4-BE49-F238E27FC236}">
                <a16:creationId xmlns:a16="http://schemas.microsoft.com/office/drawing/2014/main" id="{44FFDF89-C29A-0C61-0D3A-19E3C092C549}"/>
              </a:ext>
            </a:extLst>
          </p:cNvPr>
          <p:cNvSpPr txBox="1"/>
          <p:nvPr/>
        </p:nvSpPr>
        <p:spPr>
          <a:xfrm>
            <a:off x="6750728" y="3672632"/>
            <a:ext cx="3231590" cy="369332"/>
          </a:xfrm>
          <a:prstGeom prst="rect">
            <a:avLst/>
          </a:prstGeom>
          <a:noFill/>
        </p:spPr>
        <p:txBody>
          <a:bodyPr wrap="none" rtlCol="0">
            <a:spAutoFit/>
          </a:bodyPr>
          <a:lstStyle/>
          <a:p>
            <a:pPr algn="ctr"/>
            <a:r>
              <a:rPr lang="en-US" dirty="0"/>
              <a:t>Halfway point (50% duty cycle)</a:t>
            </a:r>
          </a:p>
        </p:txBody>
      </p:sp>
      <p:cxnSp>
        <p:nvCxnSpPr>
          <p:cNvPr id="22" name="Straight Arrow Connector 21">
            <a:extLst>
              <a:ext uri="{FF2B5EF4-FFF2-40B4-BE49-F238E27FC236}">
                <a16:creationId xmlns:a16="http://schemas.microsoft.com/office/drawing/2014/main" id="{BBB9078E-96E0-22B3-3796-BD6D983CAD90}"/>
              </a:ext>
            </a:extLst>
          </p:cNvPr>
          <p:cNvCxnSpPr>
            <a:stCxn id="20" idx="0"/>
          </p:cNvCxnSpPr>
          <p:nvPr/>
        </p:nvCxnSpPr>
        <p:spPr>
          <a:xfrm flipV="1">
            <a:off x="8366523" y="3481168"/>
            <a:ext cx="3191" cy="19146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B1818B73-AD0D-7A92-AD7E-8F30EB6501EE}"/>
              </a:ext>
            </a:extLst>
          </p:cNvPr>
          <p:cNvSpPr txBox="1"/>
          <p:nvPr/>
        </p:nvSpPr>
        <p:spPr>
          <a:xfrm>
            <a:off x="6087016" y="4233428"/>
            <a:ext cx="4620497" cy="923330"/>
          </a:xfrm>
          <a:prstGeom prst="rect">
            <a:avLst/>
          </a:prstGeom>
          <a:noFill/>
        </p:spPr>
        <p:txBody>
          <a:bodyPr wrap="none" rtlCol="0">
            <a:spAutoFit/>
          </a:bodyPr>
          <a:lstStyle/>
          <a:p>
            <a:pPr algn="ctr"/>
            <a:r>
              <a:rPr lang="en-US" dirty="0"/>
              <a:t>Half-bridge 1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t>Half-bridge 2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ea typeface="Cambria Math" panose="02040503050406030204" pitchFamily="18" charset="0"/>
              </a:rPr>
              <a:t>Duty cycle “seen” by inductive tank: </a:t>
            </a:r>
            <a:r>
              <a:rPr lang="en-US" dirty="0">
                <a:latin typeface="Cambria Math" panose="02040503050406030204" pitchFamily="18" charset="0"/>
                <a:ea typeface="Cambria Math" panose="02040503050406030204" pitchFamily="18" charset="0"/>
              </a:rPr>
              <a:t>2*d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3" name="Rectangle: Rounded Corners 2">
            <a:extLst>
              <a:ext uri="{FF2B5EF4-FFF2-40B4-BE49-F238E27FC236}">
                <a16:creationId xmlns:a16="http://schemas.microsoft.com/office/drawing/2014/main" id="{63BD2BD6-3839-DBA1-A1D3-8FE924880947}"/>
              </a:ext>
            </a:extLst>
          </p:cNvPr>
          <p:cNvSpPr/>
          <p:nvPr/>
        </p:nvSpPr>
        <p:spPr>
          <a:xfrm>
            <a:off x="5670176" y="416515"/>
            <a:ext cx="5328024" cy="36579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D654266-2F06-EED9-D8E6-BF96EBFA83CF}"/>
              </a:ext>
            </a:extLst>
          </p:cNvPr>
          <p:cNvSpPr txBox="1"/>
          <p:nvPr/>
        </p:nvSpPr>
        <p:spPr>
          <a:xfrm>
            <a:off x="9452287" y="424696"/>
            <a:ext cx="1568058" cy="338554"/>
          </a:xfrm>
          <a:prstGeom prst="rect">
            <a:avLst/>
          </a:prstGeom>
          <a:noFill/>
        </p:spPr>
        <p:txBody>
          <a:bodyPr wrap="none" rtlCol="0">
            <a:spAutoFit/>
          </a:bodyPr>
          <a:lstStyle/>
          <a:p>
            <a:pPr algn="r"/>
            <a:r>
              <a:rPr lang="en-US" sz="1600" b="1" dirty="0"/>
              <a:t>Scope Reading</a:t>
            </a:r>
          </a:p>
        </p:txBody>
      </p:sp>
    </p:spTree>
    <p:extLst>
      <p:ext uri="{BB962C8B-B14F-4D97-AF65-F5344CB8AC3E}">
        <p14:creationId xmlns:p14="http://schemas.microsoft.com/office/powerpoint/2010/main" val="36622442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734B7-8CDD-AC44-5768-587FD109C7EA}"/>
              </a:ext>
            </a:extLst>
          </p:cNvPr>
          <p:cNvSpPr>
            <a:spLocks noGrp="1"/>
          </p:cNvSpPr>
          <p:nvPr>
            <p:ph type="title"/>
          </p:nvPr>
        </p:nvSpPr>
        <p:spPr/>
        <p:txBody>
          <a:bodyPr/>
          <a:lstStyle/>
          <a:p>
            <a:r>
              <a:rPr lang="en-US" dirty="0"/>
              <a:t>Transformer Equivalent</a:t>
            </a:r>
          </a:p>
        </p:txBody>
      </p:sp>
      <p:sp>
        <p:nvSpPr>
          <p:cNvPr id="4" name="Text Placeholder 3">
            <a:extLst>
              <a:ext uri="{FF2B5EF4-FFF2-40B4-BE49-F238E27FC236}">
                <a16:creationId xmlns:a16="http://schemas.microsoft.com/office/drawing/2014/main" id="{C5AACA2F-657F-8F9E-37C1-789E0A2980A2}"/>
              </a:ext>
            </a:extLst>
          </p:cNvPr>
          <p:cNvSpPr>
            <a:spLocks noGrp="1"/>
          </p:cNvSpPr>
          <p:nvPr>
            <p:ph type="body" sz="half" idx="2"/>
          </p:nvPr>
        </p:nvSpPr>
        <p:spPr/>
        <p:txBody>
          <a:bodyPr/>
          <a:lstStyle/>
          <a:p>
            <a:r>
              <a:rPr lang="en-US" dirty="0"/>
              <a:t>Use SRA analysis and derive KCL- and KVL-like equations</a:t>
            </a:r>
          </a:p>
          <a:p>
            <a:pPr marL="285750" indent="-285750">
              <a:buFont typeface="Arial" panose="020B0604020202020204" pitchFamily="34" charset="0"/>
              <a:buChar char="•"/>
            </a:pPr>
            <a:r>
              <a:rPr lang="en-US" dirty="0"/>
              <a:t>Convert into loops and create ideal transformer model of circuit with gain </a:t>
            </a:r>
            <a:r>
              <a:rPr lang="en-US" dirty="0">
                <a:latin typeface="Cambria Math" panose="02040503050406030204" pitchFamily="18" charset="0"/>
                <a:ea typeface="Cambria Math" panose="02040503050406030204" pitchFamily="18" charset="0"/>
              </a:rPr>
              <a:t>1:M(t)</a:t>
            </a:r>
          </a:p>
          <a:p>
            <a:pPr marL="285750" indent="-285750">
              <a:buFont typeface="Arial" panose="020B0604020202020204" pitchFamily="34" charset="0"/>
              <a:buChar char="•"/>
            </a:pPr>
            <a:r>
              <a:rPr lang="en-US" dirty="0">
                <a:ea typeface="Cambria Math" panose="02040503050406030204" pitchFamily="18" charset="0"/>
              </a:rPr>
              <a:t>Transformer model will be useful for reflection math tricks</a:t>
            </a:r>
          </a:p>
        </p:txBody>
      </p:sp>
      <p:pic>
        <p:nvPicPr>
          <p:cNvPr id="6" name="Picture 5">
            <a:extLst>
              <a:ext uri="{FF2B5EF4-FFF2-40B4-BE49-F238E27FC236}">
                <a16:creationId xmlns:a16="http://schemas.microsoft.com/office/drawing/2014/main" id="{61B9D04C-332B-B4D9-A43C-5CF0075FB79C}"/>
              </a:ext>
            </a:extLst>
          </p:cNvPr>
          <p:cNvPicPr>
            <a:picLocks noChangeAspect="1"/>
          </p:cNvPicPr>
          <p:nvPr/>
        </p:nvPicPr>
        <p:blipFill>
          <a:blip r:embed="rId2"/>
          <a:stretch>
            <a:fillRect/>
          </a:stretch>
        </p:blipFill>
        <p:spPr>
          <a:xfrm>
            <a:off x="6018306" y="1388615"/>
            <a:ext cx="5173845" cy="1790575"/>
          </a:xfrm>
          <a:prstGeom prst="rect">
            <a:avLst/>
          </a:prstGeom>
        </p:spPr>
      </p:pic>
      <p:pic>
        <p:nvPicPr>
          <p:cNvPr id="8" name="Picture 7">
            <a:extLst>
              <a:ext uri="{FF2B5EF4-FFF2-40B4-BE49-F238E27FC236}">
                <a16:creationId xmlns:a16="http://schemas.microsoft.com/office/drawing/2014/main" id="{B239EB99-9A3F-FC2F-4327-A2119B2B4C8A}"/>
              </a:ext>
            </a:extLst>
          </p:cNvPr>
          <p:cNvPicPr>
            <a:picLocks noChangeAspect="1"/>
          </p:cNvPicPr>
          <p:nvPr/>
        </p:nvPicPr>
        <p:blipFill>
          <a:blip r:embed="rId3"/>
          <a:stretch>
            <a:fillRect/>
          </a:stretch>
        </p:blipFill>
        <p:spPr>
          <a:xfrm>
            <a:off x="5892729" y="4089616"/>
            <a:ext cx="5299422" cy="1536471"/>
          </a:xfrm>
          <a:prstGeom prst="rect">
            <a:avLst/>
          </a:prstGeom>
        </p:spPr>
      </p:pic>
      <p:sp>
        <p:nvSpPr>
          <p:cNvPr id="3" name="Rectangle: Rounded Corners 2">
            <a:extLst>
              <a:ext uri="{FF2B5EF4-FFF2-40B4-BE49-F238E27FC236}">
                <a16:creationId xmlns:a16="http://schemas.microsoft.com/office/drawing/2014/main" id="{105D18A0-60F6-5F5F-507E-C0F51B01B4CF}"/>
              </a:ext>
            </a:extLst>
          </p:cNvPr>
          <p:cNvSpPr/>
          <p:nvPr/>
        </p:nvSpPr>
        <p:spPr>
          <a:xfrm>
            <a:off x="5842932" y="914367"/>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BEC40E1-B838-D902-AADC-E27EAE8637AE}"/>
              </a:ext>
            </a:extLst>
          </p:cNvPr>
          <p:cNvSpPr txBox="1"/>
          <p:nvPr/>
        </p:nvSpPr>
        <p:spPr>
          <a:xfrm>
            <a:off x="9025290" y="922547"/>
            <a:ext cx="2452018" cy="338554"/>
          </a:xfrm>
          <a:prstGeom prst="rect">
            <a:avLst/>
          </a:prstGeom>
          <a:noFill/>
        </p:spPr>
        <p:txBody>
          <a:bodyPr wrap="none" rtlCol="0">
            <a:spAutoFit/>
          </a:bodyPr>
          <a:lstStyle/>
          <a:p>
            <a:pPr algn="r"/>
            <a:r>
              <a:rPr lang="en-US" sz="1600" b="1" dirty="0"/>
              <a:t>Ideal Transformer Model</a:t>
            </a:r>
          </a:p>
        </p:txBody>
      </p:sp>
      <p:sp>
        <p:nvSpPr>
          <p:cNvPr id="7" name="Rectangle: Rounded Corners 6">
            <a:extLst>
              <a:ext uri="{FF2B5EF4-FFF2-40B4-BE49-F238E27FC236}">
                <a16:creationId xmlns:a16="http://schemas.microsoft.com/office/drawing/2014/main" id="{04BBEA23-98F6-381D-49D5-B9F521AE7262}"/>
              </a:ext>
            </a:extLst>
          </p:cNvPr>
          <p:cNvSpPr/>
          <p:nvPr/>
        </p:nvSpPr>
        <p:spPr>
          <a:xfrm>
            <a:off x="5842932" y="3696715"/>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E3E9094-3426-7339-42B1-2552156A9C4B}"/>
              </a:ext>
            </a:extLst>
          </p:cNvPr>
          <p:cNvSpPr txBox="1"/>
          <p:nvPr/>
        </p:nvSpPr>
        <p:spPr>
          <a:xfrm>
            <a:off x="8478089" y="3704895"/>
            <a:ext cx="2999219" cy="338554"/>
          </a:xfrm>
          <a:prstGeom prst="rect">
            <a:avLst/>
          </a:prstGeom>
          <a:noFill/>
        </p:spPr>
        <p:txBody>
          <a:bodyPr wrap="none" rtlCol="0">
            <a:spAutoFit/>
          </a:bodyPr>
          <a:lstStyle/>
          <a:p>
            <a:pPr algn="r"/>
            <a:r>
              <a:rPr lang="en-US" sz="1600" b="1" dirty="0"/>
              <a:t>Voltage/Current Source Model</a:t>
            </a:r>
          </a:p>
        </p:txBody>
      </p:sp>
      <p:graphicFrame>
        <p:nvGraphicFramePr>
          <p:cNvPr id="10" name="Object 9">
            <a:extLst>
              <a:ext uri="{FF2B5EF4-FFF2-40B4-BE49-F238E27FC236}">
                <a16:creationId xmlns:a16="http://schemas.microsoft.com/office/drawing/2014/main" id="{1560186C-8A67-3086-4138-91BD34B6C9CD}"/>
              </a:ext>
            </a:extLst>
          </p:cNvPr>
          <p:cNvGraphicFramePr>
            <a:graphicFrameLocks noChangeAspect="1"/>
          </p:cNvGraphicFramePr>
          <p:nvPr>
            <p:extLst>
              <p:ext uri="{D42A27DB-BD31-4B8C-83A1-F6EECF244321}">
                <p14:modId xmlns:p14="http://schemas.microsoft.com/office/powerpoint/2010/main" val="866045523"/>
              </p:ext>
            </p:extLst>
          </p:nvPr>
        </p:nvGraphicFramePr>
        <p:xfrm>
          <a:off x="995363" y="4343400"/>
          <a:ext cx="3621087" cy="868363"/>
        </p:xfrm>
        <a:graphic>
          <a:graphicData uri="http://schemas.openxmlformats.org/presentationml/2006/ole">
            <mc:AlternateContent xmlns:mc="http://schemas.openxmlformats.org/markup-compatibility/2006">
              <mc:Choice xmlns:v="urn:schemas-microsoft-com:vml" Requires="v">
                <p:oleObj name="Packager Shell Object" showAsIcon="1" r:id="rId4" imgW="2267280" imgH="542160" progId="Package">
                  <p:embed/>
                </p:oleObj>
              </mc:Choice>
              <mc:Fallback>
                <p:oleObj name="Packager Shell Object" showAsIcon="1" r:id="rId4" imgW="2267280" imgH="542160" progId="Package">
                  <p:embed/>
                  <p:pic>
                    <p:nvPicPr>
                      <p:cNvPr id="10" name="Object 9">
                        <a:extLst>
                          <a:ext uri="{FF2B5EF4-FFF2-40B4-BE49-F238E27FC236}">
                            <a16:creationId xmlns:a16="http://schemas.microsoft.com/office/drawing/2014/main" id="{1560186C-8A67-3086-4138-91BD34B6C9CD}"/>
                          </a:ext>
                        </a:extLst>
                      </p:cNvPr>
                      <p:cNvPicPr/>
                      <p:nvPr/>
                    </p:nvPicPr>
                    <p:blipFill>
                      <a:blip r:embed="rId5"/>
                      <a:stretch>
                        <a:fillRect/>
                      </a:stretch>
                    </p:blipFill>
                    <p:spPr>
                      <a:xfrm>
                        <a:off x="995363" y="4343400"/>
                        <a:ext cx="3621087" cy="868363"/>
                      </a:xfrm>
                      <a:prstGeom prst="rect">
                        <a:avLst/>
                      </a:prstGeom>
                      <a:solidFill>
                        <a:schemeClr val="tx1"/>
                      </a:solidFill>
                    </p:spPr>
                  </p:pic>
                </p:oleObj>
              </mc:Fallback>
            </mc:AlternateContent>
          </a:graphicData>
        </a:graphic>
      </p:graphicFrame>
      <p:cxnSp>
        <p:nvCxnSpPr>
          <p:cNvPr id="12" name="Straight Arrow Connector 11">
            <a:extLst>
              <a:ext uri="{FF2B5EF4-FFF2-40B4-BE49-F238E27FC236}">
                <a16:creationId xmlns:a16="http://schemas.microsoft.com/office/drawing/2014/main" id="{A1214E82-520D-662C-8CFB-4799E01F806E}"/>
              </a:ext>
            </a:extLst>
          </p:cNvPr>
          <p:cNvCxnSpPr/>
          <p:nvPr/>
        </p:nvCxnSpPr>
        <p:spPr>
          <a:xfrm>
            <a:off x="2805906" y="3963194"/>
            <a:ext cx="0" cy="31753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F9D3EF73-7794-51D2-F203-EEC3543BE6C9}"/>
              </a:ext>
            </a:extLst>
          </p:cNvPr>
          <p:cNvSpPr txBox="1"/>
          <p:nvPr/>
        </p:nvSpPr>
        <p:spPr>
          <a:xfrm>
            <a:off x="1080914" y="5198466"/>
            <a:ext cx="3449983" cy="261610"/>
          </a:xfrm>
          <a:prstGeom prst="rect">
            <a:avLst/>
          </a:prstGeom>
          <a:noFill/>
        </p:spPr>
        <p:txBody>
          <a:bodyPr wrap="none" rtlCol="0">
            <a:spAutoFit/>
          </a:bodyPr>
          <a:lstStyle/>
          <a:p>
            <a:pPr algn="ctr"/>
            <a:r>
              <a:rPr lang="en-US" sz="1100" dirty="0"/>
              <a:t>read it if you don’t know what transformer reflection is</a:t>
            </a:r>
          </a:p>
        </p:txBody>
      </p:sp>
    </p:spTree>
    <p:extLst>
      <p:ext uri="{BB962C8B-B14F-4D97-AF65-F5344CB8AC3E}">
        <p14:creationId xmlns:p14="http://schemas.microsoft.com/office/powerpoint/2010/main" val="33222984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F08C0-4C31-3258-538C-87F883D9B692}"/>
              </a:ext>
            </a:extLst>
          </p:cNvPr>
          <p:cNvSpPr>
            <a:spLocks noGrp="1"/>
          </p:cNvSpPr>
          <p:nvPr>
            <p:ph type="title"/>
          </p:nvPr>
        </p:nvSpPr>
        <p:spPr/>
        <p:txBody>
          <a:bodyPr/>
          <a:lstStyle/>
          <a:p>
            <a:r>
              <a:rPr lang="en-US" dirty="0"/>
              <a:t>Capacitor Feed-Forward Correction</a:t>
            </a:r>
          </a:p>
        </p:txBody>
      </p:sp>
      <p:sp>
        <p:nvSpPr>
          <p:cNvPr id="4" name="Text Placeholder 3">
            <a:extLst>
              <a:ext uri="{FF2B5EF4-FFF2-40B4-BE49-F238E27FC236}">
                <a16:creationId xmlns:a16="http://schemas.microsoft.com/office/drawing/2014/main" id="{C7B7F404-C6A8-F55C-599B-D49A63D125B6}"/>
              </a:ext>
            </a:extLst>
          </p:cNvPr>
          <p:cNvSpPr>
            <a:spLocks noGrp="1"/>
          </p:cNvSpPr>
          <p:nvPr>
            <p:ph type="body" sz="half" idx="2"/>
          </p:nvPr>
        </p:nvSpPr>
        <p:spPr>
          <a:xfrm>
            <a:off x="839788" y="2057400"/>
            <a:ext cx="3932237" cy="4343400"/>
          </a:xfrm>
        </p:spPr>
        <p:txBody>
          <a:bodyPr>
            <a:normAutofit/>
          </a:bodyPr>
          <a:lstStyle/>
          <a:p>
            <a:r>
              <a:rPr lang="en-US" dirty="0"/>
              <a:t>Split the voltage source on the right into a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component and remainder</a:t>
            </a:r>
          </a:p>
          <a:p>
            <a:pPr marL="285750" indent="-285750">
              <a:buFont typeface="Arial" panose="020B0604020202020204" pitchFamily="34" charset="0"/>
              <a:buChar char="•"/>
            </a:pPr>
            <a:r>
              <a:rPr lang="en-US" dirty="0"/>
              <a:t>Remainder voltage has to be equal to voltage across RL branch</a:t>
            </a:r>
          </a:p>
          <a:p>
            <a:pPr marL="285750" indent="-285750">
              <a:buFont typeface="Arial" panose="020B0604020202020204" pitchFamily="34" charset="0"/>
              <a:buChar char="•"/>
            </a:pPr>
            <a:r>
              <a:rPr lang="en-US" dirty="0"/>
              <a:t>Current is conserved - take note of the current/voltage behavior of the transformer</a:t>
            </a:r>
          </a:p>
          <a:p>
            <a:r>
              <a:rPr lang="en-US" dirty="0"/>
              <a:t>“Cut out” the capacitor and focus on the RL branch</a:t>
            </a:r>
          </a:p>
          <a:p>
            <a:pPr marL="285750" indent="-285750">
              <a:buFont typeface="Arial" panose="020B0604020202020204" pitchFamily="34" charset="0"/>
              <a:buChar char="•"/>
            </a:pPr>
            <a:r>
              <a:rPr lang="en-US" dirty="0"/>
              <a:t>Even though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is time-variant, it changes very slowly and can be treated as constant </a:t>
            </a:r>
          </a:p>
          <a:p>
            <a:pPr marL="285750" indent="-285750">
              <a:buFont typeface="Arial" panose="020B0604020202020204" pitchFamily="34" charset="0"/>
              <a:buChar char="•"/>
            </a:pPr>
            <a:r>
              <a:rPr lang="en-US" dirty="0"/>
              <a:t>Remember to adjust the voltage source on the left side to compensate – reflect the new voltage source by dividing by </a:t>
            </a:r>
            <a:r>
              <a:rPr lang="en-US" dirty="0">
                <a:latin typeface="Cambria Math" panose="02040503050406030204" pitchFamily="18" charset="0"/>
                <a:ea typeface="Cambria Math" panose="02040503050406030204" pitchFamily="18" charset="0"/>
              </a:rPr>
              <a:t>M(t)</a:t>
            </a:r>
          </a:p>
        </p:txBody>
      </p:sp>
      <p:grpSp>
        <p:nvGrpSpPr>
          <p:cNvPr id="3" name="Group 2">
            <a:extLst>
              <a:ext uri="{FF2B5EF4-FFF2-40B4-BE49-F238E27FC236}">
                <a16:creationId xmlns:a16="http://schemas.microsoft.com/office/drawing/2014/main" id="{2C2CCF52-D12D-0A2C-D980-D51AA12060D7}"/>
              </a:ext>
            </a:extLst>
          </p:cNvPr>
          <p:cNvGrpSpPr/>
          <p:nvPr/>
        </p:nvGrpSpPr>
        <p:grpSpPr>
          <a:xfrm>
            <a:off x="5791794" y="457200"/>
            <a:ext cx="5524048" cy="3167953"/>
            <a:chOff x="5406297" y="582993"/>
            <a:chExt cx="5945915" cy="3409887"/>
          </a:xfrm>
        </p:grpSpPr>
        <p:pic>
          <p:nvPicPr>
            <p:cNvPr id="6" name="Picture 5">
              <a:extLst>
                <a:ext uri="{FF2B5EF4-FFF2-40B4-BE49-F238E27FC236}">
                  <a16:creationId xmlns:a16="http://schemas.microsoft.com/office/drawing/2014/main" id="{D518150B-BDB1-3F15-A03A-6552D64AF02A}"/>
                </a:ext>
              </a:extLst>
            </p:cNvPr>
            <p:cNvPicPr>
              <a:picLocks noChangeAspect="1"/>
            </p:cNvPicPr>
            <p:nvPr/>
          </p:nvPicPr>
          <p:blipFill>
            <a:blip r:embed="rId2"/>
            <a:stretch>
              <a:fillRect/>
            </a:stretch>
          </p:blipFill>
          <p:spPr>
            <a:xfrm>
              <a:off x="5406297" y="582993"/>
              <a:ext cx="5945915" cy="3409887"/>
            </a:xfrm>
            <a:prstGeom prst="rect">
              <a:avLst/>
            </a:prstGeom>
          </p:spPr>
        </p:pic>
        <p:cxnSp>
          <p:nvCxnSpPr>
            <p:cNvPr id="8" name="Straight Connector 7">
              <a:extLst>
                <a:ext uri="{FF2B5EF4-FFF2-40B4-BE49-F238E27FC236}">
                  <a16:creationId xmlns:a16="http://schemas.microsoft.com/office/drawing/2014/main" id="{10EA1A0A-2DAA-6803-A020-E8C088E2DC6D}"/>
                </a:ext>
              </a:extLst>
            </p:cNvPr>
            <p:cNvCxnSpPr/>
            <p:nvPr/>
          </p:nvCxnSpPr>
          <p:spPr>
            <a:xfrm>
              <a:off x="8379254" y="2834640"/>
              <a:ext cx="2034746" cy="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grpSp>
      <p:pic>
        <p:nvPicPr>
          <p:cNvPr id="7" name="Picture 6">
            <a:extLst>
              <a:ext uri="{FF2B5EF4-FFF2-40B4-BE49-F238E27FC236}">
                <a16:creationId xmlns:a16="http://schemas.microsoft.com/office/drawing/2014/main" id="{9005B2B9-8D07-B441-3F0D-FAF6AD16676C}"/>
              </a:ext>
            </a:extLst>
          </p:cNvPr>
          <p:cNvPicPr>
            <a:picLocks noChangeAspect="1"/>
          </p:cNvPicPr>
          <p:nvPr/>
        </p:nvPicPr>
        <p:blipFill>
          <a:blip r:embed="rId3"/>
          <a:stretch>
            <a:fillRect/>
          </a:stretch>
        </p:blipFill>
        <p:spPr>
          <a:xfrm>
            <a:off x="5232950" y="4095356"/>
            <a:ext cx="6550895" cy="2220800"/>
          </a:xfrm>
          <a:prstGeom prst="rect">
            <a:avLst/>
          </a:prstGeom>
        </p:spPr>
      </p:pic>
      <p:sp>
        <p:nvSpPr>
          <p:cNvPr id="9" name="Rectangle: Rounded Corners 8">
            <a:extLst>
              <a:ext uri="{FF2B5EF4-FFF2-40B4-BE49-F238E27FC236}">
                <a16:creationId xmlns:a16="http://schemas.microsoft.com/office/drawing/2014/main" id="{88DB7471-9C8F-B202-122F-96E0424F4E96}"/>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F7B6E84-AAAA-078C-3ED6-4D309500C030}"/>
              </a:ext>
            </a:extLst>
          </p:cNvPr>
          <p:cNvSpPr txBox="1"/>
          <p:nvPr/>
        </p:nvSpPr>
        <p:spPr>
          <a:xfrm>
            <a:off x="9855336" y="215829"/>
            <a:ext cx="1989648" cy="338554"/>
          </a:xfrm>
          <a:prstGeom prst="rect">
            <a:avLst/>
          </a:prstGeom>
          <a:noFill/>
        </p:spPr>
        <p:txBody>
          <a:bodyPr wrap="none" rtlCol="0">
            <a:spAutoFit/>
          </a:bodyPr>
          <a:lstStyle/>
          <a:p>
            <a:pPr algn="r"/>
            <a:r>
              <a:rPr lang="en-US" sz="1600" b="1" dirty="0"/>
              <a:t>Separated Voltages</a:t>
            </a:r>
          </a:p>
        </p:txBody>
      </p:sp>
      <p:sp>
        <p:nvSpPr>
          <p:cNvPr id="11" name="Rectangle: Rounded Corners 10">
            <a:extLst>
              <a:ext uri="{FF2B5EF4-FFF2-40B4-BE49-F238E27FC236}">
                <a16:creationId xmlns:a16="http://schemas.microsoft.com/office/drawing/2014/main" id="{5D770D94-A1A9-31C0-8865-C42439C8FDC9}"/>
              </a:ext>
            </a:extLst>
          </p:cNvPr>
          <p:cNvSpPr/>
          <p:nvPr/>
        </p:nvSpPr>
        <p:spPr>
          <a:xfrm>
            <a:off x="5171813" y="3769342"/>
            <a:ext cx="6673171" cy="287282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1A7BA290-B7FD-C284-4F5B-67DCE066346A}"/>
              </a:ext>
            </a:extLst>
          </p:cNvPr>
          <p:cNvSpPr txBox="1"/>
          <p:nvPr/>
        </p:nvSpPr>
        <p:spPr>
          <a:xfrm>
            <a:off x="9918238" y="3760662"/>
            <a:ext cx="1926746" cy="338554"/>
          </a:xfrm>
          <a:prstGeom prst="rect">
            <a:avLst/>
          </a:prstGeom>
          <a:noFill/>
        </p:spPr>
        <p:txBody>
          <a:bodyPr wrap="none" rtlCol="0">
            <a:spAutoFit/>
          </a:bodyPr>
          <a:lstStyle/>
          <a:p>
            <a:pPr algn="r"/>
            <a:r>
              <a:rPr lang="en-US" sz="1600" b="1" dirty="0"/>
              <a:t>Isolated RL Branch</a:t>
            </a:r>
          </a:p>
        </p:txBody>
      </p:sp>
    </p:spTree>
    <p:extLst>
      <p:ext uri="{BB962C8B-B14F-4D97-AF65-F5344CB8AC3E}">
        <p14:creationId xmlns:p14="http://schemas.microsoft.com/office/powerpoint/2010/main" val="37810209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34E1FD39-11C5-9B6F-70C7-3A17F073DED8}"/>
              </a:ext>
            </a:extLst>
          </p:cNvPr>
          <p:cNvPicPr>
            <a:picLocks noChangeAspect="1"/>
          </p:cNvPicPr>
          <p:nvPr/>
        </p:nvPicPr>
        <p:blipFill>
          <a:blip r:embed="rId2"/>
          <a:stretch>
            <a:fillRect/>
          </a:stretch>
        </p:blipFill>
        <p:spPr>
          <a:xfrm>
            <a:off x="6259586" y="1562990"/>
            <a:ext cx="5229043" cy="3921782"/>
          </a:xfrm>
          <a:prstGeom prst="rect">
            <a:avLst/>
          </a:prstGeom>
        </p:spPr>
      </p:pic>
      <p:sp>
        <p:nvSpPr>
          <p:cNvPr id="2" name="Title 1">
            <a:extLst>
              <a:ext uri="{FF2B5EF4-FFF2-40B4-BE49-F238E27FC236}">
                <a16:creationId xmlns:a16="http://schemas.microsoft.com/office/drawing/2014/main" id="{673E8E06-740A-C6E4-702F-64A1F883D336}"/>
              </a:ext>
            </a:extLst>
          </p:cNvPr>
          <p:cNvSpPr>
            <a:spLocks noGrp="1"/>
          </p:cNvSpPr>
          <p:nvPr>
            <p:ph type="title"/>
          </p:nvPr>
        </p:nvSpPr>
        <p:spPr/>
        <p:txBody>
          <a:bodyPr/>
          <a:lstStyle/>
          <a:p>
            <a:r>
              <a:rPr lang="en-US" dirty="0"/>
              <a:t>Battery Current Reflection</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A5CAC862-1F56-86C6-B4FB-147A5A556A64}"/>
                  </a:ext>
                </a:extLst>
              </p:cNvPr>
              <p:cNvSpPr>
                <a:spLocks noGrp="1"/>
              </p:cNvSpPr>
              <p:nvPr>
                <p:ph type="body" sz="half" idx="2"/>
              </p:nvPr>
            </p:nvSpPr>
            <p:spPr>
              <a:xfrm>
                <a:off x="839788" y="2057400"/>
                <a:ext cx="4768252" cy="3811588"/>
              </a:xfrm>
            </p:spPr>
            <p:txBody>
              <a:bodyPr/>
              <a:lstStyle/>
              <a:p>
                <a:r>
                  <a:rPr lang="en-US" dirty="0"/>
                  <a:t>Reflect the voltage source across the transformer</a:t>
                </a:r>
              </a:p>
              <a:p>
                <a:pPr marL="285750" indent="-285750">
                  <a:buFont typeface="Arial" panose="020B0604020202020204" pitchFamily="34" charset="0"/>
                  <a:buChar char="•"/>
                </a:pPr>
                <a:r>
                  <a:rPr lang="en-US" dirty="0"/>
                  <a:t>In previous diagram, this is basically already done</a:t>
                </a:r>
              </a:p>
              <a:p>
                <a:pPr marL="285750" indent="-285750">
                  <a:buFont typeface="Arial" panose="020B0604020202020204" pitchFamily="34" charset="0"/>
                  <a:buChar char="•"/>
                </a:pPr>
                <a:r>
                  <a:rPr lang="en-US" dirty="0"/>
                  <a:t>Battery current needs to be scaled by turns ratio</a:t>
                </a:r>
              </a:p>
              <a:p>
                <a:r>
                  <a:rPr lang="en-US" b="1" dirty="0"/>
                  <a:t>We have our toy model!</a:t>
                </a:r>
              </a:p>
              <a:p>
                <a:r>
                  <a:rPr lang="en-US" dirty="0"/>
                  <a:t>Write the KVL equation*:</a:t>
                </a:r>
              </a:p>
              <a:p>
                <a:endParaRPr lang="en-US"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endParaRPr lang="en-US" dirty="0"/>
              </a:p>
              <a:p>
                <a:r>
                  <a:rPr lang="en-US" sz="800" dirty="0"/>
                  <a:t>*before you ask, yes, this calculation ignores the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𝑑𝑀</m:t>
                        </m:r>
                        <m:r>
                          <a:rPr lang="en-US" sz="800" i="1">
                            <a:latin typeface="Cambria Math" panose="02040503050406030204" pitchFamily="18" charset="0"/>
                          </a:rPr>
                          <m:t>(</m:t>
                        </m:r>
                        <m:r>
                          <a:rPr lang="en-US" sz="800" i="1">
                            <a:latin typeface="Cambria Math" panose="02040503050406030204" pitchFamily="18" charset="0"/>
                          </a:rPr>
                          <m:t>𝑡</m:t>
                        </m:r>
                        <m:r>
                          <a:rPr lang="en-US" sz="800" i="1">
                            <a:latin typeface="Cambria Math" panose="02040503050406030204" pitchFamily="18" charset="0"/>
                          </a:rPr>
                          <m:t>)</m:t>
                        </m:r>
                      </m:num>
                      <m:den>
                        <m:r>
                          <a:rPr lang="en-US" sz="800" i="1">
                            <a:latin typeface="Cambria Math" panose="02040503050406030204" pitchFamily="18" charset="0"/>
                          </a:rPr>
                          <m:t>𝑑𝑡</m:t>
                        </m:r>
                      </m:den>
                    </m:f>
                  </m:oMath>
                </a14:m>
                <a:r>
                  <a:rPr lang="en-US" sz="800" dirty="0"/>
                  <a:t> term that appears when doing the product rule for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m:t>
                        </m:r>
                      </m:num>
                      <m:den>
                        <m:r>
                          <a:rPr lang="en-US" sz="800" i="1">
                            <a:latin typeface="Cambria Math" panose="02040503050406030204" pitchFamily="18" charset="0"/>
                          </a:rPr>
                          <m:t>𝑑𝑡</m:t>
                        </m:r>
                      </m:den>
                    </m:f>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𝐼</m:t>
                        </m:r>
                      </m:e>
                      <m:sub>
                        <m:r>
                          <a:rPr lang="en-US" sz="800" b="0" i="1" smtClean="0">
                            <a:latin typeface="Cambria Math" panose="02040503050406030204" pitchFamily="18" charset="0"/>
                          </a:rPr>
                          <m:t>𝑅𝐿</m:t>
                        </m:r>
                      </m:sub>
                    </m:sSub>
                    <m:r>
                      <a:rPr lang="en-US" sz="800" b="0" i="1" smtClean="0">
                        <a:latin typeface="Cambria Math" panose="02040503050406030204" pitchFamily="18" charset="0"/>
                      </a:rPr>
                      <m:t>(</m:t>
                    </m:r>
                    <m:r>
                      <a:rPr lang="en-US" sz="800" b="0" i="1" smtClean="0">
                        <a:latin typeface="Cambria Math" panose="02040503050406030204" pitchFamily="18" charset="0"/>
                      </a:rPr>
                      <m:t>𝑡</m:t>
                    </m:r>
                    <m:r>
                      <a:rPr lang="en-US" sz="800" b="0" i="1" smtClean="0">
                        <a:latin typeface="Cambria Math" panose="02040503050406030204" pitchFamily="18" charset="0"/>
                      </a:rPr>
                      <m:t>)</m:t>
                    </m:r>
                  </m:oMath>
                </a14:m>
                <a:r>
                  <a:rPr lang="en-US" sz="800" dirty="0"/>
                  <a:t>. It is possible to account for this by doing another pair of transformer voltage/current reflections, but this presentation is long enough, and we find out that the term is negligible anyway. Consider this an exercise for the reader to prove, if you will. </a:t>
                </a:r>
              </a:p>
            </p:txBody>
          </p:sp>
        </mc:Choice>
        <mc:Fallback xmlns="">
          <p:sp>
            <p:nvSpPr>
              <p:cNvPr id="4" name="Text Placeholder 3">
                <a:extLst>
                  <a:ext uri="{FF2B5EF4-FFF2-40B4-BE49-F238E27FC236}">
                    <a16:creationId xmlns:a16="http://schemas.microsoft.com/office/drawing/2014/main" id="{A5CAC862-1F56-86C6-B4FB-147A5A556A64}"/>
                  </a:ext>
                </a:extLst>
              </p:cNvPr>
              <p:cNvSpPr>
                <a:spLocks noGrp="1" noRot="1" noChangeAspect="1" noMove="1" noResize="1" noEditPoints="1" noAdjustHandles="1" noChangeArrowheads="1" noChangeShapeType="1" noTextEdit="1"/>
              </p:cNvSpPr>
              <p:nvPr>
                <p:ph type="body" sz="half" idx="2"/>
              </p:nvPr>
            </p:nvSpPr>
            <p:spPr>
              <a:xfrm>
                <a:off x="839788" y="2057400"/>
                <a:ext cx="4768252" cy="3811588"/>
              </a:xfrm>
              <a:blipFill>
                <a:blip r:embed="rId3"/>
                <a:stretch>
                  <a:fillRect l="-767" t="-1120"/>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98409507-A64A-2BF0-6820-6E9335A90964}"/>
              </a:ext>
            </a:extLst>
          </p:cNvPr>
          <p:cNvCxnSpPr/>
          <p:nvPr/>
        </p:nvCxnSpPr>
        <p:spPr>
          <a:xfrm flipV="1">
            <a:off x="6874163" y="2401887"/>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4EDFAB4-F136-40CC-BDE8-C3CB1C59B98C}"/>
              </a:ext>
            </a:extLst>
          </p:cNvPr>
          <p:cNvSpPr txBox="1"/>
          <p:nvPr/>
        </p:nvSpPr>
        <p:spPr>
          <a:xfrm>
            <a:off x="6874163" y="2524783"/>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2" name="Rectangle: Rounded Corners 11">
            <a:extLst>
              <a:ext uri="{FF2B5EF4-FFF2-40B4-BE49-F238E27FC236}">
                <a16:creationId xmlns:a16="http://schemas.microsoft.com/office/drawing/2014/main" id="{FCD4D720-73F9-70DE-1C33-07657D3D3165}"/>
              </a:ext>
            </a:extLst>
          </p:cNvPr>
          <p:cNvSpPr/>
          <p:nvPr/>
        </p:nvSpPr>
        <p:spPr>
          <a:xfrm>
            <a:off x="5968767" y="1105654"/>
            <a:ext cx="5658103" cy="4506581"/>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C1AFC95-82F6-1485-B4A2-D6939AEA8EAA}"/>
              </a:ext>
            </a:extLst>
          </p:cNvPr>
          <p:cNvSpPr txBox="1"/>
          <p:nvPr/>
        </p:nvSpPr>
        <p:spPr>
          <a:xfrm>
            <a:off x="9549249" y="1096974"/>
            <a:ext cx="2077621" cy="338554"/>
          </a:xfrm>
          <a:prstGeom prst="rect">
            <a:avLst/>
          </a:prstGeom>
          <a:noFill/>
        </p:spPr>
        <p:txBody>
          <a:bodyPr wrap="none" rtlCol="0">
            <a:spAutoFit/>
          </a:bodyPr>
          <a:lstStyle/>
          <a:p>
            <a:pPr algn="r"/>
            <a:r>
              <a:rPr lang="en-US" sz="1600" b="1" dirty="0"/>
              <a:t>Complete Toy Model</a:t>
            </a:r>
          </a:p>
        </p:txBody>
      </p:sp>
      <p:pic>
        <p:nvPicPr>
          <p:cNvPr id="1026" name="Picture 2" descr="trollface - Wiktionary, the free dictionary">
            <a:extLst>
              <a:ext uri="{FF2B5EF4-FFF2-40B4-BE49-F238E27FC236}">
                <a16:creationId xmlns:a16="http://schemas.microsoft.com/office/drawing/2014/main" id="{C5AE7DEA-780D-1951-6336-A6AA170E1E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73902" y="5612235"/>
            <a:ext cx="138980" cy="1153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44174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A9397FD-6232-24E1-7371-1CB2DAE4B7B9}"/>
              </a:ext>
            </a:extLst>
          </p:cNvPr>
          <p:cNvSpPr>
            <a:spLocks noGrp="1"/>
          </p:cNvSpPr>
          <p:nvPr>
            <p:ph type="title"/>
          </p:nvPr>
        </p:nvSpPr>
        <p:spPr/>
        <p:txBody>
          <a:bodyPr/>
          <a:lstStyle/>
          <a:p>
            <a:r>
              <a:rPr lang="en-US" dirty="0"/>
              <a:t>Algebraic Manipulation &amp;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1414CD6-3E29-4E53-90AC-2403F6AC7867}"/>
                  </a:ext>
                </a:extLst>
              </p:cNvPr>
              <p:cNvSpPr txBox="1"/>
              <p:nvPr/>
            </p:nvSpPr>
            <p:spPr>
              <a:xfrm>
                <a:off x="325772" y="1497959"/>
                <a:ext cx="5531135" cy="4525726"/>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sSup>
                        <m:sSupPr>
                          <m:ctrlPr>
                            <a:rPr lang="en-US" b="0" i="1" smtClean="0">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b="0" i="1" smtClean="0">
                              <a:latin typeface="Cambria Math" panose="02040503050406030204" pitchFamily="18" charset="0"/>
                            </a:rPr>
                            <m:t>2</m:t>
                          </m:r>
                        </m:sup>
                      </m:s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This is quite the nasty equation. It has quadratic terms and a derivative. Let’s define a new variable for the LHS of the equation,</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i="1">
                          <a:latin typeface="Cambria Math" panose="02040503050406030204" pitchFamily="18" charset="0"/>
                        </a:rPr>
                        <m:t>−</m:t>
                      </m:r>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f>
                        <m:fPr>
                          <m:ctrlPr>
                            <a:rPr lang="en-US" b="0"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dirty="0"/>
              </a:p>
              <a:p>
                <a:r>
                  <a:rPr lang="en-US" sz="1600" dirty="0"/>
                  <a:t>labelled </a:t>
                </a:r>
                <a:r>
                  <a:rPr lang="en-US" sz="1600" dirty="0">
                    <a:latin typeface="Cambria Math" panose="02040503050406030204" pitchFamily="18" charset="0"/>
                    <a:ea typeface="Cambria Math" panose="02040503050406030204" pitchFamily="18" charset="0"/>
                  </a:rPr>
                  <a:t>M</a:t>
                </a:r>
                <a:r>
                  <a:rPr lang="en-US" sz="1600" baseline="-25000" dirty="0">
                    <a:latin typeface="Cambria Math" panose="02040503050406030204" pitchFamily="18" charset="0"/>
                    <a:ea typeface="Cambria Math" panose="02040503050406030204" pitchFamily="18" charset="0"/>
                  </a:rPr>
                  <a:t>T</a:t>
                </a:r>
                <a:r>
                  <a:rPr lang="en-US" sz="1600" dirty="0">
                    <a:latin typeface="Cambria Math" panose="02040503050406030204" pitchFamily="18" charset="0"/>
                    <a:ea typeface="Cambria Math" panose="02040503050406030204" pitchFamily="18" charset="0"/>
                  </a:rPr>
                  <a:t>(t) </a:t>
                </a:r>
                <a:r>
                  <a:rPr lang="en-US" sz="1600" dirty="0">
                    <a:ea typeface="Cambria Math" panose="02040503050406030204" pitchFamily="18" charset="0"/>
                  </a:rPr>
                  <a:t>due to being roughly equivalent to the “transformer reflection” of the voltage gain </a:t>
                </a:r>
                <a:r>
                  <a:rPr lang="en-US" sz="1600" dirty="0">
                    <a:latin typeface="Cambria Math" panose="02040503050406030204" pitchFamily="18" charset="0"/>
                    <a:ea typeface="Cambria Math" panose="02040503050406030204" pitchFamily="18" charset="0"/>
                  </a:rPr>
                  <a:t>M(t)</a:t>
                </a:r>
                <a:r>
                  <a:rPr lang="en-US" sz="1600" dirty="0">
                    <a:ea typeface="Cambria Math" panose="02040503050406030204" pitchFamily="18" charset="0"/>
                  </a:rPr>
                  <a:t>. </a:t>
                </a:r>
              </a:p>
              <a:p>
                <a:r>
                  <a:rPr lang="en-US" sz="1600" dirty="0">
                    <a:ea typeface="Cambria Math" panose="02040503050406030204" pitchFamily="18" charset="0"/>
                  </a:rPr>
                  <a:t>We complete the square and rewrite:</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b="0" i="1" smtClean="0">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oMath>
                  </m:oMathPara>
                </a14:m>
                <a:endParaRPr lang="en-US" dirty="0">
                  <a:latin typeface="Cambria Math" panose="02040503050406030204" pitchFamily="18" charset="0"/>
                  <a:ea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51414CD6-3E29-4E53-90AC-2403F6AC7867}"/>
                  </a:ext>
                </a:extLst>
              </p:cNvPr>
              <p:cNvSpPr txBox="1">
                <a:spLocks noRot="1" noChangeAspect="1" noMove="1" noResize="1" noEditPoints="1" noAdjustHandles="1" noChangeArrowheads="1" noChangeShapeType="1" noTextEdit="1"/>
              </p:cNvSpPr>
              <p:nvPr/>
            </p:nvSpPr>
            <p:spPr>
              <a:xfrm>
                <a:off x="325772" y="1497959"/>
                <a:ext cx="5531135" cy="4525726"/>
              </a:xfrm>
              <a:prstGeom prst="rect">
                <a:avLst/>
              </a:prstGeom>
              <a:blipFill>
                <a:blip r:embed="rId2"/>
                <a:stretch>
                  <a:fillRect l="-551" t="-404"/>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1D848D5-0423-53A0-5A72-B9BD907CE0D0}"/>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6CB691E-7DF4-C0A2-76BA-F82022134DF6}"/>
                  </a:ext>
                </a:extLst>
              </p:cNvPr>
              <p:cNvSpPr txBox="1"/>
              <p:nvPr/>
            </p:nvSpPr>
            <p:spPr>
              <a:xfrm>
                <a:off x="6335093" y="1497959"/>
                <a:ext cx="5531135" cy="4631461"/>
              </a:xfrm>
              <a:prstGeom prst="rect">
                <a:avLst/>
              </a:prstGeom>
              <a:noFill/>
            </p:spPr>
            <p:txBody>
              <a:bodyPr wrap="square">
                <a:spAutoFit/>
              </a:bodyPr>
              <a:lstStyle/>
              <a:p>
                <a:r>
                  <a:rPr lang="en-US" sz="1600" b="0" dirty="0"/>
                  <a:t>We can the</a:t>
                </a:r>
                <a:r>
                  <a:rPr lang="en-US" sz="1600" dirty="0"/>
                  <a:t>n define an auxiliary variable:</a:t>
                </a:r>
                <a:endParaRPr lang="en-US" sz="1600"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num>
                        <m:den>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b="0" dirty="0"/>
              </a:p>
              <a:p>
                <a:r>
                  <a:rPr lang="en-US" sz="1600" dirty="0"/>
                  <a:t>Rewrite the KVL equation:</a:t>
                </a:r>
                <a:endParaRPr lang="en-US" sz="1600"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i="1" smtClean="0">
                              <a:latin typeface="Cambria Math" panose="02040503050406030204" pitchFamily="18" charset="0"/>
                            </a:rPr>
                            <m:t>𝑀</m:t>
                          </m:r>
                        </m:e>
                        <m:sub>
                          <m:r>
                            <a:rPr lang="en-US" b="0" i="1" smtClean="0">
                              <a:latin typeface="Cambria Math" panose="02040503050406030204" pitchFamily="18" charset="0"/>
                            </a:rPr>
                            <m:t>𝑇</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By encapsulating the quadratic term within a new variable, we now have only additions, scalar multiplications, and derivatives – the equation is linear! We can now convert to s-domain:</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b="0" i="1" smtClean="0">
                              <a:latin typeface="Cambria Math" panose="02040503050406030204" pitchFamily="18" charset="0"/>
                            </a:rPr>
                            <m:t>𝑠</m:t>
                          </m:r>
                        </m:e>
                      </m:d>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𝐿</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m:t>
                      </m:r>
                    </m:oMath>
                  </m:oMathPara>
                </a14:m>
                <a:endParaRPr lang="en-US" dirty="0"/>
              </a:p>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num>
                        <m:den>
                          <m:r>
                            <a:rPr lang="en-US" b="0" i="1" smtClean="0">
                              <a:latin typeface="Cambria Math" panose="02040503050406030204" pitchFamily="18" charset="0"/>
                            </a:rPr>
                            <m:t>𝑠𝐿</m:t>
                          </m:r>
                          <m:r>
                            <a:rPr lang="en-US" b="0" i="1" smtClean="0">
                              <a:latin typeface="Cambria Math" panose="02040503050406030204" pitchFamily="18" charset="0"/>
                            </a:rPr>
                            <m:t>+</m:t>
                          </m:r>
                          <m:r>
                            <a:rPr lang="en-US" b="0" i="1" smtClean="0">
                              <a:latin typeface="Cambria Math" panose="02040503050406030204" pitchFamily="18" charset="0"/>
                            </a:rPr>
                            <m:t>𝑅</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We have a proper transfer function now!</a:t>
                </a:r>
              </a:p>
            </p:txBody>
          </p:sp>
        </mc:Choice>
        <mc:Fallback xmlns="">
          <p:sp>
            <p:nvSpPr>
              <p:cNvPr id="10" name="TextBox 9">
                <a:extLst>
                  <a:ext uri="{FF2B5EF4-FFF2-40B4-BE49-F238E27FC236}">
                    <a16:creationId xmlns:a16="http://schemas.microsoft.com/office/drawing/2014/main" id="{56CB691E-7DF4-C0A2-76BA-F82022134DF6}"/>
                  </a:ext>
                </a:extLst>
              </p:cNvPr>
              <p:cNvSpPr txBox="1">
                <a:spLocks noRot="1" noChangeAspect="1" noMove="1" noResize="1" noEditPoints="1" noAdjustHandles="1" noChangeArrowheads="1" noChangeShapeType="1" noTextEdit="1"/>
              </p:cNvSpPr>
              <p:nvPr/>
            </p:nvSpPr>
            <p:spPr>
              <a:xfrm>
                <a:off x="6335093" y="1497959"/>
                <a:ext cx="5531135" cy="4631461"/>
              </a:xfrm>
              <a:prstGeom prst="rect">
                <a:avLst/>
              </a:prstGeom>
              <a:blipFill>
                <a:blip r:embed="rId3"/>
                <a:stretch>
                  <a:fillRect l="-551" t="-395"/>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0A971414-667F-E727-E27C-90430C6E1180}"/>
              </a:ext>
            </a:extLst>
          </p:cNvPr>
          <p:cNvSpPr/>
          <p:nvPr/>
        </p:nvSpPr>
        <p:spPr>
          <a:xfrm>
            <a:off x="7850700" y="4806206"/>
            <a:ext cx="2499920" cy="86406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75340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EADC2-68B0-6532-35E7-CF00DD941885}"/>
              </a:ext>
            </a:extLst>
          </p:cNvPr>
          <p:cNvSpPr>
            <a:spLocks noGrp="1"/>
          </p:cNvSpPr>
          <p:nvPr>
            <p:ph type="title"/>
          </p:nvPr>
        </p:nvSpPr>
        <p:spPr/>
        <p:txBody>
          <a:bodyPr/>
          <a:lstStyle/>
          <a:p>
            <a:r>
              <a:rPr lang="en-US" dirty="0"/>
              <a:t>Overall System Design – FF+PI</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4251CCB-152F-DE34-5961-AD5C76435645}"/>
                  </a:ext>
                </a:extLst>
              </p:cNvPr>
              <p:cNvSpPr txBox="1"/>
              <p:nvPr/>
            </p:nvSpPr>
            <p:spPr>
              <a:xfrm>
                <a:off x="883299" y="1546789"/>
                <a:ext cx="5531135" cy="3468963"/>
              </a:xfrm>
              <a:prstGeom prst="rect">
                <a:avLst/>
              </a:prstGeom>
              <a:noFill/>
            </p:spPr>
            <p:txBody>
              <a:bodyPr wrap="square">
                <a:spAutoFit/>
              </a:bodyPr>
              <a:lstStyle/>
              <a:p>
                <a:r>
                  <a:rPr lang="en-US" dirty="0"/>
                  <a:t>We go back to our definition of </a:t>
                </a:r>
                <a:r>
                  <a:rPr lang="en-US" dirty="0">
                    <a:latin typeface="Cambria Math" panose="02040503050406030204" pitchFamily="18" charset="0"/>
                    <a:ea typeface="Cambria Math" panose="02040503050406030204" pitchFamily="18" charset="0"/>
                  </a:rPr>
                  <a:t>M</a:t>
                </a:r>
                <a:r>
                  <a:rPr lang="en-US" baseline="-25000" dirty="0">
                    <a:latin typeface="Cambria Math" panose="02040503050406030204" pitchFamily="18" charset="0"/>
                    <a:ea typeface="Cambria Math" panose="02040503050406030204" pitchFamily="18" charset="0"/>
                  </a:rPr>
                  <a:t>T</a:t>
                </a:r>
                <a:r>
                  <a:rPr lang="en-US" dirty="0">
                    <a:latin typeface="Cambria Math" panose="02040503050406030204" pitchFamily="18" charset="0"/>
                    <a:ea typeface="Cambria Math" panose="02040503050406030204" pitchFamily="18" charset="0"/>
                  </a:rPr>
                  <a:t>(t)</a:t>
                </a:r>
                <a:r>
                  <a:rPr lang="en-US" dirty="0"/>
                  <a:t>:</a:t>
                </a:r>
                <a:endParaRPr lang="en-US"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i="1">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oMath>
                  </m:oMathPara>
                </a14:m>
                <a:endParaRPr lang="en-US" dirty="0"/>
              </a:p>
              <a:p>
                <a:r>
                  <a:rPr lang="en-US" dirty="0"/>
                  <a:t>Solve for </a:t>
                </a:r>
                <a:r>
                  <a:rPr lang="en-US"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i="1" smtClean="0">
                          <a:latin typeface="Cambria Math" panose="02040503050406030204" pitchFamily="18" charset="0"/>
                          <a:ea typeface="Cambria Math" panose="02040503050406030204" pitchFamily="18" charset="0"/>
                        </a:rPr>
                        <m:t>±</m:t>
                      </m:r>
                      <m:rad>
                        <m:radPr>
                          <m:degHide m:val="on"/>
                          <m:ctrlPr>
                            <a:rPr lang="en-US" i="1" smtClean="0">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𝐾</m:t>
                              </m:r>
                            </m:e>
                            <m:sub>
                              <m:r>
                                <a:rPr lang="en-US" b="0" i="1" smtClean="0">
                                  <a:latin typeface="Cambria Math" panose="02040503050406030204" pitchFamily="18" charset="0"/>
                                </a:rPr>
                                <m:t>𝑇</m:t>
                              </m:r>
                            </m:sub>
                            <m:sup>
                              <m:r>
                                <a:rPr lang="en-US" b="0" i="1" smtClean="0">
                                  <a:latin typeface="Cambria Math" panose="02040503050406030204" pitchFamily="18" charset="0"/>
                                </a:rPr>
                                <m:t>2</m:t>
                              </m:r>
                            </m:sup>
                          </m:sSubSup>
                        </m:e>
                      </m:rad>
                    </m:oMath>
                  </m:oMathPara>
                </a14:m>
                <a:endParaRPr lang="en-US" dirty="0"/>
              </a:p>
              <a:p>
                <a:r>
                  <a:rPr lang="en-US" dirty="0"/>
                  <a:t>We will be using the solution with both terms added. (The subtractive solution produces identical behavior. Proof is left as exercise to the reader.)</a:t>
                </a:r>
              </a:p>
              <a:p>
                <a:r>
                  <a:rPr lang="en-US" dirty="0"/>
                  <a:t>We can thus design our system as a linear black box composed of the linearization above combined with the physical circuitry</a:t>
                </a:r>
                <a:r>
                  <a:rPr lang="en-US" dirty="0">
                    <a:latin typeface="Cambria Math" panose="02040503050406030204" pitchFamily="18" charset="0"/>
                    <a:ea typeface="Cambria Math" panose="02040503050406030204" pitchFamily="18" charset="0"/>
                  </a:rPr>
                  <a:t>.</a:t>
                </a:r>
                <a:endParaRPr lang="en-US" dirty="0">
                  <a:ea typeface="Cambria Math" panose="02040503050406030204" pitchFamily="18" charset="0"/>
                </a:endParaRPr>
              </a:p>
            </p:txBody>
          </p:sp>
        </mc:Choice>
        <mc:Fallback xmlns="">
          <p:sp>
            <p:nvSpPr>
              <p:cNvPr id="3" name="TextBox 2">
                <a:extLst>
                  <a:ext uri="{FF2B5EF4-FFF2-40B4-BE49-F238E27FC236}">
                    <a16:creationId xmlns:a16="http://schemas.microsoft.com/office/drawing/2014/main" id="{04251CCB-152F-DE34-5961-AD5C76435645}"/>
                  </a:ext>
                </a:extLst>
              </p:cNvPr>
              <p:cNvSpPr txBox="1">
                <a:spLocks noRot="1" noChangeAspect="1" noMove="1" noResize="1" noEditPoints="1" noAdjustHandles="1" noChangeArrowheads="1" noChangeShapeType="1" noTextEdit="1"/>
              </p:cNvSpPr>
              <p:nvPr/>
            </p:nvSpPr>
            <p:spPr>
              <a:xfrm>
                <a:off x="883299" y="1546789"/>
                <a:ext cx="5531135" cy="3468963"/>
              </a:xfrm>
              <a:prstGeom prst="rect">
                <a:avLst/>
              </a:prstGeom>
              <a:blipFill>
                <a:blip r:embed="rId2"/>
                <a:stretch>
                  <a:fillRect l="-992" t="-1406" b="-2109"/>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CB0FA398-799E-7A77-F778-2161B9A3FD1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737183" y="2372456"/>
            <a:ext cx="3036250" cy="2369671"/>
          </a:xfrm>
          <a:prstGeom prst="rect">
            <a:avLst/>
          </a:prstGeom>
        </p:spPr>
      </p:pic>
      <p:sp>
        <p:nvSpPr>
          <p:cNvPr id="9" name="Rectangle: Rounded Corners 8">
            <a:extLst>
              <a:ext uri="{FF2B5EF4-FFF2-40B4-BE49-F238E27FC236}">
                <a16:creationId xmlns:a16="http://schemas.microsoft.com/office/drawing/2014/main" id="{0F40FE7F-D3C4-3706-7EF6-3429C1FE0A19}"/>
              </a:ext>
            </a:extLst>
          </p:cNvPr>
          <p:cNvSpPr/>
          <p:nvPr/>
        </p:nvSpPr>
        <p:spPr>
          <a:xfrm>
            <a:off x="7377379" y="1933262"/>
            <a:ext cx="3755858" cy="2991476"/>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08EF3C7-A77A-C0D7-AAFC-F5BAE12F8737}"/>
              </a:ext>
            </a:extLst>
          </p:cNvPr>
          <p:cNvSpPr txBox="1"/>
          <p:nvPr/>
        </p:nvSpPr>
        <p:spPr>
          <a:xfrm>
            <a:off x="8917374" y="1956541"/>
            <a:ext cx="2215863" cy="338554"/>
          </a:xfrm>
          <a:prstGeom prst="rect">
            <a:avLst/>
          </a:prstGeom>
          <a:noFill/>
        </p:spPr>
        <p:txBody>
          <a:bodyPr wrap="none" rtlCol="0">
            <a:spAutoFit/>
          </a:bodyPr>
          <a:lstStyle/>
          <a:p>
            <a:pPr algn="r"/>
            <a:r>
              <a:rPr lang="en-US" sz="1600" b="1" dirty="0"/>
              <a:t>Linearization + Circuit</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E95A952-FF7D-4119-710B-6A12A831F611}"/>
                  </a:ext>
                </a:extLst>
              </p:cNvPr>
              <p:cNvSpPr txBox="1"/>
              <p:nvPr/>
            </p:nvSpPr>
            <p:spPr>
              <a:xfrm>
                <a:off x="8155212" y="1390904"/>
                <a:ext cx="1939505" cy="369332"/>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𝑢</m:t>
                      </m:r>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𝑀</m:t>
                          </m:r>
                        </m:e>
                        <m:sub>
                          <m:r>
                            <a:rPr lang="en-US" sz="2400" b="0" i="1" smtClean="0">
                              <a:latin typeface="Cambria Math" panose="02040503050406030204" pitchFamily="18" charset="0"/>
                              <a:ea typeface="Cambria Math" panose="02040503050406030204" pitchFamily="18" charset="0"/>
                            </a:rPr>
                            <m:t>𝑇</m:t>
                          </m:r>
                        </m:sub>
                      </m:sSub>
                      <m:r>
                        <a:rPr lang="en-US" sz="2400" b="0" i="1" smtClean="0">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𝑠</m:t>
                      </m:r>
                      <m:r>
                        <a:rPr lang="en-US"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12" name="TextBox 11">
                <a:extLst>
                  <a:ext uri="{FF2B5EF4-FFF2-40B4-BE49-F238E27FC236}">
                    <a16:creationId xmlns:a16="http://schemas.microsoft.com/office/drawing/2014/main" id="{7E95A952-FF7D-4119-710B-6A12A831F611}"/>
                  </a:ext>
                </a:extLst>
              </p:cNvPr>
              <p:cNvSpPr txBox="1">
                <a:spLocks noRot="1" noChangeAspect="1" noMove="1" noResize="1" noEditPoints="1" noAdjustHandles="1" noChangeArrowheads="1" noChangeShapeType="1" noTextEdit="1"/>
              </p:cNvSpPr>
              <p:nvPr/>
            </p:nvSpPr>
            <p:spPr>
              <a:xfrm>
                <a:off x="8155212" y="1390904"/>
                <a:ext cx="1939505" cy="369332"/>
              </a:xfrm>
              <a:prstGeom prst="rect">
                <a:avLst/>
              </a:prstGeom>
              <a:blipFill>
                <a:blip r:embed="rId4"/>
                <a:stretch>
                  <a:fillRect l="-1563" r="-5000" b="-30159"/>
                </a:stretch>
              </a:blipFill>
              <a:ln>
                <a:solidFill>
                  <a:schemeClr val="tx1"/>
                </a:solidFill>
              </a:ln>
            </p:spPr>
            <p:txBody>
              <a:bodyPr/>
              <a:lstStyle/>
              <a:p>
                <a:r>
                  <a:rPr lang="en-US">
                    <a:noFill/>
                  </a:rPr>
                  <a:t> </a:t>
                </a:r>
              </a:p>
            </p:txBody>
          </p:sp>
        </mc:Fallback>
      </mc:AlternateContent>
      <p:cxnSp>
        <p:nvCxnSpPr>
          <p:cNvPr id="17" name="Connector: Elbow 16">
            <a:extLst>
              <a:ext uri="{FF2B5EF4-FFF2-40B4-BE49-F238E27FC236}">
                <a16:creationId xmlns:a16="http://schemas.microsoft.com/office/drawing/2014/main" id="{2706548C-B0AA-8704-F9CE-75D1C08D2DD5}"/>
              </a:ext>
            </a:extLst>
          </p:cNvPr>
          <p:cNvCxnSpPr>
            <a:cxnSpLocks/>
          </p:cNvCxnSpPr>
          <p:nvPr/>
        </p:nvCxnSpPr>
        <p:spPr>
          <a:xfrm rot="16200000" flipH="1">
            <a:off x="7478047" y="5031847"/>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A2EFFA2-D65D-0567-9668-053E42474B20}"/>
                  </a:ext>
                </a:extLst>
              </p:cNvPr>
              <p:cNvSpPr txBox="1"/>
              <p:nvPr/>
            </p:nvSpPr>
            <p:spPr>
              <a:xfrm>
                <a:off x="7808117" y="5039020"/>
                <a:ext cx="2894382" cy="1481881"/>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𝐼</m:t>
                          </m:r>
                        </m:e>
                        <m:sub>
                          <m:r>
                            <a:rPr lang="en-US" sz="2400" b="0" i="1" smtClean="0">
                              <a:latin typeface="Cambria Math" panose="02040503050406030204" pitchFamily="18" charset="0"/>
                              <a:ea typeface="Cambria Math" panose="02040503050406030204" pitchFamily="18" charset="0"/>
                            </a:rPr>
                            <m:t>𝑏𝑎𝑡</m:t>
                          </m:r>
                        </m:sub>
                      </m:sSub>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𝑠</m:t>
                          </m:r>
                        </m:e>
                      </m:d>
                    </m:oMath>
                  </m:oMathPara>
                </a14:m>
                <a:endParaRPr lang="en-US" sz="24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𝐺</m:t>
                          </m:r>
                        </m:e>
                        <m:sub>
                          <m:sSub>
                            <m:sSubPr>
                              <m:ctrlPr>
                                <a:rPr lang="en-US" sz="2400" i="1">
                                  <a:latin typeface="Cambria Math" panose="02040503050406030204" pitchFamily="18" charset="0"/>
                                </a:rPr>
                              </m:ctrlPr>
                            </m:sSubPr>
                            <m:e>
                              <m:r>
                                <a:rPr lang="en-US" sz="2400" i="1">
                                  <a:latin typeface="Cambria Math" panose="02040503050406030204" pitchFamily="18" charset="0"/>
                                </a:rPr>
                                <m:t>𝐼</m:t>
                              </m:r>
                            </m:e>
                            <m:sub>
                              <m:r>
                                <a:rPr lang="en-US" sz="2400" i="1">
                                  <a:latin typeface="Cambria Math" panose="02040503050406030204" pitchFamily="18" charset="0"/>
                                </a:rPr>
                                <m:t>𝑏𝑎𝑡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𝑀</m:t>
                              </m:r>
                            </m:e>
                            <m:sub>
                              <m:r>
                                <a:rPr lang="en-US" sz="2400" i="1">
                                  <a:latin typeface="Cambria Math" panose="02040503050406030204" pitchFamily="18" charset="0"/>
                                </a:rPr>
                                <m:t>𝑇</m:t>
                              </m:r>
                            </m:sub>
                          </m:sSub>
                        </m:sub>
                      </m:sSub>
                      <m:d>
                        <m:dPr>
                          <m:ctrlPr>
                            <a:rPr lang="en-US" sz="2400" i="1">
                              <a:latin typeface="Cambria Math" panose="02040503050406030204" pitchFamily="18" charset="0"/>
                            </a:rPr>
                          </m:ctrlPr>
                        </m:dPr>
                        <m:e>
                          <m:r>
                            <a:rPr lang="en-US" sz="2400" i="1">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m:t>
                      </m:r>
                      <m:f>
                        <m:fPr>
                          <m:ctrlPr>
                            <a:rPr lang="en-US" sz="2400" i="1">
                              <a:latin typeface="Cambria Math" panose="02040503050406030204" pitchFamily="18" charset="0"/>
                            </a:rPr>
                          </m:ctrlPr>
                        </m:fPr>
                        <m:num>
                          <m:sSub>
                            <m:sSubPr>
                              <m:ctrlPr>
                                <a:rPr lang="en-US" sz="2400" i="1">
                                  <a:latin typeface="Cambria Math" panose="02040503050406030204" pitchFamily="18" charset="0"/>
                                </a:rPr>
                              </m:ctrlPr>
                            </m:sSubPr>
                            <m:e>
                              <m:r>
                                <a:rPr lang="en-US" sz="2400" i="1">
                                  <a:latin typeface="Cambria Math" panose="02040503050406030204" pitchFamily="18" charset="0"/>
                                </a:rPr>
                                <m:t>𝑉</m:t>
                              </m:r>
                            </m:e>
                            <m:sub>
                              <m:r>
                                <a:rPr lang="en-US" sz="2400" i="1">
                                  <a:latin typeface="Cambria Math" panose="02040503050406030204" pitchFamily="18" charset="0"/>
                                </a:rPr>
                                <m:t>𝑔</m:t>
                              </m:r>
                            </m:sub>
                          </m:sSub>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den>
                      </m:f>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8" name="TextBox 17">
                <a:extLst>
                  <a:ext uri="{FF2B5EF4-FFF2-40B4-BE49-F238E27FC236}">
                    <a16:creationId xmlns:a16="http://schemas.microsoft.com/office/drawing/2014/main" id="{0A2EFFA2-D65D-0567-9668-053E42474B20}"/>
                  </a:ext>
                </a:extLst>
              </p:cNvPr>
              <p:cNvSpPr txBox="1">
                <a:spLocks noRot="1" noChangeAspect="1" noMove="1" noResize="1" noEditPoints="1" noAdjustHandles="1" noChangeArrowheads="1" noChangeShapeType="1" noTextEdit="1"/>
              </p:cNvSpPr>
              <p:nvPr/>
            </p:nvSpPr>
            <p:spPr>
              <a:xfrm>
                <a:off x="7808117" y="5039020"/>
                <a:ext cx="2894382" cy="1481881"/>
              </a:xfrm>
              <a:prstGeom prst="rect">
                <a:avLst/>
              </a:prstGeom>
              <a:blipFill>
                <a:blip r:embed="rId5"/>
                <a:stretch>
                  <a:fillRect l="-419" r="-2935"/>
                </a:stretch>
              </a:blipFill>
              <a:ln>
                <a:solidFill>
                  <a:schemeClr val="tx1"/>
                </a:solidFill>
              </a:ln>
            </p:spPr>
            <p:txBody>
              <a:bodyPr/>
              <a:lstStyle/>
              <a:p>
                <a:r>
                  <a:rPr lang="en-US">
                    <a:noFill/>
                  </a:rPr>
                  <a:t> </a:t>
                </a:r>
              </a:p>
            </p:txBody>
          </p:sp>
        </mc:Fallback>
      </mc:AlternateContent>
      <p:cxnSp>
        <p:nvCxnSpPr>
          <p:cNvPr id="21" name="Connector: Elbow 20">
            <a:extLst>
              <a:ext uri="{FF2B5EF4-FFF2-40B4-BE49-F238E27FC236}">
                <a16:creationId xmlns:a16="http://schemas.microsoft.com/office/drawing/2014/main" id="{1710BFE7-76AC-FECD-5F6D-75380C9171AC}"/>
              </a:ext>
            </a:extLst>
          </p:cNvPr>
          <p:cNvCxnSpPr>
            <a:cxnSpLocks/>
          </p:cNvCxnSpPr>
          <p:nvPr/>
        </p:nvCxnSpPr>
        <p:spPr>
          <a:xfrm rot="10800000" flipH="1" flipV="1">
            <a:off x="10182575" y="1573586"/>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347884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DCB649-67A2-B5C8-336A-3EEBEFB45428}"/>
              </a:ext>
            </a:extLst>
          </p:cNvPr>
          <p:cNvSpPr>
            <a:spLocks noGrp="1"/>
          </p:cNvSpPr>
          <p:nvPr>
            <p:ph type="title"/>
          </p:nvPr>
        </p:nvSpPr>
        <p:spPr/>
        <p:txBody>
          <a:bodyPr/>
          <a:lstStyle/>
          <a:p>
            <a:r>
              <a:rPr lang="en-US" dirty="0"/>
              <a:t>Alternative Design – PI</a:t>
            </a:r>
            <a:r>
              <a:rPr lang="en-US" baseline="30000" dirty="0"/>
              <a:t>2</a:t>
            </a:r>
            <a:r>
              <a:rPr lang="en-US" dirty="0"/>
              <a:t> Control</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CCC0E295-6D80-4650-C064-30DBEF50D957}"/>
                  </a:ext>
                </a:extLst>
              </p:cNvPr>
              <p:cNvSpPr>
                <a:spLocks noGrp="1"/>
              </p:cNvSpPr>
              <p:nvPr>
                <p:ph type="body" sz="half" idx="2"/>
              </p:nvPr>
            </p:nvSpPr>
            <p:spPr>
              <a:xfrm>
                <a:off x="167780" y="2057400"/>
                <a:ext cx="4927013" cy="4314039"/>
              </a:xfrm>
            </p:spPr>
            <p:txBody>
              <a:bodyPr>
                <a:normAutofit/>
              </a:bodyPr>
              <a:lstStyle/>
              <a:p>
                <a:r>
                  <a:rPr lang="en-US" dirty="0"/>
                  <a:t>Math trick of defining auxiliary variable can be done earlier</a:t>
                </a:r>
              </a:p>
              <a:p>
                <a:pPr marL="285750" indent="-285750">
                  <a:buFont typeface="Arial" panose="020B0604020202020204" pitchFamily="34" charset="0"/>
                  <a:buChar char="•"/>
                </a:pPr>
                <a:r>
                  <a:rPr lang="en-US" dirty="0"/>
                  <a:t>No need to split apart voltage source on right side of transformer</a:t>
                </a:r>
              </a:p>
              <a:p>
                <a:r>
                  <a:rPr lang="en-US" dirty="0"/>
                  <a:t>Reflect battery current to right side once again</a:t>
                </a:r>
              </a:p>
              <a:p>
                <a:pPr marL="285750" indent="-285750">
                  <a:buFont typeface="Arial" panose="020B0604020202020204" pitchFamily="34" charset="0"/>
                  <a:buChar char="•"/>
                </a:pPr>
                <a:r>
                  <a:rPr lang="en-US" dirty="0"/>
                  <a:t>New toy model appears analogous to the one in the FF+PI model</a:t>
                </a:r>
              </a:p>
              <a:p>
                <a:r>
                  <a:rPr lang="en-US" dirty="0"/>
                  <a:t>Write new KVL loop equation*:</a:t>
                </a:r>
              </a:p>
              <a:p>
                <a:endParaRPr lang="en-US" dirty="0"/>
              </a:p>
              <a:p>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𝑉</m:t>
                          </m:r>
                        </m:e>
                        <m:sub>
                          <m:r>
                            <a:rPr lang="en-US" sz="1200" i="1">
                              <a:latin typeface="Cambria Math" panose="02040503050406030204" pitchFamily="18" charset="0"/>
                            </a:rPr>
                            <m:t>𝑔</m:t>
                          </m:r>
                        </m:sub>
                      </m:sSub>
                      <m:r>
                        <a:rPr lang="en-US" sz="1200" i="1">
                          <a:latin typeface="Cambria Math" panose="02040503050406030204" pitchFamily="18" charset="0"/>
                        </a:rPr>
                        <m:t>=</m:t>
                      </m:r>
                      <m:f>
                        <m:fPr>
                          <m:ctrlPr>
                            <a:rPr lang="en-US" sz="1200" i="1">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𝐸𝑆𝑅</m:t>
                              </m:r>
                            </m:sub>
                          </m:sSub>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𝐿</m:t>
                          </m:r>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𝑑</m:t>
                          </m:r>
                        </m:num>
                        <m:den>
                          <m:r>
                            <a:rPr lang="en-US" sz="1200" i="1">
                              <a:latin typeface="Cambria Math" panose="02040503050406030204" pitchFamily="18" charset="0"/>
                            </a:rPr>
                            <m:t>𝑑𝑡</m:t>
                          </m:r>
                        </m:den>
                      </m:f>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𝑀</m:t>
                          </m:r>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m:t>
                          </m:r>
                        </m:den>
                      </m:f>
                      <m:nary>
                        <m:naryPr>
                          <m:limLoc m:val="undOvr"/>
                          <m:subHide m:val="on"/>
                          <m:supHide m:val="on"/>
                          <m:ctrlPr>
                            <a:rPr lang="en-US" sz="1200" b="0" i="1" smtClean="0">
                              <a:latin typeface="Cambria Math" panose="02040503050406030204" pitchFamily="18" charset="0"/>
                            </a:rPr>
                          </m:ctrlPr>
                        </m:naryPr>
                        <m:sub/>
                        <m:sup/>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𝐼</m:t>
                              </m:r>
                            </m:e>
                            <m:sub>
                              <m:r>
                                <a:rPr lang="en-US" sz="1200" b="0" i="1" smtClean="0">
                                  <a:latin typeface="Cambria Math" panose="02040503050406030204" pitchFamily="18" charset="0"/>
                                </a:rPr>
                                <m:t>𝑏𝑎𝑡</m:t>
                              </m:r>
                            </m:sub>
                          </m:sSub>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𝑡</m:t>
                              </m:r>
                            </m:e>
                          </m:d>
                          <m:r>
                            <a:rPr lang="en-US" sz="1200" b="0" i="1" smtClean="0">
                              <a:latin typeface="Cambria Math" panose="02040503050406030204" pitchFamily="18" charset="0"/>
                            </a:rPr>
                            <m:t>𝑑𝑡</m:t>
                          </m:r>
                        </m:e>
                      </m:nary>
                    </m:oMath>
                  </m:oMathPara>
                </a14:m>
                <a:endParaRPr lang="en-US" dirty="0"/>
              </a:p>
              <a:p>
                <a:endParaRPr lang="en-US" dirty="0"/>
              </a:p>
              <a:p>
                <a:r>
                  <a:rPr lang="en-US" dirty="0"/>
                  <a:t>*Remember that caveat in small print from before? Exercise for the reader: can we ignore this imperfection in our calculus now?</a:t>
                </a:r>
              </a:p>
            </p:txBody>
          </p:sp>
        </mc:Choice>
        <mc:Fallback xmlns="">
          <p:sp>
            <p:nvSpPr>
              <p:cNvPr id="5" name="Text Placeholder 4">
                <a:extLst>
                  <a:ext uri="{FF2B5EF4-FFF2-40B4-BE49-F238E27FC236}">
                    <a16:creationId xmlns:a16="http://schemas.microsoft.com/office/drawing/2014/main" id="{CCC0E295-6D80-4650-C064-30DBEF50D957}"/>
                  </a:ext>
                </a:extLst>
              </p:cNvPr>
              <p:cNvSpPr>
                <a:spLocks noGrp="1" noRot="1" noChangeAspect="1" noMove="1" noResize="1" noEditPoints="1" noAdjustHandles="1" noChangeArrowheads="1" noChangeShapeType="1" noTextEdit="1"/>
              </p:cNvSpPr>
              <p:nvPr>
                <p:ph type="body" sz="half" idx="2"/>
              </p:nvPr>
            </p:nvSpPr>
            <p:spPr>
              <a:xfrm>
                <a:off x="167780" y="2057400"/>
                <a:ext cx="4927013" cy="4314039"/>
              </a:xfrm>
              <a:blipFill>
                <a:blip r:embed="rId2"/>
                <a:stretch>
                  <a:fillRect l="-743" t="-990" r="-2104" b="-70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BC03E0CC-0F5C-2B82-A8F9-69B5D45FCA1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966887" y="457200"/>
            <a:ext cx="5173861" cy="3167953"/>
          </a:xfrm>
          <a:prstGeom prst="rect">
            <a:avLst/>
          </a:prstGeom>
        </p:spPr>
      </p:pic>
      <p:sp>
        <p:nvSpPr>
          <p:cNvPr id="9" name="Rectangle: Rounded Corners 8">
            <a:extLst>
              <a:ext uri="{FF2B5EF4-FFF2-40B4-BE49-F238E27FC236}">
                <a16:creationId xmlns:a16="http://schemas.microsoft.com/office/drawing/2014/main" id="{BE4666EC-9049-EFF0-9C5D-6B0300E4CB9E}"/>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98C199B-C6D4-1ACA-FF24-DD101B0E5772}"/>
              </a:ext>
            </a:extLst>
          </p:cNvPr>
          <p:cNvSpPr txBox="1"/>
          <p:nvPr/>
        </p:nvSpPr>
        <p:spPr>
          <a:xfrm>
            <a:off x="9773134" y="215829"/>
            <a:ext cx="2071850" cy="338554"/>
          </a:xfrm>
          <a:prstGeom prst="rect">
            <a:avLst/>
          </a:prstGeom>
          <a:noFill/>
        </p:spPr>
        <p:txBody>
          <a:bodyPr wrap="none" rtlCol="0">
            <a:spAutoFit/>
          </a:bodyPr>
          <a:lstStyle/>
          <a:p>
            <a:pPr algn="r"/>
            <a:r>
              <a:rPr lang="en-US" sz="1600" b="1" dirty="0"/>
              <a:t>Singular RLC Branch</a:t>
            </a:r>
          </a:p>
        </p:txBody>
      </p:sp>
      <p:pic>
        <p:nvPicPr>
          <p:cNvPr id="11" name="Picture 10">
            <a:extLst>
              <a:ext uri="{FF2B5EF4-FFF2-40B4-BE49-F238E27FC236}">
                <a16:creationId xmlns:a16="http://schemas.microsoft.com/office/drawing/2014/main" id="{B6E6B413-D3FE-5290-CEE9-03A0BE540F6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559201" y="4157981"/>
            <a:ext cx="3847339" cy="2390733"/>
          </a:xfrm>
          <a:prstGeom prst="rect">
            <a:avLst/>
          </a:prstGeom>
        </p:spPr>
      </p:pic>
      <p:cxnSp>
        <p:nvCxnSpPr>
          <p:cNvPr id="12" name="Straight Arrow Connector 11">
            <a:extLst>
              <a:ext uri="{FF2B5EF4-FFF2-40B4-BE49-F238E27FC236}">
                <a16:creationId xmlns:a16="http://schemas.microsoft.com/office/drawing/2014/main" id="{AEB0BB3A-84CC-22D4-4AB5-DBE74C3157F3}"/>
              </a:ext>
            </a:extLst>
          </p:cNvPr>
          <p:cNvCxnSpPr/>
          <p:nvPr/>
        </p:nvCxnSpPr>
        <p:spPr>
          <a:xfrm flipV="1">
            <a:off x="7645951" y="4550361"/>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90EFA22D-691F-5092-A2E6-7261946CFB23}"/>
              </a:ext>
            </a:extLst>
          </p:cNvPr>
          <p:cNvSpPr txBox="1"/>
          <p:nvPr/>
        </p:nvSpPr>
        <p:spPr>
          <a:xfrm>
            <a:off x="7645951" y="4673257"/>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4" name="Rectangle: Rounded Corners 13">
            <a:extLst>
              <a:ext uri="{FF2B5EF4-FFF2-40B4-BE49-F238E27FC236}">
                <a16:creationId xmlns:a16="http://schemas.microsoft.com/office/drawing/2014/main" id="{89566021-6822-F762-FA36-D50EFA599B1C}"/>
              </a:ext>
            </a:extLst>
          </p:cNvPr>
          <p:cNvSpPr/>
          <p:nvPr/>
        </p:nvSpPr>
        <p:spPr>
          <a:xfrm>
            <a:off x="5171813" y="3866524"/>
            <a:ext cx="6673171" cy="276696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E224596-7B31-273C-9A3D-5BB3C8FB6CAE}"/>
              </a:ext>
            </a:extLst>
          </p:cNvPr>
          <p:cNvSpPr txBox="1"/>
          <p:nvPr/>
        </p:nvSpPr>
        <p:spPr>
          <a:xfrm>
            <a:off x="9690343" y="3857844"/>
            <a:ext cx="2077621" cy="338554"/>
          </a:xfrm>
          <a:prstGeom prst="rect">
            <a:avLst/>
          </a:prstGeom>
          <a:noFill/>
        </p:spPr>
        <p:txBody>
          <a:bodyPr wrap="none" rtlCol="0">
            <a:spAutoFit/>
          </a:bodyPr>
          <a:lstStyle/>
          <a:p>
            <a:pPr algn="r"/>
            <a:r>
              <a:rPr lang="en-US" sz="1600" b="1" dirty="0"/>
              <a:t>Complete Toy Model</a:t>
            </a:r>
          </a:p>
        </p:txBody>
      </p:sp>
      <p:pic>
        <p:nvPicPr>
          <p:cNvPr id="2050" name="Picture 2" descr="Stream i miss LSDvlad trolldespair (old hardtekk mix) by Flerian | Listen  online for free on SoundCloud">
            <a:extLst>
              <a:ext uri="{FF2B5EF4-FFF2-40B4-BE49-F238E27FC236}">
                <a16:creationId xmlns:a16="http://schemas.microsoft.com/office/drawing/2014/main" id="{85468E18-1CEF-64A2-99F1-089D6936D09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57172" y="6046510"/>
            <a:ext cx="190704" cy="1907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46018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AD299-1EC8-3C9C-4C0C-BADD0575C07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B64D800-531E-D987-D7DC-D8BB3D0A4E2A}"/>
              </a:ext>
            </a:extLst>
          </p:cNvPr>
          <p:cNvSpPr>
            <a:spLocks noGrp="1"/>
          </p:cNvSpPr>
          <p:nvPr>
            <p:ph type="title"/>
          </p:nvPr>
        </p:nvSpPr>
        <p:spPr/>
        <p:txBody>
          <a:bodyPr/>
          <a:lstStyle/>
          <a:p>
            <a:r>
              <a:rPr lang="en-US" dirty="0"/>
              <a:t>PI</a:t>
            </a:r>
            <a:r>
              <a:rPr lang="en-US" baseline="30000" dirty="0"/>
              <a:t>2</a:t>
            </a:r>
            <a:r>
              <a:rPr lang="en-US" dirty="0"/>
              <a:t> Control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1BA93C1-3496-4F0D-76C1-0D2E2E8A1BFD}"/>
                  </a:ext>
                </a:extLst>
              </p:cNvPr>
              <p:cNvSpPr txBox="1"/>
              <p:nvPr/>
            </p:nvSpPr>
            <p:spPr>
              <a:xfrm>
                <a:off x="325772" y="1497959"/>
                <a:ext cx="5531135" cy="4286173"/>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𝑉</m:t>
                          </m:r>
                        </m:e>
                        <m:sub>
                          <m:r>
                            <a:rPr lang="en-US" sz="1400" i="1">
                              <a:latin typeface="Cambria Math" panose="02040503050406030204" pitchFamily="18" charset="0"/>
                            </a:rPr>
                            <m:t>𝑔</m:t>
                          </m:r>
                        </m:sub>
                      </m:sSub>
                      <m:r>
                        <a:rPr lang="en-US" sz="1400" i="1">
                          <a:latin typeface="Cambria Math" panose="02040503050406030204" pitchFamily="18" charset="0"/>
                        </a:rPr>
                        <m:t>=</m:t>
                      </m:r>
                      <m:f>
                        <m:fPr>
                          <m:ctrlPr>
                            <a:rPr lang="en-US" sz="1400" i="1">
                              <a:latin typeface="Cambria Math" panose="02040503050406030204" pitchFamily="18" charset="0"/>
                            </a:rPr>
                          </m:ctrlPr>
                        </m:fPr>
                        <m:num>
                          <m:sSub>
                            <m:sSubPr>
                              <m:ctrlPr>
                                <a:rPr lang="en-US" sz="1400" i="1">
                                  <a:latin typeface="Cambria Math" panose="02040503050406030204" pitchFamily="18" charset="0"/>
                                </a:rPr>
                              </m:ctrlPr>
                            </m:sSubPr>
                            <m:e>
                              <m:r>
                                <a:rPr lang="en-US" sz="1400" i="1">
                                  <a:latin typeface="Cambria Math" panose="02040503050406030204" pitchFamily="18" charset="0"/>
                                </a:rPr>
                                <m:t>𝑅</m:t>
                              </m:r>
                            </m:e>
                            <m:sub>
                              <m:r>
                                <a:rPr lang="en-US" sz="1400" i="1">
                                  <a:latin typeface="Cambria Math" panose="02040503050406030204" pitchFamily="18" charset="0"/>
                                </a:rPr>
                                <m:t>𝐸𝑆𝑅</m:t>
                              </m:r>
                            </m:sub>
                          </m:sSub>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𝐿</m:t>
                          </m:r>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𝑑</m:t>
                          </m:r>
                        </m:num>
                        <m:den>
                          <m:r>
                            <a:rPr lang="en-US" sz="1400" i="1">
                              <a:latin typeface="Cambria Math" panose="02040503050406030204" pitchFamily="18" charset="0"/>
                            </a:rPr>
                            <m:t>𝑑𝑡</m:t>
                          </m:r>
                        </m:den>
                      </m:f>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𝐶</m:t>
                          </m:r>
                          <m:r>
                            <a:rPr lang="en-US" sz="1400" b="0" i="1" smtClean="0">
                              <a:latin typeface="Cambria Math" panose="02040503050406030204" pitchFamily="18" charset="0"/>
                            </a:rPr>
                            <m:t>∗</m:t>
                          </m:r>
                          <m:r>
                            <a:rPr lang="en-US" sz="1400" i="1">
                              <a:latin typeface="Cambria Math" panose="02040503050406030204" pitchFamily="18" charset="0"/>
                            </a:rPr>
                            <m:t>𝑀</m:t>
                          </m:r>
                          <m:r>
                            <a:rPr lang="en-US" sz="1400" i="1">
                              <a:latin typeface="Cambria Math" panose="02040503050406030204" pitchFamily="18" charset="0"/>
                            </a:rPr>
                            <m:t>(</m:t>
                          </m:r>
                          <m:r>
                            <a:rPr lang="en-US" sz="1400" i="1">
                              <a:latin typeface="Cambria Math" panose="02040503050406030204" pitchFamily="18" charset="0"/>
                            </a:rPr>
                            <m:t>𝑡</m:t>
                          </m:r>
                          <m:r>
                            <a:rPr lang="en-US" sz="1400" i="1">
                              <a:latin typeface="Cambria Math" panose="02040503050406030204" pitchFamily="18" charset="0"/>
                            </a:rPr>
                            <m:t>)</m:t>
                          </m:r>
                        </m:den>
                      </m:f>
                      <m:nary>
                        <m:naryPr>
                          <m:limLoc m:val="undOvr"/>
                          <m:subHide m:val="on"/>
                          <m:supHide m:val="on"/>
                          <m:ctrlPr>
                            <a:rPr lang="en-US" sz="1400" i="1">
                              <a:latin typeface="Cambria Math" panose="02040503050406030204" pitchFamily="18" charset="0"/>
                            </a:rPr>
                          </m:ctrlPr>
                        </m:naryPr>
                        <m:sub/>
                        <m:sup/>
                        <m:e>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b="0" i="1" smtClean="0">
                              <a:latin typeface="Cambria Math" panose="02040503050406030204" pitchFamily="18" charset="0"/>
                            </a:rPr>
                            <m:t>𝑑𝑡</m:t>
                          </m:r>
                        </m:e>
                      </m:nary>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rPr>
                        <m:t>𝑀</m:t>
                      </m:r>
                      <m:sSup>
                        <m:sSupPr>
                          <m:ctrlPr>
                            <a:rPr lang="en-US" sz="1600" b="0" i="1" smtClean="0">
                              <a:latin typeface="Cambria Math" panose="02040503050406030204" pitchFamily="18" charset="0"/>
                            </a:rPr>
                          </m:ctrlPr>
                        </m:sSupPr>
                        <m:e>
                          <m:d>
                            <m:dPr>
                              <m:ctrlPr>
                                <a:rPr lang="en-US" sz="1600" i="1">
                                  <a:latin typeface="Cambria Math" panose="02040503050406030204" pitchFamily="18" charset="0"/>
                                </a:rPr>
                              </m:ctrlPr>
                            </m:dPr>
                            <m:e>
                              <m:r>
                                <a:rPr lang="en-US" sz="1600" i="1">
                                  <a:latin typeface="Cambria Math" panose="02040503050406030204" pitchFamily="18" charset="0"/>
                                </a:rPr>
                                <m:t>𝑡</m:t>
                              </m:r>
                            </m:e>
                          </m:d>
                        </m:e>
                        <m:sup>
                          <m:r>
                            <a:rPr lang="en-US" sz="1600" b="0" i="1" smtClean="0">
                              <a:latin typeface="Cambria Math" panose="02040503050406030204" pitchFamily="18" charset="0"/>
                            </a:rPr>
                            <m:t>2</m:t>
                          </m:r>
                        </m:sup>
                      </m:sSup>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b="0" i="1" smtClean="0">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t>Our algebra trick is a lot simpler now, and we don’t need to complete the square or define a new auxiliary variable:</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b="0" i="1" smtClean="0">
                          <a:latin typeface="Cambria Math" panose="02040503050406030204" pitchFamily="18" charset="0"/>
                        </a:rPr>
                        <m:t>,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m:t>
                      </m:r>
                      <m:rad>
                        <m:radPr>
                          <m:degHide m:val="on"/>
                          <m:ctrlPr>
                            <a:rPr lang="en-US" b="0" i="1" smtClean="0">
                              <a:latin typeface="Cambria Math" panose="02040503050406030204" pitchFamily="18" charset="0"/>
                              <a:ea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e>
                      </m:rad>
                    </m:oMath>
                  </m:oMathPara>
                </a14:m>
                <a:endParaRPr lang="en-US" dirty="0"/>
              </a:p>
              <a:p>
                <a:r>
                  <a:rPr lang="en-US" sz="1600" dirty="0"/>
                  <a:t>Our KVL equation is now:</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i="1">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i="1">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ea typeface="Cambria Math" panose="02040503050406030204" pitchFamily="18" charset="0"/>
                  </a:rPr>
                  <a:t>Converting to s-domain:</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r>
                        <a:rPr lang="en-US" sz="1600" i="1">
                          <a:latin typeface="Cambria Math" panose="02040503050406030204" pitchFamily="18" charset="0"/>
                        </a:rPr>
                        <m:t>𝑠𝐿</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𝑠𝐶</m:t>
                          </m:r>
                        </m:den>
                      </m:f>
                      <m:r>
                        <a:rPr lang="en-US" sz="1600" b="0" i="1" smtClean="0">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oMath>
                  </m:oMathPara>
                </a14:m>
                <a:endParaRPr lang="en-US" dirty="0"/>
              </a:p>
            </p:txBody>
          </p:sp>
        </mc:Choice>
        <mc:Fallback xmlns="">
          <p:sp>
            <p:nvSpPr>
              <p:cNvPr id="7" name="TextBox 6">
                <a:extLst>
                  <a:ext uri="{FF2B5EF4-FFF2-40B4-BE49-F238E27FC236}">
                    <a16:creationId xmlns:a16="http://schemas.microsoft.com/office/drawing/2014/main" id="{11BA93C1-3496-4F0D-76C1-0D2E2E8A1BFD}"/>
                  </a:ext>
                </a:extLst>
              </p:cNvPr>
              <p:cNvSpPr txBox="1">
                <a:spLocks noRot="1" noChangeAspect="1" noMove="1" noResize="1" noEditPoints="1" noAdjustHandles="1" noChangeArrowheads="1" noChangeShapeType="1" noTextEdit="1"/>
              </p:cNvSpPr>
              <p:nvPr/>
            </p:nvSpPr>
            <p:spPr>
              <a:xfrm>
                <a:off x="325772" y="1497959"/>
                <a:ext cx="5531135" cy="4286173"/>
              </a:xfrm>
              <a:prstGeom prst="rect">
                <a:avLst/>
              </a:prstGeom>
              <a:blipFill>
                <a:blip r:embed="rId2"/>
                <a:stretch>
                  <a:fillRect l="-551" t="-427"/>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DAC2D66-50C1-F0A9-1FC6-16809A242364}"/>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CC2C2A0-1288-55C5-849F-32904003E740}"/>
                  </a:ext>
                </a:extLst>
              </p:cNvPr>
              <p:cNvSpPr txBox="1"/>
              <p:nvPr/>
            </p:nvSpPr>
            <p:spPr>
              <a:xfrm>
                <a:off x="6335093" y="1497959"/>
                <a:ext cx="5531135" cy="4380430"/>
              </a:xfrm>
              <a:prstGeom prst="rect">
                <a:avLst/>
              </a:prstGeom>
              <a:noFill/>
            </p:spPr>
            <p:txBody>
              <a:bodyPr wrap="square">
                <a:spAutoFit/>
              </a:bodyPr>
              <a:lstStyle/>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𝑠</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𝐶</m:t>
                          </m:r>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2</m:t>
                              </m:r>
                            </m:sup>
                          </m:sSup>
                          <m:r>
                            <a:rPr lang="en-US" b="0" i="1" smtClean="0">
                              <a:latin typeface="Cambria Math" panose="02040503050406030204" pitchFamily="18" charset="0"/>
                            </a:rPr>
                            <m:t>𝐿𝐶</m:t>
                          </m:r>
                          <m:r>
                            <a:rPr lang="en-US" b="0" i="1" smtClean="0">
                              <a:latin typeface="Cambria Math" panose="02040503050406030204" pitchFamily="18" charset="0"/>
                            </a:rPr>
                            <m:t>+</m:t>
                          </m:r>
                          <m:r>
                            <a:rPr lang="en-US" b="0" i="1" smtClean="0">
                              <a:latin typeface="Cambria Math" panose="02040503050406030204" pitchFamily="18" charset="0"/>
                            </a:rPr>
                            <m:t>𝑠𝑅𝐶</m:t>
                          </m:r>
                          <m:r>
                            <a:rPr lang="en-US" b="0" i="1" smtClean="0">
                              <a:latin typeface="Cambria Math" panose="02040503050406030204" pitchFamily="18" charset="0"/>
                            </a:rPr>
                            <m:t>+1</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A little messier, but  this is once again a proper transfer function. Note the factor of </a:t>
                </a:r>
                <a:r>
                  <a:rPr lang="en-US" sz="1600" dirty="0">
                    <a:latin typeface="Cambria Math" panose="02040503050406030204" pitchFamily="18" charset="0"/>
                    <a:ea typeface="Cambria Math" panose="02040503050406030204" pitchFamily="18" charset="0"/>
                  </a:rPr>
                  <a:t>s</a:t>
                </a:r>
                <a:r>
                  <a:rPr lang="en-US" sz="1600" dirty="0">
                    <a:ea typeface="Cambria Math" panose="02040503050406030204" pitchFamily="18" charset="0"/>
                  </a:rPr>
                  <a:t> in the numerator.</a:t>
                </a:r>
              </a:p>
              <a:p>
                <a:endParaRPr lang="en-US" sz="1600" dirty="0">
                  <a:ea typeface="Cambria Math" panose="02040503050406030204" pitchFamily="18" charset="0"/>
                </a:endParaRPr>
              </a:p>
              <a:p>
                <a:r>
                  <a:rPr lang="en-US" sz="1600" dirty="0">
                    <a:ea typeface="Cambria Math" panose="02040503050406030204" pitchFamily="18" charset="0"/>
                  </a:rPr>
                  <a:t>Once again, we can combine the M</a:t>
                </a:r>
                <a:r>
                  <a:rPr lang="en-US" sz="1600" baseline="-25000" dirty="0">
                    <a:ea typeface="Cambria Math" panose="02040503050406030204" pitchFamily="18" charset="0"/>
                  </a:rPr>
                  <a:t>T</a:t>
                </a:r>
                <a:r>
                  <a:rPr lang="en-US" sz="1600" dirty="0">
                    <a:ea typeface="Cambria Math" panose="02040503050406030204" pitchFamily="18" charset="0"/>
                  </a:rPr>
                  <a:t>(t) to M(t) transformation and the electrical circuitry together and treat it as a singular linear system.</a:t>
                </a:r>
              </a:p>
              <a:p>
                <a:endParaRPr lang="en-US" sz="1600" dirty="0">
                  <a:ea typeface="Cambria Math" panose="02040503050406030204" pitchFamily="18" charset="0"/>
                </a:endParaRPr>
              </a:p>
              <a:p>
                <a:r>
                  <a:rPr lang="en-US" sz="1600" dirty="0">
                    <a:ea typeface="Cambria Math" panose="02040503050406030204" pitchFamily="18" charset="0"/>
                  </a:rPr>
                  <a:t>While I was able to skip over many steps since the approach is similar, this idea of PI</a:t>
                </a:r>
                <a:r>
                  <a:rPr lang="en-US" sz="1600" baseline="30000" dirty="0">
                    <a:ea typeface="Cambria Math" panose="02040503050406030204" pitchFamily="18" charset="0"/>
                  </a:rPr>
                  <a:t>2</a:t>
                </a:r>
                <a:r>
                  <a:rPr lang="en-US" sz="1600" dirty="0">
                    <a:ea typeface="Cambria Math" panose="02040503050406030204" pitchFamily="18" charset="0"/>
                  </a:rPr>
                  <a:t> control seems to be significantly simpler, even if the transfer function looks more complicated. So why not use this method? Let’s test them out…</a:t>
                </a:r>
              </a:p>
            </p:txBody>
          </p:sp>
        </mc:Choice>
        <mc:Fallback xmlns="">
          <p:sp>
            <p:nvSpPr>
              <p:cNvPr id="10" name="TextBox 9">
                <a:extLst>
                  <a:ext uri="{FF2B5EF4-FFF2-40B4-BE49-F238E27FC236}">
                    <a16:creationId xmlns:a16="http://schemas.microsoft.com/office/drawing/2014/main" id="{9CC2C2A0-1288-55C5-849F-32904003E740}"/>
                  </a:ext>
                </a:extLst>
              </p:cNvPr>
              <p:cNvSpPr txBox="1">
                <a:spLocks noRot="1" noChangeAspect="1" noMove="1" noResize="1" noEditPoints="1" noAdjustHandles="1" noChangeArrowheads="1" noChangeShapeType="1" noTextEdit="1"/>
              </p:cNvSpPr>
              <p:nvPr/>
            </p:nvSpPr>
            <p:spPr>
              <a:xfrm>
                <a:off x="6335093" y="1497959"/>
                <a:ext cx="5531135" cy="4380430"/>
              </a:xfrm>
              <a:prstGeom prst="rect">
                <a:avLst/>
              </a:prstGeom>
              <a:blipFill>
                <a:blip r:embed="rId3"/>
                <a:stretch>
                  <a:fillRect l="-551" t="-418" b="-836"/>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1E82F90F-1E75-FED1-B98D-0D2AF13FDAFF}"/>
              </a:ext>
            </a:extLst>
          </p:cNvPr>
          <p:cNvSpPr/>
          <p:nvPr/>
        </p:nvSpPr>
        <p:spPr>
          <a:xfrm>
            <a:off x="7558480" y="2009162"/>
            <a:ext cx="3095537" cy="81435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84663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D5010-5C1B-5283-9C9F-83368CF66D34}"/>
              </a:ext>
            </a:extLst>
          </p:cNvPr>
          <p:cNvSpPr>
            <a:spLocks noGrp="1"/>
          </p:cNvSpPr>
          <p:nvPr>
            <p:ph type="title"/>
          </p:nvPr>
        </p:nvSpPr>
        <p:spPr/>
        <p:txBody>
          <a:bodyPr>
            <a:normAutofit/>
          </a:bodyPr>
          <a:lstStyle/>
          <a:p>
            <a:r>
              <a:rPr lang="en-US" sz="4000" dirty="0"/>
              <a:t>Time-Domain Simulation (0s&lt;t&lt;100s)</a:t>
            </a:r>
          </a:p>
        </p:txBody>
      </p:sp>
      <p:pic>
        <p:nvPicPr>
          <p:cNvPr id="12" name="Picture 11">
            <a:extLst>
              <a:ext uri="{FF2B5EF4-FFF2-40B4-BE49-F238E27FC236}">
                <a16:creationId xmlns:a16="http://schemas.microsoft.com/office/drawing/2014/main" id="{BB053A28-FC77-FB2C-FFBB-56E0D89968FB}"/>
              </a:ext>
            </a:extLst>
          </p:cNvPr>
          <p:cNvPicPr>
            <a:picLocks noChangeAspect="1"/>
          </p:cNvPicPr>
          <p:nvPr/>
        </p:nvPicPr>
        <p:blipFill>
          <a:blip r:embed="rId2"/>
          <a:stretch>
            <a:fillRect/>
          </a:stretch>
        </p:blipFill>
        <p:spPr>
          <a:xfrm>
            <a:off x="739589" y="1402976"/>
            <a:ext cx="10910047" cy="5285931"/>
          </a:xfrm>
          <a:prstGeom prst="rect">
            <a:avLst/>
          </a:prstGeom>
        </p:spPr>
      </p:pic>
      <p:sp>
        <p:nvSpPr>
          <p:cNvPr id="13" name="TextBox 12">
            <a:extLst>
              <a:ext uri="{FF2B5EF4-FFF2-40B4-BE49-F238E27FC236}">
                <a16:creationId xmlns:a16="http://schemas.microsoft.com/office/drawing/2014/main" id="{03DD057F-5EED-B2E4-67A4-3B6F26E9A445}"/>
              </a:ext>
            </a:extLst>
          </p:cNvPr>
          <p:cNvSpPr txBox="1"/>
          <p:nvPr/>
        </p:nvSpPr>
        <p:spPr>
          <a:xfrm>
            <a:off x="9082425" y="1581071"/>
            <a:ext cx="2562305" cy="369332"/>
          </a:xfrm>
          <a:prstGeom prst="rect">
            <a:avLst/>
          </a:prstGeom>
          <a:noFill/>
        </p:spPr>
        <p:txBody>
          <a:bodyPr wrap="none" rtlCol="0">
            <a:spAutoFit/>
          </a:bodyPr>
          <a:lstStyle/>
          <a:p>
            <a:r>
              <a:rPr lang="en-US" dirty="0">
                <a:solidFill>
                  <a:srgbClr val="00A3EB"/>
                </a:solidFill>
              </a:rPr>
              <a:t>Constant Target Current</a:t>
            </a:r>
          </a:p>
        </p:txBody>
      </p:sp>
      <p:sp>
        <p:nvSpPr>
          <p:cNvPr id="14" name="TextBox 13">
            <a:extLst>
              <a:ext uri="{FF2B5EF4-FFF2-40B4-BE49-F238E27FC236}">
                <a16:creationId xmlns:a16="http://schemas.microsoft.com/office/drawing/2014/main" id="{5B62A6E5-7064-6B33-6E4D-B02F14A0CF56}"/>
              </a:ext>
            </a:extLst>
          </p:cNvPr>
          <p:cNvSpPr txBox="1"/>
          <p:nvPr/>
        </p:nvSpPr>
        <p:spPr>
          <a:xfrm>
            <a:off x="8952413" y="587369"/>
            <a:ext cx="2800317" cy="861774"/>
          </a:xfrm>
          <a:prstGeom prst="rect">
            <a:avLst/>
          </a:prstGeom>
          <a:noFill/>
        </p:spPr>
        <p:txBody>
          <a:bodyPr wrap="none" rtlCol="0">
            <a:spAutoFit/>
          </a:bodyPr>
          <a:lstStyle/>
          <a:p>
            <a:pPr algn="r"/>
            <a:r>
              <a:rPr lang="en-US" sz="1600" dirty="0"/>
              <a:t>Response to 3.75A step input</a:t>
            </a:r>
          </a:p>
          <a:p>
            <a:pPr algn="r"/>
            <a:r>
              <a:rPr lang="en-US" sz="1600" dirty="0"/>
              <a:t>FF+PI performance is in </a:t>
            </a:r>
            <a:r>
              <a:rPr lang="en-US" sz="1600" dirty="0">
                <a:solidFill>
                  <a:srgbClr val="00B050"/>
                </a:solidFill>
              </a:rPr>
              <a:t>green</a:t>
            </a:r>
          </a:p>
          <a:p>
            <a:pPr algn="r"/>
            <a:r>
              <a:rPr lang="en-US" sz="1600" dirty="0"/>
              <a:t>PI</a:t>
            </a:r>
            <a:r>
              <a:rPr lang="en-US" sz="1600" baseline="30000" dirty="0"/>
              <a:t>2</a:t>
            </a:r>
            <a:r>
              <a:rPr lang="en-US" sz="1600" dirty="0"/>
              <a:t> performance is in </a:t>
            </a:r>
            <a:r>
              <a:rPr lang="en-US" sz="1600" dirty="0">
                <a:solidFill>
                  <a:srgbClr val="FF0000"/>
                </a:solidFill>
              </a:rPr>
              <a:t>red</a:t>
            </a:r>
          </a:p>
        </p:txBody>
      </p:sp>
      <p:sp>
        <p:nvSpPr>
          <p:cNvPr id="15" name="TextBox 14">
            <a:extLst>
              <a:ext uri="{FF2B5EF4-FFF2-40B4-BE49-F238E27FC236}">
                <a16:creationId xmlns:a16="http://schemas.microsoft.com/office/drawing/2014/main" id="{7ED8E646-A6E0-8BD1-91DE-71F759A6219B}"/>
              </a:ext>
            </a:extLst>
          </p:cNvPr>
          <p:cNvSpPr txBox="1"/>
          <p:nvPr/>
        </p:nvSpPr>
        <p:spPr>
          <a:xfrm>
            <a:off x="5790318" y="1666833"/>
            <a:ext cx="3286760" cy="923330"/>
          </a:xfrm>
          <a:prstGeom prst="rect">
            <a:avLst/>
          </a:prstGeom>
          <a:noFill/>
          <a:ln>
            <a:solidFill>
              <a:schemeClr val="tx1"/>
            </a:solidFill>
          </a:ln>
        </p:spPr>
        <p:txBody>
          <a:bodyPr wrap="square" rtlCol="0">
            <a:spAutoFit/>
          </a:bodyPr>
          <a:lstStyle/>
          <a:p>
            <a:r>
              <a:rPr lang="en-US" dirty="0"/>
              <a:t>You can’t see it here, but the </a:t>
            </a:r>
            <a:r>
              <a:rPr lang="en-US" dirty="0">
                <a:solidFill>
                  <a:srgbClr val="00B050"/>
                </a:solidFill>
              </a:rPr>
              <a:t>FF+PI current waveform </a:t>
            </a:r>
            <a:r>
              <a:rPr lang="en-US" dirty="0"/>
              <a:t>is overlapping the </a:t>
            </a:r>
            <a:r>
              <a:rPr lang="en-US" dirty="0">
                <a:solidFill>
                  <a:srgbClr val="00A3EB"/>
                </a:solidFill>
              </a:rPr>
              <a:t>target current </a:t>
            </a:r>
          </a:p>
        </p:txBody>
      </p:sp>
    </p:spTree>
    <p:extLst>
      <p:ext uri="{BB962C8B-B14F-4D97-AF65-F5344CB8AC3E}">
        <p14:creationId xmlns:p14="http://schemas.microsoft.com/office/powerpoint/2010/main" val="11412214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C1CF0-B5F2-5429-80A8-9F22A8D3BBF3}"/>
              </a:ext>
            </a:extLst>
          </p:cNvPr>
          <p:cNvSpPr>
            <a:spLocks noGrp="1"/>
          </p:cNvSpPr>
          <p:nvPr>
            <p:ph type="title"/>
          </p:nvPr>
        </p:nvSpPr>
        <p:spPr>
          <a:xfrm>
            <a:off x="839788" y="403123"/>
            <a:ext cx="3932237" cy="848032"/>
          </a:xfrm>
        </p:spPr>
        <p:txBody>
          <a:bodyPr/>
          <a:lstStyle/>
          <a:p>
            <a:r>
              <a:rPr lang="en-US" dirty="0"/>
              <a:t>Time-Domain Analysis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06354430-20E4-3E98-0041-FAEABA9D6B18}"/>
                  </a:ext>
                </a:extLst>
              </p:cNvPr>
              <p:cNvSpPr>
                <a:spLocks noGrp="1"/>
              </p:cNvSpPr>
              <p:nvPr>
                <p:ph type="body" sz="half" idx="2"/>
              </p:nvPr>
            </p:nvSpPr>
            <p:spPr>
              <a:xfrm>
                <a:off x="839788" y="1251155"/>
                <a:ext cx="3932237" cy="4490884"/>
              </a:xfrm>
            </p:spPr>
            <p:txBody>
              <a:bodyPr>
                <a:normAutofit/>
              </a:bodyPr>
              <a:lstStyle/>
              <a:p>
                <a:r>
                  <a:rPr lang="en-US" dirty="0"/>
                  <a:t>Remember that asterisk? What we did was assume that</a:t>
                </a:r>
              </a:p>
              <a:p>
                <a:pPr/>
                <a14:m>
                  <m:oMathPara xmlns:m="http://schemas.openxmlformats.org/officeDocument/2006/math">
                    <m:oMathParaPr>
                      <m:jc m:val="centerGroup"/>
                    </m:oMathParaPr>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𝐶</m:t>
                          </m:r>
                        </m:den>
                      </m:f>
                      <m:nary>
                        <m:naryPr>
                          <m:limLoc m:val="undOvr"/>
                          <m:subHide m:val="on"/>
                          <m:supHide m:val="on"/>
                          <m:ctrlPr>
                            <a:rPr lang="en-US" b="0" i="1" smtClean="0">
                              <a:latin typeface="Cambria Math" panose="02040503050406030204" pitchFamily="18" charset="0"/>
                            </a:rPr>
                          </m:ctrlPr>
                        </m:naryP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den>
                          </m:f>
                          <m:r>
                            <a:rPr lang="en-US" b="0" i="1" smtClean="0">
                              <a:latin typeface="Cambria Math" panose="02040503050406030204" pitchFamily="18" charset="0"/>
                            </a:rPr>
                            <m:t>𝑑𝑡</m:t>
                          </m:r>
                        </m:e>
                      </m:nary>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𝐶</m:t>
                          </m:r>
                          <m:r>
                            <a:rPr lang="en-US" i="1">
                              <a:latin typeface="Cambria Math" panose="02040503050406030204" pitchFamily="18" charset="0"/>
                            </a:rPr>
                            <m:t>∗</m:t>
                          </m:r>
                          <m:r>
                            <a:rPr lang="en-US" i="1">
                              <a:latin typeface="Cambria Math" panose="02040503050406030204" pitchFamily="18" charset="0"/>
                            </a:rPr>
                            <m:t>𝑀</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den>
                      </m:f>
                      <m:nary>
                        <m:naryPr>
                          <m:limLoc m:val="undOvr"/>
                          <m:subHide m:val="on"/>
                          <m:supHide m:val="on"/>
                          <m:ctrlPr>
                            <a:rPr lang="en-US" i="1">
                              <a:latin typeface="Cambria Math" panose="02040503050406030204" pitchFamily="18" charset="0"/>
                            </a:rPr>
                          </m:ctrlPr>
                        </m:naryPr>
                        <m:sub/>
                        <m:sup/>
                        <m:e>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e>
                      </m:nary>
                      <m:r>
                        <a:rPr lang="en-US" b="0" i="1" smtClean="0">
                          <a:latin typeface="Cambria Math" panose="02040503050406030204" pitchFamily="18" charset="0"/>
                        </a:rPr>
                        <m:t>𝑑𝑡</m:t>
                      </m:r>
                    </m:oMath>
                  </m:oMathPara>
                </a14:m>
                <a:endParaRPr lang="en-US" dirty="0"/>
              </a:p>
              <a:p>
                <a:r>
                  <a:rPr lang="en-US" dirty="0"/>
                  <a:t>We can’t actually do this since </a:t>
                </a:r>
                <a:r>
                  <a:rPr lang="en-US" dirty="0">
                    <a:latin typeface="Cambria Math" panose="02040503050406030204" pitchFamily="18" charset="0"/>
                    <a:ea typeface="Cambria Math" panose="02040503050406030204" pitchFamily="18" charset="0"/>
                  </a:rPr>
                  <a:t>M(t)</a:t>
                </a:r>
                <a:r>
                  <a:rPr lang="en-US" dirty="0"/>
                  <a:t> is not a scalar value, and this has come back to bite us. Notice that this integral term corresponds precisely to the voltage term that was accounted for with a feed-forward signal! </a:t>
                </a:r>
              </a:p>
              <a:p>
                <a:r>
                  <a:rPr lang="en-US" dirty="0"/>
                  <a:t>Therefore, going forward, our best bet is to stick with FF+PI control. </a:t>
                </a:r>
              </a:p>
              <a:p>
                <a:r>
                  <a:rPr lang="en-US" dirty="0"/>
                  <a:t>Note: If y’all can figure out a way to get a more accurate representation of the system and get a feasible implementation of PI</a:t>
                </a:r>
                <a:r>
                  <a:rPr lang="en-US" baseline="30000" dirty="0"/>
                  <a:t>2</a:t>
                </a:r>
                <a:r>
                  <a:rPr lang="en-US" dirty="0"/>
                  <a:t> control, please let me know</a:t>
                </a:r>
              </a:p>
            </p:txBody>
          </p:sp>
        </mc:Choice>
        <mc:Fallback xmlns="">
          <p:sp>
            <p:nvSpPr>
              <p:cNvPr id="4" name="Text Placeholder 3">
                <a:extLst>
                  <a:ext uri="{FF2B5EF4-FFF2-40B4-BE49-F238E27FC236}">
                    <a16:creationId xmlns:a16="http://schemas.microsoft.com/office/drawing/2014/main" id="{06354430-20E4-3E98-0041-FAEABA9D6B18}"/>
                  </a:ext>
                </a:extLst>
              </p:cNvPr>
              <p:cNvSpPr>
                <a:spLocks noGrp="1" noRot="1" noChangeAspect="1" noMove="1" noResize="1" noEditPoints="1" noAdjustHandles="1" noChangeArrowheads="1" noChangeShapeType="1" noTextEdit="1"/>
              </p:cNvSpPr>
              <p:nvPr>
                <p:ph type="body" sz="half" idx="2"/>
              </p:nvPr>
            </p:nvSpPr>
            <p:spPr>
              <a:xfrm>
                <a:off x="839788" y="1251155"/>
                <a:ext cx="3932237" cy="4490884"/>
              </a:xfrm>
              <a:blipFill>
                <a:blip r:embed="rId2"/>
                <a:stretch>
                  <a:fillRect l="-9302" t="-12347" r="-232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0DA8459A-2AD7-874A-FF0A-CA9F5F944817}"/>
              </a:ext>
            </a:extLst>
          </p:cNvPr>
          <p:cNvPicPr>
            <a:picLocks noChangeAspect="1"/>
          </p:cNvPicPr>
          <p:nvPr/>
        </p:nvPicPr>
        <p:blipFill>
          <a:blip r:embed="rId3"/>
          <a:stretch>
            <a:fillRect/>
          </a:stretch>
        </p:blipFill>
        <p:spPr>
          <a:xfrm>
            <a:off x="4955445" y="1251155"/>
            <a:ext cx="7108607" cy="3444129"/>
          </a:xfrm>
          <a:prstGeom prst="rect">
            <a:avLst/>
          </a:prstGeom>
        </p:spPr>
      </p:pic>
    </p:spTree>
    <p:extLst>
      <p:ext uri="{BB962C8B-B14F-4D97-AF65-F5344CB8AC3E}">
        <p14:creationId xmlns:p14="http://schemas.microsoft.com/office/powerpoint/2010/main" val="7405671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AB8E09-6462-C114-BB7E-1DA5A04BEAB9}"/>
              </a:ext>
            </a:extLst>
          </p:cNvPr>
          <p:cNvSpPr>
            <a:spLocks noGrp="1"/>
          </p:cNvSpPr>
          <p:nvPr>
            <p:ph type="title"/>
          </p:nvPr>
        </p:nvSpPr>
        <p:spPr/>
        <p:txBody>
          <a:bodyPr/>
          <a:lstStyle/>
          <a:p>
            <a:r>
              <a:rPr lang="en-US" dirty="0"/>
              <a:t>Addendum: On Feed-Forward Systems</a:t>
            </a:r>
          </a:p>
        </p:txBody>
      </p:sp>
      <p:sp>
        <p:nvSpPr>
          <p:cNvPr id="3" name="Content Placeholder 2">
            <a:extLst>
              <a:ext uri="{FF2B5EF4-FFF2-40B4-BE49-F238E27FC236}">
                <a16:creationId xmlns:a16="http://schemas.microsoft.com/office/drawing/2014/main" id="{333F89A1-3EA7-E57C-621F-60AFC6CB7643}"/>
              </a:ext>
            </a:extLst>
          </p:cNvPr>
          <p:cNvSpPr>
            <a:spLocks noGrp="1"/>
          </p:cNvSpPr>
          <p:nvPr>
            <p:ph idx="1"/>
          </p:nvPr>
        </p:nvSpPr>
        <p:spPr/>
        <p:txBody>
          <a:bodyPr/>
          <a:lstStyle/>
          <a:p>
            <a:pPr marL="0" indent="0">
              <a:buNone/>
            </a:pPr>
            <a:r>
              <a:rPr lang="en-US" dirty="0"/>
              <a:t>In general, feed-forward systems are a way to perform </a:t>
            </a:r>
            <a:r>
              <a:rPr lang="en-US" i="1" dirty="0"/>
              <a:t>disturbance rejection</a:t>
            </a:r>
            <a:r>
              <a:rPr lang="en-US" dirty="0"/>
              <a:t>, where extraneous signals that result from interactions of the system with itself and surroundings (known as disturbances) have their undesirable effects minimized. This particular approach directly measures the quantity in question (capacitor voltage) and subtracts it – pretty intuitive. </a:t>
            </a:r>
          </a:p>
          <a:p>
            <a:pPr marL="0" indent="0">
              <a:buNone/>
            </a:pPr>
            <a:r>
              <a:rPr lang="en-US" dirty="0"/>
              <a:t>A question I answered and  found pertinent to include: Why not feed-forward the inductor current? The inductor current is the “through” variable for the entire RLC branch, so performing feed-forward cancellation would result in a controlled current of 0.</a:t>
            </a:r>
          </a:p>
        </p:txBody>
      </p:sp>
    </p:spTree>
    <p:extLst>
      <p:ext uri="{BB962C8B-B14F-4D97-AF65-F5344CB8AC3E}">
        <p14:creationId xmlns:p14="http://schemas.microsoft.com/office/powerpoint/2010/main" val="38668669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89A3D-D927-CD28-04C2-6773BAFAD05E}"/>
              </a:ext>
            </a:extLst>
          </p:cNvPr>
          <p:cNvSpPr>
            <a:spLocks noGrp="1"/>
          </p:cNvSpPr>
          <p:nvPr>
            <p:ph type="title"/>
          </p:nvPr>
        </p:nvSpPr>
        <p:spPr/>
        <p:txBody>
          <a:bodyPr/>
          <a:lstStyle/>
          <a:p>
            <a:r>
              <a:rPr lang="en-US" dirty="0"/>
              <a:t>Section 2: Reverse Charging and Boost Mode</a:t>
            </a:r>
          </a:p>
        </p:txBody>
      </p:sp>
      <p:sp>
        <p:nvSpPr>
          <p:cNvPr id="3" name="Text Placeholder 2">
            <a:extLst>
              <a:ext uri="{FF2B5EF4-FFF2-40B4-BE49-F238E27FC236}">
                <a16:creationId xmlns:a16="http://schemas.microsoft.com/office/drawing/2014/main" id="{1DCAE0AD-606A-16D5-9EC3-437453D7CF14}"/>
              </a:ext>
            </a:extLst>
          </p:cNvPr>
          <p:cNvSpPr>
            <a:spLocks noGrp="1"/>
          </p:cNvSpPr>
          <p:nvPr>
            <p:ph type="body" idx="1"/>
          </p:nvPr>
        </p:nvSpPr>
        <p:spPr/>
        <p:txBody>
          <a:bodyPr/>
          <a:lstStyle/>
          <a:p>
            <a:r>
              <a:rPr lang="en-US" dirty="0"/>
              <a:t>PLECs moment</a:t>
            </a:r>
          </a:p>
        </p:txBody>
      </p:sp>
    </p:spTree>
    <p:extLst>
      <p:ext uri="{BB962C8B-B14F-4D97-AF65-F5344CB8AC3E}">
        <p14:creationId xmlns:p14="http://schemas.microsoft.com/office/powerpoint/2010/main" val="26985407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26C4E-A3D7-60EC-EF35-CD3B548B4F37}"/>
              </a:ext>
            </a:extLst>
          </p:cNvPr>
          <p:cNvSpPr>
            <a:spLocks noGrp="1"/>
          </p:cNvSpPr>
          <p:nvPr>
            <p:ph type="title"/>
          </p:nvPr>
        </p:nvSpPr>
        <p:spPr/>
        <p:txBody>
          <a:bodyPr/>
          <a:lstStyle/>
          <a:p>
            <a:r>
              <a:rPr lang="en-US" dirty="0"/>
              <a:t>Overall System Review: Reverse Charging</a:t>
            </a:r>
          </a:p>
        </p:txBody>
      </p:sp>
      <p:sp>
        <p:nvSpPr>
          <p:cNvPr id="4" name="Text Placeholder 3">
            <a:extLst>
              <a:ext uri="{FF2B5EF4-FFF2-40B4-BE49-F238E27FC236}">
                <a16:creationId xmlns:a16="http://schemas.microsoft.com/office/drawing/2014/main" id="{EBCDFBF2-D857-ADB2-C3BB-EDC8E81B86B3}"/>
              </a:ext>
            </a:extLst>
          </p:cNvPr>
          <p:cNvSpPr>
            <a:spLocks noGrp="1"/>
          </p:cNvSpPr>
          <p:nvPr>
            <p:ph type="body" sz="half" idx="2"/>
          </p:nvPr>
        </p:nvSpPr>
        <p:spPr/>
        <p:txBody>
          <a:bodyPr/>
          <a:lstStyle/>
          <a:p>
            <a:r>
              <a:rPr lang="en-US" dirty="0"/>
              <a:t>Whole system works as parallel sources</a:t>
            </a:r>
          </a:p>
          <a:p>
            <a:pPr marL="285750" indent="-285750">
              <a:buFont typeface="Arial" panose="020B0604020202020204" pitchFamily="34" charset="0"/>
              <a:buChar char="•"/>
            </a:pPr>
            <a:r>
              <a:rPr lang="en-US" dirty="0"/>
              <a:t>Nodes between battery, converter, and load use KCL to divide current</a:t>
            </a:r>
          </a:p>
          <a:p>
            <a:pPr marL="285750" indent="-285750">
              <a:buFont typeface="Arial" panose="020B0604020202020204" pitchFamily="34" charset="0"/>
              <a:buChar char="•"/>
            </a:pPr>
            <a:r>
              <a:rPr lang="en-US" dirty="0"/>
              <a:t>No qualitative distinction between forward charging (storing excess energy) and reverse charging (releasing needed energy)</a:t>
            </a:r>
          </a:p>
          <a:p>
            <a:r>
              <a:rPr lang="en-US" dirty="0"/>
              <a:t>System must work seamlessly between both forward and reverse to allow current control behavior</a:t>
            </a:r>
          </a:p>
        </p:txBody>
      </p:sp>
      <p:grpSp>
        <p:nvGrpSpPr>
          <p:cNvPr id="25" name="Group 24">
            <a:extLst>
              <a:ext uri="{FF2B5EF4-FFF2-40B4-BE49-F238E27FC236}">
                <a16:creationId xmlns:a16="http://schemas.microsoft.com/office/drawing/2014/main" id="{55B2F12C-DB34-F536-02EC-9E1B88FF791D}"/>
              </a:ext>
            </a:extLst>
          </p:cNvPr>
          <p:cNvGrpSpPr/>
          <p:nvPr/>
        </p:nvGrpSpPr>
        <p:grpSpPr>
          <a:xfrm>
            <a:off x="5357118" y="1499088"/>
            <a:ext cx="6216163" cy="4157297"/>
            <a:chOff x="5704740" y="2180492"/>
            <a:chExt cx="6216163" cy="4157297"/>
          </a:xfrm>
        </p:grpSpPr>
        <p:sp>
          <p:nvSpPr>
            <p:cNvPr id="5" name="Rectangle 4">
              <a:extLst>
                <a:ext uri="{FF2B5EF4-FFF2-40B4-BE49-F238E27FC236}">
                  <a16:creationId xmlns:a16="http://schemas.microsoft.com/office/drawing/2014/main" id="{4333A17A-F7FF-003C-D65A-87EE3A9A56CE}"/>
                </a:ext>
              </a:extLst>
            </p:cNvPr>
            <p:cNvSpPr/>
            <p:nvPr/>
          </p:nvSpPr>
          <p:spPr>
            <a:xfrm>
              <a:off x="5704740" y="218049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Battery</a:t>
              </a:r>
            </a:p>
          </p:txBody>
        </p:sp>
        <p:sp>
          <p:nvSpPr>
            <p:cNvPr id="7" name="Rectangle 6">
              <a:extLst>
                <a:ext uri="{FF2B5EF4-FFF2-40B4-BE49-F238E27FC236}">
                  <a16:creationId xmlns:a16="http://schemas.microsoft.com/office/drawing/2014/main" id="{8BA743D7-F146-C8E8-8E8B-27294E452D15}"/>
                </a:ext>
              </a:extLst>
            </p:cNvPr>
            <p:cNvSpPr/>
            <p:nvPr/>
          </p:nvSpPr>
          <p:spPr>
            <a:xfrm>
              <a:off x="10008576" y="218049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Load</a:t>
              </a:r>
            </a:p>
          </p:txBody>
        </p:sp>
        <p:sp>
          <p:nvSpPr>
            <p:cNvPr id="8" name="Rectangle 7">
              <a:extLst>
                <a:ext uri="{FF2B5EF4-FFF2-40B4-BE49-F238E27FC236}">
                  <a16:creationId xmlns:a16="http://schemas.microsoft.com/office/drawing/2014/main" id="{DB6A3E24-0326-F016-C421-9BCF44EF3E29}"/>
                </a:ext>
              </a:extLst>
            </p:cNvPr>
            <p:cNvSpPr/>
            <p:nvPr/>
          </p:nvSpPr>
          <p:spPr>
            <a:xfrm>
              <a:off x="8533666" y="442546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Converter</a:t>
              </a:r>
            </a:p>
          </p:txBody>
        </p:sp>
        <p:cxnSp>
          <p:nvCxnSpPr>
            <p:cNvPr id="10" name="Straight Connector 9">
              <a:extLst>
                <a:ext uri="{FF2B5EF4-FFF2-40B4-BE49-F238E27FC236}">
                  <a16:creationId xmlns:a16="http://schemas.microsoft.com/office/drawing/2014/main" id="{0960E20F-B69F-93E3-8741-69730F35434E}"/>
                </a:ext>
              </a:extLst>
            </p:cNvPr>
            <p:cNvCxnSpPr>
              <a:cxnSpLocks/>
            </p:cNvCxnSpPr>
            <p:nvPr/>
          </p:nvCxnSpPr>
          <p:spPr>
            <a:xfrm>
              <a:off x="7617067" y="2773973"/>
              <a:ext cx="2397371"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42ABB98-1804-4EB7-D248-24B0183B5E07}"/>
                </a:ext>
              </a:extLst>
            </p:cNvPr>
            <p:cNvCxnSpPr>
              <a:cxnSpLocks/>
            </p:cNvCxnSpPr>
            <p:nvPr/>
          </p:nvCxnSpPr>
          <p:spPr>
            <a:xfrm>
              <a:off x="7617067" y="3396762"/>
              <a:ext cx="2391509"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B963A33A-A9E4-1369-E049-82AC9807A44E}"/>
                </a:ext>
              </a:extLst>
            </p:cNvPr>
            <p:cNvCxnSpPr>
              <a:cxnSpLocks/>
            </p:cNvCxnSpPr>
            <p:nvPr/>
          </p:nvCxnSpPr>
          <p:spPr>
            <a:xfrm>
              <a:off x="8313127" y="4974981"/>
              <a:ext cx="220539"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49BC010C-4EDF-8CBD-AF4A-FDF81F920A3B}"/>
                </a:ext>
              </a:extLst>
            </p:cNvPr>
            <p:cNvCxnSpPr/>
            <p:nvPr/>
          </p:nvCxnSpPr>
          <p:spPr>
            <a:xfrm flipV="1">
              <a:off x="8313127" y="2773973"/>
              <a:ext cx="0" cy="2201008"/>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5F2B6C75-A9ED-10D8-96E3-699E51F43910}"/>
                </a:ext>
              </a:extLst>
            </p:cNvPr>
            <p:cNvCxnSpPr>
              <a:cxnSpLocks/>
            </p:cNvCxnSpPr>
            <p:nvPr/>
          </p:nvCxnSpPr>
          <p:spPr>
            <a:xfrm flipH="1">
              <a:off x="7838342" y="5794131"/>
              <a:ext cx="695324"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60D916A2-FABD-FAA0-FCC3-85126343BA71}"/>
                </a:ext>
              </a:extLst>
            </p:cNvPr>
            <p:cNvCxnSpPr>
              <a:cxnSpLocks/>
              <a:stCxn id="22" idx="3"/>
            </p:cNvCxnSpPr>
            <p:nvPr/>
          </p:nvCxnSpPr>
          <p:spPr>
            <a:xfrm flipV="1">
              <a:off x="7838341" y="3396762"/>
              <a:ext cx="1" cy="2590067"/>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sp>
          <p:nvSpPr>
            <p:cNvPr id="20" name="Oval 19">
              <a:extLst>
                <a:ext uri="{FF2B5EF4-FFF2-40B4-BE49-F238E27FC236}">
                  <a16:creationId xmlns:a16="http://schemas.microsoft.com/office/drawing/2014/main" id="{56CCD26D-A8E8-D53E-FE3D-F682956C9A94}"/>
                </a:ext>
              </a:extLst>
            </p:cNvPr>
            <p:cNvSpPr/>
            <p:nvPr/>
          </p:nvSpPr>
          <p:spPr>
            <a:xfrm>
              <a:off x="7806103" y="3364524"/>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DCB4F9A0-CD84-9F1B-B2D7-9878254789AD}"/>
                </a:ext>
              </a:extLst>
            </p:cNvPr>
            <p:cNvSpPr/>
            <p:nvPr/>
          </p:nvSpPr>
          <p:spPr>
            <a:xfrm>
              <a:off x="8280889" y="2737340"/>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9CEBB0B1-775F-23FD-F38D-AAB40C8615E8}"/>
                </a:ext>
              </a:extLst>
            </p:cNvPr>
            <p:cNvSpPr/>
            <p:nvPr/>
          </p:nvSpPr>
          <p:spPr>
            <a:xfrm rot="10800000">
              <a:off x="7746549" y="5986829"/>
              <a:ext cx="183584" cy="158262"/>
            </a:xfrm>
            <a:prstGeom prst="triangl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ACEB3883-DD7C-6E95-5F04-3652D4439CE2}"/>
                </a:ext>
              </a:extLst>
            </p:cNvPr>
            <p:cNvSpPr/>
            <p:nvPr/>
          </p:nvSpPr>
          <p:spPr>
            <a:xfrm>
              <a:off x="7806102" y="5761893"/>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Rounded Corners 25">
            <a:extLst>
              <a:ext uri="{FF2B5EF4-FFF2-40B4-BE49-F238E27FC236}">
                <a16:creationId xmlns:a16="http://schemas.microsoft.com/office/drawing/2014/main" id="{13D99816-F563-92A5-B1EF-588931661F86}"/>
              </a:ext>
            </a:extLst>
          </p:cNvPr>
          <p:cNvSpPr/>
          <p:nvPr/>
        </p:nvSpPr>
        <p:spPr>
          <a:xfrm>
            <a:off x="5215466" y="1120350"/>
            <a:ext cx="6484118" cy="470895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92FF557-B237-0864-14C9-50C9590DC8C5}"/>
              </a:ext>
            </a:extLst>
          </p:cNvPr>
          <p:cNvSpPr txBox="1"/>
          <p:nvPr/>
        </p:nvSpPr>
        <p:spPr>
          <a:xfrm>
            <a:off x="9250965" y="1111670"/>
            <a:ext cx="2448619" cy="338554"/>
          </a:xfrm>
          <a:prstGeom prst="rect">
            <a:avLst/>
          </a:prstGeom>
          <a:noFill/>
        </p:spPr>
        <p:txBody>
          <a:bodyPr wrap="none" rtlCol="0">
            <a:spAutoFit/>
          </a:bodyPr>
          <a:lstStyle/>
          <a:p>
            <a:pPr algn="r"/>
            <a:r>
              <a:rPr lang="en-US" sz="1600" b="1" dirty="0"/>
              <a:t>Basic Full System Model</a:t>
            </a:r>
          </a:p>
        </p:txBody>
      </p:sp>
    </p:spTree>
    <p:extLst>
      <p:ext uri="{BB962C8B-B14F-4D97-AF65-F5344CB8AC3E}">
        <p14:creationId xmlns:p14="http://schemas.microsoft.com/office/powerpoint/2010/main" val="18841702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198F8-D73B-29EA-58F4-B7577C77FD19}"/>
              </a:ext>
            </a:extLst>
          </p:cNvPr>
          <p:cNvSpPr>
            <a:spLocks noGrp="1"/>
          </p:cNvSpPr>
          <p:nvPr>
            <p:ph type="title"/>
          </p:nvPr>
        </p:nvSpPr>
        <p:spPr/>
        <p:txBody>
          <a:bodyPr/>
          <a:lstStyle/>
          <a:p>
            <a:r>
              <a:rPr lang="en-US" dirty="0"/>
              <a:t>Reverse Charging: Maximum Reverse Current</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273F8DD2-AE5D-78D7-BF82-7A4B15CB059B}"/>
                  </a:ext>
                </a:extLst>
              </p:cNvPr>
              <p:cNvSpPr>
                <a:spLocks noGrp="1"/>
              </p:cNvSpPr>
              <p:nvPr>
                <p:ph type="body" sz="half" idx="2"/>
              </p:nvPr>
            </p:nvSpPr>
            <p:spPr/>
            <p:txBody>
              <a:bodyPr/>
              <a:lstStyle/>
              <a:p>
                <a:r>
                  <a:rPr lang="en-US" dirty="0"/>
                  <a:t>Formula for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i="1" dirty="0"/>
                  <a:t> </a:t>
                </a:r>
                <a:r>
                  <a:rPr lang="en-US" dirty="0"/>
                  <a:t>has limits:</a:t>
                </a:r>
                <a:endParaRPr lang="en-US" i="1" dirty="0"/>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ea typeface="Cambria Math" panose="02040503050406030204" pitchFamily="18" charset="0"/>
                        </a:rPr>
                        <m:t>±</m:t>
                      </m:r>
                      <m:rad>
                        <m:radPr>
                          <m:degHide m:val="on"/>
                          <m:ctrlPr>
                            <a:rPr lang="en-US" i="1">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𝑇</m:t>
                              </m:r>
                            </m:sub>
                            <m:sup>
                              <m:r>
                                <a:rPr lang="en-US" i="1">
                                  <a:latin typeface="Cambria Math" panose="02040503050406030204" pitchFamily="18" charset="0"/>
                                </a:rPr>
                                <m:t>2</m:t>
                              </m:r>
                            </m:sup>
                          </m:sSubSup>
                        </m:e>
                      </m:rad>
                    </m:oMath>
                  </m:oMathPara>
                </a14:m>
                <a:endParaRPr lang="en-US" dirty="0"/>
              </a:p>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b="0" i="1" smtClean="0">
                            <a:latin typeface="Cambria Math" panose="02040503050406030204" pitchFamily="18" charset="0"/>
                          </a:rPr>
                          <m:t>2</m:t>
                        </m:r>
                      </m:sup>
                    </m:sSubSup>
                  </m:oMath>
                </a14:m>
                <a:r>
                  <a:rPr lang="en-US" dirty="0"/>
                  <a:t> results in non-real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endParaRPr lang="en-US" dirty="0"/>
              </a:p>
              <a:p>
                <a:pPr marL="285750" indent="-285750">
                  <a:buFont typeface="Arial" panose="020B0604020202020204" pitchFamily="34" charset="0"/>
                  <a:buChar char="•"/>
                </a:pPr>
                <a:r>
                  <a:rPr lang="en-US" dirty="0"/>
                  <a:t>Sets limit on maximum reverse current using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 </m:t>
                    </m:r>
                  </m:oMath>
                </a14:m>
                <a:r>
                  <a:rPr lang="en-US" dirty="0"/>
                  <a:t>math trick</a:t>
                </a:r>
              </a:p>
              <a:p>
                <a:pPr marL="285750" indent="-285750">
                  <a:buFont typeface="Arial" panose="020B0604020202020204" pitchFamily="34" charset="0"/>
                  <a:buChar char="•"/>
                </a:pPr>
                <a:r>
                  <a:rPr lang="en-US" dirty="0"/>
                  <a:t>Minimum </a:t>
                </a:r>
                <a14:m>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dirty="0"/>
                  <a:t>corresponds to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oMath>
                </a14:m>
                <a:r>
                  <a:rPr lang="en-US" dirty="0"/>
                  <a:t>, greater than minimum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dirty="0"/>
                  <a:t> realizable</a:t>
                </a:r>
              </a:p>
              <a:p>
                <a:r>
                  <a:rPr lang="en-US" dirty="0"/>
                  <a:t>Look back on model with RL branch – possible to attain higher reverse current?</a:t>
                </a:r>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)&lt;0</m:t>
                    </m:r>
                  </m:oMath>
                </a14:m>
                <a:r>
                  <a:rPr lang="en-US" dirty="0"/>
                  <a:t> requires either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𝐼</m:t>
                        </m:r>
                      </m:e>
                      <m:sub>
                        <m:r>
                          <a:rPr lang="en-US" b="0" i="1" dirty="0" smtClean="0">
                            <a:latin typeface="Cambria Math" panose="02040503050406030204" pitchFamily="18" charset="0"/>
                          </a:rPr>
                          <m:t>𝐿</m:t>
                        </m:r>
                      </m:sub>
                    </m:sSub>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&lt;0, </m:t>
                    </m:r>
                    <m:r>
                      <a:rPr lang="en-US" b="0" i="1" dirty="0" smtClean="0">
                        <a:latin typeface="Cambria Math" panose="02040503050406030204" pitchFamily="18" charset="0"/>
                      </a:rPr>
                      <m:t>𝑀</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&gt;0</m:t>
                    </m:r>
                  </m:oMath>
                </a14:m>
                <a:r>
                  <a:rPr lang="en-US" dirty="0"/>
                  <a:t> 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&gt;0,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&lt;0</m:t>
                    </m:r>
                  </m:oMath>
                </a14:m>
                <a:endParaRPr lang="en-US" dirty="0"/>
              </a:p>
            </p:txBody>
          </p:sp>
        </mc:Choice>
        <mc:Fallback xmlns="">
          <p:sp>
            <p:nvSpPr>
              <p:cNvPr id="4" name="Text Placeholder 3">
                <a:extLst>
                  <a:ext uri="{FF2B5EF4-FFF2-40B4-BE49-F238E27FC236}">
                    <a16:creationId xmlns:a16="http://schemas.microsoft.com/office/drawing/2014/main" id="{273F8DD2-AE5D-78D7-BF82-7A4B15CB059B}"/>
                  </a:ext>
                </a:extLst>
              </p:cNvPr>
              <p:cNvSpPr>
                <a:spLocks noGrp="1" noRot="1" noChangeAspect="1" noMove="1" noResize="1" noEditPoints="1" noAdjustHandles="1" noChangeArrowheads="1" noChangeShapeType="1" noTextEdit="1"/>
              </p:cNvSpPr>
              <p:nvPr>
                <p:ph type="body" sz="half" idx="2"/>
              </p:nvPr>
            </p:nvSpPr>
            <p:spPr>
              <a:blipFill>
                <a:blip r:embed="rId2"/>
                <a:stretch>
                  <a:fillRect l="-930" t="-1120"/>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6C88532B-1D99-30C9-0C25-F0C77D0C6B0B}"/>
              </a:ext>
            </a:extLst>
          </p:cNvPr>
          <p:cNvPicPr>
            <a:picLocks noChangeAspect="1"/>
          </p:cNvPicPr>
          <p:nvPr/>
        </p:nvPicPr>
        <p:blipFill>
          <a:blip r:embed="rId3"/>
          <a:stretch>
            <a:fillRect/>
          </a:stretch>
        </p:blipFill>
        <p:spPr>
          <a:xfrm>
            <a:off x="5232950" y="1849220"/>
            <a:ext cx="6550895" cy="2220800"/>
          </a:xfrm>
          <a:prstGeom prst="rect">
            <a:avLst/>
          </a:prstGeom>
        </p:spPr>
      </p:pic>
      <p:sp>
        <p:nvSpPr>
          <p:cNvPr id="6" name="Rectangle: Rounded Corners 5">
            <a:extLst>
              <a:ext uri="{FF2B5EF4-FFF2-40B4-BE49-F238E27FC236}">
                <a16:creationId xmlns:a16="http://schemas.microsoft.com/office/drawing/2014/main" id="{CCFA847B-1647-C58F-0939-7066C0E48511}"/>
              </a:ext>
            </a:extLst>
          </p:cNvPr>
          <p:cNvSpPr/>
          <p:nvPr/>
        </p:nvSpPr>
        <p:spPr>
          <a:xfrm>
            <a:off x="5171813" y="1523206"/>
            <a:ext cx="6673171" cy="3811588"/>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9AD879A-5540-354A-3EB3-43E870B9B1BF}"/>
              </a:ext>
            </a:extLst>
          </p:cNvPr>
          <p:cNvSpPr txBox="1"/>
          <p:nvPr/>
        </p:nvSpPr>
        <p:spPr>
          <a:xfrm>
            <a:off x="9918238" y="1514526"/>
            <a:ext cx="1926746" cy="338554"/>
          </a:xfrm>
          <a:prstGeom prst="rect">
            <a:avLst/>
          </a:prstGeom>
          <a:noFill/>
        </p:spPr>
        <p:txBody>
          <a:bodyPr wrap="none" rtlCol="0">
            <a:spAutoFit/>
          </a:bodyPr>
          <a:lstStyle/>
          <a:p>
            <a:pPr algn="r"/>
            <a:r>
              <a:rPr lang="en-US" sz="1600" b="1" dirty="0"/>
              <a:t>Isolated RL Branch</a:t>
            </a:r>
          </a:p>
        </p:txBody>
      </p:sp>
      <p:sp>
        <p:nvSpPr>
          <p:cNvPr id="9" name="Rectangle 8">
            <a:extLst>
              <a:ext uri="{FF2B5EF4-FFF2-40B4-BE49-F238E27FC236}">
                <a16:creationId xmlns:a16="http://schemas.microsoft.com/office/drawing/2014/main" id="{58FFA540-3083-5680-2150-6014101AB2A2}"/>
              </a:ext>
            </a:extLst>
          </p:cNvPr>
          <p:cNvSpPr/>
          <p:nvPr/>
        </p:nvSpPr>
        <p:spPr>
          <a:xfrm>
            <a:off x="7344561" y="2754549"/>
            <a:ext cx="906011" cy="3984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DB3F6B86-DB37-5D5B-FE5D-FD9FF7A1B3F4}"/>
              </a:ext>
            </a:extLst>
          </p:cNvPr>
          <p:cNvCxnSpPr/>
          <p:nvPr/>
        </p:nvCxnSpPr>
        <p:spPr>
          <a:xfrm flipV="1">
            <a:off x="8397380" y="2079235"/>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4E6A6494-EF7C-A372-CA4E-9613D5EF2080}"/>
              </a:ext>
            </a:extLst>
          </p:cNvPr>
          <p:cNvCxnSpPr>
            <a:cxnSpLocks/>
          </p:cNvCxnSpPr>
          <p:nvPr/>
        </p:nvCxnSpPr>
        <p:spPr>
          <a:xfrm>
            <a:off x="9132815" y="2079235"/>
            <a:ext cx="0" cy="56625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7292BA53-40C3-A32B-9DA5-004052569C61}"/>
              </a:ext>
            </a:extLst>
          </p:cNvPr>
          <p:cNvSpPr txBox="1"/>
          <p:nvPr/>
        </p:nvSpPr>
        <p:spPr>
          <a:xfrm>
            <a:off x="5972165" y="4196373"/>
            <a:ext cx="5072467" cy="923330"/>
          </a:xfrm>
          <a:prstGeom prst="rect">
            <a:avLst/>
          </a:prstGeom>
          <a:noFill/>
        </p:spPr>
        <p:txBody>
          <a:bodyPr wrap="square" rtlCol="0">
            <a:spAutoFit/>
          </a:bodyPr>
          <a:lstStyle/>
          <a:p>
            <a:r>
              <a:rPr lang="en-US" dirty="0"/>
              <a:t>Negative current means current flows into battery</a:t>
            </a:r>
          </a:p>
          <a:p>
            <a:r>
              <a:rPr lang="en-US" dirty="0"/>
              <a:t>Either </a:t>
            </a:r>
            <a:r>
              <a:rPr lang="en-US" dirty="0">
                <a:solidFill>
                  <a:srgbClr val="FF0000"/>
                </a:solidFill>
              </a:rPr>
              <a:t>current flows in reverse from inductor </a:t>
            </a:r>
            <a:r>
              <a:rPr lang="en-US" dirty="0"/>
              <a:t>or </a:t>
            </a:r>
            <a:r>
              <a:rPr lang="en-US" dirty="0">
                <a:solidFill>
                  <a:srgbClr val="00B050"/>
                </a:solidFill>
              </a:rPr>
              <a:t>transformer polarity flips</a:t>
            </a:r>
          </a:p>
        </p:txBody>
      </p:sp>
      <p:cxnSp>
        <p:nvCxnSpPr>
          <p:cNvPr id="15" name="Straight Arrow Connector 14">
            <a:extLst>
              <a:ext uri="{FF2B5EF4-FFF2-40B4-BE49-F238E27FC236}">
                <a16:creationId xmlns:a16="http://schemas.microsoft.com/office/drawing/2014/main" id="{45D0DA3B-37DC-1A58-BF6C-3F578F2B5A7C}"/>
              </a:ext>
            </a:extLst>
          </p:cNvPr>
          <p:cNvCxnSpPr/>
          <p:nvPr/>
        </p:nvCxnSpPr>
        <p:spPr>
          <a:xfrm flipV="1">
            <a:off x="10755347" y="3169959"/>
            <a:ext cx="0" cy="56625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6" name="Oval 15">
            <a:extLst>
              <a:ext uri="{FF2B5EF4-FFF2-40B4-BE49-F238E27FC236}">
                <a16:creationId xmlns:a16="http://schemas.microsoft.com/office/drawing/2014/main" id="{1EC3668A-6CF4-FAC4-9037-CC988B534156}"/>
              </a:ext>
            </a:extLst>
          </p:cNvPr>
          <p:cNvSpPr/>
          <p:nvPr/>
        </p:nvSpPr>
        <p:spPr>
          <a:xfrm>
            <a:off x="8572500" y="2645492"/>
            <a:ext cx="46567" cy="46567"/>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B9611D02-F72F-31ED-520E-024B96DB97B3}"/>
              </a:ext>
            </a:extLst>
          </p:cNvPr>
          <p:cNvSpPr/>
          <p:nvPr/>
        </p:nvSpPr>
        <p:spPr>
          <a:xfrm>
            <a:off x="8909638" y="2645492"/>
            <a:ext cx="46567" cy="46567"/>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875EE43-D497-B2AA-9A1D-2F186285D439}"/>
              </a:ext>
            </a:extLst>
          </p:cNvPr>
          <p:cNvSpPr/>
          <p:nvPr/>
        </p:nvSpPr>
        <p:spPr>
          <a:xfrm>
            <a:off x="8909638" y="3203074"/>
            <a:ext cx="46567" cy="46567"/>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AE567318-9B5B-E98D-1547-4E358714F43C}"/>
              </a:ext>
            </a:extLst>
          </p:cNvPr>
          <p:cNvCxnSpPr>
            <a:cxnSpLocks/>
          </p:cNvCxnSpPr>
          <p:nvPr/>
        </p:nvCxnSpPr>
        <p:spPr>
          <a:xfrm>
            <a:off x="9134330" y="3249641"/>
            <a:ext cx="0" cy="566257"/>
          </a:xfrm>
          <a:prstGeom prst="straightConnector1">
            <a:avLst/>
          </a:prstGeom>
          <a:ln>
            <a:solidFill>
              <a:srgbClr val="00B050"/>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6B21932E-A73C-87DE-3431-BCF0E246FCA3}"/>
              </a:ext>
            </a:extLst>
          </p:cNvPr>
          <p:cNvCxnSpPr>
            <a:cxnSpLocks/>
          </p:cNvCxnSpPr>
          <p:nvPr/>
        </p:nvCxnSpPr>
        <p:spPr>
          <a:xfrm>
            <a:off x="10645630" y="3169958"/>
            <a:ext cx="0" cy="566257"/>
          </a:xfrm>
          <a:prstGeom prst="straightConnector1">
            <a:avLst/>
          </a:prstGeom>
          <a:ln>
            <a:solidFill>
              <a:srgbClr val="00B050"/>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372862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3752B4-6DED-AFEA-A9AD-0F446536407A}"/>
              </a:ext>
            </a:extLst>
          </p:cNvPr>
          <p:cNvSpPr>
            <a:spLocks noGrp="1"/>
          </p:cNvSpPr>
          <p:nvPr>
            <p:ph type="title"/>
          </p:nvPr>
        </p:nvSpPr>
        <p:spPr/>
        <p:txBody>
          <a:bodyPr/>
          <a:lstStyle/>
          <a:p>
            <a:r>
              <a:rPr lang="en-US" dirty="0"/>
              <a:t>Maximum Reverse Current, Continued</a:t>
            </a:r>
          </a:p>
        </p:txBody>
      </p:sp>
      <p:cxnSp>
        <p:nvCxnSpPr>
          <p:cNvPr id="6" name="Straight Connector 5">
            <a:extLst>
              <a:ext uri="{FF2B5EF4-FFF2-40B4-BE49-F238E27FC236}">
                <a16:creationId xmlns:a16="http://schemas.microsoft.com/office/drawing/2014/main" id="{E8DE34FB-F915-A7B6-47D1-F4EB7BF31EA1}"/>
              </a:ext>
            </a:extLst>
          </p:cNvPr>
          <p:cNvCxnSpPr>
            <a:stCxn id="2" idx="2"/>
          </p:cNvCxnSpPr>
          <p:nvPr/>
        </p:nvCxnSpPr>
        <p:spPr>
          <a:xfrm>
            <a:off x="6096000" y="1690688"/>
            <a:ext cx="0" cy="49429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D6B1CDB-962E-F681-7BE8-FFF6F4A33546}"/>
                  </a:ext>
                </a:extLst>
              </p:cNvPr>
              <p:cNvSpPr txBox="1"/>
              <p:nvPr/>
            </p:nvSpPr>
            <p:spPr>
              <a:xfrm>
                <a:off x="2021417" y="1690688"/>
                <a:ext cx="2082800" cy="369332"/>
              </a:xfrm>
              <a:prstGeom prst="rect">
                <a:avLst/>
              </a:prstGeom>
              <a:noFill/>
            </p:spPr>
            <p:txBody>
              <a:bodyPr wrap="square">
                <a:spAutoFit/>
              </a:bodyPr>
              <a:lstStyle/>
              <a:p>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𝐼</m:t>
                        </m:r>
                      </m:e>
                      <m:sub>
                        <m:r>
                          <a:rPr lang="en-US" b="0" i="1" dirty="0" smtClean="0">
                            <a:latin typeface="Cambria Math" panose="02040503050406030204" pitchFamily="18" charset="0"/>
                          </a:rPr>
                          <m:t>𝐿</m:t>
                        </m:r>
                      </m:sub>
                    </m:sSub>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&gt;0, </m:t>
                    </m:r>
                    <m:r>
                      <a:rPr lang="en-US" b="0" i="1" dirty="0" smtClean="0">
                        <a:latin typeface="Cambria Math" panose="02040503050406030204" pitchFamily="18" charset="0"/>
                      </a:rPr>
                      <m:t>𝑀</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&lt;0</m:t>
                    </m:r>
                  </m:oMath>
                </a14:m>
                <a:r>
                  <a:rPr lang="en-US" dirty="0"/>
                  <a:t> </a:t>
                </a:r>
              </a:p>
            </p:txBody>
          </p:sp>
        </mc:Choice>
        <mc:Fallback xmlns="">
          <p:sp>
            <p:nvSpPr>
              <p:cNvPr id="4" name="TextBox 3">
                <a:extLst>
                  <a:ext uri="{FF2B5EF4-FFF2-40B4-BE49-F238E27FC236}">
                    <a16:creationId xmlns:a16="http://schemas.microsoft.com/office/drawing/2014/main" id="{DD6B1CDB-962E-F681-7BE8-FFF6F4A33546}"/>
                  </a:ext>
                </a:extLst>
              </p:cNvPr>
              <p:cNvSpPr txBox="1">
                <a:spLocks noRot="1" noChangeAspect="1" noMove="1" noResize="1" noEditPoints="1" noAdjustHandles="1" noChangeArrowheads="1" noChangeShapeType="1" noTextEdit="1"/>
              </p:cNvSpPr>
              <p:nvPr/>
            </p:nvSpPr>
            <p:spPr>
              <a:xfrm>
                <a:off x="2021417" y="1690688"/>
                <a:ext cx="2082800"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4958B64-CDBE-1C0D-893C-5555A7BDD718}"/>
                  </a:ext>
                </a:extLst>
              </p:cNvPr>
              <p:cNvSpPr txBox="1"/>
              <p:nvPr/>
            </p:nvSpPr>
            <p:spPr>
              <a:xfrm>
                <a:off x="8096250" y="1690688"/>
                <a:ext cx="207433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&lt;0,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&gt;0</m:t>
                      </m:r>
                    </m:oMath>
                  </m:oMathPara>
                </a14:m>
                <a:endParaRPr lang="en-US" dirty="0"/>
              </a:p>
            </p:txBody>
          </p:sp>
        </mc:Choice>
        <mc:Fallback xmlns="">
          <p:sp>
            <p:nvSpPr>
              <p:cNvPr id="9" name="TextBox 8">
                <a:extLst>
                  <a:ext uri="{FF2B5EF4-FFF2-40B4-BE49-F238E27FC236}">
                    <a16:creationId xmlns:a16="http://schemas.microsoft.com/office/drawing/2014/main" id="{C4958B64-CDBE-1C0D-893C-5555A7BDD718}"/>
                  </a:ext>
                </a:extLst>
              </p:cNvPr>
              <p:cNvSpPr txBox="1">
                <a:spLocks noRot="1" noChangeAspect="1" noMove="1" noResize="1" noEditPoints="1" noAdjustHandles="1" noChangeArrowheads="1" noChangeShapeType="1" noTextEdit="1"/>
              </p:cNvSpPr>
              <p:nvPr/>
            </p:nvSpPr>
            <p:spPr>
              <a:xfrm>
                <a:off x="8096250" y="1690688"/>
                <a:ext cx="2074333"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95E5DDA-15B0-2D4F-409A-4A7F7BCEC3CB}"/>
                  </a:ext>
                </a:extLst>
              </p:cNvPr>
              <p:cNvSpPr txBox="1"/>
              <p:nvPr/>
            </p:nvSpPr>
            <p:spPr>
              <a:xfrm>
                <a:off x="115273" y="5486400"/>
                <a:ext cx="5850467" cy="1002390"/>
              </a:xfrm>
              <a:prstGeom prst="rect">
                <a:avLst/>
              </a:prstGeom>
              <a:noFill/>
            </p:spPr>
            <p:txBody>
              <a:bodyPr wrap="square" rtlCol="0">
                <a:spAutoFit/>
              </a:bodyPr>
              <a:lstStyle/>
              <a:p>
                <a14:m>
                  <m:oMath xmlns:m="http://schemas.openxmlformats.org/officeDocument/2006/math">
                    <m:r>
                      <a:rPr lang="en-US" sz="1400" b="0" i="1" smtClean="0">
                        <a:latin typeface="Cambria Math" panose="02040503050406030204" pitchFamily="18" charset="0"/>
                      </a:rPr>
                      <m:t>𝑀</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&lt;0</m:t>
                    </m:r>
                  </m:oMath>
                </a14:m>
                <a:r>
                  <a:rPr lang="en-US" sz="1400" dirty="0"/>
                  <a:t> corresponds to a change to </a:t>
                </a:r>
                <a14:m>
                  <m:oMath xmlns:m="http://schemas.openxmlformats.org/officeDocument/2006/math">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𝑔</m:t>
                        </m:r>
                      </m:sub>
                    </m:sSub>
                  </m:oMath>
                </a14:m>
                <a:r>
                  <a:rPr lang="en-US" sz="1400" dirty="0"/>
                  <a:t> regime</a:t>
                </a:r>
              </a:p>
              <a:p>
                <a:r>
                  <a:rPr lang="en-US" sz="1400" dirty="0"/>
                  <a:t>Current flowing out of capacitor results in negative inductor current</a:t>
                </a:r>
              </a:p>
              <a:p>
                <a:r>
                  <a:rPr lang="en-US" sz="1400" dirty="0"/>
                  <a:t>Thus </a:t>
                </a:r>
                <a14:m>
                  <m:oMath xmlns:m="http://schemas.openxmlformats.org/officeDocument/2006/math">
                    <m:sSub>
                      <m:sSubPr>
                        <m:ctrlPr>
                          <a:rPr lang="en-US" sz="1400" b="0" i="1" dirty="0" smtClean="0">
                            <a:latin typeface="Cambria Math" panose="02040503050406030204" pitchFamily="18" charset="0"/>
                          </a:rPr>
                        </m:ctrlPr>
                      </m:sSubPr>
                      <m:e>
                        <m:r>
                          <m:rPr>
                            <m:sty m:val="p"/>
                          </m:rPr>
                          <a:rPr lang="en-US" sz="1400" b="0" i="0" dirty="0" smtClean="0">
                            <a:latin typeface="Cambria Math" panose="02040503050406030204" pitchFamily="18" charset="0"/>
                          </a:rPr>
                          <m:t>I</m:t>
                        </m:r>
                      </m:e>
                      <m:sub>
                        <m:r>
                          <m:rPr>
                            <m:sty m:val="p"/>
                          </m:rPr>
                          <a:rPr lang="en-US" sz="1400" b="0" i="0" dirty="0" smtClean="0">
                            <a:latin typeface="Cambria Math" panose="02040503050406030204" pitchFamily="18" charset="0"/>
                          </a:rPr>
                          <m:t>L</m:t>
                        </m:r>
                      </m:sub>
                    </m:sSub>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b="0" i="1" dirty="0" smtClean="0">
                        <a:latin typeface="Cambria Math" panose="02040503050406030204" pitchFamily="18" charset="0"/>
                      </a:rPr>
                      <m:t>&lt;</m:t>
                    </m:r>
                    <m:r>
                      <a:rPr lang="en-US" sz="1400" i="1" dirty="0">
                        <a:latin typeface="Cambria Math" panose="02040503050406030204" pitchFamily="18" charset="0"/>
                      </a:rPr>
                      <m:t>0, </m:t>
                    </m:r>
                    <m:r>
                      <a:rPr lang="en-US" sz="1400" i="1" dirty="0">
                        <a:latin typeface="Cambria Math" panose="02040503050406030204" pitchFamily="18" charset="0"/>
                      </a:rPr>
                      <m:t>𝑀</m:t>
                    </m:r>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i="1" dirty="0" smtClean="0">
                        <a:latin typeface="Cambria Math" panose="02040503050406030204" pitchFamily="18" charset="0"/>
                      </a:rPr>
                      <m:t>&lt;</m:t>
                    </m:r>
                    <m:r>
                      <a:rPr lang="en-US" sz="1400" i="1" dirty="0">
                        <a:latin typeface="Cambria Math" panose="02040503050406030204" pitchFamily="18" charset="0"/>
                      </a:rPr>
                      <m:t>0</m:t>
                    </m:r>
                  </m:oMath>
                </a14:m>
                <a:r>
                  <a:rPr lang="en-US" sz="1400" dirty="0"/>
                  <a:t>,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𝑏𝑎𝑡</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&gt;0</m:t>
                    </m:r>
                  </m:oMath>
                </a14:m>
                <a:endParaRPr lang="en-US" sz="1400" dirty="0"/>
              </a:p>
              <a:p>
                <a:r>
                  <a:rPr lang="en-US" sz="1600" b="1" dirty="0"/>
                  <a:t>Reverse charging not possible!</a:t>
                </a:r>
              </a:p>
            </p:txBody>
          </p:sp>
        </mc:Choice>
        <mc:Fallback xmlns="">
          <p:sp>
            <p:nvSpPr>
              <p:cNvPr id="12" name="TextBox 11">
                <a:extLst>
                  <a:ext uri="{FF2B5EF4-FFF2-40B4-BE49-F238E27FC236}">
                    <a16:creationId xmlns:a16="http://schemas.microsoft.com/office/drawing/2014/main" id="{D95E5DDA-15B0-2D4F-409A-4A7F7BCEC3CB}"/>
                  </a:ext>
                </a:extLst>
              </p:cNvPr>
              <p:cNvSpPr txBox="1">
                <a:spLocks noRot="1" noChangeAspect="1" noMove="1" noResize="1" noEditPoints="1" noAdjustHandles="1" noChangeArrowheads="1" noChangeShapeType="1" noTextEdit="1"/>
              </p:cNvSpPr>
              <p:nvPr/>
            </p:nvSpPr>
            <p:spPr>
              <a:xfrm>
                <a:off x="115273" y="5486400"/>
                <a:ext cx="5850467" cy="1002390"/>
              </a:xfrm>
              <a:prstGeom prst="rect">
                <a:avLst/>
              </a:prstGeom>
              <a:blipFill>
                <a:blip r:embed="rId4"/>
                <a:stretch>
                  <a:fillRect l="-625" t="-610" b="-7317"/>
                </a:stretch>
              </a:blipFill>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9BE38B83-4397-6C46-3E8E-B423A3198890}"/>
              </a:ext>
            </a:extLst>
          </p:cNvPr>
          <p:cNvGrpSpPr/>
          <p:nvPr/>
        </p:nvGrpSpPr>
        <p:grpSpPr>
          <a:xfrm>
            <a:off x="577054" y="2422197"/>
            <a:ext cx="4926905" cy="2702023"/>
            <a:chOff x="5934734" y="3531668"/>
            <a:chExt cx="4926905" cy="2702023"/>
          </a:xfrm>
        </p:grpSpPr>
        <p:pic>
          <p:nvPicPr>
            <p:cNvPr id="14" name="Picture 13">
              <a:extLst>
                <a:ext uri="{FF2B5EF4-FFF2-40B4-BE49-F238E27FC236}">
                  <a16:creationId xmlns:a16="http://schemas.microsoft.com/office/drawing/2014/main" id="{7DAC6857-8EE0-6A3F-173B-71FEE6E9B551}"/>
                </a:ext>
              </a:extLst>
            </p:cNvPr>
            <p:cNvPicPr>
              <a:picLocks noChangeAspect="1"/>
            </p:cNvPicPr>
            <p:nvPr/>
          </p:nvPicPr>
          <p:blipFill>
            <a:blip r:embed="rId5"/>
            <a:stretch>
              <a:fillRect/>
            </a:stretch>
          </p:blipFill>
          <p:spPr>
            <a:xfrm>
              <a:off x="5934734" y="3584846"/>
              <a:ext cx="2170222" cy="1277897"/>
            </a:xfrm>
            <a:prstGeom prst="rect">
              <a:avLst/>
            </a:prstGeom>
          </p:spPr>
        </p:pic>
        <p:grpSp>
          <p:nvGrpSpPr>
            <p:cNvPr id="15" name="Group 14">
              <a:extLst>
                <a:ext uri="{FF2B5EF4-FFF2-40B4-BE49-F238E27FC236}">
                  <a16:creationId xmlns:a16="http://schemas.microsoft.com/office/drawing/2014/main" id="{AEB2DAE8-6079-6D05-585B-8EDB70D695CB}"/>
                </a:ext>
              </a:extLst>
            </p:cNvPr>
            <p:cNvGrpSpPr/>
            <p:nvPr/>
          </p:nvGrpSpPr>
          <p:grpSpPr>
            <a:xfrm>
              <a:off x="6519084" y="3736366"/>
              <a:ext cx="142595" cy="490604"/>
              <a:chOff x="6320118" y="3683188"/>
              <a:chExt cx="142595" cy="490604"/>
            </a:xfrm>
          </p:grpSpPr>
          <p:cxnSp>
            <p:nvCxnSpPr>
              <p:cNvPr id="56" name="Straight Connector 55">
                <a:extLst>
                  <a:ext uri="{FF2B5EF4-FFF2-40B4-BE49-F238E27FC236}">
                    <a16:creationId xmlns:a16="http://schemas.microsoft.com/office/drawing/2014/main" id="{99BB1004-6624-7425-FE2E-F816B1D5C3C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0E3EA0E-97DC-F00F-563A-B85E7896623F}"/>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6" name="Group 15">
              <a:extLst>
                <a:ext uri="{FF2B5EF4-FFF2-40B4-BE49-F238E27FC236}">
                  <a16:creationId xmlns:a16="http://schemas.microsoft.com/office/drawing/2014/main" id="{6234E214-B071-5E62-5ACB-48923714F1EF}"/>
                </a:ext>
              </a:extLst>
            </p:cNvPr>
            <p:cNvGrpSpPr/>
            <p:nvPr/>
          </p:nvGrpSpPr>
          <p:grpSpPr>
            <a:xfrm rot="10800000">
              <a:off x="7679017" y="4202033"/>
              <a:ext cx="142595" cy="490604"/>
              <a:chOff x="6320118" y="3683188"/>
              <a:chExt cx="142595" cy="490604"/>
            </a:xfrm>
          </p:grpSpPr>
          <p:cxnSp>
            <p:nvCxnSpPr>
              <p:cNvPr id="54" name="Straight Connector 53">
                <a:extLst>
                  <a:ext uri="{FF2B5EF4-FFF2-40B4-BE49-F238E27FC236}">
                    <a16:creationId xmlns:a16="http://schemas.microsoft.com/office/drawing/2014/main" id="{A32BBC77-2288-61DB-0022-A2542C8AC4E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16BC7D9D-8F46-7154-9696-49C7AE0B014B}"/>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17" name="TextBox 16">
              <a:extLst>
                <a:ext uri="{FF2B5EF4-FFF2-40B4-BE49-F238E27FC236}">
                  <a16:creationId xmlns:a16="http://schemas.microsoft.com/office/drawing/2014/main" id="{BB46143A-835B-C336-B624-96584CCE09CC}"/>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18" name="TextBox 17">
              <a:extLst>
                <a:ext uri="{FF2B5EF4-FFF2-40B4-BE49-F238E27FC236}">
                  <a16:creationId xmlns:a16="http://schemas.microsoft.com/office/drawing/2014/main" id="{BA212787-29BE-02D1-3C91-177CC73A2ABA}"/>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19" name="TextBox 18">
              <a:extLst>
                <a:ext uri="{FF2B5EF4-FFF2-40B4-BE49-F238E27FC236}">
                  <a16:creationId xmlns:a16="http://schemas.microsoft.com/office/drawing/2014/main" id="{34CEC704-53CB-B642-E0A3-ACDB7070A033}"/>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0" name="Picture 19">
              <a:extLst>
                <a:ext uri="{FF2B5EF4-FFF2-40B4-BE49-F238E27FC236}">
                  <a16:creationId xmlns:a16="http://schemas.microsoft.com/office/drawing/2014/main" id="{88A8F898-9E81-7B3F-E201-1D2DF3D6B8D8}"/>
                </a:ext>
              </a:extLst>
            </p:cNvPr>
            <p:cNvPicPr>
              <a:picLocks noChangeAspect="1"/>
            </p:cNvPicPr>
            <p:nvPr/>
          </p:nvPicPr>
          <p:blipFill>
            <a:blip r:embed="rId5"/>
            <a:stretch>
              <a:fillRect/>
            </a:stretch>
          </p:blipFill>
          <p:spPr>
            <a:xfrm>
              <a:off x="8689057" y="3588021"/>
              <a:ext cx="2170222" cy="1277897"/>
            </a:xfrm>
            <a:prstGeom prst="rect">
              <a:avLst/>
            </a:prstGeom>
          </p:spPr>
        </p:pic>
        <p:grpSp>
          <p:nvGrpSpPr>
            <p:cNvPr id="21" name="Group 20">
              <a:extLst>
                <a:ext uri="{FF2B5EF4-FFF2-40B4-BE49-F238E27FC236}">
                  <a16:creationId xmlns:a16="http://schemas.microsoft.com/office/drawing/2014/main" id="{86008F26-58B3-BB5B-9CF9-D951D64B9DA0}"/>
                </a:ext>
              </a:extLst>
            </p:cNvPr>
            <p:cNvGrpSpPr/>
            <p:nvPr/>
          </p:nvGrpSpPr>
          <p:grpSpPr>
            <a:xfrm>
              <a:off x="9273407" y="3739541"/>
              <a:ext cx="142595" cy="490604"/>
              <a:chOff x="6320118" y="3683188"/>
              <a:chExt cx="142595" cy="490604"/>
            </a:xfrm>
          </p:grpSpPr>
          <p:cxnSp>
            <p:nvCxnSpPr>
              <p:cNvPr id="52" name="Straight Connector 51">
                <a:extLst>
                  <a:ext uri="{FF2B5EF4-FFF2-40B4-BE49-F238E27FC236}">
                    <a16:creationId xmlns:a16="http://schemas.microsoft.com/office/drawing/2014/main" id="{21D77252-C9A9-FDEC-10C2-5BBA1A71CA0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E48070C0-7313-E8D5-8FBC-F35B2F523734}"/>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44791395-E801-3C05-D922-4EA57491EDC3}"/>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23" name="TextBox 22">
              <a:extLst>
                <a:ext uri="{FF2B5EF4-FFF2-40B4-BE49-F238E27FC236}">
                  <a16:creationId xmlns:a16="http://schemas.microsoft.com/office/drawing/2014/main" id="{DFCEC997-5CA4-CB6F-B8F9-0B6BE998B5D0}"/>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C67F6782-388B-A044-F1F3-FEA0A71B1219}"/>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25" name="Group 24">
              <a:extLst>
                <a:ext uri="{FF2B5EF4-FFF2-40B4-BE49-F238E27FC236}">
                  <a16:creationId xmlns:a16="http://schemas.microsoft.com/office/drawing/2014/main" id="{C6CA83CB-243C-0BB0-7731-37EC154CE6E5}"/>
                </a:ext>
              </a:extLst>
            </p:cNvPr>
            <p:cNvGrpSpPr/>
            <p:nvPr/>
          </p:nvGrpSpPr>
          <p:grpSpPr>
            <a:xfrm flipH="1">
              <a:off x="10432463" y="3736366"/>
              <a:ext cx="142595" cy="490604"/>
              <a:chOff x="6320118" y="3683188"/>
              <a:chExt cx="142595" cy="490604"/>
            </a:xfrm>
          </p:grpSpPr>
          <p:cxnSp>
            <p:nvCxnSpPr>
              <p:cNvPr id="50" name="Straight Connector 49">
                <a:extLst>
                  <a:ext uri="{FF2B5EF4-FFF2-40B4-BE49-F238E27FC236}">
                    <a16:creationId xmlns:a16="http://schemas.microsoft.com/office/drawing/2014/main" id="{DC820D84-6EFC-B01C-7343-79C45C90DB8B}"/>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566B4776-2DF4-3115-FECA-3AFC9F6B133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26" name="Picture 25">
              <a:extLst>
                <a:ext uri="{FF2B5EF4-FFF2-40B4-BE49-F238E27FC236}">
                  <a16:creationId xmlns:a16="http://schemas.microsoft.com/office/drawing/2014/main" id="{9285D060-E6DB-051E-A789-66BCCD34C5A0}"/>
                </a:ext>
              </a:extLst>
            </p:cNvPr>
            <p:cNvPicPr>
              <a:picLocks noChangeAspect="1"/>
            </p:cNvPicPr>
            <p:nvPr/>
          </p:nvPicPr>
          <p:blipFill>
            <a:blip r:embed="rId5"/>
            <a:stretch>
              <a:fillRect/>
            </a:stretch>
          </p:blipFill>
          <p:spPr>
            <a:xfrm>
              <a:off x="5934734" y="4955406"/>
              <a:ext cx="2170222" cy="1277897"/>
            </a:xfrm>
            <a:prstGeom prst="rect">
              <a:avLst/>
            </a:prstGeom>
          </p:spPr>
        </p:pic>
        <p:grpSp>
          <p:nvGrpSpPr>
            <p:cNvPr id="27" name="Group 26">
              <a:extLst>
                <a:ext uri="{FF2B5EF4-FFF2-40B4-BE49-F238E27FC236}">
                  <a16:creationId xmlns:a16="http://schemas.microsoft.com/office/drawing/2014/main" id="{16C35B37-D263-407C-C21B-B246D37E8F47}"/>
                </a:ext>
              </a:extLst>
            </p:cNvPr>
            <p:cNvGrpSpPr/>
            <p:nvPr/>
          </p:nvGrpSpPr>
          <p:grpSpPr>
            <a:xfrm flipV="1">
              <a:off x="6519084" y="5576664"/>
              <a:ext cx="142595" cy="490604"/>
              <a:chOff x="6320118" y="3683188"/>
              <a:chExt cx="142595" cy="490604"/>
            </a:xfrm>
          </p:grpSpPr>
          <p:cxnSp>
            <p:nvCxnSpPr>
              <p:cNvPr id="48" name="Straight Connector 47">
                <a:extLst>
                  <a:ext uri="{FF2B5EF4-FFF2-40B4-BE49-F238E27FC236}">
                    <a16:creationId xmlns:a16="http://schemas.microsoft.com/office/drawing/2014/main" id="{DA503DB8-D214-6E95-FCE9-545D3D130AC2}"/>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4B1F886-688B-5586-910B-C086B42A41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8" name="TextBox 27">
              <a:extLst>
                <a:ext uri="{FF2B5EF4-FFF2-40B4-BE49-F238E27FC236}">
                  <a16:creationId xmlns:a16="http://schemas.microsoft.com/office/drawing/2014/main" id="{7360FA79-F754-FE91-D06E-07C4E526FD2A}"/>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29" name="TextBox 28">
              <a:extLst>
                <a:ext uri="{FF2B5EF4-FFF2-40B4-BE49-F238E27FC236}">
                  <a16:creationId xmlns:a16="http://schemas.microsoft.com/office/drawing/2014/main" id="{A3A669D9-D8CE-6E54-BCE6-8706D08EE84D}"/>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30" name="TextBox 29">
              <a:extLst>
                <a:ext uri="{FF2B5EF4-FFF2-40B4-BE49-F238E27FC236}">
                  <a16:creationId xmlns:a16="http://schemas.microsoft.com/office/drawing/2014/main" id="{9E4FBB72-2629-F033-0547-E7C43C1E3596}"/>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31" name="Group 30">
              <a:extLst>
                <a:ext uri="{FF2B5EF4-FFF2-40B4-BE49-F238E27FC236}">
                  <a16:creationId xmlns:a16="http://schemas.microsoft.com/office/drawing/2014/main" id="{1C43A9EE-FEFD-3FFB-CE2D-7E5D07D9B41F}"/>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F5131488-FF4D-DB55-2E1B-53F8575EDD8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8B4CF05B-A825-7D44-D2CE-FAE5D07E546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2" name="Picture 31">
              <a:extLst>
                <a:ext uri="{FF2B5EF4-FFF2-40B4-BE49-F238E27FC236}">
                  <a16:creationId xmlns:a16="http://schemas.microsoft.com/office/drawing/2014/main" id="{0EE3F80D-13CD-3173-94A1-2E14A444C442}"/>
                </a:ext>
              </a:extLst>
            </p:cNvPr>
            <p:cNvPicPr>
              <a:picLocks noChangeAspect="1"/>
            </p:cNvPicPr>
            <p:nvPr/>
          </p:nvPicPr>
          <p:blipFill>
            <a:blip r:embed="rId5"/>
            <a:stretch>
              <a:fillRect/>
            </a:stretch>
          </p:blipFill>
          <p:spPr>
            <a:xfrm>
              <a:off x="8691417" y="4955794"/>
              <a:ext cx="2170222" cy="1277897"/>
            </a:xfrm>
            <a:prstGeom prst="rect">
              <a:avLst/>
            </a:prstGeom>
          </p:spPr>
        </p:pic>
        <p:sp>
          <p:nvSpPr>
            <p:cNvPr id="33" name="TextBox 32">
              <a:extLst>
                <a:ext uri="{FF2B5EF4-FFF2-40B4-BE49-F238E27FC236}">
                  <a16:creationId xmlns:a16="http://schemas.microsoft.com/office/drawing/2014/main" id="{51CC3F14-8CD6-BE02-22FC-BA429F625502}"/>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34" name="TextBox 33">
              <a:extLst>
                <a:ext uri="{FF2B5EF4-FFF2-40B4-BE49-F238E27FC236}">
                  <a16:creationId xmlns:a16="http://schemas.microsoft.com/office/drawing/2014/main" id="{35B738E0-5E26-0F1D-4B99-B348753E26EC}"/>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35" name="TextBox 34">
              <a:extLst>
                <a:ext uri="{FF2B5EF4-FFF2-40B4-BE49-F238E27FC236}">
                  <a16:creationId xmlns:a16="http://schemas.microsoft.com/office/drawing/2014/main" id="{18478F14-D511-3C02-05AE-336E82A3081A}"/>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36" name="Group 35">
              <a:extLst>
                <a:ext uri="{FF2B5EF4-FFF2-40B4-BE49-F238E27FC236}">
                  <a16:creationId xmlns:a16="http://schemas.microsoft.com/office/drawing/2014/main" id="{2F4DA4DD-B5C7-0452-15A8-55ABCC9430BE}"/>
                </a:ext>
              </a:extLst>
            </p:cNvPr>
            <p:cNvGrpSpPr/>
            <p:nvPr/>
          </p:nvGrpSpPr>
          <p:grpSpPr>
            <a:xfrm flipH="1">
              <a:off x="10434823" y="5104139"/>
              <a:ext cx="142595" cy="490604"/>
              <a:chOff x="6320118" y="3683188"/>
              <a:chExt cx="142595" cy="490604"/>
            </a:xfrm>
          </p:grpSpPr>
          <p:cxnSp>
            <p:nvCxnSpPr>
              <p:cNvPr id="44" name="Straight Connector 43">
                <a:extLst>
                  <a:ext uri="{FF2B5EF4-FFF2-40B4-BE49-F238E27FC236}">
                    <a16:creationId xmlns:a16="http://schemas.microsoft.com/office/drawing/2014/main" id="{C83D50D3-3AAD-5F66-2DEB-FE6007A19C7B}"/>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CA039790-FC8B-9C9A-E9BD-176E164A82D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37" name="Group 36">
              <a:extLst>
                <a:ext uri="{FF2B5EF4-FFF2-40B4-BE49-F238E27FC236}">
                  <a16:creationId xmlns:a16="http://schemas.microsoft.com/office/drawing/2014/main" id="{E6D43038-808D-2CE5-A201-12618B689245}"/>
                </a:ext>
              </a:extLst>
            </p:cNvPr>
            <p:cNvGrpSpPr/>
            <p:nvPr/>
          </p:nvGrpSpPr>
          <p:grpSpPr>
            <a:xfrm flipV="1">
              <a:off x="9271765" y="5580990"/>
              <a:ext cx="142595" cy="490604"/>
              <a:chOff x="6320118" y="3683188"/>
              <a:chExt cx="142595" cy="490604"/>
            </a:xfrm>
          </p:grpSpPr>
          <p:cxnSp>
            <p:nvCxnSpPr>
              <p:cNvPr id="42" name="Straight Connector 41">
                <a:extLst>
                  <a:ext uri="{FF2B5EF4-FFF2-40B4-BE49-F238E27FC236}">
                    <a16:creationId xmlns:a16="http://schemas.microsoft.com/office/drawing/2014/main" id="{5853DD34-5C7B-ED45-055F-EE8A587B333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7F2307B5-DD00-954C-043D-7955D9BF489E}"/>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8" name="TextBox 37">
              <a:extLst>
                <a:ext uri="{FF2B5EF4-FFF2-40B4-BE49-F238E27FC236}">
                  <a16:creationId xmlns:a16="http://schemas.microsoft.com/office/drawing/2014/main" id="{EFA8746D-A522-B374-B5D9-D70F0F9C3D31}"/>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39" name="TextBox 38">
              <a:extLst>
                <a:ext uri="{FF2B5EF4-FFF2-40B4-BE49-F238E27FC236}">
                  <a16:creationId xmlns:a16="http://schemas.microsoft.com/office/drawing/2014/main" id="{CA988F19-EA6B-B300-1FB2-64037578AC67}"/>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40" name="TextBox 39">
              <a:extLst>
                <a:ext uri="{FF2B5EF4-FFF2-40B4-BE49-F238E27FC236}">
                  <a16:creationId xmlns:a16="http://schemas.microsoft.com/office/drawing/2014/main" id="{2AA70CBE-6893-66A4-0FAD-D204149F09B9}"/>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41" name="TextBox 40">
              <a:extLst>
                <a:ext uri="{FF2B5EF4-FFF2-40B4-BE49-F238E27FC236}">
                  <a16:creationId xmlns:a16="http://schemas.microsoft.com/office/drawing/2014/main" id="{2A169840-2091-4305-D3E3-A54EADC59681}"/>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58" name="Rectangle: Rounded Corners 57">
            <a:extLst>
              <a:ext uri="{FF2B5EF4-FFF2-40B4-BE49-F238E27FC236}">
                <a16:creationId xmlns:a16="http://schemas.microsoft.com/office/drawing/2014/main" id="{40EC70B4-DF2D-3D09-ACD4-59BE51EBBCD8}"/>
              </a:ext>
            </a:extLst>
          </p:cNvPr>
          <p:cNvSpPr/>
          <p:nvPr/>
        </p:nvSpPr>
        <p:spPr>
          <a:xfrm>
            <a:off x="115274" y="2158193"/>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TextBox 58">
            <a:extLst>
              <a:ext uri="{FF2B5EF4-FFF2-40B4-BE49-F238E27FC236}">
                <a16:creationId xmlns:a16="http://schemas.microsoft.com/office/drawing/2014/main" id="{49B43E8A-D01A-A017-49D3-C5C732C4D5D7}"/>
              </a:ext>
            </a:extLst>
          </p:cNvPr>
          <p:cNvSpPr txBox="1"/>
          <p:nvPr/>
        </p:nvSpPr>
        <p:spPr>
          <a:xfrm>
            <a:off x="4161680" y="2166374"/>
            <a:ext cx="1826206" cy="338554"/>
          </a:xfrm>
          <a:prstGeom prst="rect">
            <a:avLst/>
          </a:prstGeom>
          <a:noFill/>
        </p:spPr>
        <p:txBody>
          <a:bodyPr wrap="none" rtlCol="0">
            <a:spAutoFit/>
          </a:bodyPr>
          <a:lstStyle/>
          <a:p>
            <a:r>
              <a:rPr lang="en-US" sz="1600" b="1" dirty="0"/>
              <a:t>Possible Voltages</a:t>
            </a:r>
          </a:p>
        </p:txBody>
      </p:sp>
      <p:grpSp>
        <p:nvGrpSpPr>
          <p:cNvPr id="73" name="Group 72">
            <a:extLst>
              <a:ext uri="{FF2B5EF4-FFF2-40B4-BE49-F238E27FC236}">
                <a16:creationId xmlns:a16="http://schemas.microsoft.com/office/drawing/2014/main" id="{3ADEF0BE-E454-2F01-7744-D51332CB7F15}"/>
              </a:ext>
            </a:extLst>
          </p:cNvPr>
          <p:cNvGrpSpPr/>
          <p:nvPr/>
        </p:nvGrpSpPr>
        <p:grpSpPr>
          <a:xfrm>
            <a:off x="6217648" y="2166375"/>
            <a:ext cx="5826315" cy="2297644"/>
            <a:chOff x="6217648" y="2166374"/>
            <a:chExt cx="6673171" cy="2631607"/>
          </a:xfrm>
        </p:grpSpPr>
        <p:pic>
          <p:nvPicPr>
            <p:cNvPr id="60" name="Picture 59">
              <a:extLst>
                <a:ext uri="{FF2B5EF4-FFF2-40B4-BE49-F238E27FC236}">
                  <a16:creationId xmlns:a16="http://schemas.microsoft.com/office/drawing/2014/main" id="{85C3A0A6-7C34-38FB-BA2F-C3B011268147}"/>
                </a:ext>
              </a:extLst>
            </p:cNvPr>
            <p:cNvPicPr>
              <a:picLocks noChangeAspect="1"/>
            </p:cNvPicPr>
            <p:nvPr/>
          </p:nvPicPr>
          <p:blipFill>
            <a:blip r:embed="rId6"/>
            <a:stretch>
              <a:fillRect/>
            </a:stretch>
          </p:blipFill>
          <p:spPr>
            <a:xfrm>
              <a:off x="6278785" y="2501068"/>
              <a:ext cx="6550895" cy="2220800"/>
            </a:xfrm>
            <a:prstGeom prst="rect">
              <a:avLst/>
            </a:prstGeom>
          </p:spPr>
        </p:pic>
        <p:sp>
          <p:nvSpPr>
            <p:cNvPr id="61" name="Rectangle: Rounded Corners 60">
              <a:extLst>
                <a:ext uri="{FF2B5EF4-FFF2-40B4-BE49-F238E27FC236}">
                  <a16:creationId xmlns:a16="http://schemas.microsoft.com/office/drawing/2014/main" id="{77D84C04-2B2B-DD1F-F43B-149EE2042E72}"/>
                </a:ext>
              </a:extLst>
            </p:cNvPr>
            <p:cNvSpPr/>
            <p:nvPr/>
          </p:nvSpPr>
          <p:spPr>
            <a:xfrm>
              <a:off x="6217648" y="2175054"/>
              <a:ext cx="6673171" cy="262292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5D467950-8D9E-E784-7F9E-048B44891E0E}"/>
                </a:ext>
              </a:extLst>
            </p:cNvPr>
            <p:cNvSpPr txBox="1"/>
            <p:nvPr/>
          </p:nvSpPr>
          <p:spPr>
            <a:xfrm>
              <a:off x="10964073" y="2166374"/>
              <a:ext cx="1926746" cy="338554"/>
            </a:xfrm>
            <a:prstGeom prst="rect">
              <a:avLst/>
            </a:prstGeom>
            <a:noFill/>
          </p:spPr>
          <p:txBody>
            <a:bodyPr wrap="none" rtlCol="0">
              <a:spAutoFit/>
            </a:bodyPr>
            <a:lstStyle/>
            <a:p>
              <a:pPr algn="r"/>
              <a:r>
                <a:rPr lang="en-US" sz="1600" b="1" dirty="0"/>
                <a:t>Isolated RL Branch</a:t>
              </a:r>
            </a:p>
          </p:txBody>
        </p:sp>
        <p:sp>
          <p:nvSpPr>
            <p:cNvPr id="63" name="Rectangle 62">
              <a:extLst>
                <a:ext uri="{FF2B5EF4-FFF2-40B4-BE49-F238E27FC236}">
                  <a16:creationId xmlns:a16="http://schemas.microsoft.com/office/drawing/2014/main" id="{720C7405-E07E-3A4A-DBC0-993E654E9D29}"/>
                </a:ext>
              </a:extLst>
            </p:cNvPr>
            <p:cNvSpPr/>
            <p:nvPr/>
          </p:nvSpPr>
          <p:spPr>
            <a:xfrm>
              <a:off x="8390396" y="3406397"/>
              <a:ext cx="906011" cy="3984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Arrow Connector 63">
              <a:extLst>
                <a:ext uri="{FF2B5EF4-FFF2-40B4-BE49-F238E27FC236}">
                  <a16:creationId xmlns:a16="http://schemas.microsoft.com/office/drawing/2014/main" id="{1079C165-55E2-B287-792D-FA03B3C8FFF2}"/>
                </a:ext>
              </a:extLst>
            </p:cNvPr>
            <p:cNvCxnSpPr/>
            <p:nvPr/>
          </p:nvCxnSpPr>
          <p:spPr>
            <a:xfrm flipV="1">
              <a:off x="9443215" y="2731083"/>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5" name="Straight Arrow Connector 64">
              <a:extLst>
                <a:ext uri="{FF2B5EF4-FFF2-40B4-BE49-F238E27FC236}">
                  <a16:creationId xmlns:a16="http://schemas.microsoft.com/office/drawing/2014/main" id="{BCFBB927-7504-820D-74B7-AB8F1AE86A04}"/>
                </a:ext>
              </a:extLst>
            </p:cNvPr>
            <p:cNvCxnSpPr>
              <a:cxnSpLocks/>
            </p:cNvCxnSpPr>
            <p:nvPr/>
          </p:nvCxnSpPr>
          <p:spPr>
            <a:xfrm>
              <a:off x="10178650" y="2731083"/>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710091E1-C2D9-9419-0568-C66442BE8842}"/>
                </a:ext>
              </a:extLst>
            </p:cNvPr>
            <p:cNvCxnSpPr/>
            <p:nvPr/>
          </p:nvCxnSpPr>
          <p:spPr>
            <a:xfrm flipV="1">
              <a:off x="11801182" y="3821807"/>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3E0BC8E-5C4A-9204-C2EA-48373DAFEAD5}"/>
                  </a:ext>
                </a:extLst>
              </p:cNvPr>
              <p:cNvSpPr txBox="1"/>
              <p:nvPr/>
            </p:nvSpPr>
            <p:spPr>
              <a:xfrm>
                <a:off x="6217648" y="4622637"/>
                <a:ext cx="5850467" cy="1235338"/>
              </a:xfrm>
              <a:prstGeom prst="rect">
                <a:avLst/>
              </a:prstGeom>
              <a:noFill/>
            </p:spPr>
            <p:txBody>
              <a:bodyPr wrap="square" rtlCol="0">
                <a:spAutoFit/>
              </a:bodyPr>
              <a:lstStyle/>
              <a:p>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𝐿</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)&lt;0</m:t>
                    </m:r>
                  </m:oMath>
                </a14:m>
                <a:r>
                  <a:rPr lang="en-US" sz="1400" dirty="0"/>
                  <a:t> corresponds to negative inductor current</a:t>
                </a:r>
              </a:p>
              <a:p>
                <a:r>
                  <a:rPr lang="en-US" sz="1400" dirty="0"/>
                  <a:t>Steady-state negative inductor current requires </a:t>
                </a:r>
                <a14:m>
                  <m:oMath xmlns:m="http://schemas.openxmlformats.org/officeDocument/2006/math">
                    <m:r>
                      <a:rPr lang="en-US" sz="1400" b="0" i="1" smtClean="0">
                        <a:latin typeface="Cambria Math" panose="02040503050406030204" pitchFamily="18" charset="0"/>
                      </a:rPr>
                      <m:t>𝑀</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𝑔</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𝑐</m:t>
                        </m:r>
                      </m:sub>
                    </m:sSub>
                    <m:r>
                      <a:rPr lang="en-US" sz="1400" b="0" i="1" smtClean="0">
                        <a:latin typeface="Cambria Math" panose="02040503050406030204" pitchFamily="18" charset="0"/>
                      </a:rPr>
                      <m:t>&lt;0</m:t>
                    </m:r>
                  </m:oMath>
                </a14:m>
                <a:r>
                  <a:rPr lang="en-US" sz="1400" dirty="0"/>
                  <a:t> due to RL branch impedance</a:t>
                </a:r>
              </a:p>
              <a:p>
                <a:r>
                  <a:rPr lang="en-US" sz="1400" dirty="0"/>
                  <a:t>Thus </a:t>
                </a:r>
                <a14:m>
                  <m:oMath xmlns:m="http://schemas.openxmlformats.org/officeDocument/2006/math">
                    <m:r>
                      <a:rPr lang="en-US" sz="1400" i="1" dirty="0" smtClean="0">
                        <a:latin typeface="Cambria Math" panose="02040503050406030204" pitchFamily="18" charset="0"/>
                      </a:rPr>
                      <m:t>𝑀</m:t>
                    </m:r>
                    <m:d>
                      <m:dPr>
                        <m:ctrlPr>
                          <a:rPr lang="en-US" sz="1400" b="0" i="1" dirty="0" smtClean="0">
                            <a:latin typeface="Cambria Math" panose="02040503050406030204" pitchFamily="18" charset="0"/>
                          </a:rPr>
                        </m:ctrlPr>
                      </m:dPr>
                      <m:e>
                        <m:r>
                          <a:rPr lang="en-US" sz="1400" b="0" i="1" dirty="0" smtClean="0">
                            <a:latin typeface="Cambria Math" panose="02040503050406030204" pitchFamily="18" charset="0"/>
                          </a:rPr>
                          <m:t>𝑡</m:t>
                        </m:r>
                      </m:e>
                    </m:d>
                    <m:r>
                      <a:rPr lang="en-US" sz="1400" b="0" i="1" dirty="0" smtClean="0">
                        <a:latin typeface="Cambria Math" panose="02040503050406030204" pitchFamily="18" charset="0"/>
                      </a:rPr>
                      <m: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𝑉</m:t>
                        </m:r>
                      </m:e>
                      <m:sub>
                        <m:r>
                          <a:rPr lang="en-US" sz="1400" b="0" i="1" dirty="0" smtClean="0">
                            <a:latin typeface="Cambria Math" panose="02040503050406030204" pitchFamily="18" charset="0"/>
                          </a:rPr>
                          <m:t>𝑔</m:t>
                        </m:r>
                      </m:sub>
                    </m:sSub>
                    <m:r>
                      <a:rPr lang="en-US" sz="1400" b="0" i="1" dirty="0" smtClean="0">
                        <a:latin typeface="Cambria Math" panose="02040503050406030204" pitchFamily="18" charset="0"/>
                      </a:rPr>
                      <m:t>&lt;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𝑉</m:t>
                        </m:r>
                      </m:e>
                      <m:sub>
                        <m:r>
                          <a:rPr lang="en-US" sz="1400" b="0" i="1" dirty="0" smtClean="0">
                            <a:latin typeface="Cambria Math" panose="02040503050406030204" pitchFamily="18" charset="0"/>
                          </a:rPr>
                          <m:t>𝑐</m:t>
                        </m:r>
                      </m:sub>
                    </m:sSub>
                    <m:r>
                      <a:rPr lang="en-US" sz="1400" i="1" dirty="0">
                        <a:latin typeface="Cambria Math" panose="02040503050406030204" pitchFamily="18" charset="0"/>
                      </a:rPr>
                      <m:t>, </m:t>
                    </m:r>
                    <m:r>
                      <a:rPr lang="en-US" sz="1400" i="1" dirty="0">
                        <a:latin typeface="Cambria Math" panose="02040503050406030204" pitchFamily="18" charset="0"/>
                      </a:rPr>
                      <m:t>𝑀</m:t>
                    </m:r>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b="0" i="1" dirty="0" smtClean="0">
                        <a:latin typeface="Cambria Math" panose="02040503050406030204" pitchFamily="18" charset="0"/>
                      </a:rPr>
                      <m:t>&gt;</m:t>
                    </m:r>
                    <m:r>
                      <a:rPr lang="en-US" sz="1400" i="1" dirty="0">
                        <a:latin typeface="Cambria Math" panose="02040503050406030204" pitchFamily="18" charset="0"/>
                      </a:rPr>
                      <m:t>0</m:t>
                    </m:r>
                  </m:oMath>
                </a14:m>
                <a:r>
                  <a:rPr lang="en-US" sz="1400" dirty="0"/>
                  <a:t>,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𝑏𝑎𝑡</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&lt;0</m:t>
                    </m:r>
                  </m:oMath>
                </a14:m>
                <a:endParaRPr lang="en-US" sz="1400" dirty="0"/>
              </a:p>
              <a:p>
                <a:r>
                  <a:rPr lang="en-US" sz="1600" b="1" dirty="0"/>
                  <a:t>Reverse charging is possible!</a:t>
                </a:r>
              </a:p>
            </p:txBody>
          </p:sp>
        </mc:Choice>
        <mc:Fallback xmlns="">
          <p:sp>
            <p:nvSpPr>
              <p:cNvPr id="74" name="TextBox 73">
                <a:extLst>
                  <a:ext uri="{FF2B5EF4-FFF2-40B4-BE49-F238E27FC236}">
                    <a16:creationId xmlns:a16="http://schemas.microsoft.com/office/drawing/2014/main" id="{43E0BC8E-5C4A-9204-C2EA-48373DAFEAD5}"/>
                  </a:ext>
                </a:extLst>
              </p:cNvPr>
              <p:cNvSpPr txBox="1">
                <a:spLocks noRot="1" noChangeAspect="1" noMove="1" noResize="1" noEditPoints="1" noAdjustHandles="1" noChangeArrowheads="1" noChangeShapeType="1" noTextEdit="1"/>
              </p:cNvSpPr>
              <p:nvPr/>
            </p:nvSpPr>
            <p:spPr>
              <a:xfrm>
                <a:off x="6217648" y="4622637"/>
                <a:ext cx="5850467" cy="1235338"/>
              </a:xfrm>
              <a:prstGeom prst="rect">
                <a:avLst/>
              </a:prstGeom>
              <a:blipFill>
                <a:blip r:embed="rId7"/>
                <a:stretch>
                  <a:fillRect l="-625" t="-493" b="-4926"/>
                </a:stretch>
              </a:blipFill>
            </p:spPr>
            <p:txBody>
              <a:bodyPr/>
              <a:lstStyle/>
              <a:p>
                <a:r>
                  <a:rPr lang="en-US">
                    <a:noFill/>
                  </a:rPr>
                  <a:t> </a:t>
                </a:r>
              </a:p>
            </p:txBody>
          </p:sp>
        </mc:Fallback>
      </mc:AlternateContent>
    </p:spTree>
    <p:extLst>
      <p:ext uri="{BB962C8B-B14F-4D97-AF65-F5344CB8AC3E}">
        <p14:creationId xmlns:p14="http://schemas.microsoft.com/office/powerpoint/2010/main" val="2913852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6B5CD14-C47E-C217-17FF-DB5C0B93FE59}"/>
              </a:ext>
            </a:extLst>
          </p:cNvPr>
          <p:cNvSpPr>
            <a:spLocks noGrp="1"/>
          </p:cNvSpPr>
          <p:nvPr>
            <p:ph type="title"/>
          </p:nvPr>
        </p:nvSpPr>
        <p:spPr/>
        <p:txBody>
          <a:bodyPr/>
          <a:lstStyle/>
          <a:p>
            <a:r>
              <a:rPr lang="en-US" dirty="0"/>
              <a:t>Maximum Reverse Current, Continued</a:t>
            </a:r>
          </a:p>
        </p:txBody>
      </p:sp>
      <mc:AlternateContent xmlns:mc="http://schemas.openxmlformats.org/markup-compatibility/2006" xmlns:a14="http://schemas.microsoft.com/office/drawing/2010/main">
        <mc:Choice Requires="a14">
          <p:sp>
            <p:nvSpPr>
              <p:cNvPr id="6" name="Text Placeholder 5">
                <a:extLst>
                  <a:ext uri="{FF2B5EF4-FFF2-40B4-BE49-F238E27FC236}">
                    <a16:creationId xmlns:a16="http://schemas.microsoft.com/office/drawing/2014/main" id="{35DF6CCB-0898-3758-FBD2-56B547E4F24B}"/>
                  </a:ext>
                </a:extLst>
              </p:cNvPr>
              <p:cNvSpPr>
                <a:spLocks noGrp="1"/>
              </p:cNvSpPr>
              <p:nvPr>
                <p:ph type="body" sz="half" idx="4294967295"/>
              </p:nvPr>
            </p:nvSpPr>
            <p:spPr>
              <a:xfrm>
                <a:off x="881133" y="1582271"/>
                <a:ext cx="4991159" cy="4793362"/>
              </a:xfrm>
            </p:spPr>
            <p:txBody>
              <a:bodyPr>
                <a:noAutofit/>
              </a:bodyPr>
              <a:lstStyle/>
              <a:p>
                <a:pPr marL="0" indent="0">
                  <a:buNone/>
                </a:pPr>
                <a:r>
                  <a:rPr lang="en-US" sz="1800" dirty="0"/>
                  <a:t>To find steady-state maximum reverse current, we approximate the inductor as having 0 impedance. Negative voltage across resistor in RL branch causes negative current which is then reflected across ideal transformer. We can thus derive an expression for reverse current:</a:t>
                </a:r>
              </a:p>
              <a:p>
                <a:pPr marL="0" indent="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𝐼</m:t>
                          </m:r>
                        </m:e>
                        <m:sub>
                          <m:r>
                            <a:rPr lang="en-US" sz="1800" b="0" i="1" smtClean="0">
                              <a:latin typeface="Cambria Math" panose="02040503050406030204" pitchFamily="18" charset="0"/>
                            </a:rPr>
                            <m:t>𝑏𝑎𝑡</m:t>
                          </m:r>
                        </m:sub>
                      </m:sSub>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𝐺</m:t>
                              </m:r>
                            </m:sub>
                          </m:sSub>
                          <m:r>
                            <a:rPr lang="en-US" sz="1800" b="0" i="1" smtClean="0">
                              <a:latin typeface="Cambria Math" panose="02040503050406030204" pitchFamily="18" charset="0"/>
                            </a:rPr>
                            <m:t>∗</m:t>
                          </m:r>
                          <m:r>
                            <a:rPr lang="en-US" sz="1800" b="0" i="1" smtClean="0">
                              <a:latin typeface="Cambria Math" panose="02040503050406030204" pitchFamily="18" charset="0"/>
                            </a:rPr>
                            <m:t>𝑀</m:t>
                          </m:r>
                          <m:sSup>
                            <m:sSupPr>
                              <m:ctrlPr>
                                <a:rPr lang="en-US" sz="1800" b="0" i="1" smtClean="0">
                                  <a:latin typeface="Cambria Math" panose="02040503050406030204" pitchFamily="18" charset="0"/>
                                </a:rPr>
                              </m:ctrlPr>
                            </m:sSupPr>
                            <m:e>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e>
                            <m:sup>
                              <m:r>
                                <a:rPr lang="en-US" sz="1800" b="0" i="1" smtClean="0">
                                  <a:latin typeface="Cambria Math" panose="02040503050406030204" pitchFamily="18" charset="0"/>
                                </a:rPr>
                                <m:t>2</m:t>
                              </m:r>
                            </m:sup>
                          </m:sSup>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𝐶</m:t>
                              </m:r>
                            </m:sub>
                          </m:sSub>
                          <m:r>
                            <a:rPr lang="en-US" sz="1800" b="0" i="1" smtClean="0">
                              <a:latin typeface="Cambria Math" panose="02040503050406030204" pitchFamily="18" charset="0"/>
                            </a:rPr>
                            <m:t>∗</m:t>
                          </m:r>
                          <m:r>
                            <a:rPr lang="en-US" sz="1800" b="0" i="1" smtClean="0">
                              <a:latin typeface="Cambria Math" panose="02040503050406030204" pitchFamily="18" charset="0"/>
                            </a:rPr>
                            <m:t>𝑀</m:t>
                          </m:r>
                          <m:r>
                            <a:rPr lang="en-US" sz="1800" b="0" i="1" smtClean="0">
                              <a:latin typeface="Cambria Math" panose="02040503050406030204" pitchFamily="18" charset="0"/>
                            </a:rPr>
                            <m:t>(</m:t>
                          </m:r>
                          <m:r>
                            <a:rPr lang="en-US" sz="1800" b="0" i="1" smtClean="0">
                              <a:latin typeface="Cambria Math" panose="02040503050406030204" pitchFamily="18" charset="0"/>
                            </a:rPr>
                            <m:t>𝑡</m:t>
                          </m:r>
                          <m:r>
                            <a:rPr lang="en-US" sz="1800" b="0" i="1" smtClean="0">
                              <a:latin typeface="Cambria Math" panose="02040503050406030204" pitchFamily="18" charset="0"/>
                            </a:rPr>
                            <m:t>)</m:t>
                          </m:r>
                        </m:num>
                        <m:den>
                          <m:r>
                            <a:rPr lang="en-US" sz="1800" b="0" i="1" smtClean="0">
                              <a:latin typeface="Cambria Math" panose="02040503050406030204" pitchFamily="18" charset="0"/>
                            </a:rPr>
                            <m:t>𝑅</m:t>
                          </m:r>
                        </m:den>
                      </m:f>
                    </m:oMath>
                  </m:oMathPara>
                </a14:m>
                <a:endParaRPr lang="en-US" sz="1800" dirty="0"/>
              </a:p>
              <a:p>
                <a:pPr marL="0" indent="0">
                  <a:buNone/>
                </a:pPr>
                <a:r>
                  <a:rPr lang="en-US" sz="1800" dirty="0"/>
                  <a:t>Apply optimization for maximum reverse current:</a:t>
                </a:r>
              </a:p>
              <a:p>
                <a:pPr marL="0" indent="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𝐼</m:t>
                          </m:r>
                        </m:e>
                        <m:sub>
                          <m:r>
                            <a:rPr lang="en-US" sz="1800" b="0" i="1" smtClean="0">
                              <a:latin typeface="Cambria Math" panose="02040503050406030204" pitchFamily="18" charset="0"/>
                            </a:rPr>
                            <m:t>𝑏𝑎𝑡</m:t>
                          </m:r>
                          <m:r>
                            <a:rPr lang="en-US" sz="1800" b="0" i="1" smtClean="0">
                              <a:latin typeface="Cambria Math" panose="02040503050406030204" pitchFamily="18" charset="0"/>
                            </a:rPr>
                            <m:t>,</m:t>
                          </m:r>
                          <m:r>
                            <a:rPr lang="en-US" sz="1800" b="0" i="1" smtClean="0">
                              <a:latin typeface="Cambria Math" panose="02040503050406030204" pitchFamily="18" charset="0"/>
                            </a:rPr>
                            <m:t>𝑚𝑎𝑥</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Sup>
                            <m:sSubSupPr>
                              <m:ctrlPr>
                                <a:rPr lang="en-US" sz="1800" b="0" i="1" smtClean="0">
                                  <a:latin typeface="Cambria Math" panose="02040503050406030204" pitchFamily="18" charset="0"/>
                                </a:rPr>
                              </m:ctrlPr>
                            </m:sSubSupPr>
                            <m:e>
                              <m:r>
                                <a:rPr lang="en-US" sz="1800" b="0" i="1" smtClean="0">
                                  <a:latin typeface="Cambria Math" panose="02040503050406030204" pitchFamily="18" charset="0"/>
                                </a:rPr>
                                <m:t>𝑉</m:t>
                              </m:r>
                            </m:e>
                            <m:sub>
                              <m:r>
                                <a:rPr lang="en-US" sz="1800" b="0" i="1" smtClean="0">
                                  <a:latin typeface="Cambria Math" panose="02040503050406030204" pitchFamily="18" charset="0"/>
                                </a:rPr>
                                <m:t>𝑐</m:t>
                              </m:r>
                            </m:sub>
                            <m:sup>
                              <m:r>
                                <a:rPr lang="en-US" sz="1800" b="0" i="1" smtClean="0">
                                  <a:latin typeface="Cambria Math" panose="02040503050406030204" pitchFamily="18" charset="0"/>
                                </a:rPr>
                                <m:t>2</m:t>
                              </m:r>
                            </m:sup>
                          </m:sSubSup>
                        </m:num>
                        <m:den>
                          <m:r>
                            <a:rPr lang="en-US" sz="1800" b="0" i="1" smtClean="0">
                              <a:latin typeface="Cambria Math" panose="02040503050406030204" pitchFamily="18" charset="0"/>
                            </a:rPr>
                            <m:t>4</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𝑔</m:t>
                              </m:r>
                            </m:sub>
                          </m:sSub>
                          <m:r>
                            <a:rPr lang="en-US" sz="1800" b="0" i="1" smtClean="0">
                              <a:latin typeface="Cambria Math" panose="02040503050406030204" pitchFamily="18" charset="0"/>
                            </a:rPr>
                            <m:t>𝑅</m:t>
                          </m:r>
                        </m:den>
                      </m:f>
                      <m:r>
                        <a:rPr lang="en-US" sz="1800" b="0" i="1" smtClean="0">
                          <a:latin typeface="Cambria Math" panose="02040503050406030204" pitchFamily="18" charset="0"/>
                        </a:rPr>
                        <m:t>,</m:t>
                      </m:r>
                      <m:r>
                        <a:rPr lang="en-US" sz="1800" b="0" i="1" smtClean="0">
                          <a:latin typeface="Cambria Math" panose="02040503050406030204" pitchFamily="18" charset="0"/>
                        </a:rPr>
                        <m:t>𝑀</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𝑐</m:t>
                              </m:r>
                            </m:sub>
                          </m:sSub>
                        </m:num>
                        <m:den>
                          <m:r>
                            <a:rPr lang="en-US" sz="1800" b="0" i="1" smtClean="0">
                              <a:latin typeface="Cambria Math" panose="02040503050406030204" pitchFamily="18" charset="0"/>
                            </a:rPr>
                            <m:t>2</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𝑔</m:t>
                              </m:r>
                            </m:sub>
                          </m:sSub>
                        </m:den>
                      </m:f>
                      <m:r>
                        <a:rPr lang="en-US" sz="1800" b="0" i="1" smtClean="0">
                          <a:latin typeface="Cambria Math" panose="02040503050406030204" pitchFamily="18" charset="0"/>
                        </a:rPr>
                        <m:t>=</m:t>
                      </m:r>
                      <m:r>
                        <a:rPr lang="en-US" sz="1800" b="0" i="1" smtClean="0">
                          <a:latin typeface="Cambria Math" panose="02040503050406030204" pitchFamily="18" charset="0"/>
                        </a:rPr>
                        <m:t>𝐾</m:t>
                      </m:r>
                    </m:oMath>
                  </m:oMathPara>
                </a14:m>
                <a:endParaRPr lang="en-US" sz="1800" dirty="0"/>
              </a:p>
              <a:p>
                <a:pPr marL="0" indent="0">
                  <a:buNone/>
                </a:pPr>
                <a:r>
                  <a:rPr lang="en-US" sz="1800" dirty="0"/>
                  <a:t>A familiar constant appears! Let’s see if a corresponding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𝑀</m:t>
                        </m:r>
                      </m:e>
                      <m:sub>
                        <m:r>
                          <a:rPr lang="en-US" sz="1800" b="0" i="1" smtClean="0">
                            <a:latin typeface="Cambria Math" panose="02040503050406030204" pitchFamily="18" charset="0"/>
                          </a:rPr>
                          <m:t>𝑇</m:t>
                        </m:r>
                      </m:sub>
                    </m:sSub>
                    <m:r>
                      <a:rPr lang="en-US" sz="1800" b="0" i="1" smtClean="0">
                        <a:latin typeface="Cambria Math" panose="02040503050406030204" pitchFamily="18" charset="0"/>
                      </a:rPr>
                      <m:t>(</m:t>
                    </m:r>
                    <m:r>
                      <a:rPr lang="en-US" sz="1800" b="0" i="1" smtClean="0">
                        <a:latin typeface="Cambria Math" panose="02040503050406030204" pitchFamily="18" charset="0"/>
                      </a:rPr>
                      <m:t>𝑡</m:t>
                    </m:r>
                    <m:r>
                      <a:rPr lang="en-US" sz="1800" b="0" i="1" smtClean="0">
                        <a:latin typeface="Cambria Math" panose="02040503050406030204" pitchFamily="18" charset="0"/>
                      </a:rPr>
                      <m:t>)</m:t>
                    </m:r>
                  </m:oMath>
                </a14:m>
                <a:r>
                  <a:rPr lang="en-US" sz="1800" dirty="0"/>
                  <a:t> appears:</a:t>
                </a:r>
              </a:p>
              <a:p>
                <a:pPr marL="0" indent="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𝑀</m:t>
                          </m:r>
                        </m:e>
                        <m:sub>
                          <m:r>
                            <a:rPr lang="en-US" sz="1800" i="1">
                              <a:latin typeface="Cambria Math" panose="02040503050406030204" pitchFamily="18" charset="0"/>
                            </a:rPr>
                            <m:t>𝑇</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p>
                        <m:sSupPr>
                          <m:ctrlPr>
                            <a:rPr lang="en-US" sz="1800" i="1">
                              <a:latin typeface="Cambria Math" panose="02040503050406030204" pitchFamily="18" charset="0"/>
                            </a:rPr>
                          </m:ctrlPr>
                        </m:sSupPr>
                        <m:e>
                          <m:d>
                            <m:dPr>
                              <m:ctrlPr>
                                <a:rPr lang="en-US" sz="1800" i="1">
                                  <a:latin typeface="Cambria Math" panose="02040503050406030204" pitchFamily="18" charset="0"/>
                                </a:rPr>
                              </m:ctrlPr>
                            </m:dPr>
                            <m:e>
                              <m:r>
                                <a:rPr lang="en-US" sz="1800" i="1">
                                  <a:latin typeface="Cambria Math" panose="02040503050406030204" pitchFamily="18" charset="0"/>
                                </a:rPr>
                                <m:t>𝑀</m:t>
                              </m:r>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𝐾</m:t>
                                  </m:r>
                                </m:e>
                                <m:sub>
                                  <m:r>
                                    <a:rPr lang="en-US" sz="1800" i="1">
                                      <a:latin typeface="Cambria Math" panose="02040503050406030204" pitchFamily="18" charset="0"/>
                                    </a:rPr>
                                    <m:t>𝑇</m:t>
                                  </m:r>
                                </m:sub>
                              </m:sSub>
                            </m:e>
                          </m:d>
                        </m:e>
                        <m:sup>
                          <m:r>
                            <a:rPr lang="en-US" sz="1800" i="1">
                              <a:latin typeface="Cambria Math" panose="02040503050406030204" pitchFamily="18" charset="0"/>
                            </a:rPr>
                            <m:t>2</m:t>
                          </m:r>
                        </m:sup>
                      </m:sSup>
                      <m: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panose="02040503050406030204" pitchFamily="18" charset="0"/>
                            </a:rPr>
                            <m:t>𝐾</m:t>
                          </m:r>
                        </m:e>
                        <m:sub>
                          <m:r>
                            <a:rPr lang="en-US" sz="1800" i="1">
                              <a:latin typeface="Cambria Math" panose="02040503050406030204" pitchFamily="18" charset="0"/>
                            </a:rPr>
                            <m:t>𝑇</m:t>
                          </m:r>
                        </m:sub>
                        <m:sup>
                          <m:r>
                            <a:rPr lang="en-US" sz="1800" i="1">
                              <a:latin typeface="Cambria Math" panose="02040503050406030204" pitchFamily="18" charset="0"/>
                            </a:rPr>
                            <m:t>2</m:t>
                          </m:r>
                        </m:sup>
                      </m:sSubSup>
                    </m:oMath>
                  </m:oMathPara>
                </a14:m>
                <a:endParaRPr lang="en-US" sz="1800" dirty="0"/>
              </a:p>
              <a:p>
                <a:pPr marL="0" indent="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𝑀</m:t>
                          </m:r>
                        </m:e>
                        <m:sub>
                          <m:r>
                            <a:rPr lang="en-US" sz="1800" i="1">
                              <a:latin typeface="Cambria Math" panose="02040503050406030204" pitchFamily="18" charset="0"/>
                            </a:rPr>
                            <m:t>𝑇</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panose="02040503050406030204" pitchFamily="18" charset="0"/>
                            </a:rPr>
                            <m:t>𝐾</m:t>
                          </m:r>
                        </m:e>
                        <m:sub>
                          <m:r>
                            <a:rPr lang="en-US" sz="1800" i="1">
                              <a:latin typeface="Cambria Math" panose="02040503050406030204" pitchFamily="18" charset="0"/>
                            </a:rPr>
                            <m:t>𝑇</m:t>
                          </m:r>
                        </m:sub>
                        <m:sup>
                          <m:r>
                            <a:rPr lang="en-US" sz="1800" i="1">
                              <a:latin typeface="Cambria Math" panose="02040503050406030204" pitchFamily="18" charset="0"/>
                            </a:rPr>
                            <m:t>2</m:t>
                          </m:r>
                        </m:sup>
                      </m:sSubSup>
                    </m:oMath>
                  </m:oMathPara>
                </a14:m>
                <a:endParaRPr lang="en-US" sz="1800" dirty="0"/>
              </a:p>
              <a:p>
                <a:pPr marL="0" indent="0">
                  <a:buNone/>
                </a:pPr>
                <a:r>
                  <a:rPr lang="en-US" sz="1800" dirty="0"/>
                  <a:t>This is precisely the minimum value we saw earlier!</a:t>
                </a:r>
              </a:p>
            </p:txBody>
          </p:sp>
        </mc:Choice>
        <mc:Fallback xmlns="">
          <p:sp>
            <p:nvSpPr>
              <p:cNvPr id="6" name="Text Placeholder 5">
                <a:extLst>
                  <a:ext uri="{FF2B5EF4-FFF2-40B4-BE49-F238E27FC236}">
                    <a16:creationId xmlns:a16="http://schemas.microsoft.com/office/drawing/2014/main" id="{35DF6CCB-0898-3758-FBD2-56B547E4F24B}"/>
                  </a:ext>
                </a:extLst>
              </p:cNvPr>
              <p:cNvSpPr>
                <a:spLocks noGrp="1" noRot="1" noChangeAspect="1" noMove="1" noResize="1" noEditPoints="1" noAdjustHandles="1" noChangeArrowheads="1" noChangeShapeType="1" noTextEdit="1"/>
              </p:cNvSpPr>
              <p:nvPr>
                <p:ph type="body" sz="half" idx="4294967295"/>
              </p:nvPr>
            </p:nvSpPr>
            <p:spPr>
              <a:xfrm>
                <a:off x="881133" y="1582271"/>
                <a:ext cx="4991159" cy="4793362"/>
              </a:xfrm>
              <a:blipFill>
                <a:blip r:embed="rId2"/>
                <a:stretch>
                  <a:fillRect l="-1100" t="-1272" r="-611" b="-1272"/>
                </a:stretch>
              </a:blipFill>
            </p:spPr>
            <p:txBody>
              <a:bodyPr/>
              <a:lstStyle/>
              <a:p>
                <a:r>
                  <a:rPr lang="en-US">
                    <a:noFill/>
                  </a:rPr>
                  <a:t> </a:t>
                </a:r>
              </a:p>
            </p:txBody>
          </p:sp>
        </mc:Fallback>
      </mc:AlternateContent>
      <p:cxnSp>
        <p:nvCxnSpPr>
          <p:cNvPr id="7" name="Straight Connector 6">
            <a:extLst>
              <a:ext uri="{FF2B5EF4-FFF2-40B4-BE49-F238E27FC236}">
                <a16:creationId xmlns:a16="http://schemas.microsoft.com/office/drawing/2014/main" id="{62394A39-FB94-3A45-4A70-1EB5C81B5771}"/>
              </a:ext>
            </a:extLst>
          </p:cNvPr>
          <p:cNvCxnSpPr/>
          <p:nvPr/>
        </p:nvCxnSpPr>
        <p:spPr>
          <a:xfrm>
            <a:off x="6096000" y="1690688"/>
            <a:ext cx="0" cy="49429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8" name="Text Placeholder 5">
                <a:extLst>
                  <a:ext uri="{FF2B5EF4-FFF2-40B4-BE49-F238E27FC236}">
                    <a16:creationId xmlns:a16="http://schemas.microsoft.com/office/drawing/2014/main" id="{FE51BEAC-D44B-FEE4-5B8F-998219149AFD}"/>
                  </a:ext>
                </a:extLst>
              </p:cNvPr>
              <p:cNvSpPr txBox="1">
                <a:spLocks/>
              </p:cNvSpPr>
              <p:nvPr/>
            </p:nvSpPr>
            <p:spPr>
              <a:xfrm>
                <a:off x="6319708" y="1582271"/>
                <a:ext cx="4991159" cy="47933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dirty="0"/>
                  <a:t>This conclusion tells us that our control scheme should (at least theoretically) work in with both forward and reverse currents. All we need to do is make sure that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𝑀</m:t>
                        </m:r>
                      </m:e>
                      <m:sub>
                        <m:r>
                          <a:rPr lang="en-US" sz="1800" i="1">
                            <a:latin typeface="Cambria Math" panose="02040503050406030204" pitchFamily="18" charset="0"/>
                          </a:rPr>
                          <m:t>𝑇</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oMath>
                </a14:m>
                <a:r>
                  <a:rPr lang="en-US" sz="1800" dirty="0"/>
                  <a:t> never drops below its minimum value of </a:t>
                </a:r>
                <a14:m>
                  <m:oMath xmlns:m="http://schemas.openxmlformats.org/officeDocument/2006/math">
                    <m: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panose="02040503050406030204" pitchFamily="18" charset="0"/>
                          </a:rPr>
                          <m:t>𝐾</m:t>
                        </m:r>
                      </m:e>
                      <m:sub>
                        <m:r>
                          <a:rPr lang="en-US" sz="1800" i="1">
                            <a:latin typeface="Cambria Math" panose="02040503050406030204" pitchFamily="18" charset="0"/>
                          </a:rPr>
                          <m:t>𝑇</m:t>
                        </m:r>
                      </m:sub>
                      <m:sup>
                        <m:r>
                          <a:rPr lang="en-US" sz="1800" i="1">
                            <a:latin typeface="Cambria Math" panose="02040503050406030204" pitchFamily="18" charset="0"/>
                          </a:rPr>
                          <m:t>2</m:t>
                        </m:r>
                      </m:sup>
                    </m:sSubSup>
                  </m:oMath>
                </a14:m>
                <a:r>
                  <a:rPr lang="en-US" sz="1800" dirty="0"/>
                  <a:t>, and we should be able to see a smooth transition between the two domains! </a:t>
                </a:r>
              </a:p>
              <a:p>
                <a:pPr marL="0" indent="0">
                  <a:buNone/>
                </a:pPr>
                <a:r>
                  <a:rPr lang="en-US" sz="1800" dirty="0"/>
                  <a:t>To find out, we simply leave everything as-is and see what happens when we set the reference current to a negative value. </a:t>
                </a:r>
              </a:p>
            </p:txBody>
          </p:sp>
        </mc:Choice>
        <mc:Fallback xmlns="">
          <p:sp>
            <p:nvSpPr>
              <p:cNvPr id="8" name="Text Placeholder 5">
                <a:extLst>
                  <a:ext uri="{FF2B5EF4-FFF2-40B4-BE49-F238E27FC236}">
                    <a16:creationId xmlns:a16="http://schemas.microsoft.com/office/drawing/2014/main" id="{FE51BEAC-D44B-FEE4-5B8F-998219149AFD}"/>
                  </a:ext>
                </a:extLst>
              </p:cNvPr>
              <p:cNvSpPr txBox="1">
                <a:spLocks noRot="1" noChangeAspect="1" noMove="1" noResize="1" noEditPoints="1" noAdjustHandles="1" noChangeArrowheads="1" noChangeShapeType="1" noTextEdit="1"/>
              </p:cNvSpPr>
              <p:nvPr/>
            </p:nvSpPr>
            <p:spPr>
              <a:xfrm>
                <a:off x="6319708" y="1582271"/>
                <a:ext cx="4991159" cy="4793362"/>
              </a:xfrm>
              <a:prstGeom prst="rect">
                <a:avLst/>
              </a:prstGeom>
              <a:blipFill>
                <a:blip r:embed="rId3"/>
                <a:stretch>
                  <a:fillRect l="-1100" t="-1272"/>
                </a:stretch>
              </a:blipFill>
            </p:spPr>
            <p:txBody>
              <a:bodyPr/>
              <a:lstStyle/>
              <a:p>
                <a:r>
                  <a:rPr lang="en-US">
                    <a:noFill/>
                  </a:rPr>
                  <a:t> </a:t>
                </a:r>
              </a:p>
            </p:txBody>
          </p:sp>
        </mc:Fallback>
      </mc:AlternateContent>
    </p:spTree>
    <p:extLst>
      <p:ext uri="{BB962C8B-B14F-4D97-AF65-F5344CB8AC3E}">
        <p14:creationId xmlns:p14="http://schemas.microsoft.com/office/powerpoint/2010/main" val="10692196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E3CCA7B-9139-AEE1-80AE-A3E961C7758F}"/>
              </a:ext>
            </a:extLst>
          </p:cNvPr>
          <p:cNvSpPr>
            <a:spLocks noGrp="1"/>
          </p:cNvSpPr>
          <p:nvPr>
            <p:ph type="title"/>
          </p:nvPr>
        </p:nvSpPr>
        <p:spPr>
          <a:xfrm>
            <a:off x="838200" y="365125"/>
            <a:ext cx="10515600" cy="1325563"/>
          </a:xfrm>
        </p:spPr>
        <p:txBody>
          <a:bodyPr>
            <a:normAutofit/>
          </a:bodyPr>
          <a:lstStyle/>
          <a:p>
            <a:r>
              <a:rPr lang="en-US" sz="4000" dirty="0"/>
              <a:t>Time-Domain Simulation (0s&lt;t&lt;????)</a:t>
            </a:r>
          </a:p>
        </p:txBody>
      </p:sp>
      <p:pic>
        <p:nvPicPr>
          <p:cNvPr id="7" name="Picture 6">
            <a:extLst>
              <a:ext uri="{FF2B5EF4-FFF2-40B4-BE49-F238E27FC236}">
                <a16:creationId xmlns:a16="http://schemas.microsoft.com/office/drawing/2014/main" id="{FCB4721A-D930-0FCB-BF7F-020619A623F8}"/>
              </a:ext>
            </a:extLst>
          </p:cNvPr>
          <p:cNvPicPr>
            <a:picLocks noChangeAspect="1"/>
          </p:cNvPicPr>
          <p:nvPr/>
        </p:nvPicPr>
        <p:blipFill>
          <a:blip r:embed="rId2"/>
          <a:stretch>
            <a:fillRect/>
          </a:stretch>
        </p:blipFill>
        <p:spPr>
          <a:xfrm>
            <a:off x="596153" y="1772572"/>
            <a:ext cx="7297271" cy="3554544"/>
          </a:xfrm>
          <a:prstGeom prst="rect">
            <a:avLst/>
          </a:prstGeom>
        </p:spPr>
      </p:pic>
      <p:pic>
        <p:nvPicPr>
          <p:cNvPr id="5" name="Picture 4">
            <a:extLst>
              <a:ext uri="{FF2B5EF4-FFF2-40B4-BE49-F238E27FC236}">
                <a16:creationId xmlns:a16="http://schemas.microsoft.com/office/drawing/2014/main" id="{FCF71837-D6B9-2CD2-A287-29E1347C2FC9}"/>
              </a:ext>
            </a:extLst>
          </p:cNvPr>
          <p:cNvPicPr>
            <a:picLocks noChangeAspect="1"/>
          </p:cNvPicPr>
          <p:nvPr/>
        </p:nvPicPr>
        <p:blipFill>
          <a:blip r:embed="rId3"/>
          <a:stretch>
            <a:fillRect/>
          </a:stretch>
        </p:blipFill>
        <p:spPr>
          <a:xfrm>
            <a:off x="6266330" y="4394087"/>
            <a:ext cx="4352365" cy="2140470"/>
          </a:xfrm>
          <a:prstGeom prst="rect">
            <a:avLst/>
          </a:prstGeom>
        </p:spPr>
      </p:pic>
      <p:cxnSp>
        <p:nvCxnSpPr>
          <p:cNvPr id="11" name="Straight Arrow Connector 10">
            <a:extLst>
              <a:ext uri="{FF2B5EF4-FFF2-40B4-BE49-F238E27FC236}">
                <a16:creationId xmlns:a16="http://schemas.microsoft.com/office/drawing/2014/main" id="{5B20C00F-1936-6036-A50C-C0B2360D5C7F}"/>
              </a:ext>
            </a:extLst>
          </p:cNvPr>
          <p:cNvCxnSpPr>
            <a:cxnSpLocks/>
            <a:stCxn id="5" idx="0"/>
          </p:cNvCxnSpPr>
          <p:nvPr/>
        </p:nvCxnSpPr>
        <p:spPr>
          <a:xfrm flipH="1" flipV="1">
            <a:off x="7852095" y="2864840"/>
            <a:ext cx="590418" cy="152924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610855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CF59CC-F282-7655-F58B-397001D053A1}"/>
              </a:ext>
            </a:extLst>
          </p:cNvPr>
          <p:cNvSpPr>
            <a:spLocks noGrp="1"/>
          </p:cNvSpPr>
          <p:nvPr>
            <p:ph type="title"/>
          </p:nvPr>
        </p:nvSpPr>
        <p:spPr/>
        <p:txBody>
          <a:bodyPr/>
          <a:lstStyle/>
          <a:p>
            <a:r>
              <a:rPr lang="en-US" dirty="0"/>
              <a:t>Reverse Current – Control Schema</a:t>
            </a:r>
          </a:p>
        </p:txBody>
      </p:sp>
      <p:pic>
        <p:nvPicPr>
          <p:cNvPr id="3" name="Online Media 2" title="guy screaming for help while holding a chick fil a drink">
            <a:hlinkClick r:id="" action="ppaction://media"/>
            <a:extLst>
              <a:ext uri="{FF2B5EF4-FFF2-40B4-BE49-F238E27FC236}">
                <a16:creationId xmlns:a16="http://schemas.microsoft.com/office/drawing/2014/main" id="{3CDCB37F-614F-0266-D181-7E245E3C588F}"/>
              </a:ext>
            </a:extLst>
          </p:cNvPr>
          <p:cNvPicPr>
            <a:picLocks noRot="1" noChangeAspect="1"/>
          </p:cNvPicPr>
          <p:nvPr>
            <a:videoFile r:link="rId1"/>
          </p:nvPr>
        </p:nvPicPr>
        <p:blipFill>
          <a:blip r:embed="rId3"/>
          <a:stretch>
            <a:fillRect/>
          </a:stretch>
        </p:blipFill>
        <p:spPr>
          <a:xfrm>
            <a:off x="2523565" y="1422676"/>
            <a:ext cx="7144871" cy="5358653"/>
          </a:xfrm>
          <a:prstGeom prst="rect">
            <a:avLst/>
          </a:prstGeom>
        </p:spPr>
      </p:pic>
    </p:spTree>
    <p:extLst>
      <p:ext uri="{BB962C8B-B14F-4D97-AF65-F5344CB8AC3E}">
        <p14:creationId xmlns:p14="http://schemas.microsoft.com/office/powerpoint/2010/main" val="17607156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62606-E06E-227F-4BDB-3B7B26C31C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30A771-ED46-5C22-5A42-69B28242D152}"/>
              </a:ext>
            </a:extLst>
          </p:cNvPr>
          <p:cNvSpPr>
            <a:spLocks noGrp="1"/>
          </p:cNvSpPr>
          <p:nvPr>
            <p:ph type="title"/>
          </p:nvPr>
        </p:nvSpPr>
        <p:spPr/>
        <p:txBody>
          <a:bodyPr/>
          <a:lstStyle/>
          <a:p>
            <a:r>
              <a:rPr lang="en-US" dirty="0"/>
              <a:t>Addendum: Resistance and Inductor Characteristics</a:t>
            </a:r>
          </a:p>
        </p:txBody>
      </p:sp>
      <p:sp>
        <p:nvSpPr>
          <p:cNvPr id="3" name="Content Placeholder 2">
            <a:extLst>
              <a:ext uri="{FF2B5EF4-FFF2-40B4-BE49-F238E27FC236}">
                <a16:creationId xmlns:a16="http://schemas.microsoft.com/office/drawing/2014/main" id="{8DC78F62-FEAC-F5D0-FF70-6A0E6AA9CE37}"/>
              </a:ext>
            </a:extLst>
          </p:cNvPr>
          <p:cNvSpPr>
            <a:spLocks noGrp="1"/>
          </p:cNvSpPr>
          <p:nvPr>
            <p:ph idx="1"/>
          </p:nvPr>
        </p:nvSpPr>
        <p:spPr>
          <a:xfrm>
            <a:off x="838200" y="2083018"/>
            <a:ext cx="5008927" cy="4351338"/>
          </a:xfrm>
        </p:spPr>
        <p:txBody>
          <a:bodyPr>
            <a:normAutofit fontScale="70000" lnSpcReduction="20000"/>
          </a:bodyPr>
          <a:lstStyle/>
          <a:p>
            <a:pPr marL="0" indent="0">
              <a:buNone/>
            </a:pPr>
            <a:r>
              <a:rPr lang="en-US" dirty="0"/>
              <a:t>First-order estimates for R approximate its value at 83 m</a:t>
            </a:r>
            <a:r>
              <a:rPr lang="el-GR" dirty="0"/>
              <a:t>Ω</a:t>
            </a:r>
            <a:r>
              <a:rPr lang="en-US" dirty="0"/>
              <a:t>, making the maximum reverse current roughly 1.2A at full capacitor charge. Considering that the maximum reverse current scales with stored capacitor voltage and the capacitor is not expected to be at full charge during operation, this results in even lower maximum reverse current during expected operation conditions. </a:t>
            </a:r>
          </a:p>
          <a:p>
            <a:pPr marL="0" indent="0">
              <a:buNone/>
            </a:pPr>
            <a:r>
              <a:rPr lang="en-US" dirty="0"/>
              <a:t>To ameliorate this limitation, increasing reverse current would require lower resistance across the RL branch, the lion’s share of which is from the inductor. Maximizing copper area and mitigating skin effects are of utmost importance to optimize performance. </a:t>
            </a:r>
          </a:p>
        </p:txBody>
      </p:sp>
      <p:cxnSp>
        <p:nvCxnSpPr>
          <p:cNvPr id="5" name="Straight Connector 4">
            <a:extLst>
              <a:ext uri="{FF2B5EF4-FFF2-40B4-BE49-F238E27FC236}">
                <a16:creationId xmlns:a16="http://schemas.microsoft.com/office/drawing/2014/main" id="{47067B6C-288F-8B90-3A12-A4F36B930AA2}"/>
              </a:ext>
            </a:extLst>
          </p:cNvPr>
          <p:cNvCxnSpPr>
            <a:stCxn id="2" idx="2"/>
          </p:cNvCxnSpPr>
          <p:nvPr/>
        </p:nvCxnSpPr>
        <p:spPr>
          <a:xfrm>
            <a:off x="6096000" y="1690688"/>
            <a:ext cx="0" cy="47436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217353FE-D10E-0687-057A-947DDE299865}"/>
              </a:ext>
            </a:extLst>
          </p:cNvPr>
          <p:cNvSpPr txBox="1"/>
          <p:nvPr/>
        </p:nvSpPr>
        <p:spPr>
          <a:xfrm>
            <a:off x="2476326" y="1621353"/>
            <a:ext cx="1732675" cy="461665"/>
          </a:xfrm>
          <a:prstGeom prst="rect">
            <a:avLst/>
          </a:prstGeom>
          <a:noFill/>
        </p:spPr>
        <p:txBody>
          <a:bodyPr wrap="square" rtlCol="0">
            <a:spAutoFit/>
          </a:bodyPr>
          <a:lstStyle/>
          <a:p>
            <a:pPr algn="ctr"/>
            <a:r>
              <a:rPr lang="en-US" sz="2400" b="1" dirty="0"/>
              <a:t>3/28/2026:</a:t>
            </a:r>
          </a:p>
        </p:txBody>
      </p:sp>
      <p:sp>
        <p:nvSpPr>
          <p:cNvPr id="7" name="Content Placeholder 2">
            <a:extLst>
              <a:ext uri="{FF2B5EF4-FFF2-40B4-BE49-F238E27FC236}">
                <a16:creationId xmlns:a16="http://schemas.microsoft.com/office/drawing/2014/main" id="{C47283E9-F661-29BD-B9C7-394F55B037AA}"/>
              </a:ext>
            </a:extLst>
          </p:cNvPr>
          <p:cNvSpPr txBox="1">
            <a:spLocks/>
          </p:cNvSpPr>
          <p:nvPr/>
        </p:nvSpPr>
        <p:spPr>
          <a:xfrm>
            <a:off x="6344873" y="2083018"/>
            <a:ext cx="5008927" cy="4351338"/>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The switched-cycle average model used to calculate maximum reverse current uses switch-cycle average voltages and currents for its modeling of system dynamics, meaning it disregards effects at the converter’s 120kHz switching frequency. Average signals can be treated as low-frequency and skin effects can be discarded. </a:t>
            </a:r>
          </a:p>
          <a:p>
            <a:pPr marL="0" indent="0">
              <a:buFont typeface="Arial" panose="020B0604020202020204" pitchFamily="34" charset="0"/>
              <a:buNone/>
            </a:pPr>
            <a:r>
              <a:rPr lang="en-US" dirty="0"/>
              <a:t>Experimentally, the inductor was rewound to optimize DC resistance instead of AC resistance and a new resistance value of 4 m</a:t>
            </a:r>
            <a:r>
              <a:rPr lang="el-GR" dirty="0"/>
              <a:t>Ω</a:t>
            </a:r>
            <a:r>
              <a:rPr lang="en-US" dirty="0"/>
              <a:t> was measured. </a:t>
            </a:r>
          </a:p>
        </p:txBody>
      </p:sp>
      <p:sp>
        <p:nvSpPr>
          <p:cNvPr id="8" name="TextBox 7">
            <a:extLst>
              <a:ext uri="{FF2B5EF4-FFF2-40B4-BE49-F238E27FC236}">
                <a16:creationId xmlns:a16="http://schemas.microsoft.com/office/drawing/2014/main" id="{E7715784-25E2-05D0-9E29-31E635AFB3A6}"/>
              </a:ext>
            </a:extLst>
          </p:cNvPr>
          <p:cNvSpPr txBox="1"/>
          <p:nvPr/>
        </p:nvSpPr>
        <p:spPr>
          <a:xfrm>
            <a:off x="7982999" y="1621353"/>
            <a:ext cx="1732675" cy="461665"/>
          </a:xfrm>
          <a:prstGeom prst="rect">
            <a:avLst/>
          </a:prstGeom>
          <a:noFill/>
        </p:spPr>
        <p:txBody>
          <a:bodyPr wrap="square" rtlCol="0">
            <a:spAutoFit/>
          </a:bodyPr>
          <a:lstStyle/>
          <a:p>
            <a:pPr algn="ctr"/>
            <a:r>
              <a:rPr lang="en-US" sz="2400" b="1" dirty="0"/>
              <a:t>4/1/2026:</a:t>
            </a:r>
          </a:p>
        </p:txBody>
      </p:sp>
    </p:spTree>
    <p:extLst>
      <p:ext uri="{BB962C8B-B14F-4D97-AF65-F5344CB8AC3E}">
        <p14:creationId xmlns:p14="http://schemas.microsoft.com/office/powerpoint/2010/main" val="22816202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50BB5-4C83-F743-B01B-F9CDC2372D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35F886-F4AC-B6CB-4CEC-424A3051C91F}"/>
              </a:ext>
            </a:extLst>
          </p:cNvPr>
          <p:cNvSpPr>
            <a:spLocks noGrp="1"/>
          </p:cNvSpPr>
          <p:nvPr>
            <p:ph type="title"/>
          </p:nvPr>
        </p:nvSpPr>
        <p:spPr/>
        <p:txBody>
          <a:bodyPr/>
          <a:lstStyle/>
          <a:p>
            <a:r>
              <a:rPr lang="en-US" dirty="0"/>
              <a:t>Section 3: Disturbance Rejection &amp; Robustness</a:t>
            </a:r>
          </a:p>
        </p:txBody>
      </p:sp>
      <p:sp>
        <p:nvSpPr>
          <p:cNvPr id="3" name="Text Placeholder 2">
            <a:extLst>
              <a:ext uri="{FF2B5EF4-FFF2-40B4-BE49-F238E27FC236}">
                <a16:creationId xmlns:a16="http://schemas.microsoft.com/office/drawing/2014/main" id="{7EB6D585-CEE8-3232-E327-916DC11A63D9}"/>
              </a:ext>
            </a:extLst>
          </p:cNvPr>
          <p:cNvSpPr>
            <a:spLocks noGrp="1"/>
          </p:cNvSpPr>
          <p:nvPr>
            <p:ph type="body" idx="1"/>
          </p:nvPr>
        </p:nvSpPr>
        <p:spPr/>
        <p:txBody>
          <a:bodyPr/>
          <a:lstStyle/>
          <a:p>
            <a:r>
              <a:rPr lang="en-US" dirty="0"/>
              <a:t>alright guys ill need </a:t>
            </a:r>
            <a:r>
              <a:rPr lang="en-US" dirty="0" err="1"/>
              <a:t>yall</a:t>
            </a:r>
            <a:r>
              <a:rPr lang="en-US" dirty="0"/>
              <a:t> to pitch in now</a:t>
            </a:r>
          </a:p>
        </p:txBody>
      </p:sp>
    </p:spTree>
    <p:extLst>
      <p:ext uri="{BB962C8B-B14F-4D97-AF65-F5344CB8AC3E}">
        <p14:creationId xmlns:p14="http://schemas.microsoft.com/office/powerpoint/2010/main" val="18393388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48933BC-474B-4EC8-A9B7-D62031AA33D1}"/>
              </a:ext>
            </a:extLst>
          </p:cNvPr>
          <p:cNvSpPr>
            <a:spLocks noGrp="1"/>
          </p:cNvSpPr>
          <p:nvPr>
            <p:ph type="title"/>
          </p:nvPr>
        </p:nvSpPr>
        <p:spPr>
          <a:xfrm>
            <a:off x="838200" y="364941"/>
            <a:ext cx="10515600" cy="1325563"/>
          </a:xfrm>
        </p:spPr>
        <p:txBody>
          <a:bodyPr/>
          <a:lstStyle/>
          <a:p>
            <a:pPr algn="ctr"/>
            <a:r>
              <a:rPr lang="en-US" dirty="0"/>
              <a:t>Sources of Inaccuracies: Examples</a:t>
            </a:r>
          </a:p>
        </p:txBody>
      </p:sp>
      <p:sp>
        <p:nvSpPr>
          <p:cNvPr id="3" name="TextBox 2">
            <a:extLst>
              <a:ext uri="{FF2B5EF4-FFF2-40B4-BE49-F238E27FC236}">
                <a16:creationId xmlns:a16="http://schemas.microsoft.com/office/drawing/2014/main" id="{3E8315EF-F180-1473-929D-6FCEC7F49766}"/>
              </a:ext>
            </a:extLst>
          </p:cNvPr>
          <p:cNvSpPr txBox="1"/>
          <p:nvPr/>
        </p:nvSpPr>
        <p:spPr>
          <a:xfrm>
            <a:off x="8668479" y="1875170"/>
            <a:ext cx="744114" cy="1200329"/>
          </a:xfrm>
          <a:prstGeom prst="rect">
            <a:avLst/>
          </a:prstGeom>
          <a:noFill/>
          <a:ln>
            <a:solidFill>
              <a:schemeClr val="tx1"/>
            </a:solidFill>
          </a:ln>
        </p:spPr>
        <p:txBody>
          <a:bodyPr wrap="none" rtlCol="0">
            <a:spAutoFit/>
          </a:bodyPr>
          <a:lstStyle/>
          <a:p>
            <a:r>
              <a:rPr lang="en-US" sz="7200" dirty="0"/>
              <a:t>R</a:t>
            </a:r>
          </a:p>
        </p:txBody>
      </p:sp>
      <p:sp>
        <p:nvSpPr>
          <p:cNvPr id="5" name="TextBox 4">
            <a:extLst>
              <a:ext uri="{FF2B5EF4-FFF2-40B4-BE49-F238E27FC236}">
                <a16:creationId xmlns:a16="http://schemas.microsoft.com/office/drawing/2014/main" id="{A2C7575A-F865-0B1F-F649-6742D19583D9}"/>
              </a:ext>
            </a:extLst>
          </p:cNvPr>
          <p:cNvSpPr txBox="1"/>
          <p:nvPr/>
        </p:nvSpPr>
        <p:spPr>
          <a:xfrm>
            <a:off x="8394686" y="1505838"/>
            <a:ext cx="1291700" cy="369332"/>
          </a:xfrm>
          <a:prstGeom prst="rect">
            <a:avLst/>
          </a:prstGeom>
          <a:noFill/>
        </p:spPr>
        <p:txBody>
          <a:bodyPr wrap="none" rtlCol="0">
            <a:spAutoFit/>
          </a:bodyPr>
          <a:lstStyle/>
          <a:p>
            <a:r>
              <a:rPr lang="en-US" dirty="0"/>
              <a:t>Resistance</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FC0C35F-AFF8-4419-BB50-238C7BD4BD97}"/>
                  </a:ext>
                </a:extLst>
              </p:cNvPr>
              <p:cNvSpPr txBox="1"/>
              <p:nvPr/>
            </p:nvSpPr>
            <p:spPr>
              <a:xfrm>
                <a:off x="7324987" y="3200964"/>
                <a:ext cx="3431097" cy="1163075"/>
              </a:xfrm>
              <a:prstGeom prst="rect">
                <a:avLst/>
              </a:prstGeom>
              <a:noFill/>
            </p:spPr>
            <p:txBody>
              <a:bodyPr wrap="square" rtlCol="0">
                <a:spAutoFit/>
              </a:bodyPr>
              <a:lstStyle/>
              <a:p>
                <a:pPr algn="ctr"/>
                <a:r>
                  <a:rPr lang="en-US" dirty="0"/>
                  <a:t>First-order calculation:</a:t>
                </a:r>
              </a:p>
              <a:p>
                <a:pPr algn="ctr"/>
                <a:endParaRPr lang="en-US" dirty="0"/>
              </a:p>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𝑒𝑞</m:t>
                          </m:r>
                        </m:sub>
                      </m:sSub>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𝑜𝑛</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𝐿</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𝐶</m:t>
                              </m:r>
                            </m:sub>
                          </m:sSub>
                        </m:num>
                        <m:den>
                          <m:r>
                            <a:rPr lang="en-US" b="0" i="1" smtClean="0">
                              <a:latin typeface="Cambria Math" panose="02040503050406030204" pitchFamily="18" charset="0"/>
                            </a:rPr>
                            <m:t>4</m:t>
                          </m:r>
                        </m:den>
                      </m:f>
                    </m:oMath>
                  </m:oMathPara>
                </a14:m>
                <a:endParaRPr lang="en-US" dirty="0"/>
              </a:p>
            </p:txBody>
          </p:sp>
        </mc:Choice>
        <mc:Fallback xmlns="">
          <p:sp>
            <p:nvSpPr>
              <p:cNvPr id="6" name="TextBox 5">
                <a:extLst>
                  <a:ext uri="{FF2B5EF4-FFF2-40B4-BE49-F238E27FC236}">
                    <a16:creationId xmlns:a16="http://schemas.microsoft.com/office/drawing/2014/main" id="{3FC0C35F-AFF8-4419-BB50-238C7BD4BD97}"/>
                  </a:ext>
                </a:extLst>
              </p:cNvPr>
              <p:cNvSpPr txBox="1">
                <a:spLocks noRot="1" noChangeAspect="1" noMove="1" noResize="1" noEditPoints="1" noAdjustHandles="1" noChangeArrowheads="1" noChangeShapeType="1" noTextEdit="1"/>
              </p:cNvSpPr>
              <p:nvPr/>
            </p:nvSpPr>
            <p:spPr>
              <a:xfrm>
                <a:off x="7324987" y="3200964"/>
                <a:ext cx="3431097" cy="1163075"/>
              </a:xfrm>
              <a:prstGeom prst="rect">
                <a:avLst/>
              </a:prstGeom>
              <a:blipFill>
                <a:blip r:embed="rId2"/>
                <a:stretch>
                  <a:fillRect t="-2094"/>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48B36FB5-9A67-3561-C9D8-69B58D8C54F7}"/>
              </a:ext>
            </a:extLst>
          </p:cNvPr>
          <p:cNvSpPr txBox="1"/>
          <p:nvPr/>
        </p:nvSpPr>
        <p:spPr>
          <a:xfrm>
            <a:off x="2078105" y="5912961"/>
            <a:ext cx="8035790" cy="369332"/>
          </a:xfrm>
          <a:prstGeom prst="rect">
            <a:avLst/>
          </a:prstGeom>
          <a:noFill/>
        </p:spPr>
        <p:txBody>
          <a:bodyPr wrap="none" rtlCol="0">
            <a:spAutoFit/>
          </a:bodyPr>
          <a:lstStyle/>
          <a:p>
            <a:r>
              <a:rPr lang="en-US" b="1" dirty="0"/>
              <a:t>Both signals and system parameters will not behave exactly as in the model</a:t>
            </a:r>
          </a:p>
        </p:txBody>
      </p:sp>
      <p:cxnSp>
        <p:nvCxnSpPr>
          <p:cNvPr id="11" name="Straight Connector 10">
            <a:extLst>
              <a:ext uri="{FF2B5EF4-FFF2-40B4-BE49-F238E27FC236}">
                <a16:creationId xmlns:a16="http://schemas.microsoft.com/office/drawing/2014/main" id="{F2E339B8-B6AA-4C6D-B21A-8EAACA562253}"/>
              </a:ext>
            </a:extLst>
          </p:cNvPr>
          <p:cNvCxnSpPr>
            <a:cxnSpLocks/>
          </p:cNvCxnSpPr>
          <p:nvPr/>
        </p:nvCxnSpPr>
        <p:spPr>
          <a:xfrm>
            <a:off x="6096000" y="1712990"/>
            <a:ext cx="0" cy="41910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41979162-F0C6-F544-8459-B21F76972C8A}"/>
              </a:ext>
            </a:extLst>
          </p:cNvPr>
          <p:cNvSpPr txBox="1"/>
          <p:nvPr/>
        </p:nvSpPr>
        <p:spPr>
          <a:xfrm>
            <a:off x="6849208" y="4767596"/>
            <a:ext cx="1717592" cy="430887"/>
          </a:xfrm>
          <a:prstGeom prst="rect">
            <a:avLst/>
          </a:prstGeom>
          <a:noFill/>
          <a:ln>
            <a:solidFill>
              <a:schemeClr val="tx1"/>
            </a:solidFill>
          </a:ln>
        </p:spPr>
        <p:txBody>
          <a:bodyPr wrap="square" rtlCol="0">
            <a:spAutoFit/>
          </a:bodyPr>
          <a:lstStyle/>
          <a:p>
            <a:r>
              <a:rPr lang="en-US" sz="1050" dirty="0"/>
              <a:t>MOSFET resistance dependent on gate voltage</a:t>
            </a:r>
          </a:p>
        </p:txBody>
      </p:sp>
      <p:cxnSp>
        <p:nvCxnSpPr>
          <p:cNvPr id="14" name="Straight Arrow Connector 13">
            <a:extLst>
              <a:ext uri="{FF2B5EF4-FFF2-40B4-BE49-F238E27FC236}">
                <a16:creationId xmlns:a16="http://schemas.microsoft.com/office/drawing/2014/main" id="{302F3CD9-6F3F-B650-A86C-231526F231C7}"/>
              </a:ext>
            </a:extLst>
          </p:cNvPr>
          <p:cNvCxnSpPr>
            <a:cxnSpLocks/>
            <a:stCxn id="12" idx="0"/>
          </p:cNvCxnSpPr>
          <p:nvPr/>
        </p:nvCxnSpPr>
        <p:spPr>
          <a:xfrm flipV="1">
            <a:off x="7708004" y="4302751"/>
            <a:ext cx="1245293" cy="46484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EBDAC820-A69F-CD23-7C70-2ED4FC2C8251}"/>
                  </a:ext>
                </a:extLst>
              </p:cNvPr>
              <p:cNvSpPr txBox="1"/>
              <p:nvPr/>
            </p:nvSpPr>
            <p:spPr>
              <a:xfrm>
                <a:off x="10292715" y="3916072"/>
                <a:ext cx="1464108" cy="692497"/>
              </a:xfrm>
              <a:prstGeom prst="rect">
                <a:avLst/>
              </a:prstGeom>
              <a:noFill/>
              <a:ln>
                <a:solidFill>
                  <a:schemeClr val="tx1">
                    <a:alpha val="50000"/>
                  </a:schemeClr>
                </a:solidFill>
              </a:ln>
            </p:spPr>
            <p:txBody>
              <a:bodyPr wrap="square" rtlCol="0">
                <a:spAutoFit/>
              </a:bodyPr>
              <a:lstStyle/>
              <a:p>
                <a:r>
                  <a:rPr lang="en-US" dirty="0">
                    <a:solidFill>
                      <a:schemeClr val="tx1">
                        <a:alpha val="50000"/>
                      </a:schemeClr>
                    </a:solidFill>
                  </a:rPr>
                  <a:t>(+</a:t>
                </a:r>
                <a14:m>
                  <m:oMath xmlns:m="http://schemas.openxmlformats.org/officeDocument/2006/math">
                    <m:sSub>
                      <m:sSubPr>
                        <m:ctrlPr>
                          <a:rPr lang="en-US" b="0" i="1" smtClean="0">
                            <a:solidFill>
                              <a:schemeClr val="tx1">
                                <a:alpha val="50000"/>
                              </a:schemeClr>
                            </a:solidFill>
                            <a:latin typeface="Cambria Math" panose="02040503050406030204" pitchFamily="18" charset="0"/>
                          </a:rPr>
                        </m:ctrlPr>
                      </m:sSubPr>
                      <m:e>
                        <m:r>
                          <a:rPr lang="en-US" b="0" i="1" smtClean="0">
                            <a:solidFill>
                              <a:schemeClr val="tx1">
                                <a:alpha val="50000"/>
                              </a:schemeClr>
                            </a:solidFill>
                            <a:latin typeface="Cambria Math" panose="02040503050406030204" pitchFamily="18" charset="0"/>
                          </a:rPr>
                          <m:t>𝑅</m:t>
                        </m:r>
                      </m:e>
                      <m:sub>
                        <m:r>
                          <a:rPr lang="en-US" b="0" i="1" smtClean="0">
                            <a:solidFill>
                              <a:schemeClr val="tx1">
                                <a:alpha val="50000"/>
                              </a:schemeClr>
                            </a:solidFill>
                            <a:latin typeface="Cambria Math" panose="02040503050406030204" pitchFamily="18" charset="0"/>
                          </a:rPr>
                          <m:t>𝑏𝑜𝑎𝑟𝑑</m:t>
                        </m:r>
                      </m:sub>
                    </m:sSub>
                  </m:oMath>
                </a14:m>
                <a:r>
                  <a:rPr lang="en-US" dirty="0">
                    <a:solidFill>
                      <a:schemeClr val="tx1">
                        <a:alpha val="50000"/>
                      </a:schemeClr>
                    </a:solidFill>
                  </a:rPr>
                  <a:t>)</a:t>
                </a:r>
              </a:p>
              <a:p>
                <a:r>
                  <a:rPr lang="en-US" sz="1050" dirty="0">
                    <a:solidFill>
                      <a:schemeClr val="tx1">
                        <a:alpha val="99000"/>
                      </a:schemeClr>
                    </a:solidFill>
                  </a:rPr>
                  <a:t>PCB trace resistances are hard to measure</a:t>
                </a:r>
              </a:p>
            </p:txBody>
          </p:sp>
        </mc:Choice>
        <mc:Fallback xmlns="">
          <p:sp>
            <p:nvSpPr>
              <p:cNvPr id="15" name="TextBox 14">
                <a:extLst>
                  <a:ext uri="{FF2B5EF4-FFF2-40B4-BE49-F238E27FC236}">
                    <a16:creationId xmlns:a16="http://schemas.microsoft.com/office/drawing/2014/main" id="{EBDAC820-A69F-CD23-7C70-2ED4FC2C8251}"/>
                  </a:ext>
                </a:extLst>
              </p:cNvPr>
              <p:cNvSpPr txBox="1">
                <a:spLocks noRot="1" noChangeAspect="1" noMove="1" noResize="1" noEditPoints="1" noAdjustHandles="1" noChangeArrowheads="1" noChangeShapeType="1" noTextEdit="1"/>
              </p:cNvSpPr>
              <p:nvPr/>
            </p:nvSpPr>
            <p:spPr>
              <a:xfrm>
                <a:off x="10292715" y="3916072"/>
                <a:ext cx="1464108" cy="692497"/>
              </a:xfrm>
              <a:prstGeom prst="rect">
                <a:avLst/>
              </a:prstGeom>
              <a:blipFill>
                <a:blip r:embed="rId3"/>
                <a:stretch>
                  <a:fillRect l="-2881" t="-2586" b="-2586"/>
                </a:stretch>
              </a:blipFill>
              <a:ln>
                <a:solidFill>
                  <a:schemeClr val="tx1">
                    <a:alpha val="50000"/>
                  </a:schemeClr>
                </a:solidFill>
              </a:ln>
            </p:spPr>
            <p:txBody>
              <a:bodyPr/>
              <a:lstStyle/>
              <a:p>
                <a:r>
                  <a:rPr lang="en-US">
                    <a:noFill/>
                  </a:rPr>
                  <a:t> </a:t>
                </a:r>
              </a:p>
            </p:txBody>
          </p:sp>
        </mc:Fallback>
      </mc:AlternateContent>
      <p:sp>
        <p:nvSpPr>
          <p:cNvPr id="16" name="TextBox 15">
            <a:extLst>
              <a:ext uri="{FF2B5EF4-FFF2-40B4-BE49-F238E27FC236}">
                <a16:creationId xmlns:a16="http://schemas.microsoft.com/office/drawing/2014/main" id="{8474F9E5-D76C-74E3-27EC-D06B6DF7055C}"/>
              </a:ext>
            </a:extLst>
          </p:cNvPr>
          <p:cNvSpPr txBox="1"/>
          <p:nvPr/>
        </p:nvSpPr>
        <p:spPr>
          <a:xfrm>
            <a:off x="8668479" y="4782985"/>
            <a:ext cx="2066343" cy="415498"/>
          </a:xfrm>
          <a:prstGeom prst="rect">
            <a:avLst/>
          </a:prstGeom>
          <a:noFill/>
          <a:ln>
            <a:solidFill>
              <a:schemeClr val="tx1"/>
            </a:solidFill>
          </a:ln>
        </p:spPr>
        <p:txBody>
          <a:bodyPr wrap="square" rtlCol="0">
            <a:spAutoFit/>
          </a:bodyPr>
          <a:lstStyle/>
          <a:p>
            <a:r>
              <a:rPr lang="en-US" sz="1050" dirty="0"/>
              <a:t>Inductor resistance dependent on frequency due to skin effect**</a:t>
            </a:r>
          </a:p>
        </p:txBody>
      </p:sp>
      <p:cxnSp>
        <p:nvCxnSpPr>
          <p:cNvPr id="18" name="Straight Arrow Connector 17">
            <a:extLst>
              <a:ext uri="{FF2B5EF4-FFF2-40B4-BE49-F238E27FC236}">
                <a16:creationId xmlns:a16="http://schemas.microsoft.com/office/drawing/2014/main" id="{29AC338B-E767-E459-EA06-3BA235C39522}"/>
              </a:ext>
            </a:extLst>
          </p:cNvPr>
          <p:cNvCxnSpPr>
            <a:cxnSpLocks/>
            <a:stCxn id="16" idx="0"/>
          </p:cNvCxnSpPr>
          <p:nvPr/>
        </p:nvCxnSpPr>
        <p:spPr>
          <a:xfrm flipH="1" flipV="1">
            <a:off x="9510860" y="4302751"/>
            <a:ext cx="190791" cy="48023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89FF053C-9480-3DB0-0894-FABA016199A0}"/>
              </a:ext>
            </a:extLst>
          </p:cNvPr>
          <p:cNvSpPr txBox="1"/>
          <p:nvPr/>
        </p:nvSpPr>
        <p:spPr>
          <a:xfrm>
            <a:off x="7464815" y="5430332"/>
            <a:ext cx="3151440" cy="369332"/>
          </a:xfrm>
          <a:prstGeom prst="rect">
            <a:avLst/>
          </a:prstGeom>
          <a:noFill/>
          <a:ln>
            <a:noFill/>
          </a:ln>
        </p:spPr>
        <p:txBody>
          <a:bodyPr wrap="none" rtlCol="0">
            <a:spAutoFit/>
          </a:bodyPr>
          <a:lstStyle/>
          <a:p>
            <a:r>
              <a:rPr lang="en-US" dirty="0">
                <a:solidFill>
                  <a:srgbClr val="FF0000"/>
                </a:solidFill>
              </a:rPr>
              <a:t>All dependent on temperature</a:t>
            </a:r>
          </a:p>
        </p:txBody>
      </p:sp>
      <p:sp>
        <p:nvSpPr>
          <p:cNvPr id="20" name="Rectangle 19">
            <a:extLst>
              <a:ext uri="{FF2B5EF4-FFF2-40B4-BE49-F238E27FC236}">
                <a16:creationId xmlns:a16="http://schemas.microsoft.com/office/drawing/2014/main" id="{D39DF11F-D6F3-654B-3D07-939D85CBCD10}"/>
              </a:ext>
            </a:extLst>
          </p:cNvPr>
          <p:cNvSpPr/>
          <p:nvPr/>
        </p:nvSpPr>
        <p:spPr>
          <a:xfrm>
            <a:off x="6387618" y="3640015"/>
            <a:ext cx="5473196" cy="218488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364439CE-D74D-DA1B-2756-107170DAAB74}"/>
              </a:ext>
            </a:extLst>
          </p:cNvPr>
          <p:cNvSpPr txBox="1"/>
          <p:nvPr/>
        </p:nvSpPr>
        <p:spPr>
          <a:xfrm>
            <a:off x="1797245" y="1875170"/>
            <a:ext cx="2541080" cy="1200329"/>
          </a:xfrm>
          <a:prstGeom prst="rect">
            <a:avLst/>
          </a:prstGeom>
          <a:noFill/>
          <a:ln>
            <a:solidFill>
              <a:schemeClr val="tx1"/>
            </a:solidFill>
          </a:ln>
        </p:spPr>
        <p:txBody>
          <a:bodyPr wrap="none" rtlCol="0">
            <a:spAutoFit/>
          </a:bodyPr>
          <a:lstStyle/>
          <a:p>
            <a:r>
              <a:rPr lang="en-US" sz="7200" dirty="0"/>
              <a:t>&lt;i</a:t>
            </a:r>
            <a:r>
              <a:rPr lang="en-US" sz="7200" baseline="-25000" dirty="0"/>
              <a:t>L</a:t>
            </a:r>
            <a:r>
              <a:rPr lang="en-US" sz="7200" dirty="0"/>
              <a:t>(t)&gt;</a:t>
            </a:r>
          </a:p>
        </p:txBody>
      </p:sp>
      <p:sp>
        <p:nvSpPr>
          <p:cNvPr id="31" name="TextBox 30">
            <a:extLst>
              <a:ext uri="{FF2B5EF4-FFF2-40B4-BE49-F238E27FC236}">
                <a16:creationId xmlns:a16="http://schemas.microsoft.com/office/drawing/2014/main" id="{0DB6E4A8-6632-FF06-7356-22D3375AB5C5}"/>
              </a:ext>
            </a:extLst>
          </p:cNvPr>
          <p:cNvSpPr txBox="1"/>
          <p:nvPr/>
        </p:nvSpPr>
        <p:spPr>
          <a:xfrm>
            <a:off x="1733766" y="1505838"/>
            <a:ext cx="2668038" cy="369332"/>
          </a:xfrm>
          <a:prstGeom prst="rect">
            <a:avLst/>
          </a:prstGeom>
          <a:noFill/>
        </p:spPr>
        <p:txBody>
          <a:bodyPr wrap="none" rtlCol="0">
            <a:spAutoFit/>
          </a:bodyPr>
          <a:lstStyle/>
          <a:p>
            <a:r>
              <a:rPr lang="en-US" dirty="0"/>
              <a:t>Average Inductor Current</a:t>
            </a:r>
          </a:p>
        </p:txBody>
      </p:sp>
      <p:cxnSp>
        <p:nvCxnSpPr>
          <p:cNvPr id="33" name="Straight Connector 32">
            <a:extLst>
              <a:ext uri="{FF2B5EF4-FFF2-40B4-BE49-F238E27FC236}">
                <a16:creationId xmlns:a16="http://schemas.microsoft.com/office/drawing/2014/main" id="{4E2A6486-87C2-7333-E298-977841D0B5D1}"/>
              </a:ext>
            </a:extLst>
          </p:cNvPr>
          <p:cNvCxnSpPr/>
          <p:nvPr/>
        </p:nvCxnSpPr>
        <p:spPr>
          <a:xfrm>
            <a:off x="1488226" y="3832970"/>
            <a:ext cx="0" cy="1584612"/>
          </a:xfrm>
          <a:prstGeom prst="line">
            <a:avLst/>
          </a:prstGeom>
          <a:ln>
            <a:solidFill>
              <a:schemeClr val="tx1"/>
            </a:solidFill>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3FF2CC56-F057-FCD6-65E0-EBBAF265413F}"/>
              </a:ext>
            </a:extLst>
          </p:cNvPr>
          <p:cNvCxnSpPr>
            <a:cxnSpLocks/>
          </p:cNvCxnSpPr>
          <p:nvPr/>
        </p:nvCxnSpPr>
        <p:spPr>
          <a:xfrm>
            <a:off x="1488226" y="5417582"/>
            <a:ext cx="3393831" cy="0"/>
          </a:xfrm>
          <a:prstGeom prst="line">
            <a:avLst/>
          </a:prstGeom>
          <a:ln>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1C852957-E057-E977-EB4F-36E903903639}"/>
              </a:ext>
            </a:extLst>
          </p:cNvPr>
          <p:cNvCxnSpPr/>
          <p:nvPr/>
        </p:nvCxnSpPr>
        <p:spPr>
          <a:xfrm>
            <a:off x="1488226" y="4545727"/>
            <a:ext cx="3329786" cy="0"/>
          </a:xfrm>
          <a:prstGeom prst="line">
            <a:avLst/>
          </a:prstGeom>
          <a:ln>
            <a:solidFill>
              <a:srgbClr val="FF0000"/>
            </a:solidFill>
            <a:prstDash val="dash"/>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C574F266-E87F-4CBB-0745-1850D4114BF0}"/>
              </a:ext>
            </a:extLst>
          </p:cNvPr>
          <p:cNvSpPr txBox="1"/>
          <p:nvPr/>
        </p:nvSpPr>
        <p:spPr>
          <a:xfrm>
            <a:off x="1621363" y="4598398"/>
            <a:ext cx="526106" cy="369332"/>
          </a:xfrm>
          <a:prstGeom prst="rect">
            <a:avLst/>
          </a:prstGeom>
          <a:noFill/>
        </p:spPr>
        <p:txBody>
          <a:bodyPr wrap="none" rtlCol="0">
            <a:spAutoFit/>
          </a:bodyPr>
          <a:lstStyle/>
          <a:p>
            <a:r>
              <a:rPr lang="en-US" dirty="0"/>
              <a:t>i</a:t>
            </a:r>
            <a:r>
              <a:rPr lang="en-US" baseline="-25000" dirty="0"/>
              <a:t>L</a:t>
            </a:r>
            <a:r>
              <a:rPr lang="en-US" dirty="0"/>
              <a:t>(t)</a:t>
            </a:r>
          </a:p>
        </p:txBody>
      </p:sp>
      <p:sp>
        <p:nvSpPr>
          <p:cNvPr id="51" name="TextBox 50">
            <a:extLst>
              <a:ext uri="{FF2B5EF4-FFF2-40B4-BE49-F238E27FC236}">
                <a16:creationId xmlns:a16="http://schemas.microsoft.com/office/drawing/2014/main" id="{34700188-99DF-E5BE-81DA-F8D13EDF77E9}"/>
              </a:ext>
            </a:extLst>
          </p:cNvPr>
          <p:cNvSpPr txBox="1"/>
          <p:nvPr/>
        </p:nvSpPr>
        <p:spPr>
          <a:xfrm>
            <a:off x="744497" y="4319458"/>
            <a:ext cx="772969" cy="369332"/>
          </a:xfrm>
          <a:prstGeom prst="rect">
            <a:avLst/>
          </a:prstGeom>
          <a:noFill/>
        </p:spPr>
        <p:txBody>
          <a:bodyPr wrap="none" rtlCol="0">
            <a:spAutoFit/>
          </a:bodyPr>
          <a:lstStyle/>
          <a:p>
            <a:r>
              <a:rPr lang="en-US" dirty="0">
                <a:solidFill>
                  <a:srgbClr val="FF0000"/>
                </a:solidFill>
              </a:rPr>
              <a:t>&lt;i</a:t>
            </a:r>
            <a:r>
              <a:rPr lang="en-US" baseline="-25000" dirty="0">
                <a:solidFill>
                  <a:srgbClr val="FF0000"/>
                </a:solidFill>
              </a:rPr>
              <a:t>L</a:t>
            </a:r>
            <a:r>
              <a:rPr lang="en-US" dirty="0">
                <a:solidFill>
                  <a:srgbClr val="FF0000"/>
                </a:solidFill>
              </a:rPr>
              <a:t>(t)&gt;</a:t>
            </a:r>
          </a:p>
        </p:txBody>
      </p:sp>
      <p:grpSp>
        <p:nvGrpSpPr>
          <p:cNvPr id="55" name="Group 54">
            <a:extLst>
              <a:ext uri="{FF2B5EF4-FFF2-40B4-BE49-F238E27FC236}">
                <a16:creationId xmlns:a16="http://schemas.microsoft.com/office/drawing/2014/main" id="{698A555C-A9B9-2DA1-1869-83847F21DF23}"/>
              </a:ext>
            </a:extLst>
          </p:cNvPr>
          <p:cNvGrpSpPr/>
          <p:nvPr/>
        </p:nvGrpSpPr>
        <p:grpSpPr>
          <a:xfrm>
            <a:off x="1488226" y="4231766"/>
            <a:ext cx="1109929" cy="604062"/>
            <a:chOff x="1670538" y="3761264"/>
            <a:chExt cx="1109929" cy="604062"/>
          </a:xfrm>
        </p:grpSpPr>
        <p:grpSp>
          <p:nvGrpSpPr>
            <p:cNvPr id="40" name="Group 39">
              <a:extLst>
                <a:ext uri="{FF2B5EF4-FFF2-40B4-BE49-F238E27FC236}">
                  <a16:creationId xmlns:a16="http://schemas.microsoft.com/office/drawing/2014/main" id="{535E951A-4ACF-D8B5-6696-59E076E82367}"/>
                </a:ext>
              </a:extLst>
            </p:cNvPr>
            <p:cNvGrpSpPr/>
            <p:nvPr/>
          </p:nvGrpSpPr>
          <p:grpSpPr>
            <a:xfrm>
              <a:off x="1670538" y="3848956"/>
              <a:ext cx="1109929" cy="434954"/>
              <a:chOff x="1670538" y="3848956"/>
              <a:chExt cx="1109929" cy="434954"/>
            </a:xfrm>
          </p:grpSpPr>
          <p:cxnSp>
            <p:nvCxnSpPr>
              <p:cNvPr id="37" name="Straight Connector 36">
                <a:extLst>
                  <a:ext uri="{FF2B5EF4-FFF2-40B4-BE49-F238E27FC236}">
                    <a16:creationId xmlns:a16="http://schemas.microsoft.com/office/drawing/2014/main" id="{5EA2766B-81C9-4F07-4040-9B939BAC37A8}"/>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151E8508-7FC8-E35E-4660-EAC13C5F774B}"/>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53" name="Straight Connector 52">
              <a:extLst>
                <a:ext uri="{FF2B5EF4-FFF2-40B4-BE49-F238E27FC236}">
                  <a16:creationId xmlns:a16="http://schemas.microsoft.com/office/drawing/2014/main" id="{9CB9D2F8-0F0A-6AE5-20C9-057E2F795F7B}"/>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23A9BACA-E6AB-F4B1-DD52-6951B15C4D9C}"/>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7D98BE30-9135-5A3C-7A87-2AA4294076D2}"/>
              </a:ext>
            </a:extLst>
          </p:cNvPr>
          <p:cNvGrpSpPr/>
          <p:nvPr/>
        </p:nvGrpSpPr>
        <p:grpSpPr>
          <a:xfrm>
            <a:off x="2591028" y="4234904"/>
            <a:ext cx="1109929" cy="604062"/>
            <a:chOff x="1670538" y="3761264"/>
            <a:chExt cx="1109929" cy="604062"/>
          </a:xfrm>
        </p:grpSpPr>
        <p:grpSp>
          <p:nvGrpSpPr>
            <p:cNvPr id="57" name="Group 56">
              <a:extLst>
                <a:ext uri="{FF2B5EF4-FFF2-40B4-BE49-F238E27FC236}">
                  <a16:creationId xmlns:a16="http://schemas.microsoft.com/office/drawing/2014/main" id="{EEF98C0F-408E-03B1-2672-1424027D440A}"/>
                </a:ext>
              </a:extLst>
            </p:cNvPr>
            <p:cNvGrpSpPr/>
            <p:nvPr/>
          </p:nvGrpSpPr>
          <p:grpSpPr>
            <a:xfrm>
              <a:off x="1670538" y="3848956"/>
              <a:ext cx="1109929" cy="434954"/>
              <a:chOff x="1670538" y="3848956"/>
              <a:chExt cx="1109929" cy="434954"/>
            </a:xfrm>
          </p:grpSpPr>
          <p:cxnSp>
            <p:nvCxnSpPr>
              <p:cNvPr id="60" name="Straight Connector 59">
                <a:extLst>
                  <a:ext uri="{FF2B5EF4-FFF2-40B4-BE49-F238E27FC236}">
                    <a16:creationId xmlns:a16="http://schemas.microsoft.com/office/drawing/2014/main" id="{9F99C33D-BA20-E5EA-82D8-0CB8731A02F9}"/>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2F858716-2009-62D0-9D7C-68ABF64BBCB3}"/>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58" name="Straight Connector 57">
              <a:extLst>
                <a:ext uri="{FF2B5EF4-FFF2-40B4-BE49-F238E27FC236}">
                  <a16:creationId xmlns:a16="http://schemas.microsoft.com/office/drawing/2014/main" id="{67E9AE7A-91CA-77DE-7DA5-2FC85BA726EC}"/>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1B6899A-B6E7-1FAD-28D3-B5AD2C77A991}"/>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62" name="Group 61">
            <a:extLst>
              <a:ext uri="{FF2B5EF4-FFF2-40B4-BE49-F238E27FC236}">
                <a16:creationId xmlns:a16="http://schemas.microsoft.com/office/drawing/2014/main" id="{D4616C12-9088-56AB-0A91-74F73EDFE17E}"/>
              </a:ext>
            </a:extLst>
          </p:cNvPr>
          <p:cNvGrpSpPr/>
          <p:nvPr/>
        </p:nvGrpSpPr>
        <p:grpSpPr>
          <a:xfrm>
            <a:off x="3708083" y="4227778"/>
            <a:ext cx="1109929" cy="604062"/>
            <a:chOff x="1670538" y="3761264"/>
            <a:chExt cx="1109929" cy="604062"/>
          </a:xfrm>
        </p:grpSpPr>
        <p:grpSp>
          <p:nvGrpSpPr>
            <p:cNvPr id="63" name="Group 62">
              <a:extLst>
                <a:ext uri="{FF2B5EF4-FFF2-40B4-BE49-F238E27FC236}">
                  <a16:creationId xmlns:a16="http://schemas.microsoft.com/office/drawing/2014/main" id="{75B8EFBB-ABF7-CDD0-19E4-AD5C93D55E3D}"/>
                </a:ext>
              </a:extLst>
            </p:cNvPr>
            <p:cNvGrpSpPr/>
            <p:nvPr/>
          </p:nvGrpSpPr>
          <p:grpSpPr>
            <a:xfrm>
              <a:off x="1670538" y="3848956"/>
              <a:ext cx="1109929" cy="434954"/>
              <a:chOff x="1670538" y="3848956"/>
              <a:chExt cx="1109929" cy="434954"/>
            </a:xfrm>
          </p:grpSpPr>
          <p:cxnSp>
            <p:nvCxnSpPr>
              <p:cNvPr id="66" name="Straight Connector 65">
                <a:extLst>
                  <a:ext uri="{FF2B5EF4-FFF2-40B4-BE49-F238E27FC236}">
                    <a16:creationId xmlns:a16="http://schemas.microsoft.com/office/drawing/2014/main" id="{9A279BE9-8572-05EB-B5D9-0B8DC2F38222}"/>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DA5E62AE-A800-8007-13FB-BB8FFE07837E}"/>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64" name="Straight Connector 63">
              <a:extLst>
                <a:ext uri="{FF2B5EF4-FFF2-40B4-BE49-F238E27FC236}">
                  <a16:creationId xmlns:a16="http://schemas.microsoft.com/office/drawing/2014/main" id="{9923488A-6AA6-34DF-9E9F-86A64847FC20}"/>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1A0E2EB3-2931-BBF6-3390-22D72366A38A}"/>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68" name="TextBox 67">
            <a:extLst>
              <a:ext uri="{FF2B5EF4-FFF2-40B4-BE49-F238E27FC236}">
                <a16:creationId xmlns:a16="http://schemas.microsoft.com/office/drawing/2014/main" id="{19CD592A-4CEB-347A-20D6-3F965827E8FA}"/>
              </a:ext>
            </a:extLst>
          </p:cNvPr>
          <p:cNvSpPr txBox="1"/>
          <p:nvPr/>
        </p:nvSpPr>
        <p:spPr>
          <a:xfrm>
            <a:off x="3264312" y="3721504"/>
            <a:ext cx="1191644" cy="415498"/>
          </a:xfrm>
          <a:prstGeom prst="rect">
            <a:avLst/>
          </a:prstGeom>
          <a:noFill/>
          <a:ln>
            <a:solidFill>
              <a:schemeClr val="tx1"/>
            </a:solidFill>
          </a:ln>
        </p:spPr>
        <p:txBody>
          <a:bodyPr wrap="square" rtlCol="0">
            <a:spAutoFit/>
          </a:bodyPr>
          <a:lstStyle/>
          <a:p>
            <a:r>
              <a:rPr lang="en-US" sz="1050" dirty="0"/>
              <a:t>Noise on each switch transition</a:t>
            </a:r>
          </a:p>
        </p:txBody>
      </p:sp>
      <p:cxnSp>
        <p:nvCxnSpPr>
          <p:cNvPr id="70" name="Straight Arrow Connector 69">
            <a:extLst>
              <a:ext uri="{FF2B5EF4-FFF2-40B4-BE49-F238E27FC236}">
                <a16:creationId xmlns:a16="http://schemas.microsoft.com/office/drawing/2014/main" id="{0532BE21-8924-4B18-86AE-9B9A789857E2}"/>
              </a:ext>
            </a:extLst>
          </p:cNvPr>
          <p:cNvCxnSpPr>
            <a:cxnSpLocks/>
            <a:stCxn id="68" idx="1"/>
          </p:cNvCxnSpPr>
          <p:nvPr/>
        </p:nvCxnSpPr>
        <p:spPr>
          <a:xfrm flipH="1">
            <a:off x="2076957" y="3929253"/>
            <a:ext cx="1187355" cy="33968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1" name="TextBox 70">
            <a:extLst>
              <a:ext uri="{FF2B5EF4-FFF2-40B4-BE49-F238E27FC236}">
                <a16:creationId xmlns:a16="http://schemas.microsoft.com/office/drawing/2014/main" id="{77E5E1BF-F661-AF7A-F85B-B7EF45716EBD}"/>
              </a:ext>
            </a:extLst>
          </p:cNvPr>
          <p:cNvSpPr txBox="1"/>
          <p:nvPr/>
        </p:nvSpPr>
        <p:spPr>
          <a:xfrm>
            <a:off x="3322902" y="4923721"/>
            <a:ext cx="1646726" cy="415498"/>
          </a:xfrm>
          <a:prstGeom prst="rect">
            <a:avLst/>
          </a:prstGeom>
          <a:noFill/>
          <a:ln>
            <a:solidFill>
              <a:schemeClr val="tx1"/>
            </a:solidFill>
          </a:ln>
        </p:spPr>
        <p:txBody>
          <a:bodyPr wrap="square" rtlCol="0">
            <a:spAutoFit/>
          </a:bodyPr>
          <a:lstStyle/>
          <a:p>
            <a:r>
              <a:rPr lang="en-US" sz="1050" dirty="0"/>
              <a:t>Current ripple introduces AC component</a:t>
            </a:r>
          </a:p>
        </p:txBody>
      </p:sp>
      <p:cxnSp>
        <p:nvCxnSpPr>
          <p:cNvPr id="72" name="Straight Arrow Connector 71">
            <a:extLst>
              <a:ext uri="{FF2B5EF4-FFF2-40B4-BE49-F238E27FC236}">
                <a16:creationId xmlns:a16="http://schemas.microsoft.com/office/drawing/2014/main" id="{EB581330-AD17-6C66-32CC-9638118AEC59}"/>
              </a:ext>
            </a:extLst>
          </p:cNvPr>
          <p:cNvCxnSpPr>
            <a:cxnSpLocks/>
            <a:stCxn id="71" idx="1"/>
          </p:cNvCxnSpPr>
          <p:nvPr/>
        </p:nvCxnSpPr>
        <p:spPr>
          <a:xfrm flipH="1" flipV="1">
            <a:off x="2799419" y="4652625"/>
            <a:ext cx="523483" cy="47884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6" name="Rectangle 75">
            <a:extLst>
              <a:ext uri="{FF2B5EF4-FFF2-40B4-BE49-F238E27FC236}">
                <a16:creationId xmlns:a16="http://schemas.microsoft.com/office/drawing/2014/main" id="{8612C5B4-AD52-1B0C-1BC9-8E50E0BF5A9F}"/>
              </a:ext>
            </a:extLst>
          </p:cNvPr>
          <p:cNvSpPr/>
          <p:nvPr/>
        </p:nvSpPr>
        <p:spPr>
          <a:xfrm>
            <a:off x="331187" y="3640015"/>
            <a:ext cx="5473196" cy="217635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TextBox 77">
            <a:extLst>
              <a:ext uri="{FF2B5EF4-FFF2-40B4-BE49-F238E27FC236}">
                <a16:creationId xmlns:a16="http://schemas.microsoft.com/office/drawing/2014/main" id="{A20062A4-B5E2-F1CD-3200-7B0C780E4C62}"/>
              </a:ext>
            </a:extLst>
          </p:cNvPr>
          <p:cNvSpPr txBox="1"/>
          <p:nvPr/>
        </p:nvSpPr>
        <p:spPr>
          <a:xfrm>
            <a:off x="1003490" y="5426509"/>
            <a:ext cx="4006546" cy="369332"/>
          </a:xfrm>
          <a:prstGeom prst="rect">
            <a:avLst/>
          </a:prstGeom>
          <a:noFill/>
        </p:spPr>
        <p:txBody>
          <a:bodyPr wrap="none" rtlCol="0">
            <a:spAutoFit/>
          </a:bodyPr>
          <a:lstStyle/>
          <a:p>
            <a:r>
              <a:rPr lang="en-US" dirty="0">
                <a:solidFill>
                  <a:srgbClr val="FF0000"/>
                </a:solidFill>
              </a:rPr>
              <a:t>&lt;i</a:t>
            </a:r>
            <a:r>
              <a:rPr lang="en-US" baseline="-25000" dirty="0">
                <a:solidFill>
                  <a:srgbClr val="FF0000"/>
                </a:solidFill>
              </a:rPr>
              <a:t>L</a:t>
            </a:r>
            <a:r>
              <a:rPr lang="en-US" dirty="0">
                <a:solidFill>
                  <a:srgbClr val="FF0000"/>
                </a:solidFill>
              </a:rPr>
              <a:t>(t)&gt; is not even directly measurable*</a:t>
            </a:r>
          </a:p>
        </p:txBody>
      </p:sp>
      <p:sp>
        <p:nvSpPr>
          <p:cNvPr id="79" name="TextBox 78">
            <a:extLst>
              <a:ext uri="{FF2B5EF4-FFF2-40B4-BE49-F238E27FC236}">
                <a16:creationId xmlns:a16="http://schemas.microsoft.com/office/drawing/2014/main" id="{7A3DBA61-8780-E4ED-4662-2110A637F6C6}"/>
              </a:ext>
            </a:extLst>
          </p:cNvPr>
          <p:cNvSpPr txBox="1"/>
          <p:nvPr/>
        </p:nvSpPr>
        <p:spPr>
          <a:xfrm>
            <a:off x="1830876" y="3197117"/>
            <a:ext cx="2473819" cy="369332"/>
          </a:xfrm>
          <a:prstGeom prst="rect">
            <a:avLst/>
          </a:prstGeom>
          <a:noFill/>
        </p:spPr>
        <p:txBody>
          <a:bodyPr wrap="none" rtlCol="0">
            <a:spAutoFit/>
          </a:bodyPr>
          <a:lstStyle/>
          <a:p>
            <a:r>
              <a:rPr lang="en-US" dirty="0"/>
              <a:t>Inductor current graph:</a:t>
            </a:r>
          </a:p>
        </p:txBody>
      </p:sp>
      <p:sp>
        <p:nvSpPr>
          <p:cNvPr id="80" name="TextBox 79">
            <a:extLst>
              <a:ext uri="{FF2B5EF4-FFF2-40B4-BE49-F238E27FC236}">
                <a16:creationId xmlns:a16="http://schemas.microsoft.com/office/drawing/2014/main" id="{26B2E7D6-C040-38D9-E80D-ABA5B60F8D3E}"/>
              </a:ext>
            </a:extLst>
          </p:cNvPr>
          <p:cNvSpPr txBox="1"/>
          <p:nvPr/>
        </p:nvSpPr>
        <p:spPr>
          <a:xfrm>
            <a:off x="213947" y="6282293"/>
            <a:ext cx="11764107" cy="577081"/>
          </a:xfrm>
          <a:prstGeom prst="rect">
            <a:avLst/>
          </a:prstGeom>
          <a:noFill/>
        </p:spPr>
        <p:txBody>
          <a:bodyPr wrap="square" rtlCol="0">
            <a:spAutoFit/>
          </a:bodyPr>
          <a:lstStyle/>
          <a:p>
            <a:r>
              <a:rPr lang="en-US" sz="1050" dirty="0"/>
              <a:t>*It is possible to get a good guess of &lt;i</a:t>
            </a:r>
            <a:r>
              <a:rPr lang="en-US" sz="1050" baseline="-25000" dirty="0"/>
              <a:t>L</a:t>
            </a:r>
            <a:r>
              <a:rPr lang="en-US" sz="1050" dirty="0"/>
              <a:t>(t)&gt; by measuring exactly between switch transitions. However, these transitions can appear arbitrarily close together due to the soft-starting capability of the H-bridge, and the AC component of the signal will introduce extra complications beyond this simplified model. </a:t>
            </a:r>
          </a:p>
          <a:p>
            <a:r>
              <a:rPr lang="en-US" sz="1050" dirty="0"/>
              <a:t>**While frequency is fixed for this application, the LCR meter in the solar lab only measures impedance at 100kHz, so it’s possible for measurement error to creep in as a result.</a:t>
            </a:r>
          </a:p>
        </p:txBody>
      </p:sp>
    </p:spTree>
    <p:extLst>
      <p:ext uri="{BB962C8B-B14F-4D97-AF65-F5344CB8AC3E}">
        <p14:creationId xmlns:p14="http://schemas.microsoft.com/office/powerpoint/2010/main" val="4799282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61464-3F78-2DD9-C5CB-7F2428CA1187}"/>
              </a:ext>
            </a:extLst>
          </p:cNvPr>
          <p:cNvSpPr>
            <a:spLocks noGrp="1"/>
          </p:cNvSpPr>
          <p:nvPr>
            <p:ph type="title"/>
          </p:nvPr>
        </p:nvSpPr>
        <p:spPr/>
        <p:txBody>
          <a:bodyPr/>
          <a:lstStyle/>
          <a:p>
            <a:r>
              <a:rPr lang="en-US" dirty="0"/>
              <a:t>Disturbance Rejection - Noise</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421BA605-F443-C7B5-528E-76C1CD852ABB}"/>
                  </a:ext>
                </a:extLst>
              </p:cNvPr>
              <p:cNvSpPr>
                <a:spLocks noGrp="1"/>
              </p:cNvSpPr>
              <p:nvPr>
                <p:ph type="body" sz="half" idx="2"/>
              </p:nvPr>
            </p:nvSpPr>
            <p:spPr/>
            <p:txBody>
              <a:bodyPr/>
              <a:lstStyle/>
              <a:p>
                <a:r>
                  <a:rPr lang="en-US" dirty="0"/>
                  <a:t>Linear systems can be represented by block diagrams and transfer functions</a:t>
                </a:r>
              </a:p>
              <a:p>
                <a:pPr marL="285750" indent="-285750">
                  <a:buFont typeface="Arial" panose="020B0604020202020204" pitchFamily="34" charset="0"/>
                  <a:buChar char="•"/>
                </a:pPr>
                <a:r>
                  <a:rPr lang="en-US" dirty="0"/>
                  <a:t>Disturbances enter at different points of the loop</a:t>
                </a:r>
              </a:p>
              <a:p>
                <a:pPr marL="285750" indent="-285750">
                  <a:buFont typeface="Arial" panose="020B0604020202020204" pitchFamily="34" charset="0"/>
                  <a:buChar char="•"/>
                </a:pPr>
                <a:r>
                  <a:rPr lang="en-US" dirty="0"/>
                  <a:t>Control disturbance </a:t>
                </a:r>
                <a14:m>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sensor noise </a:t>
                </a:r>
                <a14:m>
                  <m:oMath xmlns:m="http://schemas.openxmlformats.org/officeDocument/2006/math">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rounding error </a:t>
                </a:r>
                <a14:m>
                  <m:oMath xmlns:m="http://schemas.openxmlformats.org/officeDocument/2006/math">
                    <m:r>
                      <a:rPr lang="en-US" b="0" i="1" smtClean="0">
                        <a:latin typeface="Cambria Math" panose="02040503050406030204" pitchFamily="18" charset="0"/>
                      </a:rPr>
                      <m:t>𝐷</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all considered disturbances</a:t>
                </a:r>
              </a:p>
              <a:p>
                <a:r>
                  <a:rPr lang="en-US" dirty="0"/>
                  <a:t>Simplify feedback to single disturbance source with unity feedback</a:t>
                </a:r>
              </a:p>
              <a:p>
                <a:pPr marL="285750" indent="-285750">
                  <a:buFont typeface="Arial" panose="020B0604020202020204" pitchFamily="34" charset="0"/>
                  <a:buChar char="•"/>
                </a:pPr>
                <a:r>
                  <a:rPr lang="en-US" dirty="0"/>
                  <a:t>Rounding error ignored/bundled into sensor noise</a:t>
                </a:r>
              </a:p>
              <a:p>
                <a:pPr marL="285750" indent="-285750">
                  <a:buFont typeface="Arial" panose="020B0604020202020204" pitchFamily="34" charset="0"/>
                  <a:buChar char="•"/>
                </a:pPr>
                <a:r>
                  <a:rPr lang="en-US" dirty="0"/>
                  <a:t>Note that controller cannot tell a difference between </a:t>
                </a:r>
                <a14:m>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and </a:t>
                </a:r>
                <a14:m>
                  <m:oMath xmlns:m="http://schemas.openxmlformats.org/officeDocument/2006/math">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p:txBody>
          </p:sp>
        </mc:Choice>
        <mc:Fallback xmlns="">
          <p:sp>
            <p:nvSpPr>
              <p:cNvPr id="4" name="Text Placeholder 3">
                <a:extLst>
                  <a:ext uri="{FF2B5EF4-FFF2-40B4-BE49-F238E27FC236}">
                    <a16:creationId xmlns:a16="http://schemas.microsoft.com/office/drawing/2014/main" id="{421BA605-F443-C7B5-528E-76C1CD852ABB}"/>
                  </a:ext>
                </a:extLst>
              </p:cNvPr>
              <p:cNvSpPr>
                <a:spLocks noGrp="1" noRot="1" noChangeAspect="1" noMove="1" noResize="1" noEditPoints="1" noAdjustHandles="1" noChangeArrowheads="1" noChangeShapeType="1" noTextEdit="1"/>
              </p:cNvSpPr>
              <p:nvPr>
                <p:ph type="body" sz="half" idx="2"/>
              </p:nvPr>
            </p:nvSpPr>
            <p:spPr>
              <a:blipFill>
                <a:blip r:embed="rId2"/>
                <a:stretch>
                  <a:fillRect l="-930" t="-1120" b="-4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Rectangle 56">
                <a:extLst>
                  <a:ext uri="{FF2B5EF4-FFF2-40B4-BE49-F238E27FC236}">
                    <a16:creationId xmlns:a16="http://schemas.microsoft.com/office/drawing/2014/main" id="{3B901C59-ED4C-9BDB-D018-69322AF59B56}"/>
                  </a:ext>
                </a:extLst>
              </p:cNvPr>
              <p:cNvSpPr>
                <a:spLocks noChangeAspect="1"/>
              </p:cNvSpPr>
              <p:nvPr/>
            </p:nvSpPr>
            <p:spPr>
              <a:xfrm>
                <a:off x="7141458" y="1586124"/>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0" dirty="0"/>
                  <a:t>PI Controller</a:t>
                </a:r>
              </a:p>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𝐷</m:t>
                      </m:r>
                      <m:r>
                        <a:rPr lang="en-US" sz="1600" b="0" i="1" smtClean="0">
                          <a:latin typeface="Cambria Math" panose="02040503050406030204" pitchFamily="18" charset="0"/>
                        </a:rPr>
                        <m:t>(</m:t>
                      </m:r>
                      <m:r>
                        <a:rPr lang="en-US" sz="1600" b="0" i="1" smtClean="0">
                          <a:latin typeface="Cambria Math" panose="02040503050406030204" pitchFamily="18" charset="0"/>
                        </a:rPr>
                        <m:t>𝑠</m:t>
                      </m:r>
                      <m:r>
                        <a:rPr lang="en-US" sz="1600" b="0" i="1" smtClean="0">
                          <a:latin typeface="Cambria Math" panose="02040503050406030204" pitchFamily="18" charset="0"/>
                        </a:rPr>
                        <m:t>)</m:t>
                      </m:r>
                    </m:oMath>
                  </m:oMathPara>
                </a14:m>
                <a:endParaRPr lang="en-US" sz="1600" dirty="0"/>
              </a:p>
            </p:txBody>
          </p:sp>
        </mc:Choice>
        <mc:Fallback xmlns="">
          <p:sp>
            <p:nvSpPr>
              <p:cNvPr id="57" name="Rectangle 56">
                <a:extLst>
                  <a:ext uri="{FF2B5EF4-FFF2-40B4-BE49-F238E27FC236}">
                    <a16:creationId xmlns:a16="http://schemas.microsoft.com/office/drawing/2014/main" id="{3B901C59-ED4C-9BDB-D018-69322AF59B56}"/>
                  </a:ext>
                </a:extLst>
              </p:cNvPr>
              <p:cNvSpPr>
                <a:spLocks noRot="1" noChangeAspect="1" noMove="1" noResize="1" noEditPoints="1" noAdjustHandles="1" noChangeArrowheads="1" noChangeShapeType="1" noTextEdit="1"/>
              </p:cNvSpPr>
              <p:nvPr/>
            </p:nvSpPr>
            <p:spPr>
              <a:xfrm>
                <a:off x="7141458" y="1586124"/>
                <a:ext cx="898976" cy="548640"/>
              </a:xfrm>
              <a:prstGeom prst="rect">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Rectangle 57">
                <a:extLst>
                  <a:ext uri="{FF2B5EF4-FFF2-40B4-BE49-F238E27FC236}">
                    <a16:creationId xmlns:a16="http://schemas.microsoft.com/office/drawing/2014/main" id="{5CDB8F4D-D87C-2C54-D0F8-20A91E1B851A}"/>
                  </a:ext>
                </a:extLst>
              </p:cNvPr>
              <p:cNvSpPr>
                <a:spLocks noChangeAspect="1"/>
              </p:cNvSpPr>
              <p:nvPr/>
            </p:nvSpPr>
            <p:spPr>
              <a:xfrm>
                <a:off x="8734831" y="1586124"/>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0" dirty="0"/>
                  <a:t>Plant</a:t>
                </a:r>
              </a:p>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𝐺</m:t>
                      </m:r>
                      <m:r>
                        <a:rPr lang="en-US" sz="1600" b="0" i="1" smtClean="0">
                          <a:latin typeface="Cambria Math" panose="02040503050406030204" pitchFamily="18" charset="0"/>
                        </a:rPr>
                        <m:t>(</m:t>
                      </m:r>
                      <m:r>
                        <a:rPr lang="en-US" sz="1600" b="0" i="1" smtClean="0">
                          <a:latin typeface="Cambria Math" panose="02040503050406030204" pitchFamily="18" charset="0"/>
                        </a:rPr>
                        <m:t>𝑠</m:t>
                      </m:r>
                      <m:r>
                        <a:rPr lang="en-US" sz="1600" b="0" i="1" smtClean="0">
                          <a:latin typeface="Cambria Math" panose="02040503050406030204" pitchFamily="18" charset="0"/>
                        </a:rPr>
                        <m:t>)</m:t>
                      </m:r>
                    </m:oMath>
                  </m:oMathPara>
                </a14:m>
                <a:endParaRPr lang="en-US" sz="1600" dirty="0"/>
              </a:p>
            </p:txBody>
          </p:sp>
        </mc:Choice>
        <mc:Fallback xmlns="">
          <p:sp>
            <p:nvSpPr>
              <p:cNvPr id="58" name="Rectangle 57">
                <a:extLst>
                  <a:ext uri="{FF2B5EF4-FFF2-40B4-BE49-F238E27FC236}">
                    <a16:creationId xmlns:a16="http://schemas.microsoft.com/office/drawing/2014/main" id="{5CDB8F4D-D87C-2C54-D0F8-20A91E1B851A}"/>
                  </a:ext>
                </a:extLst>
              </p:cNvPr>
              <p:cNvSpPr>
                <a:spLocks noRot="1" noChangeAspect="1" noMove="1" noResize="1" noEditPoints="1" noAdjustHandles="1" noChangeArrowheads="1" noChangeShapeType="1" noTextEdit="1"/>
              </p:cNvSpPr>
              <p:nvPr/>
            </p:nvSpPr>
            <p:spPr>
              <a:xfrm>
                <a:off x="8734831" y="1586124"/>
                <a:ext cx="898976" cy="548640"/>
              </a:xfrm>
              <a:prstGeom prst="rect">
                <a:avLst/>
              </a:prstGeom>
              <a:blipFill>
                <a:blip r:embed="rId4"/>
                <a:stretch>
                  <a:fillRect/>
                </a:stretch>
              </a:blipFill>
              <a:ln>
                <a:solidFill>
                  <a:schemeClr val="tx1"/>
                </a:solidFill>
              </a:ln>
            </p:spPr>
            <p:txBody>
              <a:bodyPr/>
              <a:lstStyle/>
              <a:p>
                <a:r>
                  <a:rPr lang="en-US">
                    <a:noFill/>
                  </a:rPr>
                  <a:t> </a:t>
                </a:r>
              </a:p>
            </p:txBody>
          </p:sp>
        </mc:Fallback>
      </mc:AlternateContent>
      <p:sp>
        <p:nvSpPr>
          <p:cNvPr id="63" name="Oval 62">
            <a:extLst>
              <a:ext uri="{FF2B5EF4-FFF2-40B4-BE49-F238E27FC236}">
                <a16:creationId xmlns:a16="http://schemas.microsoft.com/office/drawing/2014/main" id="{9500A023-CA1F-076B-CBA2-0DDD584DDDA3}"/>
              </a:ext>
            </a:extLst>
          </p:cNvPr>
          <p:cNvSpPr/>
          <p:nvPr/>
        </p:nvSpPr>
        <p:spPr>
          <a:xfrm>
            <a:off x="10153845" y="1794031"/>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5" name="Oval 64">
            <a:extLst>
              <a:ext uri="{FF2B5EF4-FFF2-40B4-BE49-F238E27FC236}">
                <a16:creationId xmlns:a16="http://schemas.microsoft.com/office/drawing/2014/main" id="{3B0364C5-9ECB-149F-BDEF-649CC1F789C7}"/>
              </a:ext>
            </a:extLst>
          </p:cNvPr>
          <p:cNvSpPr/>
          <p:nvPr/>
        </p:nvSpPr>
        <p:spPr>
          <a:xfrm>
            <a:off x="6279111" y="1794031"/>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67" name="Rectangle 66">
                <a:extLst>
                  <a:ext uri="{FF2B5EF4-FFF2-40B4-BE49-F238E27FC236}">
                    <a16:creationId xmlns:a16="http://schemas.microsoft.com/office/drawing/2014/main" id="{7A003053-FA8C-5DBC-2BBD-4B31A1464241}"/>
                  </a:ext>
                </a:extLst>
              </p:cNvPr>
              <p:cNvSpPr>
                <a:spLocks noChangeAspect="1"/>
              </p:cNvSpPr>
              <p:nvPr/>
            </p:nvSpPr>
            <p:spPr>
              <a:xfrm>
                <a:off x="8734831" y="2338241"/>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0" dirty="0"/>
                  <a:t>Sensor gain</a:t>
                </a:r>
              </a:p>
              <a:p>
                <a:pPr algn="ctr"/>
                <a14:m>
                  <m:oMathPara xmlns:m="http://schemas.openxmlformats.org/officeDocument/2006/math">
                    <m:oMathParaPr>
                      <m:jc m:val="centerGroup"/>
                    </m:oMathParaPr>
                    <m:oMath xmlns:m="http://schemas.openxmlformats.org/officeDocument/2006/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𝐻</m:t>
                          </m:r>
                        </m:e>
                        <m:sup>
                          <m:r>
                            <a:rPr lang="en-US" sz="1400" b="0" i="1" smtClean="0">
                              <a:latin typeface="Cambria Math" panose="02040503050406030204" pitchFamily="18" charset="0"/>
                            </a:rPr>
                            <m:t>−1</m:t>
                          </m:r>
                        </m:sup>
                      </m:sSup>
                      <m:r>
                        <a:rPr lang="en-US" sz="1400" b="0" i="1" smtClean="0">
                          <a:latin typeface="Cambria Math" panose="02040503050406030204" pitchFamily="18" charset="0"/>
                        </a:rPr>
                        <m:t>(</m:t>
                      </m:r>
                      <m:r>
                        <a:rPr lang="en-US" sz="1400" b="0" i="1" smtClean="0">
                          <a:latin typeface="Cambria Math" panose="02040503050406030204" pitchFamily="18" charset="0"/>
                        </a:rPr>
                        <m:t>𝑠</m:t>
                      </m:r>
                      <m:r>
                        <a:rPr lang="en-US" sz="1400" b="0" i="1" smtClean="0">
                          <a:latin typeface="Cambria Math" panose="02040503050406030204" pitchFamily="18" charset="0"/>
                        </a:rPr>
                        <m:t>)</m:t>
                      </m:r>
                    </m:oMath>
                  </m:oMathPara>
                </a14:m>
                <a:endParaRPr lang="en-US" sz="1400" dirty="0"/>
              </a:p>
            </p:txBody>
          </p:sp>
        </mc:Choice>
        <mc:Fallback xmlns="">
          <p:sp>
            <p:nvSpPr>
              <p:cNvPr id="67" name="Rectangle 66">
                <a:extLst>
                  <a:ext uri="{FF2B5EF4-FFF2-40B4-BE49-F238E27FC236}">
                    <a16:creationId xmlns:a16="http://schemas.microsoft.com/office/drawing/2014/main" id="{7A003053-FA8C-5DBC-2BBD-4B31A1464241}"/>
                  </a:ext>
                </a:extLst>
              </p:cNvPr>
              <p:cNvSpPr>
                <a:spLocks noRot="1" noChangeAspect="1" noMove="1" noResize="1" noEditPoints="1" noAdjustHandles="1" noChangeArrowheads="1" noChangeShapeType="1" noTextEdit="1"/>
              </p:cNvSpPr>
              <p:nvPr/>
            </p:nvSpPr>
            <p:spPr>
              <a:xfrm>
                <a:off x="8734831" y="2338241"/>
                <a:ext cx="898976" cy="548640"/>
              </a:xfrm>
              <a:prstGeom prst="rect">
                <a:avLst/>
              </a:prstGeom>
              <a:blipFill>
                <a:blip r:embed="rId5"/>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21255CCA-5464-6F66-6C21-BAA0C735D8AB}"/>
                  </a:ext>
                </a:extLst>
              </p:cNvPr>
              <p:cNvSpPr txBox="1"/>
              <p:nvPr/>
            </p:nvSpPr>
            <p:spPr>
              <a:xfrm>
                <a:off x="6096000" y="1444267"/>
                <a:ext cx="50520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71" name="TextBox 70">
                <a:extLst>
                  <a:ext uri="{FF2B5EF4-FFF2-40B4-BE49-F238E27FC236}">
                    <a16:creationId xmlns:a16="http://schemas.microsoft.com/office/drawing/2014/main" id="{21255CCA-5464-6F66-6C21-BAA0C735D8AB}"/>
                  </a:ext>
                </a:extLst>
              </p:cNvPr>
              <p:cNvSpPr txBox="1">
                <a:spLocks noRot="1" noChangeAspect="1" noMove="1" noResize="1" noEditPoints="1" noAdjustHandles="1" noChangeArrowheads="1" noChangeShapeType="1" noTextEdit="1"/>
              </p:cNvSpPr>
              <p:nvPr/>
            </p:nvSpPr>
            <p:spPr>
              <a:xfrm>
                <a:off x="6096000" y="1444267"/>
                <a:ext cx="505203" cy="276999"/>
              </a:xfrm>
              <a:prstGeom prst="rect">
                <a:avLst/>
              </a:prstGeom>
              <a:blipFill>
                <a:blip r:embed="rId6"/>
                <a:stretch>
                  <a:fillRect l="-10843" t="-2222" r="-1686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D58D3182-A052-C19C-391C-BCA4D3D819A9}"/>
                  </a:ext>
                </a:extLst>
              </p:cNvPr>
              <p:cNvSpPr txBox="1"/>
              <p:nvPr/>
            </p:nvSpPr>
            <p:spPr>
              <a:xfrm>
                <a:off x="9970734" y="1444267"/>
                <a:ext cx="49609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72" name="TextBox 71">
                <a:extLst>
                  <a:ext uri="{FF2B5EF4-FFF2-40B4-BE49-F238E27FC236}">
                    <a16:creationId xmlns:a16="http://schemas.microsoft.com/office/drawing/2014/main" id="{D58D3182-A052-C19C-391C-BCA4D3D819A9}"/>
                  </a:ext>
                </a:extLst>
              </p:cNvPr>
              <p:cNvSpPr txBox="1">
                <a:spLocks noRot="1" noChangeAspect="1" noMove="1" noResize="1" noEditPoints="1" noAdjustHandles="1" noChangeArrowheads="1" noChangeShapeType="1" noTextEdit="1"/>
              </p:cNvSpPr>
              <p:nvPr/>
            </p:nvSpPr>
            <p:spPr>
              <a:xfrm>
                <a:off x="9970734" y="1444267"/>
                <a:ext cx="496098" cy="276999"/>
              </a:xfrm>
              <a:prstGeom prst="rect">
                <a:avLst/>
              </a:prstGeom>
              <a:blipFill>
                <a:blip r:embed="rId7"/>
                <a:stretch>
                  <a:fillRect l="-12346" t="-2222" r="-18519" b="-35556"/>
                </a:stretch>
              </a:blipFill>
            </p:spPr>
            <p:txBody>
              <a:bodyPr/>
              <a:lstStyle/>
              <a:p>
                <a:r>
                  <a:rPr lang="en-US">
                    <a:noFill/>
                  </a:rPr>
                  <a:t> </a:t>
                </a:r>
              </a:p>
            </p:txBody>
          </p:sp>
        </mc:Fallback>
      </mc:AlternateContent>
      <p:sp>
        <p:nvSpPr>
          <p:cNvPr id="73" name="Rectangle: Rounded Corners 72">
            <a:extLst>
              <a:ext uri="{FF2B5EF4-FFF2-40B4-BE49-F238E27FC236}">
                <a16:creationId xmlns:a16="http://schemas.microsoft.com/office/drawing/2014/main" id="{6462E26C-B9E9-3763-9522-956B88B3F7CE}"/>
              </a:ext>
            </a:extLst>
          </p:cNvPr>
          <p:cNvSpPr/>
          <p:nvPr/>
        </p:nvSpPr>
        <p:spPr>
          <a:xfrm>
            <a:off x="5424889" y="888864"/>
            <a:ext cx="5826315" cy="259288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TextBox 73">
            <a:extLst>
              <a:ext uri="{FF2B5EF4-FFF2-40B4-BE49-F238E27FC236}">
                <a16:creationId xmlns:a16="http://schemas.microsoft.com/office/drawing/2014/main" id="{CCB06293-8815-9D4D-8293-E5A5803318B5}"/>
              </a:ext>
            </a:extLst>
          </p:cNvPr>
          <p:cNvSpPr txBox="1"/>
          <p:nvPr/>
        </p:nvSpPr>
        <p:spPr>
          <a:xfrm>
            <a:off x="8684539" y="881287"/>
            <a:ext cx="2566665" cy="338554"/>
          </a:xfrm>
          <a:prstGeom prst="rect">
            <a:avLst/>
          </a:prstGeom>
          <a:noFill/>
        </p:spPr>
        <p:txBody>
          <a:bodyPr wrap="none" rtlCol="0">
            <a:spAutoFit/>
          </a:bodyPr>
          <a:lstStyle/>
          <a:p>
            <a:pPr algn="r"/>
            <a:r>
              <a:rPr lang="en-US" sz="1600" b="1" dirty="0"/>
              <a:t>Linear System With Noise</a:t>
            </a:r>
          </a:p>
        </p:txBody>
      </p:sp>
      <p:sp>
        <p:nvSpPr>
          <p:cNvPr id="78" name="Oval 77">
            <a:extLst>
              <a:ext uri="{FF2B5EF4-FFF2-40B4-BE49-F238E27FC236}">
                <a16:creationId xmlns:a16="http://schemas.microsoft.com/office/drawing/2014/main" id="{95B2F011-7564-56C8-F6E7-01FF2784C5B5}"/>
              </a:ext>
            </a:extLst>
          </p:cNvPr>
          <p:cNvSpPr/>
          <p:nvPr/>
        </p:nvSpPr>
        <p:spPr>
          <a:xfrm>
            <a:off x="6652478" y="1711541"/>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88" name="Oval 87">
            <a:extLst>
              <a:ext uri="{FF2B5EF4-FFF2-40B4-BE49-F238E27FC236}">
                <a16:creationId xmlns:a16="http://schemas.microsoft.com/office/drawing/2014/main" id="{91D0D38A-5CAD-F86C-5972-82732F853A6C}"/>
              </a:ext>
            </a:extLst>
          </p:cNvPr>
          <p:cNvSpPr/>
          <p:nvPr/>
        </p:nvSpPr>
        <p:spPr>
          <a:xfrm>
            <a:off x="8240811" y="1711541"/>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mc:AlternateContent xmlns:mc="http://schemas.openxmlformats.org/markup-compatibility/2006" xmlns:a14="http://schemas.microsoft.com/office/drawing/2010/main">
        <mc:Choice Requires="a14">
          <p:sp>
            <p:nvSpPr>
              <p:cNvPr id="100" name="Rectangle 99">
                <a:extLst>
                  <a:ext uri="{FF2B5EF4-FFF2-40B4-BE49-F238E27FC236}">
                    <a16:creationId xmlns:a16="http://schemas.microsoft.com/office/drawing/2014/main" id="{F63FE3A8-3379-936B-9077-1D4ACED496EE}"/>
                  </a:ext>
                </a:extLst>
              </p:cNvPr>
              <p:cNvSpPr>
                <a:spLocks noChangeAspect="1"/>
              </p:cNvSpPr>
              <p:nvPr/>
            </p:nvSpPr>
            <p:spPr>
              <a:xfrm>
                <a:off x="7141458" y="2338241"/>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a:t>
                </a:r>
                <a:r>
                  <a:rPr lang="en-US" sz="1000" b="0" dirty="0"/>
                  <a:t>caling</a:t>
                </a:r>
              </a:p>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𝐻</m:t>
                      </m:r>
                      <m:r>
                        <a:rPr lang="en-US" sz="1400" b="0" i="1" smtClean="0">
                          <a:latin typeface="Cambria Math" panose="02040503050406030204" pitchFamily="18" charset="0"/>
                        </a:rPr>
                        <m:t>(</m:t>
                      </m:r>
                      <m:r>
                        <a:rPr lang="en-US" sz="1400" b="0" i="1" smtClean="0">
                          <a:latin typeface="Cambria Math" panose="02040503050406030204" pitchFamily="18" charset="0"/>
                        </a:rPr>
                        <m:t>𝑠</m:t>
                      </m:r>
                      <m:r>
                        <a:rPr lang="en-US" sz="1400" b="0" i="1" smtClean="0">
                          <a:latin typeface="Cambria Math" panose="02040503050406030204" pitchFamily="18" charset="0"/>
                        </a:rPr>
                        <m:t>)</m:t>
                      </m:r>
                    </m:oMath>
                  </m:oMathPara>
                </a14:m>
                <a:endParaRPr lang="en-US" sz="1400" dirty="0"/>
              </a:p>
            </p:txBody>
          </p:sp>
        </mc:Choice>
        <mc:Fallback xmlns="">
          <p:sp>
            <p:nvSpPr>
              <p:cNvPr id="100" name="Rectangle 99">
                <a:extLst>
                  <a:ext uri="{FF2B5EF4-FFF2-40B4-BE49-F238E27FC236}">
                    <a16:creationId xmlns:a16="http://schemas.microsoft.com/office/drawing/2014/main" id="{F63FE3A8-3379-936B-9077-1D4ACED496EE}"/>
                  </a:ext>
                </a:extLst>
              </p:cNvPr>
              <p:cNvSpPr>
                <a:spLocks noRot="1" noChangeAspect="1" noMove="1" noResize="1" noEditPoints="1" noAdjustHandles="1" noChangeArrowheads="1" noChangeShapeType="1" noTextEdit="1"/>
              </p:cNvSpPr>
              <p:nvPr/>
            </p:nvSpPr>
            <p:spPr>
              <a:xfrm>
                <a:off x="7141458" y="2338241"/>
                <a:ext cx="898976" cy="548640"/>
              </a:xfrm>
              <a:prstGeom prst="rect">
                <a:avLst/>
              </a:prstGeom>
              <a:blipFill>
                <a:blip r:embed="rId8"/>
                <a:stretch>
                  <a:fillRect/>
                </a:stretch>
              </a:blipFill>
              <a:ln>
                <a:solidFill>
                  <a:schemeClr val="tx1"/>
                </a:solidFill>
              </a:ln>
            </p:spPr>
            <p:txBody>
              <a:bodyPr/>
              <a:lstStyle/>
              <a:p>
                <a:r>
                  <a:rPr lang="en-US">
                    <a:noFill/>
                  </a:rPr>
                  <a:t> </a:t>
                </a:r>
              </a:p>
            </p:txBody>
          </p:sp>
        </mc:Fallback>
      </mc:AlternateContent>
      <p:cxnSp>
        <p:nvCxnSpPr>
          <p:cNvPr id="102" name="Straight Arrow Connector 101">
            <a:extLst>
              <a:ext uri="{FF2B5EF4-FFF2-40B4-BE49-F238E27FC236}">
                <a16:creationId xmlns:a16="http://schemas.microsoft.com/office/drawing/2014/main" id="{EDCA5920-0FFD-FF68-446C-82B6A5937AF8}"/>
              </a:ext>
            </a:extLst>
          </p:cNvPr>
          <p:cNvCxnSpPr>
            <a:stCxn id="65" idx="6"/>
            <a:endCxn id="78" idx="2"/>
          </p:cNvCxnSpPr>
          <p:nvPr/>
        </p:nvCxnSpPr>
        <p:spPr>
          <a:xfrm>
            <a:off x="6411937" y="1860444"/>
            <a:ext cx="240541"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C676909D-8BFD-9C95-45B9-D6E8622FE82D}"/>
              </a:ext>
            </a:extLst>
          </p:cNvPr>
          <p:cNvCxnSpPr>
            <a:stCxn id="78" idx="6"/>
            <a:endCxn id="57" idx="1"/>
          </p:cNvCxnSpPr>
          <p:nvPr/>
        </p:nvCxnSpPr>
        <p:spPr>
          <a:xfrm flipV="1">
            <a:off x="6950285" y="1860444"/>
            <a:ext cx="191173"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6" name="Straight Arrow Connector 105">
            <a:extLst>
              <a:ext uri="{FF2B5EF4-FFF2-40B4-BE49-F238E27FC236}">
                <a16:creationId xmlns:a16="http://schemas.microsoft.com/office/drawing/2014/main" id="{048FB91A-963F-7AB8-CAC6-A67C06573C78}"/>
              </a:ext>
            </a:extLst>
          </p:cNvPr>
          <p:cNvCxnSpPr>
            <a:stCxn id="57" idx="3"/>
            <a:endCxn id="88" idx="2"/>
          </p:cNvCxnSpPr>
          <p:nvPr/>
        </p:nvCxnSpPr>
        <p:spPr>
          <a:xfrm>
            <a:off x="8040434" y="1860444"/>
            <a:ext cx="200377"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8" name="Straight Arrow Connector 107">
            <a:extLst>
              <a:ext uri="{FF2B5EF4-FFF2-40B4-BE49-F238E27FC236}">
                <a16:creationId xmlns:a16="http://schemas.microsoft.com/office/drawing/2014/main" id="{3ED26A34-269C-CA07-2685-2E32B74D5B63}"/>
              </a:ext>
            </a:extLst>
          </p:cNvPr>
          <p:cNvCxnSpPr>
            <a:cxnSpLocks/>
            <a:stCxn id="88" idx="6"/>
            <a:endCxn id="58" idx="1"/>
          </p:cNvCxnSpPr>
          <p:nvPr/>
        </p:nvCxnSpPr>
        <p:spPr>
          <a:xfrm flipV="1">
            <a:off x="8538618" y="1860444"/>
            <a:ext cx="196213"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1" name="Straight Arrow Connector 110">
            <a:extLst>
              <a:ext uri="{FF2B5EF4-FFF2-40B4-BE49-F238E27FC236}">
                <a16:creationId xmlns:a16="http://schemas.microsoft.com/office/drawing/2014/main" id="{0A66E180-EECD-F9ED-F670-3BD5C5C8CBF9}"/>
              </a:ext>
            </a:extLst>
          </p:cNvPr>
          <p:cNvCxnSpPr>
            <a:cxnSpLocks/>
            <a:stCxn id="58" idx="3"/>
            <a:endCxn id="63" idx="2"/>
          </p:cNvCxnSpPr>
          <p:nvPr/>
        </p:nvCxnSpPr>
        <p:spPr>
          <a:xfrm>
            <a:off x="9633807" y="1860444"/>
            <a:ext cx="52003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3" name="Oval 112">
            <a:extLst>
              <a:ext uri="{FF2B5EF4-FFF2-40B4-BE49-F238E27FC236}">
                <a16:creationId xmlns:a16="http://schemas.microsoft.com/office/drawing/2014/main" id="{87D65611-AD3F-C367-389D-CFF691C82E8F}"/>
              </a:ext>
            </a:extLst>
          </p:cNvPr>
          <p:cNvSpPr/>
          <p:nvPr/>
        </p:nvSpPr>
        <p:spPr>
          <a:xfrm>
            <a:off x="8240811" y="2463658"/>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15" name="Straight Arrow Connector 114">
            <a:extLst>
              <a:ext uri="{FF2B5EF4-FFF2-40B4-BE49-F238E27FC236}">
                <a16:creationId xmlns:a16="http://schemas.microsoft.com/office/drawing/2014/main" id="{F98DB517-AF4F-4C4E-B3F4-6C591E71CA5E}"/>
              </a:ext>
            </a:extLst>
          </p:cNvPr>
          <p:cNvCxnSpPr>
            <a:stCxn id="67" idx="1"/>
            <a:endCxn id="113" idx="6"/>
          </p:cNvCxnSpPr>
          <p:nvPr/>
        </p:nvCxnSpPr>
        <p:spPr>
          <a:xfrm flipH="1">
            <a:off x="8538618" y="2612561"/>
            <a:ext cx="196213"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7" name="Straight Arrow Connector 116">
            <a:extLst>
              <a:ext uri="{FF2B5EF4-FFF2-40B4-BE49-F238E27FC236}">
                <a16:creationId xmlns:a16="http://schemas.microsoft.com/office/drawing/2014/main" id="{3D92330E-811F-6BB4-7617-69A39F0E8E7F}"/>
              </a:ext>
            </a:extLst>
          </p:cNvPr>
          <p:cNvCxnSpPr>
            <a:cxnSpLocks/>
            <a:stCxn id="113" idx="2"/>
            <a:endCxn id="100" idx="3"/>
          </p:cNvCxnSpPr>
          <p:nvPr/>
        </p:nvCxnSpPr>
        <p:spPr>
          <a:xfrm flipH="1" flipV="1">
            <a:off x="8040434" y="2612561"/>
            <a:ext cx="200377"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C8144167-C235-8AE9-875C-368D73FD3BA4}"/>
              </a:ext>
            </a:extLst>
          </p:cNvPr>
          <p:cNvCxnSpPr>
            <a:cxnSpLocks/>
            <a:stCxn id="78" idx="4"/>
            <a:endCxn id="145" idx="0"/>
          </p:cNvCxnSpPr>
          <p:nvPr/>
        </p:nvCxnSpPr>
        <p:spPr>
          <a:xfrm flipH="1">
            <a:off x="6797900" y="2009348"/>
            <a:ext cx="3482" cy="449662"/>
          </a:xfrm>
          <a:prstGeom prst="line">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26" name="Straight Connector 125">
            <a:extLst>
              <a:ext uri="{FF2B5EF4-FFF2-40B4-BE49-F238E27FC236}">
                <a16:creationId xmlns:a16="http://schemas.microsoft.com/office/drawing/2014/main" id="{67971F5B-A441-B6D8-2CA6-996CB48544B1}"/>
              </a:ext>
            </a:extLst>
          </p:cNvPr>
          <p:cNvCxnSpPr>
            <a:cxnSpLocks/>
            <a:stCxn id="100" idx="1"/>
            <a:endCxn id="145" idx="6"/>
          </p:cNvCxnSpPr>
          <p:nvPr/>
        </p:nvCxnSpPr>
        <p:spPr>
          <a:xfrm flipH="1" flipV="1">
            <a:off x="6946803" y="2607914"/>
            <a:ext cx="194655" cy="4647"/>
          </a:xfrm>
          <a:prstGeom prst="line">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28" name="Straight Connector 127">
            <a:extLst>
              <a:ext uri="{FF2B5EF4-FFF2-40B4-BE49-F238E27FC236}">
                <a16:creationId xmlns:a16="http://schemas.microsoft.com/office/drawing/2014/main" id="{5BC5E966-8166-3D03-2D6D-67AA290C1A2B}"/>
              </a:ext>
            </a:extLst>
          </p:cNvPr>
          <p:cNvCxnSpPr>
            <a:cxnSpLocks/>
          </p:cNvCxnSpPr>
          <p:nvPr/>
        </p:nvCxnSpPr>
        <p:spPr>
          <a:xfrm>
            <a:off x="9893826" y="1860444"/>
            <a:ext cx="0" cy="75211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1" name="Straight Arrow Connector 130">
            <a:extLst>
              <a:ext uri="{FF2B5EF4-FFF2-40B4-BE49-F238E27FC236}">
                <a16:creationId xmlns:a16="http://schemas.microsoft.com/office/drawing/2014/main" id="{607B9DEE-1439-43F8-9D2F-85184C2907C5}"/>
              </a:ext>
            </a:extLst>
          </p:cNvPr>
          <p:cNvCxnSpPr>
            <a:stCxn id="67" idx="3"/>
          </p:cNvCxnSpPr>
          <p:nvPr/>
        </p:nvCxnSpPr>
        <p:spPr>
          <a:xfrm>
            <a:off x="9633807" y="2612561"/>
            <a:ext cx="260019" cy="0"/>
          </a:xfrm>
          <a:prstGeom prst="straightConnector1">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133" name="Oval 132">
            <a:extLst>
              <a:ext uri="{FF2B5EF4-FFF2-40B4-BE49-F238E27FC236}">
                <a16:creationId xmlns:a16="http://schemas.microsoft.com/office/drawing/2014/main" id="{7D7AC1B2-A02F-91A3-9243-A3300EA87AFE}"/>
              </a:ext>
            </a:extLst>
          </p:cNvPr>
          <p:cNvSpPr/>
          <p:nvPr/>
        </p:nvSpPr>
        <p:spPr>
          <a:xfrm>
            <a:off x="8323301" y="1382234"/>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4" name="Oval 133">
            <a:extLst>
              <a:ext uri="{FF2B5EF4-FFF2-40B4-BE49-F238E27FC236}">
                <a16:creationId xmlns:a16="http://schemas.microsoft.com/office/drawing/2014/main" id="{E09CCCCE-40D0-AD17-9461-12175B06AE4D}"/>
              </a:ext>
            </a:extLst>
          </p:cNvPr>
          <p:cNvSpPr/>
          <p:nvPr/>
        </p:nvSpPr>
        <p:spPr>
          <a:xfrm>
            <a:off x="8323301" y="2960443"/>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6" name="TextBox 135">
            <a:extLst>
              <a:ext uri="{FF2B5EF4-FFF2-40B4-BE49-F238E27FC236}">
                <a16:creationId xmlns:a16="http://schemas.microsoft.com/office/drawing/2014/main" id="{8E319789-7828-287F-44A7-781045B29674}"/>
              </a:ext>
            </a:extLst>
          </p:cNvPr>
          <p:cNvSpPr txBox="1"/>
          <p:nvPr/>
        </p:nvSpPr>
        <p:spPr>
          <a:xfrm>
            <a:off x="6797899" y="1868023"/>
            <a:ext cx="288862" cy="461665"/>
          </a:xfrm>
          <a:prstGeom prst="rect">
            <a:avLst/>
          </a:prstGeom>
          <a:noFill/>
        </p:spPr>
        <p:txBody>
          <a:bodyPr wrap="none" rtlCol="0">
            <a:spAutoFit/>
          </a:bodyPr>
          <a:lstStyle/>
          <a:p>
            <a:r>
              <a:rPr lang="en-US" sz="2400" dirty="0"/>
              <a:t>-</a:t>
            </a:r>
          </a:p>
        </p:txBody>
      </p:sp>
      <p:cxnSp>
        <p:nvCxnSpPr>
          <p:cNvPr id="138" name="Straight Arrow Connector 137">
            <a:extLst>
              <a:ext uri="{FF2B5EF4-FFF2-40B4-BE49-F238E27FC236}">
                <a16:creationId xmlns:a16="http://schemas.microsoft.com/office/drawing/2014/main" id="{8C419B51-AE0D-76B3-B70D-85C8C756B2B4}"/>
              </a:ext>
            </a:extLst>
          </p:cNvPr>
          <p:cNvCxnSpPr>
            <a:stCxn id="133" idx="4"/>
            <a:endCxn id="88" idx="0"/>
          </p:cNvCxnSpPr>
          <p:nvPr/>
        </p:nvCxnSpPr>
        <p:spPr>
          <a:xfrm>
            <a:off x="8389714" y="1515060"/>
            <a:ext cx="1" cy="19648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40" name="Straight Arrow Connector 139">
            <a:extLst>
              <a:ext uri="{FF2B5EF4-FFF2-40B4-BE49-F238E27FC236}">
                <a16:creationId xmlns:a16="http://schemas.microsoft.com/office/drawing/2014/main" id="{5A82BE48-D2BD-2D9A-1812-9CBADD01FF84}"/>
              </a:ext>
            </a:extLst>
          </p:cNvPr>
          <p:cNvCxnSpPr>
            <a:stCxn id="134" idx="0"/>
            <a:endCxn id="113" idx="4"/>
          </p:cNvCxnSpPr>
          <p:nvPr/>
        </p:nvCxnSpPr>
        <p:spPr>
          <a:xfrm flipV="1">
            <a:off x="8389714" y="2761465"/>
            <a:ext cx="1" cy="19897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41" name="TextBox 140">
                <a:extLst>
                  <a:ext uri="{FF2B5EF4-FFF2-40B4-BE49-F238E27FC236}">
                    <a16:creationId xmlns:a16="http://schemas.microsoft.com/office/drawing/2014/main" id="{A492E464-54E7-AACC-A80B-32A256360361}"/>
                  </a:ext>
                </a:extLst>
              </p:cNvPr>
              <p:cNvSpPr txBox="1"/>
              <p:nvPr/>
            </p:nvSpPr>
            <p:spPr>
              <a:xfrm>
                <a:off x="8107457" y="1046058"/>
                <a:ext cx="579646"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41" name="TextBox 140">
                <a:extLst>
                  <a:ext uri="{FF2B5EF4-FFF2-40B4-BE49-F238E27FC236}">
                    <a16:creationId xmlns:a16="http://schemas.microsoft.com/office/drawing/2014/main" id="{A492E464-54E7-AACC-A80B-32A256360361}"/>
                  </a:ext>
                </a:extLst>
              </p:cNvPr>
              <p:cNvSpPr txBox="1">
                <a:spLocks noRot="1" noChangeAspect="1" noMove="1" noResize="1" noEditPoints="1" noAdjustHandles="1" noChangeArrowheads="1" noChangeShapeType="1" noTextEdit="1"/>
              </p:cNvSpPr>
              <p:nvPr/>
            </p:nvSpPr>
            <p:spPr>
              <a:xfrm>
                <a:off x="8107457" y="1046058"/>
                <a:ext cx="579646" cy="276999"/>
              </a:xfrm>
              <a:prstGeom prst="rect">
                <a:avLst/>
              </a:prstGeom>
              <a:blipFill>
                <a:blip r:embed="rId9"/>
                <a:stretch>
                  <a:fillRect l="-10526" t="-4444" r="-1473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A254AD96-64FE-2365-C398-0B541C78B4CD}"/>
                  </a:ext>
                </a:extLst>
              </p:cNvPr>
              <p:cNvSpPr txBox="1"/>
              <p:nvPr/>
            </p:nvSpPr>
            <p:spPr>
              <a:xfrm>
                <a:off x="8134804" y="3100846"/>
                <a:ext cx="5249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42" name="TextBox 141">
                <a:extLst>
                  <a:ext uri="{FF2B5EF4-FFF2-40B4-BE49-F238E27FC236}">
                    <a16:creationId xmlns:a16="http://schemas.microsoft.com/office/drawing/2014/main" id="{A254AD96-64FE-2365-C398-0B541C78B4CD}"/>
                  </a:ext>
                </a:extLst>
              </p:cNvPr>
              <p:cNvSpPr txBox="1">
                <a:spLocks noRot="1" noChangeAspect="1" noMove="1" noResize="1" noEditPoints="1" noAdjustHandles="1" noChangeArrowheads="1" noChangeShapeType="1" noTextEdit="1"/>
              </p:cNvSpPr>
              <p:nvPr/>
            </p:nvSpPr>
            <p:spPr>
              <a:xfrm>
                <a:off x="8134804" y="3100846"/>
                <a:ext cx="524952" cy="276999"/>
              </a:xfrm>
              <a:prstGeom prst="rect">
                <a:avLst/>
              </a:prstGeom>
              <a:blipFill>
                <a:blip r:embed="rId10"/>
                <a:stretch>
                  <a:fillRect l="-10345" t="-4444" r="-14943" b="-35556"/>
                </a:stretch>
              </a:blipFill>
            </p:spPr>
            <p:txBody>
              <a:bodyPr/>
              <a:lstStyle/>
              <a:p>
                <a:r>
                  <a:rPr lang="en-US">
                    <a:noFill/>
                  </a:rPr>
                  <a:t> </a:t>
                </a:r>
              </a:p>
            </p:txBody>
          </p:sp>
        </mc:Fallback>
      </mc:AlternateContent>
      <p:sp>
        <p:nvSpPr>
          <p:cNvPr id="145" name="Oval 144">
            <a:extLst>
              <a:ext uri="{FF2B5EF4-FFF2-40B4-BE49-F238E27FC236}">
                <a16:creationId xmlns:a16="http://schemas.microsoft.com/office/drawing/2014/main" id="{66D705F8-5FFF-34FC-C3F5-A28AFED0A422}"/>
              </a:ext>
            </a:extLst>
          </p:cNvPr>
          <p:cNvSpPr/>
          <p:nvPr/>
        </p:nvSpPr>
        <p:spPr>
          <a:xfrm>
            <a:off x="6648996" y="2459010"/>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148" name="Oval 147">
            <a:extLst>
              <a:ext uri="{FF2B5EF4-FFF2-40B4-BE49-F238E27FC236}">
                <a16:creationId xmlns:a16="http://schemas.microsoft.com/office/drawing/2014/main" id="{B075468F-553D-9C11-73A4-8AE389AE3F17}"/>
              </a:ext>
            </a:extLst>
          </p:cNvPr>
          <p:cNvSpPr/>
          <p:nvPr/>
        </p:nvSpPr>
        <p:spPr>
          <a:xfrm>
            <a:off x="6725765" y="2960443"/>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9" name="Straight Arrow Connector 148">
            <a:extLst>
              <a:ext uri="{FF2B5EF4-FFF2-40B4-BE49-F238E27FC236}">
                <a16:creationId xmlns:a16="http://schemas.microsoft.com/office/drawing/2014/main" id="{3C5A5EB7-F930-F1FD-77EC-5DC181C521CA}"/>
              </a:ext>
            </a:extLst>
          </p:cNvPr>
          <p:cNvCxnSpPr>
            <a:stCxn id="148" idx="0"/>
          </p:cNvCxnSpPr>
          <p:nvPr/>
        </p:nvCxnSpPr>
        <p:spPr>
          <a:xfrm flipV="1">
            <a:off x="6792178" y="2761465"/>
            <a:ext cx="1" cy="19897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0" name="TextBox 149">
                <a:extLst>
                  <a:ext uri="{FF2B5EF4-FFF2-40B4-BE49-F238E27FC236}">
                    <a16:creationId xmlns:a16="http://schemas.microsoft.com/office/drawing/2014/main" id="{1AFFF70A-4AA4-CD70-CB01-4A46FABECDDC}"/>
                  </a:ext>
                </a:extLst>
              </p:cNvPr>
              <p:cNvSpPr txBox="1"/>
              <p:nvPr/>
            </p:nvSpPr>
            <p:spPr>
              <a:xfrm>
                <a:off x="6532207" y="3094741"/>
                <a:ext cx="51802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𝐷</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50" name="TextBox 149">
                <a:extLst>
                  <a:ext uri="{FF2B5EF4-FFF2-40B4-BE49-F238E27FC236}">
                    <a16:creationId xmlns:a16="http://schemas.microsoft.com/office/drawing/2014/main" id="{1AFFF70A-4AA4-CD70-CB01-4A46FABECDDC}"/>
                  </a:ext>
                </a:extLst>
              </p:cNvPr>
              <p:cNvSpPr txBox="1">
                <a:spLocks noRot="1" noChangeAspect="1" noMove="1" noResize="1" noEditPoints="1" noAdjustHandles="1" noChangeArrowheads="1" noChangeShapeType="1" noTextEdit="1"/>
              </p:cNvSpPr>
              <p:nvPr/>
            </p:nvSpPr>
            <p:spPr>
              <a:xfrm>
                <a:off x="6532207" y="3094741"/>
                <a:ext cx="518027" cy="276999"/>
              </a:xfrm>
              <a:prstGeom prst="rect">
                <a:avLst/>
              </a:prstGeom>
              <a:blipFill>
                <a:blip r:embed="rId11"/>
                <a:stretch>
                  <a:fillRect l="-11765" t="-4444" r="-16471"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1" name="Rectangle 150">
                <a:extLst>
                  <a:ext uri="{FF2B5EF4-FFF2-40B4-BE49-F238E27FC236}">
                    <a16:creationId xmlns:a16="http://schemas.microsoft.com/office/drawing/2014/main" id="{DDB1BDA9-B554-B37E-2B4E-0C18CDC3EA6F}"/>
                  </a:ext>
                </a:extLst>
              </p:cNvPr>
              <p:cNvSpPr>
                <a:spLocks noChangeAspect="1"/>
              </p:cNvSpPr>
              <p:nvPr/>
            </p:nvSpPr>
            <p:spPr>
              <a:xfrm>
                <a:off x="6623164" y="4402359"/>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PI Controller</a:t>
                </a:r>
              </a:p>
              <a:p>
                <a:pPr algn="ct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51" name="Rectangle 150">
                <a:extLst>
                  <a:ext uri="{FF2B5EF4-FFF2-40B4-BE49-F238E27FC236}">
                    <a16:creationId xmlns:a16="http://schemas.microsoft.com/office/drawing/2014/main" id="{DDB1BDA9-B554-B37E-2B4E-0C18CDC3EA6F}"/>
                  </a:ext>
                </a:extLst>
              </p:cNvPr>
              <p:cNvSpPr>
                <a:spLocks noRot="1" noChangeAspect="1" noMove="1" noResize="1" noEditPoints="1" noAdjustHandles="1" noChangeArrowheads="1" noChangeShapeType="1" noTextEdit="1"/>
              </p:cNvSpPr>
              <p:nvPr/>
            </p:nvSpPr>
            <p:spPr>
              <a:xfrm>
                <a:off x="6623164" y="4402359"/>
                <a:ext cx="1348464" cy="822960"/>
              </a:xfrm>
              <a:prstGeom prst="rect">
                <a:avLst/>
              </a:prstGeom>
              <a:blipFill>
                <a:blip r:embed="rId12"/>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2" name="Rectangle 151">
                <a:extLst>
                  <a:ext uri="{FF2B5EF4-FFF2-40B4-BE49-F238E27FC236}">
                    <a16:creationId xmlns:a16="http://schemas.microsoft.com/office/drawing/2014/main" id="{174AFEAF-F7AD-A58C-74D4-C8EE98BFBE4F}"/>
                  </a:ext>
                </a:extLst>
              </p:cNvPr>
              <p:cNvSpPr>
                <a:spLocks noChangeAspect="1"/>
              </p:cNvSpPr>
              <p:nvPr/>
            </p:nvSpPr>
            <p:spPr>
              <a:xfrm>
                <a:off x="8720085" y="4398469"/>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Plant</a:t>
                </a:r>
              </a:p>
              <a:p>
                <a:pPr algn="ct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𝐺</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52" name="Rectangle 151">
                <a:extLst>
                  <a:ext uri="{FF2B5EF4-FFF2-40B4-BE49-F238E27FC236}">
                    <a16:creationId xmlns:a16="http://schemas.microsoft.com/office/drawing/2014/main" id="{174AFEAF-F7AD-A58C-74D4-C8EE98BFBE4F}"/>
                  </a:ext>
                </a:extLst>
              </p:cNvPr>
              <p:cNvSpPr>
                <a:spLocks noRot="1" noChangeAspect="1" noMove="1" noResize="1" noEditPoints="1" noAdjustHandles="1" noChangeArrowheads="1" noChangeShapeType="1" noTextEdit="1"/>
              </p:cNvSpPr>
              <p:nvPr/>
            </p:nvSpPr>
            <p:spPr>
              <a:xfrm>
                <a:off x="8720085" y="4398469"/>
                <a:ext cx="1348464" cy="822960"/>
              </a:xfrm>
              <a:prstGeom prst="rect">
                <a:avLst/>
              </a:prstGeom>
              <a:blipFill>
                <a:blip r:embed="rId13"/>
                <a:stretch>
                  <a:fillRect/>
                </a:stretch>
              </a:blipFill>
              <a:ln>
                <a:solidFill>
                  <a:schemeClr val="tx1"/>
                </a:solidFill>
              </a:ln>
            </p:spPr>
            <p:txBody>
              <a:bodyPr/>
              <a:lstStyle/>
              <a:p>
                <a:r>
                  <a:rPr lang="en-US">
                    <a:noFill/>
                  </a:rPr>
                  <a:t> </a:t>
                </a:r>
              </a:p>
            </p:txBody>
          </p:sp>
        </mc:Fallback>
      </mc:AlternateContent>
      <p:sp>
        <p:nvSpPr>
          <p:cNvPr id="153" name="Oval 152">
            <a:extLst>
              <a:ext uri="{FF2B5EF4-FFF2-40B4-BE49-F238E27FC236}">
                <a16:creationId xmlns:a16="http://schemas.microsoft.com/office/drawing/2014/main" id="{864C6BA1-181B-567E-8E29-7E622455E0A1}"/>
              </a:ext>
            </a:extLst>
          </p:cNvPr>
          <p:cNvSpPr/>
          <p:nvPr/>
        </p:nvSpPr>
        <p:spPr>
          <a:xfrm>
            <a:off x="10641729" y="473964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4" name="Oval 153">
            <a:extLst>
              <a:ext uri="{FF2B5EF4-FFF2-40B4-BE49-F238E27FC236}">
                <a16:creationId xmlns:a16="http://schemas.microsoft.com/office/drawing/2014/main" id="{0CE76D0D-C02B-DF33-6B68-AAEBDF9A3819}"/>
              </a:ext>
            </a:extLst>
          </p:cNvPr>
          <p:cNvSpPr/>
          <p:nvPr/>
        </p:nvSpPr>
        <p:spPr>
          <a:xfrm>
            <a:off x="5748720" y="473964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56" name="TextBox 155">
                <a:extLst>
                  <a:ext uri="{FF2B5EF4-FFF2-40B4-BE49-F238E27FC236}">
                    <a16:creationId xmlns:a16="http://schemas.microsoft.com/office/drawing/2014/main" id="{74F178E9-8040-E112-AE72-B2C5F2EE7CE1}"/>
                  </a:ext>
                </a:extLst>
              </p:cNvPr>
              <p:cNvSpPr txBox="1"/>
              <p:nvPr/>
            </p:nvSpPr>
            <p:spPr>
              <a:xfrm>
                <a:off x="5565609" y="4389881"/>
                <a:ext cx="50520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56" name="TextBox 155">
                <a:extLst>
                  <a:ext uri="{FF2B5EF4-FFF2-40B4-BE49-F238E27FC236}">
                    <a16:creationId xmlns:a16="http://schemas.microsoft.com/office/drawing/2014/main" id="{74F178E9-8040-E112-AE72-B2C5F2EE7CE1}"/>
                  </a:ext>
                </a:extLst>
              </p:cNvPr>
              <p:cNvSpPr txBox="1">
                <a:spLocks noRot="1" noChangeAspect="1" noMove="1" noResize="1" noEditPoints="1" noAdjustHandles="1" noChangeArrowheads="1" noChangeShapeType="1" noTextEdit="1"/>
              </p:cNvSpPr>
              <p:nvPr/>
            </p:nvSpPr>
            <p:spPr>
              <a:xfrm>
                <a:off x="5565609" y="4389881"/>
                <a:ext cx="505203" cy="276999"/>
              </a:xfrm>
              <a:prstGeom prst="rect">
                <a:avLst/>
              </a:prstGeom>
              <a:blipFill>
                <a:blip r:embed="rId14"/>
                <a:stretch>
                  <a:fillRect l="-12048" t="-2174" r="-16867" b="-326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7" name="TextBox 156">
                <a:extLst>
                  <a:ext uri="{FF2B5EF4-FFF2-40B4-BE49-F238E27FC236}">
                    <a16:creationId xmlns:a16="http://schemas.microsoft.com/office/drawing/2014/main" id="{02D1097C-56C0-89F7-9E98-69165212F0C7}"/>
                  </a:ext>
                </a:extLst>
              </p:cNvPr>
              <p:cNvSpPr txBox="1"/>
              <p:nvPr/>
            </p:nvSpPr>
            <p:spPr>
              <a:xfrm>
                <a:off x="10458618" y="4389881"/>
                <a:ext cx="49609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57" name="TextBox 156">
                <a:extLst>
                  <a:ext uri="{FF2B5EF4-FFF2-40B4-BE49-F238E27FC236}">
                    <a16:creationId xmlns:a16="http://schemas.microsoft.com/office/drawing/2014/main" id="{02D1097C-56C0-89F7-9E98-69165212F0C7}"/>
                  </a:ext>
                </a:extLst>
              </p:cNvPr>
              <p:cNvSpPr txBox="1">
                <a:spLocks noRot="1" noChangeAspect="1" noMove="1" noResize="1" noEditPoints="1" noAdjustHandles="1" noChangeArrowheads="1" noChangeShapeType="1" noTextEdit="1"/>
              </p:cNvSpPr>
              <p:nvPr/>
            </p:nvSpPr>
            <p:spPr>
              <a:xfrm>
                <a:off x="10458618" y="4389881"/>
                <a:ext cx="496098" cy="276999"/>
              </a:xfrm>
              <a:prstGeom prst="rect">
                <a:avLst/>
              </a:prstGeom>
              <a:blipFill>
                <a:blip r:embed="rId15"/>
                <a:stretch>
                  <a:fillRect l="-12346" t="-2174" r="-18519" b="-32609"/>
                </a:stretch>
              </a:blipFill>
            </p:spPr>
            <p:txBody>
              <a:bodyPr/>
              <a:lstStyle/>
              <a:p>
                <a:r>
                  <a:rPr lang="en-US">
                    <a:noFill/>
                  </a:rPr>
                  <a:t> </a:t>
                </a:r>
              </a:p>
            </p:txBody>
          </p:sp>
        </mc:Fallback>
      </mc:AlternateContent>
      <p:sp>
        <p:nvSpPr>
          <p:cNvPr id="158" name="Rectangle: Rounded Corners 157">
            <a:extLst>
              <a:ext uri="{FF2B5EF4-FFF2-40B4-BE49-F238E27FC236}">
                <a16:creationId xmlns:a16="http://schemas.microsoft.com/office/drawing/2014/main" id="{0CCBA996-EF7E-D93A-8E80-BAABE781E31B}"/>
              </a:ext>
            </a:extLst>
          </p:cNvPr>
          <p:cNvSpPr/>
          <p:nvPr/>
        </p:nvSpPr>
        <p:spPr>
          <a:xfrm>
            <a:off x="5410143" y="3640474"/>
            <a:ext cx="5826315" cy="259288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TextBox 158">
            <a:extLst>
              <a:ext uri="{FF2B5EF4-FFF2-40B4-BE49-F238E27FC236}">
                <a16:creationId xmlns:a16="http://schemas.microsoft.com/office/drawing/2014/main" id="{A9B0ABC3-7A97-EAF3-AB80-ABD681618280}"/>
              </a:ext>
            </a:extLst>
          </p:cNvPr>
          <p:cNvSpPr txBox="1"/>
          <p:nvPr/>
        </p:nvSpPr>
        <p:spPr>
          <a:xfrm>
            <a:off x="8939098" y="3632897"/>
            <a:ext cx="2297360" cy="338554"/>
          </a:xfrm>
          <a:prstGeom prst="rect">
            <a:avLst/>
          </a:prstGeom>
          <a:noFill/>
        </p:spPr>
        <p:txBody>
          <a:bodyPr wrap="none" rtlCol="0">
            <a:spAutoFit/>
          </a:bodyPr>
          <a:lstStyle/>
          <a:p>
            <a:pPr algn="r"/>
            <a:r>
              <a:rPr lang="en-US" sz="1600" b="1" dirty="0"/>
              <a:t>Simplified UFB System</a:t>
            </a:r>
          </a:p>
        </p:txBody>
      </p:sp>
      <p:sp>
        <p:nvSpPr>
          <p:cNvPr id="160" name="Oval 159">
            <a:extLst>
              <a:ext uri="{FF2B5EF4-FFF2-40B4-BE49-F238E27FC236}">
                <a16:creationId xmlns:a16="http://schemas.microsoft.com/office/drawing/2014/main" id="{5205F794-02AA-0021-8E84-F1FAAA9F13ED}"/>
              </a:ext>
            </a:extLst>
          </p:cNvPr>
          <p:cNvSpPr/>
          <p:nvPr/>
        </p:nvSpPr>
        <p:spPr>
          <a:xfrm>
            <a:off x="6122087" y="4657155"/>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161" name="Oval 160">
            <a:extLst>
              <a:ext uri="{FF2B5EF4-FFF2-40B4-BE49-F238E27FC236}">
                <a16:creationId xmlns:a16="http://schemas.microsoft.com/office/drawing/2014/main" id="{6AF6E5A5-5790-0B49-F12B-D5093343AD7B}"/>
              </a:ext>
            </a:extLst>
          </p:cNvPr>
          <p:cNvSpPr/>
          <p:nvPr/>
        </p:nvSpPr>
        <p:spPr>
          <a:xfrm>
            <a:off x="8226065" y="4657155"/>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63" name="Straight Arrow Connector 162">
            <a:extLst>
              <a:ext uri="{FF2B5EF4-FFF2-40B4-BE49-F238E27FC236}">
                <a16:creationId xmlns:a16="http://schemas.microsoft.com/office/drawing/2014/main" id="{66FB5A8C-7572-6288-54F5-D9F501C676D8}"/>
              </a:ext>
            </a:extLst>
          </p:cNvPr>
          <p:cNvCxnSpPr>
            <a:stCxn id="154" idx="6"/>
            <a:endCxn id="160" idx="2"/>
          </p:cNvCxnSpPr>
          <p:nvPr/>
        </p:nvCxnSpPr>
        <p:spPr>
          <a:xfrm>
            <a:off x="5881546" y="4806058"/>
            <a:ext cx="240541"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Straight Arrow Connector 163">
            <a:extLst>
              <a:ext uri="{FF2B5EF4-FFF2-40B4-BE49-F238E27FC236}">
                <a16:creationId xmlns:a16="http://schemas.microsoft.com/office/drawing/2014/main" id="{4F6BA6F0-284A-51EC-F3AB-808D53F137ED}"/>
              </a:ext>
            </a:extLst>
          </p:cNvPr>
          <p:cNvCxnSpPr>
            <a:stCxn id="160" idx="6"/>
            <a:endCxn id="151" idx="1"/>
          </p:cNvCxnSpPr>
          <p:nvPr/>
        </p:nvCxnSpPr>
        <p:spPr>
          <a:xfrm>
            <a:off x="6419894" y="4806059"/>
            <a:ext cx="203270" cy="77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Straight Arrow Connector 164">
            <a:extLst>
              <a:ext uri="{FF2B5EF4-FFF2-40B4-BE49-F238E27FC236}">
                <a16:creationId xmlns:a16="http://schemas.microsoft.com/office/drawing/2014/main" id="{49822AD9-DABF-710D-BD72-693659FE891E}"/>
              </a:ext>
            </a:extLst>
          </p:cNvPr>
          <p:cNvCxnSpPr>
            <a:stCxn id="151" idx="3"/>
            <a:endCxn id="161" idx="2"/>
          </p:cNvCxnSpPr>
          <p:nvPr/>
        </p:nvCxnSpPr>
        <p:spPr>
          <a:xfrm flipV="1">
            <a:off x="7971628" y="4806059"/>
            <a:ext cx="254437" cy="77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6" name="Straight Arrow Connector 165">
            <a:extLst>
              <a:ext uri="{FF2B5EF4-FFF2-40B4-BE49-F238E27FC236}">
                <a16:creationId xmlns:a16="http://schemas.microsoft.com/office/drawing/2014/main" id="{4AE083C0-09F7-799D-D6FF-7CFE8C9743D0}"/>
              </a:ext>
            </a:extLst>
          </p:cNvPr>
          <p:cNvCxnSpPr>
            <a:cxnSpLocks/>
            <a:stCxn id="161" idx="6"/>
            <a:endCxn id="152" idx="1"/>
          </p:cNvCxnSpPr>
          <p:nvPr/>
        </p:nvCxnSpPr>
        <p:spPr>
          <a:xfrm>
            <a:off x="8523872" y="4806059"/>
            <a:ext cx="196213" cy="389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7" name="Straight Arrow Connector 166">
            <a:extLst>
              <a:ext uri="{FF2B5EF4-FFF2-40B4-BE49-F238E27FC236}">
                <a16:creationId xmlns:a16="http://schemas.microsoft.com/office/drawing/2014/main" id="{602A6753-4534-E0B6-C421-89A752840221}"/>
              </a:ext>
            </a:extLst>
          </p:cNvPr>
          <p:cNvCxnSpPr>
            <a:cxnSpLocks/>
            <a:stCxn id="152" idx="3"/>
            <a:endCxn id="153" idx="2"/>
          </p:cNvCxnSpPr>
          <p:nvPr/>
        </p:nvCxnSpPr>
        <p:spPr>
          <a:xfrm flipV="1">
            <a:off x="10068549" y="4806058"/>
            <a:ext cx="573180" cy="389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68" name="Oval 167">
            <a:extLst>
              <a:ext uri="{FF2B5EF4-FFF2-40B4-BE49-F238E27FC236}">
                <a16:creationId xmlns:a16="http://schemas.microsoft.com/office/drawing/2014/main" id="{D08B16FD-E3BE-0C76-073B-0B6A98764468}"/>
              </a:ext>
            </a:extLst>
          </p:cNvPr>
          <p:cNvSpPr/>
          <p:nvPr/>
        </p:nvSpPr>
        <p:spPr>
          <a:xfrm>
            <a:off x="10150196" y="540462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70" name="Straight Arrow Connector 169">
            <a:extLst>
              <a:ext uri="{FF2B5EF4-FFF2-40B4-BE49-F238E27FC236}">
                <a16:creationId xmlns:a16="http://schemas.microsoft.com/office/drawing/2014/main" id="{77AF8C67-CF82-1246-27B1-B2654386C486}"/>
              </a:ext>
            </a:extLst>
          </p:cNvPr>
          <p:cNvCxnSpPr>
            <a:cxnSpLocks/>
            <a:stCxn id="168" idx="2"/>
          </p:cNvCxnSpPr>
          <p:nvPr/>
        </p:nvCxnSpPr>
        <p:spPr>
          <a:xfrm flipH="1">
            <a:off x="6279111" y="5553528"/>
            <a:ext cx="3871085" cy="0"/>
          </a:xfrm>
          <a:prstGeom prst="straightConnector1">
            <a:avLst/>
          </a:prstGeom>
          <a:ln>
            <a:solidFill>
              <a:schemeClr val="tx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1" name="Straight Connector 170">
            <a:extLst>
              <a:ext uri="{FF2B5EF4-FFF2-40B4-BE49-F238E27FC236}">
                <a16:creationId xmlns:a16="http://schemas.microsoft.com/office/drawing/2014/main" id="{AB28DCB9-294C-F34B-254B-3F601E38C58C}"/>
              </a:ext>
            </a:extLst>
          </p:cNvPr>
          <p:cNvCxnSpPr>
            <a:cxnSpLocks/>
            <a:stCxn id="160" idx="4"/>
          </p:cNvCxnSpPr>
          <p:nvPr/>
        </p:nvCxnSpPr>
        <p:spPr>
          <a:xfrm>
            <a:off x="6270991" y="4954962"/>
            <a:ext cx="0" cy="598565"/>
          </a:xfrm>
          <a:prstGeom prst="line">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3" name="Straight Connector 172">
            <a:extLst>
              <a:ext uri="{FF2B5EF4-FFF2-40B4-BE49-F238E27FC236}">
                <a16:creationId xmlns:a16="http://schemas.microsoft.com/office/drawing/2014/main" id="{02E77825-1B35-891F-4F8B-F3791BB38ADC}"/>
              </a:ext>
            </a:extLst>
          </p:cNvPr>
          <p:cNvCxnSpPr>
            <a:cxnSpLocks/>
            <a:endCxn id="168" idx="0"/>
          </p:cNvCxnSpPr>
          <p:nvPr/>
        </p:nvCxnSpPr>
        <p:spPr>
          <a:xfrm flipH="1">
            <a:off x="10299100" y="4801410"/>
            <a:ext cx="4216" cy="603214"/>
          </a:xfrm>
          <a:prstGeom prst="line">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75" name="Oval 174">
            <a:extLst>
              <a:ext uri="{FF2B5EF4-FFF2-40B4-BE49-F238E27FC236}">
                <a16:creationId xmlns:a16="http://schemas.microsoft.com/office/drawing/2014/main" id="{68E8D862-FEBA-8A44-8A6E-89F010E306E1}"/>
              </a:ext>
            </a:extLst>
          </p:cNvPr>
          <p:cNvSpPr/>
          <p:nvPr/>
        </p:nvSpPr>
        <p:spPr>
          <a:xfrm>
            <a:off x="8308555" y="4327848"/>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6" name="Oval 175">
            <a:extLst>
              <a:ext uri="{FF2B5EF4-FFF2-40B4-BE49-F238E27FC236}">
                <a16:creationId xmlns:a16="http://schemas.microsoft.com/office/drawing/2014/main" id="{A8E1D2C4-9995-17A0-A0E1-AD43E97DA5FE}"/>
              </a:ext>
            </a:extLst>
          </p:cNvPr>
          <p:cNvSpPr/>
          <p:nvPr/>
        </p:nvSpPr>
        <p:spPr>
          <a:xfrm>
            <a:off x="10232686" y="5888067"/>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7" name="TextBox 176">
            <a:extLst>
              <a:ext uri="{FF2B5EF4-FFF2-40B4-BE49-F238E27FC236}">
                <a16:creationId xmlns:a16="http://schemas.microsoft.com/office/drawing/2014/main" id="{7AD87B55-63C7-179F-0C0A-BA3594160C2D}"/>
              </a:ext>
            </a:extLst>
          </p:cNvPr>
          <p:cNvSpPr txBox="1"/>
          <p:nvPr/>
        </p:nvSpPr>
        <p:spPr>
          <a:xfrm>
            <a:off x="6267508" y="4813637"/>
            <a:ext cx="288862" cy="461665"/>
          </a:xfrm>
          <a:prstGeom prst="rect">
            <a:avLst/>
          </a:prstGeom>
          <a:noFill/>
        </p:spPr>
        <p:txBody>
          <a:bodyPr wrap="none" rtlCol="0">
            <a:spAutoFit/>
          </a:bodyPr>
          <a:lstStyle/>
          <a:p>
            <a:r>
              <a:rPr lang="en-US" sz="2400" dirty="0"/>
              <a:t>-</a:t>
            </a:r>
          </a:p>
        </p:txBody>
      </p:sp>
      <p:cxnSp>
        <p:nvCxnSpPr>
          <p:cNvPr id="178" name="Straight Arrow Connector 177">
            <a:extLst>
              <a:ext uri="{FF2B5EF4-FFF2-40B4-BE49-F238E27FC236}">
                <a16:creationId xmlns:a16="http://schemas.microsoft.com/office/drawing/2014/main" id="{C3E5E7D1-B38C-3A67-5FB7-C6A4048C53EA}"/>
              </a:ext>
            </a:extLst>
          </p:cNvPr>
          <p:cNvCxnSpPr>
            <a:stCxn id="175" idx="4"/>
            <a:endCxn id="161" idx="0"/>
          </p:cNvCxnSpPr>
          <p:nvPr/>
        </p:nvCxnSpPr>
        <p:spPr>
          <a:xfrm>
            <a:off x="8374968" y="4460674"/>
            <a:ext cx="1" cy="19648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0" name="TextBox 179">
                <a:extLst>
                  <a:ext uri="{FF2B5EF4-FFF2-40B4-BE49-F238E27FC236}">
                    <a16:creationId xmlns:a16="http://schemas.microsoft.com/office/drawing/2014/main" id="{019785C1-E7EE-8FE4-7D7D-A7B814C36BDE}"/>
                  </a:ext>
                </a:extLst>
              </p:cNvPr>
              <p:cNvSpPr txBox="1"/>
              <p:nvPr/>
            </p:nvSpPr>
            <p:spPr>
              <a:xfrm>
                <a:off x="8092711" y="3991672"/>
                <a:ext cx="579646"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80" name="TextBox 179">
                <a:extLst>
                  <a:ext uri="{FF2B5EF4-FFF2-40B4-BE49-F238E27FC236}">
                    <a16:creationId xmlns:a16="http://schemas.microsoft.com/office/drawing/2014/main" id="{019785C1-E7EE-8FE4-7D7D-A7B814C36BDE}"/>
                  </a:ext>
                </a:extLst>
              </p:cNvPr>
              <p:cNvSpPr txBox="1">
                <a:spLocks noRot="1" noChangeAspect="1" noMove="1" noResize="1" noEditPoints="1" noAdjustHandles="1" noChangeArrowheads="1" noChangeShapeType="1" noTextEdit="1"/>
              </p:cNvSpPr>
              <p:nvPr/>
            </p:nvSpPr>
            <p:spPr>
              <a:xfrm>
                <a:off x="8092711" y="3991672"/>
                <a:ext cx="579646" cy="276999"/>
              </a:xfrm>
              <a:prstGeom prst="rect">
                <a:avLst/>
              </a:prstGeom>
              <a:blipFill>
                <a:blip r:embed="rId16"/>
                <a:stretch>
                  <a:fillRect l="-10526" t="-2222" r="-1473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1" name="TextBox 180">
                <a:extLst>
                  <a:ext uri="{FF2B5EF4-FFF2-40B4-BE49-F238E27FC236}">
                    <a16:creationId xmlns:a16="http://schemas.microsoft.com/office/drawing/2014/main" id="{DD38B8DA-6CBD-5C0E-C8E4-9AC74A6276D9}"/>
                  </a:ext>
                </a:extLst>
              </p:cNvPr>
              <p:cNvSpPr txBox="1"/>
              <p:nvPr/>
            </p:nvSpPr>
            <p:spPr>
              <a:xfrm>
                <a:off x="9000244" y="5822037"/>
                <a:ext cx="1218539" cy="276999"/>
              </a:xfrm>
              <a:prstGeom prst="rect">
                <a:avLst/>
              </a:prstGeom>
              <a:noFill/>
            </p:spPr>
            <p:txBody>
              <a:bodyPr wrap="none" lIns="0" tIns="0" rIns="0" bIns="0" rtlCol="0">
                <a:spAutoFit/>
              </a:bodyPr>
              <a:lstStyle/>
              <a:p>
                <a:pPr/>
                <a14:m>
                  <m:oMathPara xmlns:m="http://schemas.openxmlformats.org/officeDocument/2006/math">
                    <m:oMathParaPr>
                      <m:jc m:val="right"/>
                    </m:oMathParaPr>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81" name="TextBox 180">
                <a:extLst>
                  <a:ext uri="{FF2B5EF4-FFF2-40B4-BE49-F238E27FC236}">
                    <a16:creationId xmlns:a16="http://schemas.microsoft.com/office/drawing/2014/main" id="{DD38B8DA-6CBD-5C0E-C8E4-9AC74A6276D9}"/>
                  </a:ext>
                </a:extLst>
              </p:cNvPr>
              <p:cNvSpPr txBox="1">
                <a:spLocks noRot="1" noChangeAspect="1" noMove="1" noResize="1" noEditPoints="1" noAdjustHandles="1" noChangeArrowheads="1" noChangeShapeType="1" noTextEdit="1"/>
              </p:cNvSpPr>
              <p:nvPr/>
            </p:nvSpPr>
            <p:spPr>
              <a:xfrm>
                <a:off x="9000244" y="5822037"/>
                <a:ext cx="1218539" cy="276999"/>
              </a:xfrm>
              <a:prstGeom prst="rect">
                <a:avLst/>
              </a:prstGeom>
              <a:blipFill>
                <a:blip r:embed="rId17"/>
                <a:stretch>
                  <a:fillRect l="-2000" t="-2222" r="-9000" b="-35556"/>
                </a:stretch>
              </a:blipFill>
            </p:spPr>
            <p:txBody>
              <a:bodyPr/>
              <a:lstStyle/>
              <a:p>
                <a:r>
                  <a:rPr lang="en-US">
                    <a:noFill/>
                  </a:rPr>
                  <a:t> </a:t>
                </a:r>
              </a:p>
            </p:txBody>
          </p:sp>
        </mc:Fallback>
      </mc:AlternateContent>
      <p:cxnSp>
        <p:nvCxnSpPr>
          <p:cNvPr id="207" name="Straight Arrow Connector 206">
            <a:extLst>
              <a:ext uri="{FF2B5EF4-FFF2-40B4-BE49-F238E27FC236}">
                <a16:creationId xmlns:a16="http://schemas.microsoft.com/office/drawing/2014/main" id="{934E9EEE-B48E-CEFA-19D5-683679E38081}"/>
              </a:ext>
            </a:extLst>
          </p:cNvPr>
          <p:cNvCxnSpPr>
            <a:stCxn id="176" idx="0"/>
            <a:endCxn id="168" idx="4"/>
          </p:cNvCxnSpPr>
          <p:nvPr/>
        </p:nvCxnSpPr>
        <p:spPr>
          <a:xfrm flipV="1">
            <a:off x="10299099" y="5702431"/>
            <a:ext cx="1" cy="18563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923503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762DD9-9933-602E-E1B2-64D8A5FA8DBA}"/>
              </a:ext>
            </a:extLst>
          </p:cNvPr>
          <p:cNvSpPr>
            <a:spLocks noGrp="1"/>
          </p:cNvSpPr>
          <p:nvPr>
            <p:ph type="title"/>
          </p:nvPr>
        </p:nvSpPr>
        <p:spPr/>
        <p:txBody>
          <a:bodyPr/>
          <a:lstStyle/>
          <a:p>
            <a:r>
              <a:rPr lang="en-US" dirty="0"/>
              <a:t>Disturbance Rejection – Full Model</a:t>
            </a:r>
          </a:p>
        </p:txBody>
      </p:sp>
      <p:grpSp>
        <p:nvGrpSpPr>
          <p:cNvPr id="71" name="Group 70">
            <a:extLst>
              <a:ext uri="{FF2B5EF4-FFF2-40B4-BE49-F238E27FC236}">
                <a16:creationId xmlns:a16="http://schemas.microsoft.com/office/drawing/2014/main" id="{F426E0EA-BCBA-9AA1-2862-B7E2859F122C}"/>
              </a:ext>
            </a:extLst>
          </p:cNvPr>
          <p:cNvGrpSpPr/>
          <p:nvPr/>
        </p:nvGrpSpPr>
        <p:grpSpPr>
          <a:xfrm>
            <a:off x="1177437" y="1777719"/>
            <a:ext cx="9837127" cy="3396555"/>
            <a:chOff x="1516673" y="1777719"/>
            <a:chExt cx="9837127" cy="3396555"/>
          </a:xfrm>
        </p:grpSpPr>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495CEB50-BA68-02D9-32B0-F8726E2580F9}"/>
                    </a:ext>
                  </a:extLst>
                </p:cNvPr>
                <p:cNvSpPr>
                  <a:spLocks noChangeAspect="1"/>
                </p:cNvSpPr>
                <p:nvPr/>
              </p:nvSpPr>
              <p:spPr>
                <a:xfrm>
                  <a:off x="3439041" y="2638268"/>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PI Controller</a:t>
                  </a:r>
                </a:p>
                <a:p>
                  <a:pPr algn="ct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3" name="Rectangle 2">
                  <a:extLst>
                    <a:ext uri="{FF2B5EF4-FFF2-40B4-BE49-F238E27FC236}">
                      <a16:creationId xmlns:a16="http://schemas.microsoft.com/office/drawing/2014/main" id="{495CEB50-BA68-02D9-32B0-F8726E2580F9}"/>
                    </a:ext>
                  </a:extLst>
                </p:cNvPr>
                <p:cNvSpPr>
                  <a:spLocks noRot="1" noChangeAspect="1" noMove="1" noResize="1" noEditPoints="1" noAdjustHandles="1" noChangeArrowheads="1" noChangeShapeType="1" noTextEdit="1"/>
                </p:cNvSpPr>
                <p:nvPr/>
              </p:nvSpPr>
              <p:spPr>
                <a:xfrm>
                  <a:off x="3439041" y="2638268"/>
                  <a:ext cx="1348464" cy="822960"/>
                </a:xfrm>
                <a:prstGeom prst="rect">
                  <a:avLst/>
                </a:prstGeom>
                <a:blipFill>
                  <a:blip r:embed="rId2"/>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D0DEB021-FE84-39B4-3511-2C8CF63EAB12}"/>
                    </a:ext>
                  </a:extLst>
                </p:cNvPr>
                <p:cNvSpPr>
                  <a:spLocks noChangeAspect="1"/>
                </p:cNvSpPr>
                <p:nvPr/>
              </p:nvSpPr>
              <p:spPr>
                <a:xfrm>
                  <a:off x="7678136" y="2631994"/>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Plant</a:t>
                  </a:r>
                </a:p>
                <a:p>
                  <a:pPr algn="ct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𝐺</m:t>
                            </m:r>
                          </m:e>
                          <m:sub>
                            <m:r>
                              <a:rPr lang="en-US" sz="2400" b="0" i="1" smtClean="0">
                                <a:latin typeface="Cambria Math" panose="02040503050406030204" pitchFamily="18" charset="0"/>
                              </a:rPr>
                              <m:t>𝑖𝑀</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US" sz="2400" dirty="0"/>
                </a:p>
              </p:txBody>
            </p:sp>
          </mc:Choice>
          <mc:Fallback xmlns="">
            <p:sp>
              <p:nvSpPr>
                <p:cNvPr id="4" name="Rectangle 3">
                  <a:extLst>
                    <a:ext uri="{FF2B5EF4-FFF2-40B4-BE49-F238E27FC236}">
                      <a16:creationId xmlns:a16="http://schemas.microsoft.com/office/drawing/2014/main" id="{D0DEB021-FE84-39B4-3511-2C8CF63EAB12}"/>
                    </a:ext>
                  </a:extLst>
                </p:cNvPr>
                <p:cNvSpPr>
                  <a:spLocks noRot="1" noChangeAspect="1" noMove="1" noResize="1" noEditPoints="1" noAdjustHandles="1" noChangeArrowheads="1" noChangeShapeType="1" noTextEdit="1"/>
                </p:cNvSpPr>
                <p:nvPr/>
              </p:nvSpPr>
              <p:spPr>
                <a:xfrm>
                  <a:off x="7678136" y="2631994"/>
                  <a:ext cx="1348464" cy="822960"/>
                </a:xfrm>
                <a:prstGeom prst="rect">
                  <a:avLst/>
                </a:prstGeom>
                <a:blipFill>
                  <a:blip r:embed="rId3"/>
                  <a:stretch>
                    <a:fillRect/>
                  </a:stretch>
                </a:blipFill>
                <a:ln>
                  <a:solidFill>
                    <a:schemeClr val="tx1"/>
                  </a:solidFill>
                </a:ln>
              </p:spPr>
              <p:txBody>
                <a:bodyPr/>
                <a:lstStyle/>
                <a:p>
                  <a:r>
                    <a:rPr lang="en-US">
                      <a:noFill/>
                    </a:rPr>
                    <a:t> </a:t>
                  </a:r>
                </a:p>
              </p:txBody>
            </p:sp>
          </mc:Fallback>
        </mc:AlternateContent>
        <p:sp>
          <p:nvSpPr>
            <p:cNvPr id="5" name="Oval 4">
              <a:extLst>
                <a:ext uri="{FF2B5EF4-FFF2-40B4-BE49-F238E27FC236}">
                  <a16:creationId xmlns:a16="http://schemas.microsoft.com/office/drawing/2014/main" id="{CB145F1E-C258-AC17-1F1F-4C8AFC085934}"/>
                </a:ext>
              </a:extLst>
            </p:cNvPr>
            <p:cNvSpPr/>
            <p:nvPr/>
          </p:nvSpPr>
          <p:spPr>
            <a:xfrm>
              <a:off x="9682224" y="2977061"/>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Oval 5">
              <a:extLst>
                <a:ext uri="{FF2B5EF4-FFF2-40B4-BE49-F238E27FC236}">
                  <a16:creationId xmlns:a16="http://schemas.microsoft.com/office/drawing/2014/main" id="{5229110F-5CE7-DE7C-E8DF-8E2C0ACE722B}"/>
                </a:ext>
              </a:extLst>
            </p:cNvPr>
            <p:cNvSpPr/>
            <p:nvPr/>
          </p:nvSpPr>
          <p:spPr>
            <a:xfrm>
              <a:off x="2363851" y="2975554"/>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1D9D43C-44D5-5AD1-3827-FE3011C08D3B}"/>
                    </a:ext>
                  </a:extLst>
                </p:cNvPr>
                <p:cNvSpPr txBox="1"/>
                <p:nvPr/>
              </p:nvSpPr>
              <p:spPr>
                <a:xfrm>
                  <a:off x="1643654" y="2874056"/>
                  <a:ext cx="721800" cy="2992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𝑟𝑒𝑓</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7" name="TextBox 6">
                  <a:extLst>
                    <a:ext uri="{FF2B5EF4-FFF2-40B4-BE49-F238E27FC236}">
                      <a16:creationId xmlns:a16="http://schemas.microsoft.com/office/drawing/2014/main" id="{51D9D43C-44D5-5AD1-3827-FE3011C08D3B}"/>
                    </a:ext>
                  </a:extLst>
                </p:cNvPr>
                <p:cNvSpPr txBox="1">
                  <a:spLocks noRot="1" noChangeAspect="1" noMove="1" noResize="1" noEditPoints="1" noAdjustHandles="1" noChangeArrowheads="1" noChangeShapeType="1" noTextEdit="1"/>
                </p:cNvSpPr>
                <p:nvPr/>
              </p:nvSpPr>
              <p:spPr>
                <a:xfrm>
                  <a:off x="1643654" y="2874056"/>
                  <a:ext cx="721800" cy="299249"/>
                </a:xfrm>
                <a:prstGeom prst="rect">
                  <a:avLst/>
                </a:prstGeom>
                <a:blipFill>
                  <a:blip r:embed="rId4"/>
                  <a:stretch>
                    <a:fillRect l="-8475" r="-12712" b="-2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3E43D3E-DCCA-40EB-6BB9-A9D5254B3936}"/>
                    </a:ext>
                  </a:extLst>
                </p:cNvPr>
                <p:cNvSpPr txBox="1"/>
                <p:nvPr/>
              </p:nvSpPr>
              <p:spPr>
                <a:xfrm>
                  <a:off x="9815050" y="2904975"/>
                  <a:ext cx="72019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8" name="TextBox 7">
                  <a:extLst>
                    <a:ext uri="{FF2B5EF4-FFF2-40B4-BE49-F238E27FC236}">
                      <a16:creationId xmlns:a16="http://schemas.microsoft.com/office/drawing/2014/main" id="{83E43D3E-DCCA-40EB-6BB9-A9D5254B3936}"/>
                    </a:ext>
                  </a:extLst>
                </p:cNvPr>
                <p:cNvSpPr txBox="1">
                  <a:spLocks noRot="1" noChangeAspect="1" noMove="1" noResize="1" noEditPoints="1" noAdjustHandles="1" noChangeArrowheads="1" noChangeShapeType="1" noTextEdit="1"/>
                </p:cNvSpPr>
                <p:nvPr/>
              </p:nvSpPr>
              <p:spPr>
                <a:xfrm>
                  <a:off x="9815050" y="2904975"/>
                  <a:ext cx="720197" cy="276999"/>
                </a:xfrm>
                <a:prstGeom prst="rect">
                  <a:avLst/>
                </a:prstGeom>
                <a:blipFill>
                  <a:blip r:embed="rId5"/>
                  <a:stretch>
                    <a:fillRect l="-7563" t="-4444" r="-10924" b="-35556"/>
                  </a:stretch>
                </a:blipFill>
              </p:spPr>
              <p:txBody>
                <a:bodyPr/>
                <a:lstStyle/>
                <a:p>
                  <a:r>
                    <a:rPr lang="en-US">
                      <a:noFill/>
                    </a:rPr>
                    <a:t> </a:t>
                  </a:r>
                </a:p>
              </p:txBody>
            </p:sp>
          </mc:Fallback>
        </mc:AlternateContent>
        <p:sp>
          <p:nvSpPr>
            <p:cNvPr id="9" name="Rectangle: Rounded Corners 8">
              <a:extLst>
                <a:ext uri="{FF2B5EF4-FFF2-40B4-BE49-F238E27FC236}">
                  <a16:creationId xmlns:a16="http://schemas.microsoft.com/office/drawing/2014/main" id="{F55E866F-E78C-1F51-B14C-F980CE6AC3A8}"/>
                </a:ext>
              </a:extLst>
            </p:cNvPr>
            <p:cNvSpPr/>
            <p:nvPr/>
          </p:nvSpPr>
          <p:spPr>
            <a:xfrm>
              <a:off x="1516673" y="1785296"/>
              <a:ext cx="9837127" cy="3388978"/>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5C2BAEE-BE0A-127F-D133-6E6ED6E0A3CE}"/>
                </a:ext>
              </a:extLst>
            </p:cNvPr>
            <p:cNvSpPr txBox="1"/>
            <p:nvPr/>
          </p:nvSpPr>
          <p:spPr>
            <a:xfrm>
              <a:off x="9660195" y="1777719"/>
              <a:ext cx="1693605" cy="338554"/>
            </a:xfrm>
            <a:prstGeom prst="rect">
              <a:avLst/>
            </a:prstGeom>
            <a:noFill/>
          </p:spPr>
          <p:txBody>
            <a:bodyPr wrap="none" rtlCol="0">
              <a:spAutoFit/>
            </a:bodyPr>
            <a:lstStyle/>
            <a:p>
              <a:pPr algn="r"/>
              <a:r>
                <a:rPr lang="en-US" sz="1600" b="1" dirty="0"/>
                <a:t>Full UFB System</a:t>
              </a:r>
            </a:p>
          </p:txBody>
        </p:sp>
        <p:sp>
          <p:nvSpPr>
            <p:cNvPr id="11" name="Oval 10">
              <a:extLst>
                <a:ext uri="{FF2B5EF4-FFF2-40B4-BE49-F238E27FC236}">
                  <a16:creationId xmlns:a16="http://schemas.microsoft.com/office/drawing/2014/main" id="{07DA3416-7209-6061-F609-B260818DDA38}"/>
                </a:ext>
              </a:extLst>
            </p:cNvPr>
            <p:cNvSpPr/>
            <p:nvPr/>
          </p:nvSpPr>
          <p:spPr>
            <a:xfrm>
              <a:off x="2737218" y="289306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12" name="Oval 11">
              <a:extLst>
                <a:ext uri="{FF2B5EF4-FFF2-40B4-BE49-F238E27FC236}">
                  <a16:creationId xmlns:a16="http://schemas.microsoft.com/office/drawing/2014/main" id="{9682CED1-3C7C-CC7C-C8F3-BB29F539B196}"/>
                </a:ext>
              </a:extLst>
            </p:cNvPr>
            <p:cNvSpPr/>
            <p:nvPr/>
          </p:nvSpPr>
          <p:spPr>
            <a:xfrm>
              <a:off x="7153713" y="289306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3" name="Straight Arrow Connector 12">
              <a:extLst>
                <a:ext uri="{FF2B5EF4-FFF2-40B4-BE49-F238E27FC236}">
                  <a16:creationId xmlns:a16="http://schemas.microsoft.com/office/drawing/2014/main" id="{4EC6D35A-BF30-D0D0-BB58-1DA42C3F9726}"/>
                </a:ext>
              </a:extLst>
            </p:cNvPr>
            <p:cNvCxnSpPr>
              <a:stCxn id="6" idx="6"/>
              <a:endCxn id="11" idx="2"/>
            </p:cNvCxnSpPr>
            <p:nvPr/>
          </p:nvCxnSpPr>
          <p:spPr>
            <a:xfrm>
              <a:off x="2496677" y="3041967"/>
              <a:ext cx="240541"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E710F878-270E-B5AD-D4F7-79B5FAEF5767}"/>
                </a:ext>
              </a:extLst>
            </p:cNvPr>
            <p:cNvCxnSpPr>
              <a:stCxn id="11" idx="6"/>
              <a:endCxn id="3" idx="1"/>
            </p:cNvCxnSpPr>
            <p:nvPr/>
          </p:nvCxnSpPr>
          <p:spPr>
            <a:xfrm>
              <a:off x="3035025" y="3041968"/>
              <a:ext cx="404016" cy="77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Oval 21">
              <a:extLst>
                <a:ext uri="{FF2B5EF4-FFF2-40B4-BE49-F238E27FC236}">
                  <a16:creationId xmlns:a16="http://schemas.microsoft.com/office/drawing/2014/main" id="{309675BE-C45A-390E-098C-FB82367E79F3}"/>
                </a:ext>
              </a:extLst>
            </p:cNvPr>
            <p:cNvSpPr/>
            <p:nvPr/>
          </p:nvSpPr>
          <p:spPr>
            <a:xfrm>
              <a:off x="7236203" y="233079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4E157BFF-B883-AA56-2832-FA6432FEF965}"/>
                </a:ext>
              </a:extLst>
            </p:cNvPr>
            <p:cNvSpPr/>
            <p:nvPr/>
          </p:nvSpPr>
          <p:spPr>
            <a:xfrm>
              <a:off x="9815050" y="464543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Box 23">
              <a:extLst>
                <a:ext uri="{FF2B5EF4-FFF2-40B4-BE49-F238E27FC236}">
                  <a16:creationId xmlns:a16="http://schemas.microsoft.com/office/drawing/2014/main" id="{0A22B27C-EAF6-0648-0649-323E73386121}"/>
                </a:ext>
              </a:extLst>
            </p:cNvPr>
            <p:cNvSpPr txBox="1"/>
            <p:nvPr/>
          </p:nvSpPr>
          <p:spPr>
            <a:xfrm>
              <a:off x="2882639" y="3049546"/>
              <a:ext cx="288862" cy="461665"/>
            </a:xfrm>
            <a:prstGeom prst="rect">
              <a:avLst/>
            </a:prstGeom>
            <a:noFill/>
          </p:spPr>
          <p:txBody>
            <a:bodyPr wrap="none" rtlCol="0">
              <a:spAutoFit/>
            </a:bodyPr>
            <a:lstStyle/>
            <a:p>
              <a:r>
                <a:rPr lang="en-US" sz="2400" dirty="0"/>
                <a:t>-</a:t>
              </a:r>
            </a:p>
          </p:txBody>
        </p:sp>
        <p:cxnSp>
          <p:nvCxnSpPr>
            <p:cNvPr id="25" name="Straight Arrow Connector 24">
              <a:extLst>
                <a:ext uri="{FF2B5EF4-FFF2-40B4-BE49-F238E27FC236}">
                  <a16:creationId xmlns:a16="http://schemas.microsoft.com/office/drawing/2014/main" id="{31DCA8E0-AC94-083D-5031-C8EAB176A31E}"/>
                </a:ext>
              </a:extLst>
            </p:cNvPr>
            <p:cNvCxnSpPr>
              <a:stCxn id="22" idx="4"/>
              <a:endCxn id="12" idx="0"/>
            </p:cNvCxnSpPr>
            <p:nvPr/>
          </p:nvCxnSpPr>
          <p:spPr>
            <a:xfrm>
              <a:off x="7302616" y="2463621"/>
              <a:ext cx="1" cy="42944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EF5BA2D8-656D-31BC-EE3C-B9F98F9AC7B7}"/>
                    </a:ext>
                  </a:extLst>
                </p:cNvPr>
                <p:cNvSpPr txBox="1"/>
                <p:nvPr/>
              </p:nvSpPr>
              <p:spPr>
                <a:xfrm>
                  <a:off x="7020359" y="1994619"/>
                  <a:ext cx="51251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p:txBody>
            </p:sp>
          </mc:Choice>
          <mc:Fallback xmlns="">
            <p:sp>
              <p:nvSpPr>
                <p:cNvPr id="26" name="TextBox 25">
                  <a:extLst>
                    <a:ext uri="{FF2B5EF4-FFF2-40B4-BE49-F238E27FC236}">
                      <a16:creationId xmlns:a16="http://schemas.microsoft.com/office/drawing/2014/main" id="{EF5BA2D8-656D-31BC-EE3C-B9F98F9AC7B7}"/>
                    </a:ext>
                  </a:extLst>
                </p:cNvPr>
                <p:cNvSpPr txBox="1">
                  <a:spLocks noRot="1" noChangeAspect="1" noMove="1" noResize="1" noEditPoints="1" noAdjustHandles="1" noChangeArrowheads="1" noChangeShapeType="1" noTextEdit="1"/>
                </p:cNvSpPr>
                <p:nvPr/>
              </p:nvSpPr>
              <p:spPr>
                <a:xfrm>
                  <a:off x="7020359" y="1994619"/>
                  <a:ext cx="512513" cy="276999"/>
                </a:xfrm>
                <a:prstGeom prst="rect">
                  <a:avLst/>
                </a:prstGeom>
                <a:blipFill>
                  <a:blip r:embed="rId6"/>
                  <a:stretch>
                    <a:fillRect l="-7143" t="-2174" r="-16667" b="-326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8946CF86-8FCB-4186-B420-8AC2788510EA}"/>
                    </a:ext>
                  </a:extLst>
                </p:cNvPr>
                <p:cNvSpPr txBox="1"/>
                <p:nvPr/>
              </p:nvSpPr>
              <p:spPr>
                <a:xfrm>
                  <a:off x="9991838" y="4573349"/>
                  <a:ext cx="1218539" cy="276999"/>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27" name="TextBox 26">
                  <a:extLst>
                    <a:ext uri="{FF2B5EF4-FFF2-40B4-BE49-F238E27FC236}">
                      <a16:creationId xmlns:a16="http://schemas.microsoft.com/office/drawing/2014/main" id="{8946CF86-8FCB-4186-B420-8AC2788510EA}"/>
                    </a:ext>
                  </a:extLst>
                </p:cNvPr>
                <p:cNvSpPr txBox="1">
                  <a:spLocks noRot="1" noChangeAspect="1" noMove="1" noResize="1" noEditPoints="1" noAdjustHandles="1" noChangeArrowheads="1" noChangeShapeType="1" noTextEdit="1"/>
                </p:cNvSpPr>
                <p:nvPr/>
              </p:nvSpPr>
              <p:spPr>
                <a:xfrm>
                  <a:off x="9991838" y="4573349"/>
                  <a:ext cx="1218539" cy="276999"/>
                </a:xfrm>
                <a:prstGeom prst="rect">
                  <a:avLst/>
                </a:prstGeom>
                <a:blipFill>
                  <a:blip r:embed="rId7"/>
                  <a:stretch>
                    <a:fillRect l="-6500" t="-2174" r="-4500" b="-32609"/>
                  </a:stretch>
                </a:blipFill>
              </p:spPr>
              <p:txBody>
                <a:bodyPr/>
                <a:lstStyle/>
                <a:p>
                  <a:r>
                    <a:rPr lang="en-US">
                      <a:noFill/>
                    </a:rPr>
                    <a:t> </a:t>
                  </a:r>
                </a:p>
              </p:txBody>
            </p:sp>
          </mc:Fallback>
        </mc:AlternateContent>
        <p:sp>
          <p:nvSpPr>
            <p:cNvPr id="30" name="Rectangle 29">
              <a:extLst>
                <a:ext uri="{FF2B5EF4-FFF2-40B4-BE49-F238E27FC236}">
                  <a16:creationId xmlns:a16="http://schemas.microsoft.com/office/drawing/2014/main" id="{0E88F316-A041-110F-6D5E-ABD925A7BF31}"/>
                </a:ext>
              </a:extLst>
            </p:cNvPr>
            <p:cNvSpPr/>
            <p:nvPr/>
          </p:nvSpPr>
          <p:spPr>
            <a:xfrm>
              <a:off x="5281269" y="2553422"/>
              <a:ext cx="3831958" cy="1889857"/>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Rectangle 30">
                  <a:extLst>
                    <a:ext uri="{FF2B5EF4-FFF2-40B4-BE49-F238E27FC236}">
                      <a16:creationId xmlns:a16="http://schemas.microsoft.com/office/drawing/2014/main" id="{0C09C1E0-24F9-D06F-9EC6-4B141E0D97B4}"/>
                    </a:ext>
                  </a:extLst>
                </p:cNvPr>
                <p:cNvSpPr>
                  <a:spLocks noChangeAspect="1"/>
                </p:cNvSpPr>
                <p:nvPr/>
              </p:nvSpPr>
              <p:spPr>
                <a:xfrm>
                  <a:off x="5415526" y="2640076"/>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Linearization</a:t>
                  </a: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𝑀</m:t>
                            </m:r>
                          </m:e>
                          <m:sub>
                            <m:r>
                              <a:rPr lang="en-US" sz="1400" b="0" i="1" smtClean="0">
                                <a:latin typeface="Cambria Math" panose="02040503050406030204" pitchFamily="18" charset="0"/>
                              </a:rPr>
                              <m:t>𝑇</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𝑀</m:t>
                        </m:r>
                        <m:r>
                          <a:rPr lang="en-US" sz="1400" b="0" i="1" smtClean="0">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𝑡</m:t>
                        </m:r>
                        <m:r>
                          <a:rPr lang="en-US" sz="1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31" name="Rectangle 30">
                  <a:extLst>
                    <a:ext uri="{FF2B5EF4-FFF2-40B4-BE49-F238E27FC236}">
                      <a16:creationId xmlns:a16="http://schemas.microsoft.com/office/drawing/2014/main" id="{0C09C1E0-24F9-D06F-9EC6-4B141E0D97B4}"/>
                    </a:ext>
                  </a:extLst>
                </p:cNvPr>
                <p:cNvSpPr>
                  <a:spLocks noRot="1" noChangeAspect="1" noMove="1" noResize="1" noEditPoints="1" noAdjustHandles="1" noChangeArrowheads="1" noChangeShapeType="1" noTextEdit="1"/>
                </p:cNvSpPr>
                <p:nvPr/>
              </p:nvSpPr>
              <p:spPr>
                <a:xfrm>
                  <a:off x="5415526" y="2640076"/>
                  <a:ext cx="1348464" cy="822960"/>
                </a:xfrm>
                <a:prstGeom prst="rect">
                  <a:avLst/>
                </a:prstGeom>
                <a:blipFill>
                  <a:blip r:embed="rId8"/>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87CE3631-DD44-965C-02C7-58249D71EE8C}"/>
                    </a:ext>
                  </a:extLst>
                </p:cNvPr>
                <p:cNvSpPr txBox="1"/>
                <p:nvPr/>
              </p:nvSpPr>
              <p:spPr>
                <a:xfrm>
                  <a:off x="5281269" y="3462530"/>
                  <a:ext cx="3831958" cy="940194"/>
                </a:xfrm>
                <a:prstGeom prst="rect">
                  <a:avLst/>
                </a:prstGeom>
                <a:noFill/>
              </p:spPr>
              <p:txBody>
                <a:bodyPr wrap="square">
                  <a:spAutoFit/>
                </a:bodyPr>
                <a:lstStyle/>
                <a:p>
                  <a:pPr algn="ctr"/>
                  <a:r>
                    <a:rPr lang="en-US" sz="1600" b="0" dirty="0">
                      <a:latin typeface="Cambria Math" panose="02040503050406030204" pitchFamily="18" charset="0"/>
                    </a:rPr>
                    <a:t>Linearized Plant</a:t>
                  </a:r>
                </a:p>
                <a:p>
                  <a:pPr algn="ctr"/>
                  <a14:m>
                    <m:oMathPara xmlns:m="http://schemas.openxmlformats.org/officeDocument/2006/math">
                      <m:oMathParaPr>
                        <m:jc m:val="centerGroup"/>
                      </m:oMathParaPr>
                      <m:oMath xmlns:m="http://schemas.openxmlformats.org/officeDocument/2006/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𝐺</m:t>
                            </m:r>
                          </m:e>
                          <m:sub>
                            <m:r>
                              <a:rPr lang="en-US" sz="3600" b="0" i="1" smtClean="0">
                                <a:latin typeface="Cambria Math" panose="02040503050406030204" pitchFamily="18" charset="0"/>
                              </a:rPr>
                              <m:t>𝑖</m:t>
                            </m:r>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𝑀</m:t>
                                </m:r>
                              </m:e>
                              <m:sub>
                                <m:r>
                                  <a:rPr lang="en-US" sz="3600" b="0" i="1" smtClean="0">
                                    <a:latin typeface="Cambria Math" panose="02040503050406030204" pitchFamily="18" charset="0"/>
                                  </a:rPr>
                                  <m:t>𝑇</m:t>
                                </m:r>
                              </m:sub>
                            </m:sSub>
                          </m:sub>
                        </m:sSub>
                        <m:r>
                          <a:rPr lang="en-US" sz="3600" b="0" i="1" smtClean="0">
                            <a:latin typeface="Cambria Math" panose="02040503050406030204" pitchFamily="18" charset="0"/>
                          </a:rPr>
                          <m:t>(</m:t>
                        </m:r>
                        <m:r>
                          <a:rPr lang="en-US" sz="3600" b="0" i="1" smtClean="0">
                            <a:latin typeface="Cambria Math" panose="02040503050406030204" pitchFamily="18" charset="0"/>
                          </a:rPr>
                          <m:t>𝑠</m:t>
                        </m:r>
                        <m:r>
                          <a:rPr lang="en-US" sz="3600" b="0" i="1" smtClean="0">
                            <a:latin typeface="Cambria Math" panose="02040503050406030204" pitchFamily="18" charset="0"/>
                          </a:rPr>
                          <m:t>)</m:t>
                        </m:r>
                      </m:oMath>
                    </m:oMathPara>
                  </a14:m>
                  <a:endParaRPr lang="en-US" sz="3600" dirty="0"/>
                </a:p>
              </p:txBody>
            </p:sp>
          </mc:Choice>
          <mc:Fallback xmlns="">
            <p:sp>
              <p:nvSpPr>
                <p:cNvPr id="35" name="TextBox 34">
                  <a:extLst>
                    <a:ext uri="{FF2B5EF4-FFF2-40B4-BE49-F238E27FC236}">
                      <a16:creationId xmlns:a16="http://schemas.microsoft.com/office/drawing/2014/main" id="{87CE3631-DD44-965C-02C7-58249D71EE8C}"/>
                    </a:ext>
                  </a:extLst>
                </p:cNvPr>
                <p:cNvSpPr txBox="1">
                  <a:spLocks noRot="1" noChangeAspect="1" noMove="1" noResize="1" noEditPoints="1" noAdjustHandles="1" noChangeArrowheads="1" noChangeShapeType="1" noTextEdit="1"/>
                </p:cNvSpPr>
                <p:nvPr/>
              </p:nvSpPr>
              <p:spPr>
                <a:xfrm>
                  <a:off x="5281269" y="3462530"/>
                  <a:ext cx="3831958" cy="940194"/>
                </a:xfrm>
                <a:prstGeom prst="rect">
                  <a:avLst/>
                </a:prstGeom>
                <a:blipFill>
                  <a:blip r:embed="rId9"/>
                  <a:stretch>
                    <a:fillRect t="-2597"/>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32590D8-A6E6-DE0B-3C28-4B016AA110E4}"/>
                </a:ext>
              </a:extLst>
            </p:cNvPr>
            <p:cNvCxnSpPr>
              <a:stCxn id="3" idx="3"/>
              <a:endCxn id="31" idx="1"/>
            </p:cNvCxnSpPr>
            <p:nvPr/>
          </p:nvCxnSpPr>
          <p:spPr>
            <a:xfrm>
              <a:off x="4787505" y="3049748"/>
              <a:ext cx="628021" cy="180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BE5F46AE-02DA-9F58-D987-26CD46FAB4DC}"/>
                </a:ext>
              </a:extLst>
            </p:cNvPr>
            <p:cNvCxnSpPr>
              <a:stCxn id="31" idx="3"/>
              <a:endCxn id="12" idx="2"/>
            </p:cNvCxnSpPr>
            <p:nvPr/>
          </p:nvCxnSpPr>
          <p:spPr>
            <a:xfrm flipV="1">
              <a:off x="6763990" y="3041968"/>
              <a:ext cx="389723" cy="958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DFC7F002-A69B-7C8C-172A-C9C4CAADB1D9}"/>
                </a:ext>
              </a:extLst>
            </p:cNvPr>
            <p:cNvCxnSpPr>
              <a:stCxn id="12" idx="6"/>
              <a:endCxn id="4" idx="1"/>
            </p:cNvCxnSpPr>
            <p:nvPr/>
          </p:nvCxnSpPr>
          <p:spPr>
            <a:xfrm>
              <a:off x="7451520" y="3041968"/>
              <a:ext cx="226616" cy="150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A1F43624-2CD8-3CEB-BEA2-144C2433DC5A}"/>
                </a:ext>
              </a:extLst>
            </p:cNvPr>
            <p:cNvCxnSpPr>
              <a:stCxn id="4" idx="3"/>
              <a:endCxn id="5" idx="2"/>
            </p:cNvCxnSpPr>
            <p:nvPr/>
          </p:nvCxnSpPr>
          <p:spPr>
            <a:xfrm>
              <a:off x="9026600" y="3043474"/>
              <a:ext cx="65562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8" name="Oval 47">
              <a:extLst>
                <a:ext uri="{FF2B5EF4-FFF2-40B4-BE49-F238E27FC236}">
                  <a16:creationId xmlns:a16="http://schemas.microsoft.com/office/drawing/2014/main" id="{D5D34AD9-9F0B-1A60-E37C-6AB3CDBE1F20}"/>
                </a:ext>
              </a:extLst>
            </p:cNvPr>
            <p:cNvSpPr/>
            <p:nvPr/>
          </p:nvSpPr>
          <p:spPr>
            <a:xfrm>
              <a:off x="9259107" y="456294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50" name="Straight Arrow Connector 49">
              <a:extLst>
                <a:ext uri="{FF2B5EF4-FFF2-40B4-BE49-F238E27FC236}">
                  <a16:creationId xmlns:a16="http://schemas.microsoft.com/office/drawing/2014/main" id="{66004081-641F-8CFD-D10B-0B819013A2BC}"/>
                </a:ext>
              </a:extLst>
            </p:cNvPr>
            <p:cNvCxnSpPr>
              <a:cxnSpLocks/>
              <a:stCxn id="48" idx="0"/>
            </p:cNvCxnSpPr>
            <p:nvPr/>
          </p:nvCxnSpPr>
          <p:spPr>
            <a:xfrm flipV="1">
              <a:off x="9408011" y="3049546"/>
              <a:ext cx="0" cy="1513398"/>
            </a:xfrm>
            <a:prstGeom prst="straightConnector1">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A5EFAB6D-EDD1-14EE-A444-3CF8BA4584BB}"/>
                </a:ext>
              </a:extLst>
            </p:cNvPr>
            <p:cNvCxnSpPr>
              <a:stCxn id="23" idx="2"/>
              <a:endCxn id="48" idx="6"/>
            </p:cNvCxnSpPr>
            <p:nvPr/>
          </p:nvCxnSpPr>
          <p:spPr>
            <a:xfrm flipH="1">
              <a:off x="9556914" y="4711848"/>
              <a:ext cx="258136"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06A10E48-5998-0FEA-B5EF-F79AC587B414}"/>
                </a:ext>
              </a:extLst>
            </p:cNvPr>
            <p:cNvCxnSpPr>
              <a:cxnSpLocks/>
              <a:stCxn id="48" idx="2"/>
            </p:cNvCxnSpPr>
            <p:nvPr/>
          </p:nvCxnSpPr>
          <p:spPr>
            <a:xfrm flipH="1">
              <a:off x="2882639" y="4711848"/>
              <a:ext cx="637646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AB2E056E-184A-3058-6AD4-2527BF191C5D}"/>
                </a:ext>
              </a:extLst>
            </p:cNvPr>
            <p:cNvCxnSpPr>
              <a:cxnSpLocks/>
              <a:stCxn id="11" idx="4"/>
            </p:cNvCxnSpPr>
            <p:nvPr/>
          </p:nvCxnSpPr>
          <p:spPr>
            <a:xfrm>
              <a:off x="2886122" y="3190871"/>
              <a:ext cx="0" cy="1520977"/>
            </a:xfrm>
            <a:prstGeom prst="straightConnector1">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7154DBB8-1150-3149-7C86-5E65FBAB3410}"/>
                    </a:ext>
                  </a:extLst>
                </p:cNvPr>
                <p:cNvSpPr txBox="1"/>
                <p:nvPr/>
              </p:nvSpPr>
              <p:spPr>
                <a:xfrm>
                  <a:off x="3065540" y="2808311"/>
                  <a:ext cx="314317"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𝑒</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m:oMathPara>
                  </a14:m>
                  <a:endParaRPr lang="en-US" sz="1200" dirty="0"/>
                </a:p>
              </p:txBody>
            </p:sp>
          </mc:Choice>
          <mc:Fallback xmlns="">
            <p:sp>
              <p:nvSpPr>
                <p:cNvPr id="60" name="TextBox 59">
                  <a:extLst>
                    <a:ext uri="{FF2B5EF4-FFF2-40B4-BE49-F238E27FC236}">
                      <a16:creationId xmlns:a16="http://schemas.microsoft.com/office/drawing/2014/main" id="{7154DBB8-1150-3149-7C86-5E65FBAB3410}"/>
                    </a:ext>
                  </a:extLst>
                </p:cNvPr>
                <p:cNvSpPr txBox="1">
                  <a:spLocks noRot="1" noChangeAspect="1" noMove="1" noResize="1" noEditPoints="1" noAdjustHandles="1" noChangeArrowheads="1" noChangeShapeType="1" noTextEdit="1"/>
                </p:cNvSpPr>
                <p:nvPr/>
              </p:nvSpPr>
              <p:spPr>
                <a:xfrm>
                  <a:off x="3065540" y="2808311"/>
                  <a:ext cx="314317" cy="184666"/>
                </a:xfrm>
                <a:prstGeom prst="rect">
                  <a:avLst/>
                </a:prstGeom>
                <a:blipFill>
                  <a:blip r:embed="rId10"/>
                  <a:stretch>
                    <a:fillRect l="-5769" t="-6667" r="-17308" b="-3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DC523082-32D9-0AFA-54CD-66A0965C1AAE}"/>
                    </a:ext>
                  </a:extLst>
                </p:cNvPr>
                <p:cNvSpPr txBox="1"/>
                <p:nvPr/>
              </p:nvSpPr>
              <p:spPr>
                <a:xfrm>
                  <a:off x="2974842" y="3739754"/>
                  <a:ext cx="810030" cy="19287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𝐼</m:t>
                            </m:r>
                          </m:e>
                          <m:sub>
                            <m:r>
                              <a:rPr lang="en-US" sz="1200" b="0" i="1" smtClean="0">
                                <a:latin typeface="Cambria Math" panose="02040503050406030204" pitchFamily="18" charset="0"/>
                              </a:rPr>
                              <m:t>𝑏𝑎𝑡</m:t>
                            </m:r>
                            <m:r>
                              <a:rPr lang="en-US" sz="1200" b="0" i="1" smtClean="0">
                                <a:latin typeface="Cambria Math" panose="02040503050406030204" pitchFamily="18" charset="0"/>
                              </a:rPr>
                              <m:t>,</m:t>
                            </m:r>
                            <m:r>
                              <a:rPr lang="en-US" sz="1200" b="0" i="1" smtClean="0">
                                <a:latin typeface="Cambria Math" panose="02040503050406030204" pitchFamily="18" charset="0"/>
                              </a:rPr>
                              <m:t>𝑠𝑒𝑛𝑠𝑒</m:t>
                            </m:r>
                          </m:sub>
                        </m:sSub>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m:oMathPara>
                  </a14:m>
                  <a:endParaRPr lang="en-US" sz="1200" dirty="0"/>
                </a:p>
              </p:txBody>
            </p:sp>
          </mc:Choice>
          <mc:Fallback xmlns="">
            <p:sp>
              <p:nvSpPr>
                <p:cNvPr id="61" name="TextBox 60">
                  <a:extLst>
                    <a:ext uri="{FF2B5EF4-FFF2-40B4-BE49-F238E27FC236}">
                      <a16:creationId xmlns:a16="http://schemas.microsoft.com/office/drawing/2014/main" id="{DC523082-32D9-0AFA-54CD-66A0965C1AAE}"/>
                    </a:ext>
                  </a:extLst>
                </p:cNvPr>
                <p:cNvSpPr txBox="1">
                  <a:spLocks noRot="1" noChangeAspect="1" noMove="1" noResize="1" noEditPoints="1" noAdjustHandles="1" noChangeArrowheads="1" noChangeShapeType="1" noTextEdit="1"/>
                </p:cNvSpPr>
                <p:nvPr/>
              </p:nvSpPr>
              <p:spPr>
                <a:xfrm>
                  <a:off x="2974842" y="3739754"/>
                  <a:ext cx="810030" cy="192873"/>
                </a:xfrm>
                <a:prstGeom prst="rect">
                  <a:avLst/>
                </a:prstGeom>
                <a:blipFill>
                  <a:blip r:embed="rId11"/>
                  <a:stretch>
                    <a:fillRect l="-4511" r="-6767" b="-34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CF2AF608-7F5B-7FD1-676D-E1F8F97D4F9E}"/>
                    </a:ext>
                  </a:extLst>
                </p:cNvPr>
                <p:cNvSpPr txBox="1"/>
                <p:nvPr/>
              </p:nvSpPr>
              <p:spPr>
                <a:xfrm>
                  <a:off x="4814102" y="2848106"/>
                  <a:ext cx="440570"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𝑀</m:t>
                            </m:r>
                          </m:e>
                          <m:sub>
                            <m:r>
                              <a:rPr lang="en-US" sz="1200" b="0" i="1" smtClean="0">
                                <a:latin typeface="Cambria Math" panose="02040503050406030204" pitchFamily="18" charset="0"/>
                              </a:rPr>
                              <m:t>𝑇</m:t>
                            </m:r>
                          </m:sub>
                        </m:sSub>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m:oMathPara>
                  </a14:m>
                  <a:endParaRPr lang="en-US" sz="1200" dirty="0"/>
                </a:p>
              </p:txBody>
            </p:sp>
          </mc:Choice>
          <mc:Fallback xmlns="">
            <p:sp>
              <p:nvSpPr>
                <p:cNvPr id="64" name="TextBox 63">
                  <a:extLst>
                    <a:ext uri="{FF2B5EF4-FFF2-40B4-BE49-F238E27FC236}">
                      <a16:creationId xmlns:a16="http://schemas.microsoft.com/office/drawing/2014/main" id="{CF2AF608-7F5B-7FD1-676D-E1F8F97D4F9E}"/>
                    </a:ext>
                  </a:extLst>
                </p:cNvPr>
                <p:cNvSpPr txBox="1">
                  <a:spLocks noRot="1" noChangeAspect="1" noMove="1" noResize="1" noEditPoints="1" noAdjustHandles="1" noChangeArrowheads="1" noChangeShapeType="1" noTextEdit="1"/>
                </p:cNvSpPr>
                <p:nvPr/>
              </p:nvSpPr>
              <p:spPr>
                <a:xfrm>
                  <a:off x="4814102" y="2848106"/>
                  <a:ext cx="440570" cy="184666"/>
                </a:xfrm>
                <a:prstGeom prst="rect">
                  <a:avLst/>
                </a:prstGeom>
                <a:blipFill>
                  <a:blip r:embed="rId12"/>
                  <a:stretch>
                    <a:fillRect l="-8333" t="-3226" r="-13889" b="-354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17271F0-142E-044E-C4D3-48F661C7646B}"/>
                    </a:ext>
                  </a:extLst>
                </p:cNvPr>
                <p:cNvSpPr txBox="1"/>
                <p:nvPr/>
              </p:nvSpPr>
              <p:spPr>
                <a:xfrm>
                  <a:off x="6778447" y="2839015"/>
                  <a:ext cx="360227"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𝑀</m:t>
                        </m:r>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m:t>
                        </m:r>
                      </m:oMath>
                    </m:oMathPara>
                  </a14:m>
                  <a:endParaRPr lang="en-US" sz="1200" dirty="0"/>
                </a:p>
              </p:txBody>
            </p:sp>
          </mc:Choice>
          <mc:Fallback xmlns="">
            <p:sp>
              <p:nvSpPr>
                <p:cNvPr id="67" name="TextBox 66">
                  <a:extLst>
                    <a:ext uri="{FF2B5EF4-FFF2-40B4-BE49-F238E27FC236}">
                      <a16:creationId xmlns:a16="http://schemas.microsoft.com/office/drawing/2014/main" id="{817271F0-142E-044E-C4D3-48F661C7646B}"/>
                    </a:ext>
                  </a:extLst>
                </p:cNvPr>
                <p:cNvSpPr txBox="1">
                  <a:spLocks noRot="1" noChangeAspect="1" noMove="1" noResize="1" noEditPoints="1" noAdjustHandles="1" noChangeArrowheads="1" noChangeShapeType="1" noTextEdit="1"/>
                </p:cNvSpPr>
                <p:nvPr/>
              </p:nvSpPr>
              <p:spPr>
                <a:xfrm>
                  <a:off x="6778447" y="2839015"/>
                  <a:ext cx="360227" cy="184666"/>
                </a:xfrm>
                <a:prstGeom prst="rect">
                  <a:avLst/>
                </a:prstGeom>
                <a:blipFill>
                  <a:blip r:embed="rId13"/>
                  <a:stretch>
                    <a:fillRect l="-10169" t="-6667" r="-16949" b="-3666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3051E59-1389-5DCF-54CC-E02283CAF2A0}"/>
                  </a:ext>
                </a:extLst>
              </p:cNvPr>
              <p:cNvSpPr txBox="1"/>
              <p:nvPr/>
            </p:nvSpPr>
            <p:spPr>
              <a:xfrm>
                <a:off x="1177438" y="5315884"/>
                <a:ext cx="9837126" cy="1165063"/>
              </a:xfrm>
              <a:prstGeom prst="rect">
                <a:avLst/>
              </a:prstGeom>
              <a:noFill/>
            </p:spPr>
            <p:txBody>
              <a:bodyPr wrap="square" rtlCol="0">
                <a:spAutoFit/>
              </a:bodyPr>
              <a:lstStyle/>
              <a:p>
                <a:r>
                  <a:rPr lang="en-US" b="1" dirty="0"/>
                  <a:t>Key Takeaway: </a:t>
                </a:r>
                <a:r>
                  <a:rPr lang="en-US" dirty="0"/>
                  <a:t>Disturbance </a:t>
                </a:r>
                <a14:m>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 is inserted into the nonlinear control signal </a:t>
                </a:r>
                <a14:m>
                  <m:oMath xmlns:m="http://schemas.openxmlformats.org/officeDocument/2006/math">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 and cannot be analyzed using typical tools</a:t>
                </a:r>
              </a:p>
              <a:p>
                <a:r>
                  <a:rPr lang="en-US" dirty="0"/>
                  <a:t>Can trivially calculate transfer function </a:t>
                </a:r>
                <a14:m>
                  <m:oMath xmlns:m="http://schemas.openxmlformats.org/officeDocument/2006/math">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num>
                      <m:den>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den>
                    </m:f>
                    <m:r>
                      <a:rPr lang="en-US" b="0" i="1" smtClean="0">
                        <a:latin typeface="Cambria Math" panose="02040503050406030204" pitchFamily="18" charset="0"/>
                      </a:rPr>
                      <m:t>=</m:t>
                    </m:r>
                    <m:r>
                      <a:rPr lang="en-US" b="0" i="1" smtClean="0">
                        <a:latin typeface="Cambria Math" panose="02040503050406030204" pitchFamily="18" charset="0"/>
                      </a:rPr>
                      <m:t>𝐻</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𝐷</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𝑖</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num>
                      <m:den>
                        <m:r>
                          <a:rPr lang="en-US" b="0" i="1" smtClean="0">
                            <a:latin typeface="Cambria Math" panose="02040503050406030204" pitchFamily="18" charset="0"/>
                          </a:rPr>
                          <m:t>1+</m:t>
                        </m:r>
                        <m:r>
                          <a:rPr lang="en-US" i="1">
                            <a:latin typeface="Cambria Math" panose="02040503050406030204" pitchFamily="18" charset="0"/>
                          </a:rPr>
                          <m:t>𝐷</m:t>
                        </m:r>
                        <m:d>
                          <m:dPr>
                            <m:ctrlPr>
                              <a:rPr lang="en-US" i="1">
                                <a:latin typeface="Cambria Math" panose="02040503050406030204" pitchFamily="18" charset="0"/>
                              </a:rPr>
                            </m:ctrlPr>
                          </m:dPr>
                          <m:e>
                            <m:r>
                              <a:rPr lang="en-US" i="1">
                                <a:latin typeface="Cambria Math" panose="02040503050406030204" pitchFamily="18" charset="0"/>
                              </a:rPr>
                              <m:t>𝑠</m:t>
                            </m:r>
                          </m:e>
                        </m:d>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𝑖</m:t>
                            </m:r>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den>
                    </m:f>
                  </m:oMath>
                </a14:m>
                <a:endParaRPr lang="en-US" dirty="0"/>
              </a:p>
            </p:txBody>
          </p:sp>
        </mc:Choice>
        <mc:Fallback xmlns="">
          <p:sp>
            <p:nvSpPr>
              <p:cNvPr id="70" name="TextBox 69">
                <a:extLst>
                  <a:ext uri="{FF2B5EF4-FFF2-40B4-BE49-F238E27FC236}">
                    <a16:creationId xmlns:a16="http://schemas.microsoft.com/office/drawing/2014/main" id="{33051E59-1389-5DCF-54CC-E02283CAF2A0}"/>
                  </a:ext>
                </a:extLst>
              </p:cNvPr>
              <p:cNvSpPr txBox="1">
                <a:spLocks noRot="1" noChangeAspect="1" noMove="1" noResize="1" noEditPoints="1" noAdjustHandles="1" noChangeArrowheads="1" noChangeShapeType="1" noTextEdit="1"/>
              </p:cNvSpPr>
              <p:nvPr/>
            </p:nvSpPr>
            <p:spPr>
              <a:xfrm>
                <a:off x="1177438" y="5315884"/>
                <a:ext cx="9837126" cy="1165063"/>
              </a:xfrm>
              <a:prstGeom prst="rect">
                <a:avLst/>
              </a:prstGeom>
              <a:blipFill>
                <a:blip r:embed="rId14"/>
                <a:stretch>
                  <a:fillRect l="-496" t="-2094"/>
                </a:stretch>
              </a:blipFill>
            </p:spPr>
            <p:txBody>
              <a:bodyPr/>
              <a:lstStyle/>
              <a:p>
                <a:r>
                  <a:rPr lang="en-US">
                    <a:noFill/>
                  </a:rPr>
                  <a:t> </a:t>
                </a:r>
              </a:p>
            </p:txBody>
          </p:sp>
        </mc:Fallback>
      </mc:AlternateContent>
    </p:spTree>
    <p:extLst>
      <p:ext uri="{BB962C8B-B14F-4D97-AF65-F5344CB8AC3E}">
        <p14:creationId xmlns:p14="http://schemas.microsoft.com/office/powerpoint/2010/main" val="131194344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0322E-72FA-7113-41DA-C6F3A8E79DB3}"/>
              </a:ext>
            </a:extLst>
          </p:cNvPr>
          <p:cNvSpPr>
            <a:spLocks noGrp="1"/>
          </p:cNvSpPr>
          <p:nvPr>
            <p:ph type="title"/>
          </p:nvPr>
        </p:nvSpPr>
        <p:spPr/>
        <p:txBody>
          <a:bodyPr/>
          <a:lstStyle/>
          <a:p>
            <a:r>
              <a:rPr lang="en-US" dirty="0"/>
              <a:t>Model Robustness - Sensitivity</a:t>
            </a:r>
          </a:p>
        </p:txBody>
      </p:sp>
      <p:sp>
        <p:nvSpPr>
          <p:cNvPr id="5" name="Text Placeholder 4">
            <a:extLst>
              <a:ext uri="{FF2B5EF4-FFF2-40B4-BE49-F238E27FC236}">
                <a16:creationId xmlns:a16="http://schemas.microsoft.com/office/drawing/2014/main" id="{2271D8C9-DE82-2DA0-7FDA-C736C878C674}"/>
              </a:ext>
            </a:extLst>
          </p:cNvPr>
          <p:cNvSpPr>
            <a:spLocks noGrp="1"/>
          </p:cNvSpPr>
          <p:nvPr>
            <p:ph type="body" sz="half" idx="2"/>
          </p:nvPr>
        </p:nvSpPr>
        <p:spPr/>
        <p:txBody>
          <a:bodyPr/>
          <a:lstStyle/>
          <a:p>
            <a:r>
              <a:rPr lang="en-US" dirty="0"/>
              <a:t>Definition: Change in output behavior of a system relative to change in parameter</a:t>
            </a:r>
          </a:p>
          <a:p>
            <a:pPr marL="285750" indent="-285750">
              <a:buFont typeface="Arial" panose="020B0604020202020204" pitchFamily="34" charset="0"/>
              <a:buChar char="•"/>
            </a:pPr>
            <a:r>
              <a:rPr lang="en-US" dirty="0"/>
              <a:t>Relative change determined in proportion to parameter size</a:t>
            </a:r>
          </a:p>
          <a:p>
            <a:pPr marL="285750" indent="-285750">
              <a:buFont typeface="Arial" panose="020B0604020202020204" pitchFamily="34" charset="0"/>
              <a:buChar char="•"/>
            </a:pPr>
            <a:r>
              <a:rPr lang="en-US" dirty="0"/>
              <a:t>Can use simple calculus and algebra</a:t>
            </a:r>
          </a:p>
          <a:p>
            <a:r>
              <a:rPr lang="en-US" dirty="0"/>
              <a:t>Very useful metric to evaluate robustness of closed-loop control systems</a:t>
            </a:r>
          </a:p>
          <a:p>
            <a:pPr marL="285750" indent="-285750">
              <a:buFont typeface="Arial" panose="020B0604020202020204" pitchFamily="34" charset="0"/>
              <a:buChar char="•"/>
            </a:pPr>
            <a:r>
              <a:rPr lang="en-US" dirty="0"/>
              <a:t>Accounts for numerical stability issues like small-difference-of-large-numbers and division by small numbers</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54A0FE4-182F-50BD-EFF1-3F64465B626B}"/>
                  </a:ext>
                </a:extLst>
              </p:cNvPr>
              <p:cNvSpPr txBox="1"/>
              <p:nvPr/>
            </p:nvSpPr>
            <p:spPr>
              <a:xfrm>
                <a:off x="5656385" y="905136"/>
                <a:ext cx="2639633" cy="46783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600" b="0" i="1" smtClean="0">
                              <a:latin typeface="Cambria Math" panose="02040503050406030204" pitchFamily="18" charset="0"/>
                            </a:rPr>
                          </m:ctrlPr>
                        </m:sSubSupPr>
                        <m:e>
                          <m:r>
                            <a:rPr lang="en-US" sz="3600" b="0" i="1" smtClean="0">
                              <a:latin typeface="Cambria Math" panose="02040503050406030204" pitchFamily="18" charset="0"/>
                            </a:rPr>
                            <m:t>𝑆</m:t>
                          </m:r>
                        </m:e>
                        <m:sub>
                          <m:r>
                            <a:rPr lang="en-US" sz="3600" b="0" i="1" smtClean="0">
                              <a:latin typeface="Cambria Math" panose="02040503050406030204" pitchFamily="18" charset="0"/>
                            </a:rPr>
                            <m:t>𝐺</m:t>
                          </m:r>
                        </m:sub>
                        <m:sup>
                          <m:r>
                            <a:rPr lang="en-US" sz="3600" b="0" i="1" smtClean="0">
                              <a:latin typeface="Cambria Math" panose="02040503050406030204" pitchFamily="18" charset="0"/>
                            </a:rPr>
                            <m:t>𝑇</m:t>
                          </m:r>
                        </m:sup>
                      </m:sSubSup>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f>
                            <m:fPr>
                              <m:ctrlPr>
                                <a:rPr lang="en-US" sz="3600" b="0" i="1" smtClean="0">
                                  <a:latin typeface="Cambria Math" panose="02040503050406030204" pitchFamily="18" charset="0"/>
                                </a:rPr>
                              </m:ctrlPr>
                            </m:fPr>
                            <m:num>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𝑇</m:t>
                              </m:r>
                            </m:num>
                            <m:den>
                              <m:r>
                                <a:rPr lang="en-US" sz="3600" b="0" i="1" smtClean="0">
                                  <a:latin typeface="Cambria Math" panose="02040503050406030204" pitchFamily="18" charset="0"/>
                                </a:rPr>
                                <m:t>𝑇</m:t>
                              </m:r>
                            </m:den>
                          </m:f>
                        </m:num>
                        <m:den>
                          <m:f>
                            <m:fPr>
                              <m:ctrlPr>
                                <a:rPr lang="en-US" sz="3600" b="0" i="1" smtClean="0">
                                  <a:latin typeface="Cambria Math" panose="02040503050406030204" pitchFamily="18" charset="0"/>
                                </a:rPr>
                              </m:ctrlPr>
                            </m:fPr>
                            <m:num>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𝐺</m:t>
                              </m:r>
                            </m:num>
                            <m:den>
                              <m:r>
                                <a:rPr lang="en-US" sz="3600" b="0" i="1" smtClean="0">
                                  <a:latin typeface="Cambria Math" panose="02040503050406030204" pitchFamily="18" charset="0"/>
                                </a:rPr>
                                <m:t>𝐺</m:t>
                              </m:r>
                            </m:den>
                          </m:f>
                        </m:den>
                      </m:f>
                    </m:oMath>
                  </m:oMathPara>
                </a14:m>
                <a:endParaRPr lang="en-US" sz="3600" b="0" dirty="0"/>
              </a:p>
              <a:p>
                <a:endParaRPr lang="en-US" sz="2400" b="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Sup>
                        <m:sSubSupPr>
                          <m:ctrlPr>
                            <a:rPr lang="en-US" sz="3600" b="0" i="1" smtClean="0">
                              <a:latin typeface="Cambria Math" panose="02040503050406030204" pitchFamily="18" charset="0"/>
                            </a:rPr>
                          </m:ctrlPr>
                        </m:sSubSupPr>
                        <m:e>
                          <m:r>
                            <a:rPr lang="en-US" sz="3600" b="0" i="1" smtClean="0">
                              <a:latin typeface="Cambria Math" panose="02040503050406030204" pitchFamily="18" charset="0"/>
                            </a:rPr>
                            <m:t>𝑆</m:t>
                          </m:r>
                        </m:e>
                        <m:sub>
                          <m:r>
                            <a:rPr lang="en-US" sz="3600" b="0" i="1" smtClean="0">
                              <a:latin typeface="Cambria Math" panose="02040503050406030204" pitchFamily="18" charset="0"/>
                            </a:rPr>
                            <m:t>𝐺</m:t>
                          </m:r>
                        </m:sub>
                        <m:sup>
                          <m:r>
                            <a:rPr lang="en-US" sz="3600" b="0" i="1" smtClean="0">
                              <a:latin typeface="Cambria Math" panose="02040503050406030204" pitchFamily="18" charset="0"/>
                            </a:rPr>
                            <m:t>𝑇</m:t>
                          </m:r>
                        </m:sup>
                      </m:sSubSup>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𝑇</m:t>
                          </m:r>
                        </m:num>
                        <m:den>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𝐺</m:t>
                          </m:r>
                        </m:den>
                      </m:f>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𝐺</m:t>
                          </m:r>
                        </m:num>
                        <m:den>
                          <m:r>
                            <a:rPr lang="en-US" sz="3600" b="0" i="1" smtClean="0">
                              <a:latin typeface="Cambria Math" panose="02040503050406030204" pitchFamily="18" charset="0"/>
                            </a:rPr>
                            <m:t>𝑇</m:t>
                          </m:r>
                        </m:den>
                      </m:f>
                    </m:oMath>
                  </m:oMathPara>
                </a14:m>
                <a:endParaRPr lang="en-US" sz="3600" b="0" dirty="0"/>
              </a:p>
              <a:p>
                <a:endParaRPr lang="en-US" sz="24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Sup>
                        <m:sSubSupPr>
                          <m:ctrlPr>
                            <a:rPr lang="en-US" sz="3600" i="1">
                              <a:latin typeface="Cambria Math" panose="02040503050406030204" pitchFamily="18" charset="0"/>
                            </a:rPr>
                          </m:ctrlPr>
                        </m:sSubSupPr>
                        <m:e>
                          <m:r>
                            <a:rPr lang="en-US" sz="3600" i="1">
                              <a:latin typeface="Cambria Math" panose="02040503050406030204" pitchFamily="18" charset="0"/>
                            </a:rPr>
                            <m:t>𝑆</m:t>
                          </m:r>
                        </m:e>
                        <m:sub>
                          <m:r>
                            <a:rPr lang="en-US" sz="3600" i="1">
                              <a:latin typeface="Cambria Math" panose="02040503050406030204" pitchFamily="18" charset="0"/>
                            </a:rPr>
                            <m:t>𝐺</m:t>
                          </m:r>
                        </m:sub>
                        <m:sup>
                          <m:r>
                            <a:rPr lang="en-US" sz="3600" i="1">
                              <a:latin typeface="Cambria Math" panose="02040503050406030204" pitchFamily="18" charset="0"/>
                            </a:rPr>
                            <m:t>𝑇</m:t>
                          </m:r>
                        </m:sup>
                      </m:sSubSup>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𝑑𝑇</m:t>
                          </m:r>
                        </m:num>
                        <m:den>
                          <m:r>
                            <a:rPr lang="en-US" sz="3600" b="0" i="1" smtClean="0">
                              <a:latin typeface="Cambria Math" panose="02040503050406030204" pitchFamily="18" charset="0"/>
                            </a:rPr>
                            <m:t>𝑑𝐺</m:t>
                          </m:r>
                        </m:den>
                      </m:f>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𝐺</m:t>
                          </m:r>
                        </m:num>
                        <m:den>
                          <m:r>
                            <a:rPr lang="en-US" sz="3600" b="0" i="1" smtClean="0">
                              <a:latin typeface="Cambria Math" panose="02040503050406030204" pitchFamily="18" charset="0"/>
                            </a:rPr>
                            <m:t>𝑇</m:t>
                          </m:r>
                        </m:den>
                      </m:f>
                    </m:oMath>
                  </m:oMathPara>
                </a14:m>
                <a:endParaRPr lang="en-US" sz="3600" dirty="0"/>
              </a:p>
            </p:txBody>
          </p:sp>
        </mc:Choice>
        <mc:Fallback xmlns="">
          <p:sp>
            <p:nvSpPr>
              <p:cNvPr id="3" name="TextBox 2">
                <a:extLst>
                  <a:ext uri="{FF2B5EF4-FFF2-40B4-BE49-F238E27FC236}">
                    <a16:creationId xmlns:a16="http://schemas.microsoft.com/office/drawing/2014/main" id="{954A0FE4-182F-50BD-EFF1-3F64465B626B}"/>
                  </a:ext>
                </a:extLst>
              </p:cNvPr>
              <p:cNvSpPr txBox="1">
                <a:spLocks noRot="1" noChangeAspect="1" noMove="1" noResize="1" noEditPoints="1" noAdjustHandles="1" noChangeArrowheads="1" noChangeShapeType="1" noTextEdit="1"/>
              </p:cNvSpPr>
              <p:nvPr/>
            </p:nvSpPr>
            <p:spPr>
              <a:xfrm>
                <a:off x="5656385" y="905136"/>
                <a:ext cx="2639633" cy="4678397"/>
              </a:xfrm>
              <a:prstGeom prst="rect">
                <a:avLst/>
              </a:prstGeom>
              <a:blipFill>
                <a:blip r:embed="rId2"/>
                <a:stretch>
                  <a:fillRect/>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57817604-C21E-2196-5283-A8A5C3854317}"/>
              </a:ext>
            </a:extLst>
          </p:cNvPr>
          <p:cNvSpPr txBox="1"/>
          <p:nvPr/>
        </p:nvSpPr>
        <p:spPr>
          <a:xfrm>
            <a:off x="8822683" y="1457235"/>
            <a:ext cx="2409491" cy="1200329"/>
          </a:xfrm>
          <a:prstGeom prst="rect">
            <a:avLst/>
          </a:prstGeom>
          <a:noFill/>
        </p:spPr>
        <p:txBody>
          <a:bodyPr wrap="square" rtlCol="0">
            <a:spAutoFit/>
          </a:bodyPr>
          <a:lstStyle/>
          <a:p>
            <a:r>
              <a:rPr lang="en-US" sz="3600" dirty="0"/>
              <a:t>“Sensitivity of T to 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F43BB62-3D35-F3FD-2600-0126311C1A7D}"/>
                  </a:ext>
                </a:extLst>
              </p:cNvPr>
              <p:cNvSpPr txBox="1"/>
              <p:nvPr/>
            </p:nvSpPr>
            <p:spPr>
              <a:xfrm>
                <a:off x="8695393" y="3644412"/>
                <a:ext cx="2664069" cy="1200329"/>
              </a:xfrm>
              <a:prstGeom prst="rect">
                <a:avLst/>
              </a:prstGeom>
              <a:noFill/>
              <a:ln>
                <a:solidFill>
                  <a:schemeClr val="tx1"/>
                </a:solidFill>
              </a:ln>
            </p:spPr>
            <p:txBody>
              <a:bodyPr wrap="square" rtlCol="0">
                <a:spAutoFit/>
              </a:bodyPr>
              <a:lstStyle/>
              <a:p>
                <a:r>
                  <a:rPr lang="en-US" dirty="0"/>
                  <a:t>Can be done relative to the entire plant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or to specific parameters in the closed-loop system</a:t>
                </a:r>
              </a:p>
            </p:txBody>
          </p:sp>
        </mc:Choice>
        <mc:Fallback xmlns="">
          <p:sp>
            <p:nvSpPr>
              <p:cNvPr id="7" name="TextBox 6">
                <a:extLst>
                  <a:ext uri="{FF2B5EF4-FFF2-40B4-BE49-F238E27FC236}">
                    <a16:creationId xmlns:a16="http://schemas.microsoft.com/office/drawing/2014/main" id="{FF43BB62-3D35-F3FD-2600-0126311C1A7D}"/>
                  </a:ext>
                </a:extLst>
              </p:cNvPr>
              <p:cNvSpPr txBox="1">
                <a:spLocks noRot="1" noChangeAspect="1" noMove="1" noResize="1" noEditPoints="1" noAdjustHandles="1" noChangeArrowheads="1" noChangeShapeType="1" noTextEdit="1"/>
              </p:cNvSpPr>
              <p:nvPr/>
            </p:nvSpPr>
            <p:spPr>
              <a:xfrm>
                <a:off x="8695393" y="3644412"/>
                <a:ext cx="2664069" cy="1200329"/>
              </a:xfrm>
              <a:prstGeom prst="rect">
                <a:avLst/>
              </a:prstGeom>
              <a:blipFill>
                <a:blip r:embed="rId3"/>
                <a:stretch>
                  <a:fillRect l="-1595" t="-2010" r="-1595" b="-7035"/>
                </a:stretch>
              </a:blipFill>
              <a:ln>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34940411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15647E8-D01B-281C-8874-A75244FA0AD1}"/>
              </a:ext>
            </a:extLst>
          </p:cNvPr>
          <p:cNvSpPr>
            <a:spLocks noGrp="1"/>
          </p:cNvSpPr>
          <p:nvPr>
            <p:ph type="title"/>
          </p:nvPr>
        </p:nvSpPr>
        <p:spPr/>
        <p:txBody>
          <a:bodyPr/>
          <a:lstStyle/>
          <a:p>
            <a:r>
              <a:rPr lang="en-US" dirty="0"/>
              <a:t>Sensitivity</a:t>
            </a:r>
          </a:p>
        </p:txBody>
      </p:sp>
      <p:sp>
        <p:nvSpPr>
          <p:cNvPr id="2" name="TextBox 1">
            <a:extLst>
              <a:ext uri="{FF2B5EF4-FFF2-40B4-BE49-F238E27FC236}">
                <a16:creationId xmlns:a16="http://schemas.microsoft.com/office/drawing/2014/main" id="{5D260C9A-99D7-DD80-1DC0-1A1F58A5D09E}"/>
              </a:ext>
            </a:extLst>
          </p:cNvPr>
          <p:cNvSpPr txBox="1"/>
          <p:nvPr/>
        </p:nvSpPr>
        <p:spPr>
          <a:xfrm>
            <a:off x="5637276" y="2971800"/>
            <a:ext cx="65" cy="276999"/>
          </a:xfrm>
          <a:prstGeom prst="rect">
            <a:avLst/>
          </a:prstGeom>
          <a:noFill/>
        </p:spPr>
        <p:txBody>
          <a:bodyPr wrap="none" lIns="0" tIns="0" rIns="0" bIns="0" rtlCol="0">
            <a:spAutoFit/>
          </a:bodyPr>
          <a:lstStyle/>
          <a:p>
            <a:endParaRPr 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9A7CD1F-D119-28C8-0094-4E82911D867E}"/>
                  </a:ext>
                </a:extLst>
              </p:cNvPr>
              <p:cNvSpPr txBox="1"/>
              <p:nvPr/>
            </p:nvSpPr>
            <p:spPr>
              <a:xfrm>
                <a:off x="-1003554" y="1546987"/>
                <a:ext cx="6243066" cy="284962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𝑆</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sub>
                        <m:sup>
                          <m:r>
                            <a:rPr lang="en-US" sz="2400" b="0" i="1" smtClean="0">
                              <a:latin typeface="Cambria Math" panose="02040503050406030204" pitchFamily="18" charset="0"/>
                            </a:rPr>
                            <m:t>𝑇</m:t>
                          </m:r>
                        </m:sup>
                      </m:sSub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r>
                            <a:rPr lang="en-US" sz="2400" b="0" i="1" smtClean="0">
                              <a:latin typeface="Cambria Math" panose="02040503050406030204" pitchFamily="18" charset="0"/>
                            </a:rPr>
                            <m:t>𝐷</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ParaPr>
                      <m:jc m:val="centerGroup"/>
                    </m:oMathParaPr>
                    <m:oMath xmlns:m="http://schemas.openxmlformats.org/officeDocument/2006/math">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𝑆</m:t>
                          </m:r>
                        </m:e>
                        <m:sub>
                          <m:r>
                            <a:rPr lang="en-US" sz="2400" b="0" i="1" smtClean="0">
                              <a:latin typeface="Cambria Math" panose="02040503050406030204" pitchFamily="18" charset="0"/>
                            </a:rPr>
                            <m:t>𝑅</m:t>
                          </m:r>
                        </m:sub>
                        <m:sup>
                          <m:r>
                            <a:rPr lang="en-US" sz="2400" b="0" i="1" smtClean="0">
                              <a:latin typeface="Cambria Math" panose="02040503050406030204" pitchFamily="18" charset="0"/>
                            </a:rPr>
                            <m:t>𝑇</m:t>
                          </m:r>
                        </m:sup>
                      </m:sSub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𝑅</m:t>
                          </m:r>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r>
                            <a:rPr lang="en-US" sz="2400" b="0" i="1" smtClean="0">
                              <a:latin typeface="Cambria Math" panose="02040503050406030204" pitchFamily="18" charset="0"/>
                            </a:rPr>
                            <m:t>𝐷</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ParaPr>
                      <m:jc m:val="centerGroup"/>
                    </m:oMathParaPr>
                    <m:oMath xmlns:m="http://schemas.openxmlformats.org/officeDocument/2006/math">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𝑆</m:t>
                          </m:r>
                        </m:e>
                        <m:sub>
                          <m:r>
                            <a:rPr lang="en-US" sz="2400" b="0" i="1" smtClean="0">
                              <a:latin typeface="Cambria Math" panose="02040503050406030204" pitchFamily="18" charset="0"/>
                            </a:rPr>
                            <m:t>𝐿</m:t>
                          </m:r>
                        </m:sub>
                        <m:sup>
                          <m:r>
                            <a:rPr lang="en-US" sz="2400" b="0" i="1" smtClean="0">
                              <a:latin typeface="Cambria Math" panose="02040503050406030204" pitchFamily="18" charset="0"/>
                            </a:rPr>
                            <m:t>𝑇</m:t>
                          </m:r>
                        </m:sup>
                      </m:sSub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𝑠𝐿</m:t>
                          </m:r>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r>
                            <a:rPr lang="en-US" sz="2400" b="0" i="1" smtClean="0">
                              <a:latin typeface="Cambria Math" panose="02040503050406030204" pitchFamily="18" charset="0"/>
                            </a:rPr>
                            <m:t>𝐷</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endParaRPr lang="en-US" sz="2400" dirty="0"/>
              </a:p>
            </p:txBody>
          </p:sp>
        </mc:Choice>
        <mc:Fallback xmlns="">
          <p:sp>
            <p:nvSpPr>
              <p:cNvPr id="4" name="TextBox 3">
                <a:extLst>
                  <a:ext uri="{FF2B5EF4-FFF2-40B4-BE49-F238E27FC236}">
                    <a16:creationId xmlns:a16="http://schemas.microsoft.com/office/drawing/2014/main" id="{D9A7CD1F-D119-28C8-0094-4E82911D867E}"/>
                  </a:ext>
                </a:extLst>
              </p:cNvPr>
              <p:cNvSpPr txBox="1">
                <a:spLocks noRot="1" noChangeAspect="1" noMove="1" noResize="1" noEditPoints="1" noAdjustHandles="1" noChangeArrowheads="1" noChangeShapeType="1" noTextEdit="1"/>
              </p:cNvSpPr>
              <p:nvPr/>
            </p:nvSpPr>
            <p:spPr>
              <a:xfrm>
                <a:off x="-1003554" y="1546987"/>
                <a:ext cx="6243066" cy="284962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5681706-545C-F9C4-0738-F05EF11F5B56}"/>
                  </a:ext>
                </a:extLst>
              </p:cNvPr>
              <p:cNvSpPr txBox="1"/>
              <p:nvPr/>
            </p:nvSpPr>
            <p:spPr>
              <a:xfrm>
                <a:off x="838200" y="4330360"/>
                <a:ext cx="1395603" cy="196130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𝑅</m:t>
                          </m:r>
                        </m:num>
                        <m:den>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𝑖</m:t>
                              </m:r>
                            </m:sub>
                          </m:s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𝑅</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𝑅</m:t>
                          </m:r>
                        </m:num>
                        <m:den>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𝑖</m:t>
                              </m:r>
                            </m:sub>
                          </m:s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𝐿</m:t>
                          </m:r>
                        </m:sub>
                      </m:sSub>
                      <m:r>
                        <a:rPr lang="en-US" sz="2400" b="0" i="1" smtClean="0">
                          <a:latin typeface="Cambria Math" panose="02040503050406030204" pitchFamily="18" charset="0"/>
                        </a:rPr>
                        <m:t>=0</m:t>
                      </m:r>
                    </m:oMath>
                  </m:oMathPara>
                </a14:m>
                <a:endParaRPr lang="en-US" sz="2400" b="0" dirty="0"/>
              </a:p>
            </p:txBody>
          </p:sp>
        </mc:Choice>
        <mc:Fallback xmlns="">
          <p:sp>
            <p:nvSpPr>
              <p:cNvPr id="6" name="TextBox 5">
                <a:extLst>
                  <a:ext uri="{FF2B5EF4-FFF2-40B4-BE49-F238E27FC236}">
                    <a16:creationId xmlns:a16="http://schemas.microsoft.com/office/drawing/2014/main" id="{25681706-545C-F9C4-0738-F05EF11F5B56}"/>
                  </a:ext>
                </a:extLst>
              </p:cNvPr>
              <p:cNvSpPr txBox="1">
                <a:spLocks noRot="1" noChangeAspect="1" noMove="1" noResize="1" noEditPoints="1" noAdjustHandles="1" noChangeArrowheads="1" noChangeShapeType="1" noTextEdit="1"/>
              </p:cNvSpPr>
              <p:nvPr/>
            </p:nvSpPr>
            <p:spPr>
              <a:xfrm>
                <a:off x="838200" y="4330360"/>
                <a:ext cx="1395603" cy="1961306"/>
              </a:xfrm>
              <a:prstGeom prst="rect">
                <a:avLst/>
              </a:prstGeom>
              <a:blipFill>
                <a:blip r:embed="rId3"/>
                <a:stretch>
                  <a:fillRect b="-15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45B785C-3E7E-47DB-B436-8AAC17C038FE}"/>
                  </a:ext>
                </a:extLst>
              </p:cNvPr>
              <p:cNvSpPr txBox="1"/>
              <p:nvPr/>
            </p:nvSpPr>
            <p:spPr>
              <a:xfrm>
                <a:off x="5637276" y="1690688"/>
                <a:ext cx="1957715" cy="22745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𝑅</m:t>
                      </m:r>
                      <m:r>
                        <a:rPr lang="en-US" sz="2400" b="0" i="1" smtClean="0">
                          <a:latin typeface="Cambria Math" panose="02040503050406030204" pitchFamily="18" charset="0"/>
                        </a:rPr>
                        <m:t>=0.08233</m:t>
                      </m:r>
                      <m:r>
                        <m:rPr>
                          <m:sty m:val="p"/>
                        </m:rPr>
                        <a:rPr lang="el-GR" sz="2400" b="0" i="1" smtClean="0">
                          <a:latin typeface="Cambria Math" panose="02040503050406030204" pitchFamily="18" charset="0"/>
                          <a:ea typeface="Cambria Math" panose="02040503050406030204" pitchFamily="18" charset="0"/>
                        </a:rPr>
                        <m:t>Ω</m:t>
                      </m:r>
                    </m:oMath>
                  </m:oMathPara>
                </a14:m>
                <a:endParaRPr lang="en-US" sz="2400" b="0"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r>
                        <a:rPr lang="en-US" sz="2400" b="0" i="1" smtClean="0">
                          <a:latin typeface="Cambria Math" panose="02040503050406030204" pitchFamily="18" charset="0"/>
                        </a:rPr>
                        <m:t>=24</m:t>
                      </m:r>
                      <m:r>
                        <a:rPr lang="en-US" sz="2400" b="0" i="1" smtClean="0">
                          <a:latin typeface="Cambria Math" panose="02040503050406030204" pitchFamily="18" charset="0"/>
                        </a:rPr>
                        <m:t>𝑉</m:t>
                      </m:r>
                    </m:oMath>
                  </m:oMathPara>
                </a14:m>
                <a:endParaRPr lang="en-US" sz="2400" b="0" dirty="0"/>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𝐿</m:t>
                      </m:r>
                      <m:r>
                        <a:rPr lang="en-US" sz="2400" b="0" i="1" smtClean="0">
                          <a:latin typeface="Cambria Math" panose="02040503050406030204" pitchFamily="18" charset="0"/>
                        </a:rPr>
                        <m:t>=28.306</m:t>
                      </m:r>
                      <m:r>
                        <a:rPr lang="en-US" sz="2400" b="0" i="1" smtClean="0">
                          <a:latin typeface="Cambria Math" panose="02040503050406030204" pitchFamily="18" charset="0"/>
                          <a:ea typeface="Cambria Math" panose="02040503050406030204" pitchFamily="18" charset="0"/>
                        </a:rPr>
                        <m:t>𝜇</m:t>
                      </m:r>
                      <m:r>
                        <a:rPr lang="en-US" sz="2400" b="0" i="1" smtClean="0">
                          <a:latin typeface="Cambria Math" panose="02040503050406030204" pitchFamily="18" charset="0"/>
                          <a:ea typeface="Cambria Math" panose="02040503050406030204" pitchFamily="18" charset="0"/>
                        </a:rPr>
                        <m:t>𝐹</m:t>
                      </m:r>
                    </m:oMath>
                  </m:oMathPara>
                </a14:m>
                <a:endParaRPr lang="en-US" sz="2400" b="0"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𝑝</m:t>
                          </m:r>
                        </m:sub>
                      </m:sSub>
                      <m:r>
                        <a:rPr lang="en-US" sz="2400" b="0" i="1" smtClean="0">
                          <a:latin typeface="Cambria Math" panose="02040503050406030204" pitchFamily="18" charset="0"/>
                        </a:rPr>
                        <m:t>=2.13422</m:t>
                      </m:r>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=6207.54</m:t>
                      </m:r>
                    </m:oMath>
                  </m:oMathPara>
                </a14:m>
                <a:endParaRPr lang="en-US" sz="2400" b="0" dirty="0"/>
              </a:p>
              <a:p>
                <a:endParaRPr lang="en-US" sz="2400" dirty="0"/>
              </a:p>
            </p:txBody>
          </p:sp>
        </mc:Choice>
        <mc:Fallback xmlns="">
          <p:sp>
            <p:nvSpPr>
              <p:cNvPr id="7" name="TextBox 6">
                <a:extLst>
                  <a:ext uri="{FF2B5EF4-FFF2-40B4-BE49-F238E27FC236}">
                    <a16:creationId xmlns:a16="http://schemas.microsoft.com/office/drawing/2014/main" id="{B45B785C-3E7E-47DB-B436-8AAC17C038FE}"/>
                  </a:ext>
                </a:extLst>
              </p:cNvPr>
              <p:cNvSpPr txBox="1">
                <a:spLocks noRot="1" noChangeAspect="1" noMove="1" noResize="1" noEditPoints="1" noAdjustHandles="1" noChangeArrowheads="1" noChangeShapeType="1" noTextEdit="1"/>
              </p:cNvSpPr>
              <p:nvPr/>
            </p:nvSpPr>
            <p:spPr>
              <a:xfrm>
                <a:off x="5637276" y="1690688"/>
                <a:ext cx="1957715" cy="2274597"/>
              </a:xfrm>
              <a:prstGeom prst="rect">
                <a:avLst/>
              </a:prstGeom>
              <a:blipFill>
                <a:blip r:embed="rId4"/>
                <a:stretch>
                  <a:fillRect l="-3427" r="-3427"/>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11A48824-CAE8-9513-0163-F478020AC08D}"/>
              </a:ext>
            </a:extLst>
          </p:cNvPr>
          <p:cNvSpPr txBox="1"/>
          <p:nvPr/>
        </p:nvSpPr>
        <p:spPr>
          <a:xfrm>
            <a:off x="5134356" y="2971800"/>
            <a:ext cx="65" cy="276999"/>
          </a:xfrm>
          <a:prstGeom prst="rect">
            <a:avLst/>
          </a:prstGeom>
          <a:noFill/>
        </p:spPr>
        <p:txBody>
          <a:bodyPr wrap="none" lIns="0" tIns="0" rIns="0" bIns="0" rtlCol="0">
            <a:spAutoFit/>
          </a:bodyPr>
          <a:lstStyle/>
          <a:p>
            <a:endParaRPr lang="en-US"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394ADEE-F7B5-EAFC-D0F3-8DD32E5FD6A5}"/>
                  </a:ext>
                </a:extLst>
              </p:cNvPr>
              <p:cNvSpPr txBox="1"/>
              <p:nvPr/>
            </p:nvSpPr>
            <p:spPr>
              <a:xfrm>
                <a:off x="3425381" y="4330360"/>
                <a:ext cx="6633972" cy="164865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sub>
                      </m:sSub>
                      <m:r>
                        <a:rPr lang="en-US" sz="2400" b="0" i="1" smtClean="0">
                          <a:latin typeface="Cambria Math" panose="02040503050406030204" pitchFamily="18" charset="0"/>
                        </a:rPr>
                        <m:t>=0.55262∗</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−6</m:t>
                          </m:r>
                        </m:sup>
                      </m:sSup>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𝑅</m:t>
                          </m:r>
                        </m:sub>
                      </m:sSub>
                      <m:r>
                        <a:rPr lang="en-US" sz="2400" b="0" i="1" smtClean="0">
                          <a:latin typeface="Cambria Math" panose="02040503050406030204" pitchFamily="18" charset="0"/>
                        </a:rPr>
                        <m:t>=0.55262∗</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−6</m:t>
                          </m:r>
                        </m:sup>
                      </m:sSup>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𝐿</m:t>
                          </m:r>
                        </m:sub>
                      </m:sSub>
                      <m:r>
                        <a:rPr lang="en-US" sz="2400" b="0" i="1" smtClean="0">
                          <a:latin typeface="Cambria Math" panose="02040503050406030204" pitchFamily="18" charset="0"/>
                        </a:rPr>
                        <m:t>=0</m:t>
                      </m:r>
                    </m:oMath>
                  </m:oMathPara>
                </a14:m>
                <a:endParaRPr lang="en-US" sz="2400" b="0" dirty="0"/>
              </a:p>
              <a:p>
                <a:endParaRPr lang="en-US" sz="2400" dirty="0"/>
              </a:p>
            </p:txBody>
          </p:sp>
        </mc:Choice>
        <mc:Fallback xmlns="">
          <p:sp>
            <p:nvSpPr>
              <p:cNvPr id="10" name="TextBox 9">
                <a:extLst>
                  <a:ext uri="{FF2B5EF4-FFF2-40B4-BE49-F238E27FC236}">
                    <a16:creationId xmlns:a16="http://schemas.microsoft.com/office/drawing/2014/main" id="{0394ADEE-F7B5-EAFC-D0F3-8DD32E5FD6A5}"/>
                  </a:ext>
                </a:extLst>
              </p:cNvPr>
              <p:cNvSpPr txBox="1">
                <a:spLocks noRot="1" noChangeAspect="1" noMove="1" noResize="1" noEditPoints="1" noAdjustHandles="1" noChangeArrowheads="1" noChangeShapeType="1" noTextEdit="1"/>
              </p:cNvSpPr>
              <p:nvPr/>
            </p:nvSpPr>
            <p:spPr>
              <a:xfrm>
                <a:off x="3425381" y="4330360"/>
                <a:ext cx="6633972" cy="1648656"/>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7820437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4">
            <a:extLst>
              <a:ext uri="{FF2B5EF4-FFF2-40B4-BE49-F238E27FC236}">
                <a16:creationId xmlns:a16="http://schemas.microsoft.com/office/drawing/2014/main" id="{DE4739F1-6FA1-044B-350E-5337769C1EA3}"/>
              </a:ext>
            </a:extLst>
          </p:cNvPr>
          <p:cNvSpPr>
            <a:spLocks noGrp="1"/>
          </p:cNvSpPr>
          <p:nvPr>
            <p:ph type="title"/>
          </p:nvPr>
        </p:nvSpPr>
        <p:spPr>
          <a:xfrm>
            <a:off x="838200" y="365125"/>
            <a:ext cx="10515600" cy="1325563"/>
          </a:xfrm>
        </p:spPr>
        <p:txBody>
          <a:bodyPr/>
          <a:lstStyle/>
          <a:p>
            <a:r>
              <a:rPr lang="en-US" dirty="0"/>
              <a:t>Sensor White Noise Noise</a:t>
            </a:r>
          </a:p>
        </p:txBody>
      </p:sp>
      <p:sp>
        <p:nvSpPr>
          <p:cNvPr id="4" name="TextBox 3">
            <a:extLst>
              <a:ext uri="{FF2B5EF4-FFF2-40B4-BE49-F238E27FC236}">
                <a16:creationId xmlns:a16="http://schemas.microsoft.com/office/drawing/2014/main" id="{019A21D5-DEBD-8323-DAE5-52F324203A55}"/>
              </a:ext>
            </a:extLst>
          </p:cNvPr>
          <p:cNvSpPr txBox="1"/>
          <p:nvPr/>
        </p:nvSpPr>
        <p:spPr>
          <a:xfrm>
            <a:off x="838200" y="1472184"/>
            <a:ext cx="5824728" cy="646331"/>
          </a:xfrm>
          <a:prstGeom prst="rect">
            <a:avLst/>
          </a:prstGeom>
          <a:noFill/>
        </p:spPr>
        <p:txBody>
          <a:bodyPr wrap="square" rtlCol="0">
            <a:spAutoFit/>
          </a:bodyPr>
          <a:lstStyle/>
          <a:p>
            <a:r>
              <a:rPr lang="en-US" dirty="0"/>
              <a:t>It was empirically found that the MSPM0-G3507 12-bit ADC’s error has SD of 14 (decimal).</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C19354B-340F-BB69-2C4A-4EF8E4414CA4}"/>
                  </a:ext>
                </a:extLst>
              </p:cNvPr>
              <p:cNvSpPr txBox="1"/>
              <p:nvPr/>
            </p:nvSpPr>
            <p:spPr>
              <a:xfrm>
                <a:off x="838200" y="2118515"/>
                <a:ext cx="4950330" cy="75866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𝑆</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𝐷</m:t>
                              </m:r>
                            </m:e>
                            <m:sub>
                              <m:r>
                                <a:rPr lang="en-US" sz="2400" b="0" i="1" smtClean="0">
                                  <a:latin typeface="Cambria Math" panose="02040503050406030204" pitchFamily="18" charset="0"/>
                                </a:rPr>
                                <m:t>𝐸</m:t>
                              </m:r>
                            </m:sub>
                          </m:sSub>
                        </m:e>
                        <m:sub>
                          <m:r>
                            <a:rPr lang="en-US" sz="2400" b="0" i="1" smtClean="0">
                              <a:latin typeface="Cambria Math" panose="02040503050406030204" pitchFamily="18" charset="0"/>
                            </a:rPr>
                            <m:t>𝑟𝑒𝑎𝑑𝑖𝑛𝑔</m:t>
                          </m:r>
                          <m:r>
                            <a:rPr lang="en-US" sz="2400" b="0" i="1" smtClean="0">
                              <a:latin typeface="Cambria Math" panose="02040503050406030204" pitchFamily="18" charset="0"/>
                            </a:rPr>
                            <m:t> </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𝑔𝑎𝑖</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𝑛</m:t>
                              </m:r>
                            </m:e>
                            <m:sub>
                              <m:r>
                                <a:rPr lang="en-US" sz="2400" b="0" i="1" smtClean="0">
                                  <a:latin typeface="Cambria Math" panose="02040503050406030204" pitchFamily="18" charset="0"/>
                                </a:rPr>
                                <m:t>𝑠𝑒𝑛𝑠𝑜𝑟</m:t>
                              </m:r>
                            </m:sub>
                          </m:sSub>
                        </m:den>
                      </m:f>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3.3</m:t>
                          </m:r>
                        </m:num>
                        <m:den>
                          <m:r>
                            <a:rPr lang="en-US" sz="2400" b="0" i="1" smtClean="0">
                              <a:latin typeface="Cambria Math" panose="02040503050406030204" pitchFamily="18" charset="0"/>
                            </a:rPr>
                            <m:t>4095</m:t>
                          </m:r>
                        </m:den>
                      </m:f>
                      <m:r>
                        <a:rPr lang="en-US" sz="2400" b="0" i="1" smtClean="0">
                          <a:latin typeface="Cambria Math" panose="02040503050406030204" pitchFamily="18" charset="0"/>
                        </a:rPr>
                        <m:t>∗14</m:t>
                      </m:r>
                    </m:oMath>
                  </m:oMathPara>
                </a14:m>
                <a:endParaRPr lang="en-US" sz="2400" dirty="0"/>
              </a:p>
            </p:txBody>
          </p:sp>
        </mc:Choice>
        <mc:Fallback xmlns="">
          <p:sp>
            <p:nvSpPr>
              <p:cNvPr id="5" name="TextBox 4">
                <a:extLst>
                  <a:ext uri="{FF2B5EF4-FFF2-40B4-BE49-F238E27FC236}">
                    <a16:creationId xmlns:a16="http://schemas.microsoft.com/office/drawing/2014/main" id="{1C19354B-340F-BB69-2C4A-4EF8E4414CA4}"/>
                  </a:ext>
                </a:extLst>
              </p:cNvPr>
              <p:cNvSpPr txBox="1">
                <a:spLocks noRot="1" noChangeAspect="1" noMove="1" noResize="1" noEditPoints="1" noAdjustHandles="1" noChangeArrowheads="1" noChangeShapeType="1" noTextEdit="1"/>
              </p:cNvSpPr>
              <p:nvPr/>
            </p:nvSpPr>
            <p:spPr>
              <a:xfrm>
                <a:off x="838200" y="2118515"/>
                <a:ext cx="4950330" cy="758669"/>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8867713-DE91-A761-1995-ECF1F8329426}"/>
                  </a:ext>
                </a:extLst>
              </p:cNvPr>
              <p:cNvSpPr txBox="1"/>
              <p:nvPr/>
            </p:nvSpPr>
            <p:spPr>
              <a:xfrm>
                <a:off x="928116" y="3529584"/>
                <a:ext cx="4452309" cy="5204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𝑖</m:t>
                              </m:r>
                              <m:r>
                                <a:rPr lang="en-US" b="0" i="1" smtClean="0">
                                  <a:latin typeface="Cambria Math" panose="02040503050406030204" pitchFamily="18" charset="0"/>
                                </a:rPr>
                                <m:t>, </m:t>
                              </m:r>
                              <m:r>
                                <a:rPr lang="en-US" b="0" i="1" smtClean="0">
                                  <a:latin typeface="Cambria Math" panose="02040503050406030204" pitchFamily="18" charset="0"/>
                                </a:rPr>
                                <m:t>𝐼𝑛𝑑𝑢𝑐𝑡𝑜𝑟</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1000 </m:t>
                          </m:r>
                          <m:r>
                            <a:rPr lang="en-US" b="0" i="1" smtClean="0">
                              <a:latin typeface="Cambria Math" panose="02040503050406030204" pitchFamily="18" charset="0"/>
                            </a:rPr>
                            <m:t>𝐴</m:t>
                          </m:r>
                        </m:num>
                        <m:den>
                          <m:r>
                            <a:rPr lang="en-US" b="0" i="1" smtClean="0">
                              <a:latin typeface="Cambria Math" panose="02040503050406030204" pitchFamily="18" charset="0"/>
                            </a:rPr>
                            <m:t>80 </m:t>
                          </m:r>
                          <m:r>
                            <a:rPr lang="en-US" b="0" i="1" smtClean="0">
                              <a:latin typeface="Cambria Math" panose="02040503050406030204" pitchFamily="18" charset="0"/>
                            </a:rPr>
                            <m:t>𝑉</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3.3 </m:t>
                          </m:r>
                          <m:r>
                            <a:rPr lang="en-US" b="0" i="1" smtClean="0">
                              <a:latin typeface="Cambria Math" panose="02040503050406030204" pitchFamily="18" charset="0"/>
                            </a:rPr>
                            <m:t>𝑉</m:t>
                          </m:r>
                        </m:num>
                        <m:den>
                          <m:r>
                            <a:rPr lang="en-US" b="0" i="1" smtClean="0">
                              <a:latin typeface="Cambria Math" panose="02040503050406030204" pitchFamily="18" charset="0"/>
                            </a:rPr>
                            <m:t>4095</m:t>
                          </m:r>
                        </m:den>
                      </m:f>
                      <m:r>
                        <a:rPr lang="en-US" b="0" i="1" smtClean="0">
                          <a:latin typeface="Cambria Math" panose="02040503050406030204" pitchFamily="18" charset="0"/>
                        </a:rPr>
                        <m:t>∗14=0.141 </m:t>
                      </m:r>
                      <m:r>
                        <a:rPr lang="en-US" b="0" i="1" smtClean="0">
                          <a:latin typeface="Cambria Math" panose="02040503050406030204" pitchFamily="18" charset="0"/>
                        </a:rPr>
                        <m:t>𝐴</m:t>
                      </m:r>
                    </m:oMath>
                  </m:oMathPara>
                </a14:m>
                <a:endParaRPr lang="en-US" dirty="0"/>
              </a:p>
            </p:txBody>
          </p:sp>
        </mc:Choice>
        <mc:Fallback xmlns="">
          <p:sp>
            <p:nvSpPr>
              <p:cNvPr id="6" name="TextBox 5">
                <a:extLst>
                  <a:ext uri="{FF2B5EF4-FFF2-40B4-BE49-F238E27FC236}">
                    <a16:creationId xmlns:a16="http://schemas.microsoft.com/office/drawing/2014/main" id="{18867713-DE91-A761-1995-ECF1F8329426}"/>
                  </a:ext>
                </a:extLst>
              </p:cNvPr>
              <p:cNvSpPr txBox="1">
                <a:spLocks noRot="1" noChangeAspect="1" noMove="1" noResize="1" noEditPoints="1" noAdjustHandles="1" noChangeArrowheads="1" noChangeShapeType="1" noTextEdit="1"/>
              </p:cNvSpPr>
              <p:nvPr/>
            </p:nvSpPr>
            <p:spPr>
              <a:xfrm>
                <a:off x="928116" y="3529584"/>
                <a:ext cx="4452309" cy="52046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3E622B5-E517-13D6-2F2A-3D05F0662FF9}"/>
                  </a:ext>
                </a:extLst>
              </p:cNvPr>
              <p:cNvSpPr txBox="1"/>
              <p:nvPr/>
            </p:nvSpPr>
            <p:spPr>
              <a:xfrm>
                <a:off x="928116" y="4181984"/>
                <a:ext cx="4508414" cy="5204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𝑖</m:t>
                              </m:r>
                              <m:r>
                                <a:rPr lang="en-US" b="0" i="1" smtClean="0">
                                  <a:latin typeface="Cambria Math" panose="02040503050406030204" pitchFamily="18" charset="0"/>
                                </a:rPr>
                                <m:t>, </m:t>
                              </m:r>
                              <m:r>
                                <a:rPr lang="en-US" b="0" i="1" smtClean="0">
                                  <a:latin typeface="Cambria Math" panose="02040503050406030204" pitchFamily="18" charset="0"/>
                                </a:rPr>
                                <m:t>𝐵𝑎𝑡𝑡𝑒𝑟𝑦</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1000 </m:t>
                          </m:r>
                          <m:r>
                            <a:rPr lang="en-US" b="0" i="1" smtClean="0">
                              <a:latin typeface="Cambria Math" panose="02040503050406030204" pitchFamily="18" charset="0"/>
                            </a:rPr>
                            <m:t>𝐴</m:t>
                          </m:r>
                        </m:num>
                        <m:den>
                          <m:r>
                            <a:rPr lang="en-US" b="0" i="1" smtClean="0">
                              <a:latin typeface="Cambria Math" panose="02040503050406030204" pitchFamily="18" charset="0"/>
                            </a:rPr>
                            <m:t>132 </m:t>
                          </m:r>
                          <m:r>
                            <a:rPr lang="en-US" b="0" i="1" smtClean="0">
                              <a:latin typeface="Cambria Math" panose="02040503050406030204" pitchFamily="18" charset="0"/>
                            </a:rPr>
                            <m:t>𝑉</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3.3 </m:t>
                          </m:r>
                          <m:r>
                            <a:rPr lang="en-US" b="0" i="1" smtClean="0">
                              <a:latin typeface="Cambria Math" panose="02040503050406030204" pitchFamily="18" charset="0"/>
                            </a:rPr>
                            <m:t>𝑉</m:t>
                          </m:r>
                        </m:num>
                        <m:den>
                          <m:r>
                            <a:rPr lang="en-US" b="0" i="1" smtClean="0">
                              <a:latin typeface="Cambria Math" panose="02040503050406030204" pitchFamily="18" charset="0"/>
                            </a:rPr>
                            <m:t>4095</m:t>
                          </m:r>
                        </m:den>
                      </m:f>
                      <m:r>
                        <a:rPr lang="en-US" b="0" i="1" smtClean="0">
                          <a:latin typeface="Cambria Math" panose="02040503050406030204" pitchFamily="18" charset="0"/>
                        </a:rPr>
                        <m:t>∗14=0.0855 </m:t>
                      </m:r>
                      <m:r>
                        <a:rPr lang="en-US" b="0" i="1" smtClean="0">
                          <a:latin typeface="Cambria Math" panose="02040503050406030204" pitchFamily="18" charset="0"/>
                        </a:rPr>
                        <m:t>𝐴</m:t>
                      </m:r>
                    </m:oMath>
                  </m:oMathPara>
                </a14:m>
                <a:endParaRPr lang="en-US" dirty="0"/>
              </a:p>
            </p:txBody>
          </p:sp>
        </mc:Choice>
        <mc:Fallback xmlns="">
          <p:sp>
            <p:nvSpPr>
              <p:cNvPr id="7" name="TextBox 6">
                <a:extLst>
                  <a:ext uri="{FF2B5EF4-FFF2-40B4-BE49-F238E27FC236}">
                    <a16:creationId xmlns:a16="http://schemas.microsoft.com/office/drawing/2014/main" id="{93E622B5-E517-13D6-2F2A-3D05F0662FF9}"/>
                  </a:ext>
                </a:extLst>
              </p:cNvPr>
              <p:cNvSpPr txBox="1">
                <a:spLocks noRot="1" noChangeAspect="1" noMove="1" noResize="1" noEditPoints="1" noAdjustHandles="1" noChangeArrowheads="1" noChangeShapeType="1" noTextEdit="1"/>
              </p:cNvSpPr>
              <p:nvPr/>
            </p:nvSpPr>
            <p:spPr>
              <a:xfrm>
                <a:off x="928116" y="4181984"/>
                <a:ext cx="4508414" cy="520463"/>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7FAEE5F-65E7-902E-F2C3-73D031A359C6}"/>
                  </a:ext>
                </a:extLst>
              </p:cNvPr>
              <p:cNvSpPr txBox="1"/>
              <p:nvPr/>
            </p:nvSpPr>
            <p:spPr>
              <a:xfrm>
                <a:off x="928116" y="4834384"/>
                <a:ext cx="4433586" cy="5204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𝑣</m:t>
                              </m:r>
                              <m:r>
                                <a:rPr lang="en-US" b="0" i="1" smtClean="0">
                                  <a:latin typeface="Cambria Math" panose="02040503050406030204" pitchFamily="18" charset="0"/>
                                </a:rPr>
                                <m:t>,</m:t>
                              </m:r>
                              <m:r>
                                <a:rPr lang="en-US" b="0" i="1" smtClean="0">
                                  <a:latin typeface="Cambria Math" panose="02040503050406030204" pitchFamily="18" charset="0"/>
                                </a:rPr>
                                <m:t>𝐶𝑎𝑝𝑎𝑐𝑖𝑡𝑜𝑟</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10 </m:t>
                          </m:r>
                          <m:r>
                            <a:rPr lang="en-US" b="0" i="1" smtClean="0">
                              <a:latin typeface="Cambria Math" panose="02040503050406030204" pitchFamily="18" charset="0"/>
                            </a:rPr>
                            <m:t>𝑉</m:t>
                          </m:r>
                        </m:num>
                        <m:den>
                          <m:r>
                            <a:rPr lang="en-US" b="0" i="1" smtClean="0">
                              <a:latin typeface="Cambria Math" panose="02040503050406030204" pitchFamily="18" charset="0"/>
                            </a:rPr>
                            <m:t>11 </m:t>
                          </m:r>
                          <m:r>
                            <a:rPr lang="en-US" b="0" i="1" smtClean="0">
                              <a:latin typeface="Cambria Math" panose="02040503050406030204" pitchFamily="18" charset="0"/>
                            </a:rPr>
                            <m:t>𝑉</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3.3</m:t>
                          </m:r>
                          <m:r>
                            <a:rPr lang="en-US" b="0" i="1" smtClean="0">
                              <a:latin typeface="Cambria Math" panose="02040503050406030204" pitchFamily="18" charset="0"/>
                            </a:rPr>
                            <m:t>𝑉</m:t>
                          </m:r>
                        </m:num>
                        <m:den>
                          <m:r>
                            <a:rPr lang="en-US" b="0" i="1" smtClean="0">
                              <a:latin typeface="Cambria Math" panose="02040503050406030204" pitchFamily="18" charset="0"/>
                            </a:rPr>
                            <m:t>4095</m:t>
                          </m:r>
                        </m:den>
                      </m:f>
                      <m:r>
                        <a:rPr lang="en-US" b="0" i="1" smtClean="0">
                          <a:latin typeface="Cambria Math" panose="02040503050406030204" pitchFamily="18" charset="0"/>
                        </a:rPr>
                        <m:t>∗14=0.0103 </m:t>
                      </m:r>
                      <m:r>
                        <a:rPr lang="en-US" b="0" i="1" smtClean="0">
                          <a:latin typeface="Cambria Math" panose="02040503050406030204" pitchFamily="18" charset="0"/>
                        </a:rPr>
                        <m:t>𝑉</m:t>
                      </m:r>
                    </m:oMath>
                  </m:oMathPara>
                </a14:m>
                <a:endParaRPr lang="en-US" dirty="0"/>
              </a:p>
            </p:txBody>
          </p:sp>
        </mc:Choice>
        <mc:Fallback xmlns="">
          <p:sp>
            <p:nvSpPr>
              <p:cNvPr id="8" name="TextBox 7">
                <a:extLst>
                  <a:ext uri="{FF2B5EF4-FFF2-40B4-BE49-F238E27FC236}">
                    <a16:creationId xmlns:a16="http://schemas.microsoft.com/office/drawing/2014/main" id="{77FAEE5F-65E7-902E-F2C3-73D031A359C6}"/>
                  </a:ext>
                </a:extLst>
              </p:cNvPr>
              <p:cNvSpPr txBox="1">
                <a:spLocks noRot="1" noChangeAspect="1" noMove="1" noResize="1" noEditPoints="1" noAdjustHandles="1" noChangeArrowheads="1" noChangeShapeType="1" noTextEdit="1"/>
              </p:cNvSpPr>
              <p:nvPr/>
            </p:nvSpPr>
            <p:spPr>
              <a:xfrm>
                <a:off x="928116" y="4834384"/>
                <a:ext cx="4433586" cy="520463"/>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2491624-E69F-3EA5-2CD4-EC2C0B4F562D}"/>
                  </a:ext>
                </a:extLst>
              </p:cNvPr>
              <p:cNvSpPr txBox="1"/>
              <p:nvPr/>
            </p:nvSpPr>
            <p:spPr>
              <a:xfrm>
                <a:off x="928116" y="5486784"/>
                <a:ext cx="4159472" cy="5204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𝑣</m:t>
                              </m:r>
                              <m:r>
                                <a:rPr lang="en-US" b="0" i="1" smtClean="0">
                                  <a:latin typeface="Cambria Math" panose="02040503050406030204" pitchFamily="18" charset="0"/>
                                </a:rPr>
                                <m:t>,</m:t>
                              </m:r>
                              <m:r>
                                <a:rPr lang="en-US" b="0" i="1" smtClean="0">
                                  <a:latin typeface="Cambria Math" panose="02040503050406030204" pitchFamily="18" charset="0"/>
                                </a:rPr>
                                <m:t>𝐵𝑎𝑡𝑡𝑒𝑟𝑦</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8 </m:t>
                          </m:r>
                          <m:r>
                            <a:rPr lang="en-US" b="0" i="1" smtClean="0">
                              <a:latin typeface="Cambria Math" panose="02040503050406030204" pitchFamily="18" charset="0"/>
                            </a:rPr>
                            <m:t>𝑉</m:t>
                          </m:r>
                        </m:num>
                        <m:den>
                          <m:r>
                            <a:rPr lang="en-US" b="0" i="1" smtClean="0">
                              <a:latin typeface="Cambria Math" panose="02040503050406030204" pitchFamily="18" charset="0"/>
                            </a:rPr>
                            <m:t>1 </m:t>
                          </m:r>
                          <m:r>
                            <a:rPr lang="en-US" b="0" i="1" smtClean="0">
                              <a:latin typeface="Cambria Math" panose="02040503050406030204" pitchFamily="18" charset="0"/>
                            </a:rPr>
                            <m:t>𝑉</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3.3 </m:t>
                          </m:r>
                          <m:r>
                            <a:rPr lang="en-US" b="0" i="1" smtClean="0">
                              <a:latin typeface="Cambria Math" panose="02040503050406030204" pitchFamily="18" charset="0"/>
                            </a:rPr>
                            <m:t>𝑉</m:t>
                          </m:r>
                        </m:num>
                        <m:den>
                          <m:r>
                            <a:rPr lang="en-US" b="0" i="1" smtClean="0">
                              <a:latin typeface="Cambria Math" panose="02040503050406030204" pitchFamily="18" charset="0"/>
                            </a:rPr>
                            <m:t>4095</m:t>
                          </m:r>
                        </m:den>
                      </m:f>
                      <m:r>
                        <a:rPr lang="en-US" b="0" i="1" smtClean="0">
                          <a:latin typeface="Cambria Math" panose="02040503050406030204" pitchFamily="18" charset="0"/>
                        </a:rPr>
                        <m:t>∗14=0.0903 </m:t>
                      </m:r>
                      <m:r>
                        <a:rPr lang="en-US" b="0" i="1" smtClean="0">
                          <a:latin typeface="Cambria Math" panose="02040503050406030204" pitchFamily="18" charset="0"/>
                        </a:rPr>
                        <m:t>𝑉</m:t>
                      </m:r>
                    </m:oMath>
                  </m:oMathPara>
                </a14:m>
                <a:endParaRPr lang="en-US" dirty="0"/>
              </a:p>
            </p:txBody>
          </p:sp>
        </mc:Choice>
        <mc:Fallback xmlns="">
          <p:sp>
            <p:nvSpPr>
              <p:cNvPr id="9" name="TextBox 8">
                <a:extLst>
                  <a:ext uri="{FF2B5EF4-FFF2-40B4-BE49-F238E27FC236}">
                    <a16:creationId xmlns:a16="http://schemas.microsoft.com/office/drawing/2014/main" id="{E2491624-E69F-3EA5-2CD4-EC2C0B4F562D}"/>
                  </a:ext>
                </a:extLst>
              </p:cNvPr>
              <p:cNvSpPr txBox="1">
                <a:spLocks noRot="1" noChangeAspect="1" noMove="1" noResize="1" noEditPoints="1" noAdjustHandles="1" noChangeArrowheads="1" noChangeShapeType="1" noTextEdit="1"/>
              </p:cNvSpPr>
              <p:nvPr/>
            </p:nvSpPr>
            <p:spPr>
              <a:xfrm>
                <a:off x="928116" y="5486784"/>
                <a:ext cx="4159472" cy="520463"/>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191951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4012</TotalTime>
  <Words>3085</Words>
  <Application>Microsoft Office PowerPoint</Application>
  <PresentationFormat>Widescreen</PresentationFormat>
  <Paragraphs>362</Paragraphs>
  <Slides>31</Slides>
  <Notes>0</Notes>
  <HiddenSlides>0</HiddenSlides>
  <MMClips>1</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31</vt:i4>
      </vt:variant>
    </vt:vector>
  </HeadingPairs>
  <TitlesOfParts>
    <vt:vector size="38" baseType="lpstr">
      <vt:lpstr>Aptos</vt:lpstr>
      <vt:lpstr>Aptos Display</vt:lpstr>
      <vt:lpstr>Arial</vt:lpstr>
      <vt:lpstr>Cambria Math</vt:lpstr>
      <vt:lpstr>Courier New</vt:lpstr>
      <vt:lpstr>Office Theme</vt:lpstr>
      <vt:lpstr>Package</vt:lpstr>
      <vt:lpstr>UT Robomasters – Supercap Power Stage Modeling</vt:lpstr>
      <vt:lpstr>PLECS Analysis: Toy Models</vt:lpstr>
      <vt:lpstr>List of Topics Relevant to This Presentation</vt:lpstr>
      <vt:lpstr>Section 1: Basics of The Converter</vt:lpstr>
      <vt:lpstr>Overview of Topology</vt:lpstr>
      <vt:lpstr>Duty Cycle Control</vt:lpstr>
      <vt:lpstr>Transformer Equivalent</vt:lpstr>
      <vt:lpstr>Capacitor Feed-Forward Correction</vt:lpstr>
      <vt:lpstr>Battery Current Reflection</vt:lpstr>
      <vt:lpstr>Algebraic Manipulation &amp; Linearization</vt:lpstr>
      <vt:lpstr>Overall System Design – FF+PI</vt:lpstr>
      <vt:lpstr>Alternative Design – PI2 Control</vt:lpstr>
      <vt:lpstr>PI2 Control Linearization</vt:lpstr>
      <vt:lpstr>Time-Domain Simulation (0s&lt;t&lt;100s)</vt:lpstr>
      <vt:lpstr>Time-Domain Analysis</vt:lpstr>
      <vt:lpstr>Addendum: On Feed-Forward Systems</vt:lpstr>
      <vt:lpstr>Section 2: Reverse Charging and Boost Mode</vt:lpstr>
      <vt:lpstr>Overall System Review: Reverse Charging</vt:lpstr>
      <vt:lpstr>Reverse Charging: Maximum Reverse Current</vt:lpstr>
      <vt:lpstr>Maximum Reverse Current, Continued</vt:lpstr>
      <vt:lpstr>Maximum Reverse Current, Continued</vt:lpstr>
      <vt:lpstr>Time-Domain Simulation (0s&lt;t&lt;????)</vt:lpstr>
      <vt:lpstr>Reverse Current – Control Schema</vt:lpstr>
      <vt:lpstr>Addendum: Resistance and Inductor Characteristics</vt:lpstr>
      <vt:lpstr>Section 3: Disturbance Rejection &amp; Robustness</vt:lpstr>
      <vt:lpstr>Sources of Inaccuracies: Examples</vt:lpstr>
      <vt:lpstr>Disturbance Rejection - Noise</vt:lpstr>
      <vt:lpstr>Disturbance Rejection – Full Model</vt:lpstr>
      <vt:lpstr>Model Robustness - Sensitivity</vt:lpstr>
      <vt:lpstr>Sensitivity</vt:lpstr>
      <vt:lpstr>Sensor White Noise Noise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dhakk</dc:creator>
  <cp:lastModifiedBy>Heath Luebsen</cp:lastModifiedBy>
  <cp:revision>23</cp:revision>
  <dcterms:created xsi:type="dcterms:W3CDTF">2026-03-11T16:16:20Z</dcterms:created>
  <dcterms:modified xsi:type="dcterms:W3CDTF">2026-04-13T06:41:06Z</dcterms:modified>
</cp:coreProperties>
</file>