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755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610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403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3625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1053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9230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55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272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561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1437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2540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116CDFA8-9B71-48D2-9BC8-093B5490E257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29F7320-A4FE-4892-8CEE-F5D8B1E7C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56917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AD478F-B618-A8F3-2C35-06BD5544D3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UT Robomasters – Supercap Power Stage Modeling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A6C19F-7071-1C1F-0412-FB8090E6E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Egan Wang (ew23776)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A97C4D-B769-304B-268F-0AFD0AA0623F}"/>
              </a:ext>
            </a:extLst>
          </p:cNvPr>
          <p:cNvSpPr/>
          <p:nvPr/>
        </p:nvSpPr>
        <p:spPr>
          <a:xfrm>
            <a:off x="1445342" y="1740310"/>
            <a:ext cx="9144000" cy="23007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19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5A745-7BF0-A1B6-7231-174460A96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Topology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630530-B4E1-DE36-661C-8CD0B56A1D5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b="1" dirty="0"/>
              <a:t>H-Bridge Converter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4 switches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2 half-bridges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Full-bridge analogue to buck converter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Voltage across switched nodes can be +Vg, 0, or +Vg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AF0BA4D-E20B-F2DC-E856-D9099C36F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489" y="175000"/>
            <a:ext cx="6019723" cy="3059633"/>
          </a:xfrm>
          <a:prstGeom prst="rect">
            <a:avLst/>
          </a:prstGeom>
        </p:spPr>
      </p:pic>
      <p:grpSp>
        <p:nvGrpSpPr>
          <p:cNvPr id="65" name="Group 64">
            <a:extLst>
              <a:ext uri="{FF2B5EF4-FFF2-40B4-BE49-F238E27FC236}">
                <a16:creationId xmlns:a16="http://schemas.microsoft.com/office/drawing/2014/main" id="{4A270B61-CF52-FA0E-48FD-88C2FDA36CCD}"/>
              </a:ext>
            </a:extLst>
          </p:cNvPr>
          <p:cNvGrpSpPr/>
          <p:nvPr/>
        </p:nvGrpSpPr>
        <p:grpSpPr>
          <a:xfrm>
            <a:off x="5878896" y="3690873"/>
            <a:ext cx="4926905" cy="2702023"/>
            <a:chOff x="5934734" y="3531668"/>
            <a:chExt cx="4926905" cy="2702023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9B7CBCB-BE40-404D-EE09-4D39BB8ED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4734" y="3584846"/>
              <a:ext cx="2170222" cy="1277897"/>
            </a:xfrm>
            <a:prstGeom prst="rect">
              <a:avLst/>
            </a:prstGeom>
          </p:spPr>
        </p:pic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FAEE1E0-D71F-9794-65C3-5873E2323545}"/>
                </a:ext>
              </a:extLst>
            </p:cNvPr>
            <p:cNvGrpSpPr/>
            <p:nvPr/>
          </p:nvGrpSpPr>
          <p:grpSpPr>
            <a:xfrm>
              <a:off x="6519084" y="3736366"/>
              <a:ext cx="142595" cy="490604"/>
              <a:chOff x="6320118" y="3683188"/>
              <a:chExt cx="142595" cy="490604"/>
            </a:xfrm>
          </p:grpSpPr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A60AACF8-4161-A0B9-A70B-F6449D87CF1F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ECE47650-A04B-6D70-94D8-E2E7F64E418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6C0334D8-2C23-298D-043B-1F8A8AB9100C}"/>
                </a:ext>
              </a:extLst>
            </p:cNvPr>
            <p:cNvGrpSpPr/>
            <p:nvPr/>
          </p:nvGrpSpPr>
          <p:grpSpPr>
            <a:xfrm rot="10800000">
              <a:off x="7679017" y="4202033"/>
              <a:ext cx="142595" cy="490604"/>
              <a:chOff x="6320118" y="3683188"/>
              <a:chExt cx="142595" cy="490604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530780A4-D992-86E3-0C32-DB60CEF42F77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E2653BE3-787B-5D05-D1D2-90B3A659458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E70A542-6C83-EDCF-C46B-D560799AC16A}"/>
                </a:ext>
              </a:extLst>
            </p:cNvPr>
            <p:cNvSpPr txBox="1"/>
            <p:nvPr/>
          </p:nvSpPr>
          <p:spPr>
            <a:xfrm>
              <a:off x="6837346" y="4331702"/>
              <a:ext cx="560218" cy="36933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+V</a:t>
              </a:r>
              <a:r>
                <a:rPr lang="en-US" baseline="-250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g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D9AB4C9-6C90-B3E3-E8B2-1B17772D7E0F}"/>
                </a:ext>
              </a:extLst>
            </p:cNvPr>
            <p:cNvSpPr txBox="1"/>
            <p:nvPr/>
          </p:nvSpPr>
          <p:spPr>
            <a:xfrm>
              <a:off x="6570075" y="412636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+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DC7FDCE-2962-8982-C6F5-9526B0EF6E3E}"/>
                </a:ext>
              </a:extLst>
            </p:cNvPr>
            <p:cNvSpPr txBox="1"/>
            <p:nvPr/>
          </p:nvSpPr>
          <p:spPr>
            <a:xfrm>
              <a:off x="7409989" y="4099180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-</a:t>
              </a:r>
            </a:p>
          </p:txBody>
        </p:sp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52F517F6-C492-EB58-8116-8996FA184F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89057" y="3588021"/>
              <a:ext cx="2170222" cy="1277897"/>
            </a:xfrm>
            <a:prstGeom prst="rect">
              <a:avLst/>
            </a:prstGeom>
          </p:spPr>
        </p:pic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DB1E2D49-ECBC-E3B4-4628-E1CA66F69AAE}"/>
                </a:ext>
              </a:extLst>
            </p:cNvPr>
            <p:cNvGrpSpPr/>
            <p:nvPr/>
          </p:nvGrpSpPr>
          <p:grpSpPr>
            <a:xfrm>
              <a:off x="9273407" y="3739541"/>
              <a:ext cx="142595" cy="490604"/>
              <a:chOff x="6320118" y="3683188"/>
              <a:chExt cx="142595" cy="490604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7AAE98B0-F106-4140-7351-1B5B9EE1A4A3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7CF8AD86-E01D-D3A2-8EF6-04D0FC3941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450A0223-3BFC-DF84-6ED8-2C3338010217}"/>
                </a:ext>
              </a:extLst>
            </p:cNvPr>
            <p:cNvSpPr txBox="1"/>
            <p:nvPr/>
          </p:nvSpPr>
          <p:spPr>
            <a:xfrm>
              <a:off x="9744371" y="4331702"/>
              <a:ext cx="312906" cy="36933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0</a:t>
              </a:r>
              <a:endPara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C54E323-AFBE-21EC-63FC-1EE164F89826}"/>
                </a:ext>
              </a:extLst>
            </p:cNvPr>
            <p:cNvSpPr txBox="1"/>
            <p:nvPr/>
          </p:nvSpPr>
          <p:spPr>
            <a:xfrm>
              <a:off x="9324398" y="412954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+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8EDD51E-2D00-39E4-EA40-5A8AFBBC9153}"/>
                </a:ext>
              </a:extLst>
            </p:cNvPr>
            <p:cNvSpPr txBox="1"/>
            <p:nvPr/>
          </p:nvSpPr>
          <p:spPr>
            <a:xfrm>
              <a:off x="10170218" y="4099180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-</a:t>
              </a:r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26C7354-E294-86E6-0213-92846B5D33C2}"/>
                </a:ext>
              </a:extLst>
            </p:cNvPr>
            <p:cNvGrpSpPr/>
            <p:nvPr/>
          </p:nvGrpSpPr>
          <p:grpSpPr>
            <a:xfrm flipH="1">
              <a:off x="10432463" y="3736366"/>
              <a:ext cx="142595" cy="490604"/>
              <a:chOff x="6320118" y="3683188"/>
              <a:chExt cx="142595" cy="490604"/>
            </a:xfrm>
          </p:grpSpPr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0B91AD5-92AA-8B8F-6111-2B864EEC47F0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37C48808-2892-C550-BF12-E454D7CED4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94C3D421-D7F0-7EAE-7D95-7E86BE709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4734" y="4955406"/>
              <a:ext cx="2170222" cy="1277897"/>
            </a:xfrm>
            <a:prstGeom prst="rect">
              <a:avLst/>
            </a:prstGeom>
          </p:spPr>
        </p:pic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3B006E2-F60B-2DA4-0CC5-EF33E8007F8B}"/>
                </a:ext>
              </a:extLst>
            </p:cNvPr>
            <p:cNvGrpSpPr/>
            <p:nvPr/>
          </p:nvGrpSpPr>
          <p:grpSpPr>
            <a:xfrm flipV="1">
              <a:off x="6519084" y="5576664"/>
              <a:ext cx="142595" cy="490604"/>
              <a:chOff x="6320118" y="3683188"/>
              <a:chExt cx="142595" cy="490604"/>
            </a:xfrm>
          </p:grpSpPr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A241BCD0-ECED-1212-61CC-3673FE32DC01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0E81F802-6D9A-6D24-671E-E0C936C813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88CA125-D735-A439-9BE4-A86D87DFCCC9}"/>
                </a:ext>
              </a:extLst>
            </p:cNvPr>
            <p:cNvSpPr txBox="1"/>
            <p:nvPr/>
          </p:nvSpPr>
          <p:spPr>
            <a:xfrm>
              <a:off x="6986928" y="5702262"/>
              <a:ext cx="312906" cy="36933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0</a:t>
              </a:r>
              <a:endPara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57A0F5C-F5C1-12AC-A484-549CA65D87F9}"/>
                </a:ext>
              </a:extLst>
            </p:cNvPr>
            <p:cNvSpPr txBox="1"/>
            <p:nvPr/>
          </p:nvSpPr>
          <p:spPr>
            <a:xfrm>
              <a:off x="6570075" y="5496927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+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29888B7-4E7F-AE75-083C-FE1C35FAB100}"/>
                </a:ext>
              </a:extLst>
            </p:cNvPr>
            <p:cNvSpPr txBox="1"/>
            <p:nvPr/>
          </p:nvSpPr>
          <p:spPr>
            <a:xfrm>
              <a:off x="7409989" y="5456960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-</a:t>
              </a: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A8C819EE-13E8-219D-3335-38FE63B3C9F9}"/>
                </a:ext>
              </a:extLst>
            </p:cNvPr>
            <p:cNvGrpSpPr/>
            <p:nvPr/>
          </p:nvGrpSpPr>
          <p:grpSpPr>
            <a:xfrm flipH="1" flipV="1">
              <a:off x="7678140" y="5573489"/>
              <a:ext cx="142595" cy="490604"/>
              <a:chOff x="6320118" y="3683188"/>
              <a:chExt cx="142595" cy="490604"/>
            </a:xfrm>
          </p:grpSpPr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71D86095-924F-ED94-5F66-046DC54479F9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Connector 46">
                <a:extLst>
                  <a:ext uri="{FF2B5EF4-FFF2-40B4-BE49-F238E27FC236}">
                    <a16:creationId xmlns:a16="http://schemas.microsoft.com/office/drawing/2014/main" id="{73224F0B-78C6-1381-B7A5-D68B131903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1042D71C-8445-FF11-4E97-51D220DB91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91417" y="4955794"/>
              <a:ext cx="2170222" cy="1277897"/>
            </a:xfrm>
            <a:prstGeom prst="rect">
              <a:avLst/>
            </a:prstGeom>
          </p:spPr>
        </p:pic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2CC8D9D-5B31-3D47-1836-80647CA3A63E}"/>
                </a:ext>
              </a:extLst>
            </p:cNvPr>
            <p:cNvSpPr txBox="1"/>
            <p:nvPr/>
          </p:nvSpPr>
          <p:spPr>
            <a:xfrm>
              <a:off x="9706180" y="5694761"/>
              <a:ext cx="464038" cy="369332"/>
            </a:xfrm>
            <a:prstGeom prst="rect">
              <a:avLst/>
            </a:prstGeom>
            <a:solidFill>
              <a:schemeClr val="bg1">
                <a:alpha val="50000"/>
              </a:schemeClr>
            </a:solidFill>
            <a:ln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-V</a:t>
              </a:r>
              <a:r>
                <a:rPr lang="en-US" baseline="-25000" dirty="0">
                  <a:latin typeface="Cambria Math" panose="02040503050406030204" pitchFamily="18" charset="0"/>
                  <a:ea typeface="Cambria Math" panose="02040503050406030204" pitchFamily="18" charset="0"/>
                </a:rPr>
                <a:t>g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9528D70-D3B6-D3F9-5961-F0BF334E5856}"/>
                </a:ext>
              </a:extLst>
            </p:cNvPr>
            <p:cNvSpPr txBox="1"/>
            <p:nvPr/>
          </p:nvSpPr>
          <p:spPr>
            <a:xfrm>
              <a:off x="9326758" y="5497315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+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2345ED9D-5413-6F53-8065-03EDDF4E9CC7}"/>
                </a:ext>
              </a:extLst>
            </p:cNvPr>
            <p:cNvSpPr txBox="1"/>
            <p:nvPr/>
          </p:nvSpPr>
          <p:spPr>
            <a:xfrm>
              <a:off x="10170218" y="5468575"/>
              <a:ext cx="2632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-</a:t>
              </a:r>
            </a:p>
          </p:txBody>
        </p: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BFFEA18-D9EC-D99D-6F38-A448BB46E757}"/>
                </a:ext>
              </a:extLst>
            </p:cNvPr>
            <p:cNvGrpSpPr/>
            <p:nvPr/>
          </p:nvGrpSpPr>
          <p:grpSpPr>
            <a:xfrm flipH="1">
              <a:off x="10434823" y="5104139"/>
              <a:ext cx="142595" cy="490604"/>
              <a:chOff x="6320118" y="3683188"/>
              <a:chExt cx="142595" cy="490604"/>
            </a:xfrm>
          </p:grpSpPr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BA3DEFBF-F1DB-3792-123F-A169149D717A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52191179-57F6-7874-B6FB-AFCDB6B3B8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DEC833D-45AD-23D8-BBEB-9E6484DD8A97}"/>
                </a:ext>
              </a:extLst>
            </p:cNvPr>
            <p:cNvGrpSpPr/>
            <p:nvPr/>
          </p:nvGrpSpPr>
          <p:grpSpPr>
            <a:xfrm flipV="1">
              <a:off x="9271765" y="5580990"/>
              <a:ext cx="142595" cy="490604"/>
              <a:chOff x="6320118" y="3683188"/>
              <a:chExt cx="142595" cy="490604"/>
            </a:xfrm>
          </p:grpSpPr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10986DD2-75A6-5378-5505-57E52B26019A}"/>
                  </a:ext>
                </a:extLst>
              </p:cNvPr>
              <p:cNvCxnSpPr/>
              <p:nvPr/>
            </p:nvCxnSpPr>
            <p:spPr>
              <a:xfrm>
                <a:off x="6320118" y="3683188"/>
                <a:ext cx="0" cy="490604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D05DC4F9-C55F-9072-5048-E9C63393E4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20118" y="4165852"/>
                <a:ext cx="142595" cy="0"/>
              </a:xfrm>
              <a:prstGeom prst="line">
                <a:avLst/>
              </a:prstGeom>
              <a:ln>
                <a:solidFill>
                  <a:srgbClr val="FF0000">
                    <a:alpha val="80000"/>
                  </a:srgb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D815993-6A74-13F5-63E7-F6533C2BFACA}"/>
                </a:ext>
              </a:extLst>
            </p:cNvPr>
            <p:cNvSpPr txBox="1"/>
            <p:nvPr/>
          </p:nvSpPr>
          <p:spPr>
            <a:xfrm>
              <a:off x="6567433" y="3531668"/>
              <a:ext cx="114153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 high, 2 low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08A7626-5D19-3EFC-2E9F-DDCCFD5179CC}"/>
                </a:ext>
              </a:extLst>
            </p:cNvPr>
            <p:cNvSpPr txBox="1"/>
            <p:nvPr/>
          </p:nvSpPr>
          <p:spPr>
            <a:xfrm>
              <a:off x="9324398" y="3562038"/>
              <a:ext cx="119616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 high, 2 high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049FF20B-35E3-B32A-0FC5-ECBB7631184C}"/>
                </a:ext>
              </a:extLst>
            </p:cNvPr>
            <p:cNvSpPr txBox="1"/>
            <p:nvPr/>
          </p:nvSpPr>
          <p:spPr>
            <a:xfrm>
              <a:off x="6586770" y="4950186"/>
              <a:ext cx="107657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 low, 2 low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3A934DE9-F1D0-F21F-52FF-F75B4F6CF95C}"/>
                </a:ext>
              </a:extLst>
            </p:cNvPr>
            <p:cNvSpPr txBox="1"/>
            <p:nvPr/>
          </p:nvSpPr>
          <p:spPr>
            <a:xfrm>
              <a:off x="9351712" y="4973943"/>
              <a:ext cx="113120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1 low, 2 high</a:t>
              </a:r>
            </a:p>
          </p:txBody>
        </p:sp>
      </p:grp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EACD6F68-AD31-9AE4-F895-581F2A1696C1}"/>
              </a:ext>
            </a:extLst>
          </p:cNvPr>
          <p:cNvSpPr/>
          <p:nvPr/>
        </p:nvSpPr>
        <p:spPr>
          <a:xfrm>
            <a:off x="5417116" y="3426869"/>
            <a:ext cx="5850467" cy="3230033"/>
          </a:xfrm>
          <a:prstGeom prst="roundRect">
            <a:avLst>
              <a:gd name="adj" fmla="val 3299"/>
            </a:avLst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404703D-A5B7-85ED-E03C-28485AC29E4D}"/>
              </a:ext>
            </a:extLst>
          </p:cNvPr>
          <p:cNvSpPr txBox="1"/>
          <p:nvPr/>
        </p:nvSpPr>
        <p:spPr>
          <a:xfrm>
            <a:off x="9463522" y="3435050"/>
            <a:ext cx="1826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Possible Voltages</a:t>
            </a:r>
          </a:p>
        </p:txBody>
      </p:sp>
    </p:spTree>
    <p:extLst>
      <p:ext uri="{BB962C8B-B14F-4D97-AF65-F5344CB8AC3E}">
        <p14:creationId xmlns:p14="http://schemas.microsoft.com/office/powerpoint/2010/main" val="3789560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00598-45B1-B381-FB43-D2AB855ED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Duty Cycle Control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C6BD35-4977-9055-94F0-6AD2C61A87C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Half-bridges 1 and 2 are independent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Both high and both low result in 0 voltage across switch nodes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Duty ratios &lt;2.5% and &gt;97.5% are risky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H-bridge topology allows finer control</a:t>
            </a:r>
          </a:p>
          <a:p>
            <a:r>
              <a:rPr lang="en-US" dirty="0"/>
              <a:t>Control scheme shown on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Duty cycle “seen” across switch nodes labelled as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M(t)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80502B-7230-5267-A45B-8DE580568134}"/>
              </a:ext>
            </a:extLst>
          </p:cNvPr>
          <p:cNvSpPr txBox="1"/>
          <p:nvPr/>
        </p:nvSpPr>
        <p:spPr>
          <a:xfrm>
            <a:off x="7634641" y="647941"/>
            <a:ext cx="14701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00B050"/>
                </a:solidFill>
              </a:rPr>
              <a:t>Half-bridge 1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Half-bridge 2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384D332-04AA-EBA6-7252-4614FD20DF2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-514" t="-685" r="514" b="1376"/>
          <a:stretch>
            <a:fillRect/>
          </a:stretch>
        </p:blipFill>
        <p:spPr>
          <a:xfrm flipH="1">
            <a:off x="6376296" y="1374895"/>
            <a:ext cx="4041935" cy="2054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A8D96FD-06D4-0D03-C4A6-054A02ECA043}"/>
              </a:ext>
            </a:extLst>
          </p:cNvPr>
          <p:cNvCxnSpPr>
            <a:cxnSpLocks/>
          </p:cNvCxnSpPr>
          <p:nvPr/>
        </p:nvCxnSpPr>
        <p:spPr>
          <a:xfrm>
            <a:off x="8359163" y="1346440"/>
            <a:ext cx="0" cy="208256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CCBC7C4-5DE6-ACF9-D7FA-3FB735EFFC1F}"/>
              </a:ext>
            </a:extLst>
          </p:cNvPr>
          <p:cNvCxnSpPr/>
          <p:nvPr/>
        </p:nvCxnSpPr>
        <p:spPr>
          <a:xfrm>
            <a:off x="8072967" y="2307407"/>
            <a:ext cx="286196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7AF2779-B892-5889-B791-BECC8F4C5E63}"/>
              </a:ext>
            </a:extLst>
          </p:cNvPr>
          <p:cNvCxnSpPr/>
          <p:nvPr/>
        </p:nvCxnSpPr>
        <p:spPr>
          <a:xfrm>
            <a:off x="8369714" y="2307407"/>
            <a:ext cx="286196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57C417D7-308E-F429-978A-9AAAF0E66C44}"/>
              </a:ext>
            </a:extLst>
          </p:cNvPr>
          <p:cNvSpPr txBox="1"/>
          <p:nvPr/>
        </p:nvSpPr>
        <p:spPr>
          <a:xfrm>
            <a:off x="7609296" y="1885907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27AF8C-EF12-3353-4845-EE452C456BA0}"/>
              </a:ext>
            </a:extLst>
          </p:cNvPr>
          <p:cNvSpPr txBox="1"/>
          <p:nvPr/>
        </p:nvSpPr>
        <p:spPr>
          <a:xfrm>
            <a:off x="8376510" y="1885907"/>
            <a:ext cx="758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FFDF89-C29A-0C61-0D3A-19E3C092C549}"/>
              </a:ext>
            </a:extLst>
          </p:cNvPr>
          <p:cNvSpPr txBox="1"/>
          <p:nvPr/>
        </p:nvSpPr>
        <p:spPr>
          <a:xfrm>
            <a:off x="7588488" y="3672632"/>
            <a:ext cx="1556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Halfway point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BB9078E-96E0-22B3-3796-BD6D983CAD90}"/>
              </a:ext>
            </a:extLst>
          </p:cNvPr>
          <p:cNvCxnSpPr>
            <a:stCxn id="20" idx="0"/>
          </p:cNvCxnSpPr>
          <p:nvPr/>
        </p:nvCxnSpPr>
        <p:spPr>
          <a:xfrm flipV="1">
            <a:off x="8366522" y="3481168"/>
            <a:ext cx="3192" cy="19146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1818B73-AD0D-7A92-AD7E-8F30EB6501EE}"/>
              </a:ext>
            </a:extLst>
          </p:cNvPr>
          <p:cNvSpPr txBox="1"/>
          <p:nvPr/>
        </p:nvSpPr>
        <p:spPr>
          <a:xfrm>
            <a:off x="6087016" y="4233428"/>
            <a:ext cx="462049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Half-bridge 1 duty ratio: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0.5 + 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  <a:p>
            <a:pPr algn="ctr"/>
            <a:r>
              <a:rPr lang="en-US" dirty="0"/>
              <a:t>Half-bridge 2 duty ratio: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0.5 – 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  <a:p>
            <a:pPr algn="ctr"/>
            <a:r>
              <a:rPr lang="en-US" dirty="0">
                <a:ea typeface="Cambria Math" panose="02040503050406030204" pitchFamily="18" charset="0"/>
              </a:rPr>
              <a:t>Duty cycle “seen” by inductive tank: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2*d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off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(t)</a:t>
            </a:r>
          </a:p>
        </p:txBody>
      </p:sp>
    </p:spTree>
    <p:extLst>
      <p:ext uri="{BB962C8B-B14F-4D97-AF65-F5344CB8AC3E}">
        <p14:creationId xmlns:p14="http://schemas.microsoft.com/office/powerpoint/2010/main" val="3662244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734B7-8CDD-AC44-5768-587FD109C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Transformer Equivalent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AACA2F-657F-8F9E-37C1-789E0A298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Use SRA analysis and derive KCL- and KVL-like equations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Convert into loops and create ideal transformer model of circuit with gain 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1:M(t)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a typeface="Cambria Math" panose="02040503050406030204" pitchFamily="18" charset="0"/>
              </a:rPr>
              <a:t>Transformer model will be useful for reflection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B9D04C-332B-B4D9-A43C-5CF0075FB7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1058" y="3490693"/>
            <a:ext cx="5173845" cy="17905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239EB99-9A3F-FC2F-4327-A2119B2B4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481" y="1711951"/>
            <a:ext cx="5299422" cy="15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98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F08C0-4C31-3258-538C-87F883D9B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Capacitor Feed-Forward Correction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B7F404-C6A8-F55C-599B-D49A63D125B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Split the voltage source on the right into a </a:t>
            </a:r>
            <a:r>
              <a:rPr lang="en-US" dirty="0" err="1"/>
              <a:t>V_c</a:t>
            </a:r>
            <a:r>
              <a:rPr lang="en-US"/>
              <a:t>(t) component and 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18150B-BDB1-3F15-A03A-6552D64AF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297" y="582993"/>
            <a:ext cx="5945915" cy="3409887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0EA1A0A-2DAA-6803-A020-E8C088E2DC6D}"/>
              </a:ext>
            </a:extLst>
          </p:cNvPr>
          <p:cNvCxnSpPr/>
          <p:nvPr/>
        </p:nvCxnSpPr>
        <p:spPr>
          <a:xfrm>
            <a:off x="8379254" y="2834640"/>
            <a:ext cx="2034746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1020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428</TotalTime>
  <Words>239</Words>
  <Application>Microsoft Office PowerPoint</Application>
  <PresentationFormat>Widescreen</PresentationFormat>
  <Paragraphs>46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Aptos</vt:lpstr>
      <vt:lpstr>Aptos Display</vt:lpstr>
      <vt:lpstr>Arial</vt:lpstr>
      <vt:lpstr>Cambria Math</vt:lpstr>
      <vt:lpstr>Office Theme</vt:lpstr>
      <vt:lpstr>UT Robomasters – Supercap Power Stage Modeling</vt:lpstr>
      <vt:lpstr>Overview of Topology</vt:lpstr>
      <vt:lpstr>Duty Cycle Control</vt:lpstr>
      <vt:lpstr>Transformer Equivalent</vt:lpstr>
      <vt:lpstr>Capacitor Feed-Forward Correction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dhakk</dc:creator>
  <cp:lastModifiedBy>Egan Wang</cp:lastModifiedBy>
  <cp:revision>2</cp:revision>
  <dcterms:created xsi:type="dcterms:W3CDTF">2026-03-11T16:16:20Z</dcterms:created>
  <dcterms:modified xsi:type="dcterms:W3CDTF">2026-03-12T00:48:18Z</dcterms:modified>
</cp:coreProperties>
</file>